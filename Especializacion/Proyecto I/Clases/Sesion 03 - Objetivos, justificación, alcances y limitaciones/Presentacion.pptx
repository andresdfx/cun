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92608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926080"/>
            <a:ext cx="12191695" cy="7315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274320"/>
            <a:ext cx="1325880" cy="9192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1303324"/>
            <a:ext cx="10911535" cy="1476451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SESIÓN 03 — Objetivos, justificación, alcances y limitaciones</a:t>
            </a:r>
          </a:p>
          <a:p>
            <a:pPr algn="ctr">
              <a:spcBef>
                <a:spcPts val="800"/>
              </a:spcBef>
            </a:pPr>
            <a:r>
              <a:rPr sz="1600" b="0" i="0">
                <a:solidFill>
                  <a:srgbClr val="CFDDEE"/>
                </a:solidFill>
                <a:latin typeface="Calibri"/>
              </a:rPr>
              <a:t>Proyecto I — Especialización en Inteligencia Artificial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337560"/>
            <a:ext cx="10911535" cy="2651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Sesión 03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Tema: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Objetivos, justificación, alcances y limitaciones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2B2B2B"/>
                </a:solidFill>
                <a:latin typeface="Calibri"/>
              </a:rPr>
              <a:t>Asignatura: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PROYECTO 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De la pregunta a los compromisos: qué cambia hoy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La sesión pasada la pregunta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abrió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trabajo. Hoy lo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cerramos con compromisos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 objetivo es una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promesa verificable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: alguien debe poder decir “esto se cumplió” o “esto no”.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Por eso los objetivos que escriban hoy son los que en Proyecto II se van 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tachar uno por uno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Caso de aula: “Objetivo específico 1: buscar artículos sobre IA”. Eso no es un objetivo, es su lunes.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Un objetivo produce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conocimiento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; una actividad solo consume tiempo.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Hoy salen con el bloque de formulación casi completo: general, específicos, justificación, alcances y limitaciones.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Ese bloque completo, leído de corrido, debe sonar 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una sola historia sin saltos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Si su pregunta cambió durante la semana, actualícela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ahora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absolutamente todo lo de hoy cuelga de ella.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Objetivo general: la pregunta dicha en afirmativo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 general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declara el propósito global del anteproyecto.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Dice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lo mismo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que la pregunta, pero sin signo de interrogación y empezando por un verbo.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Estructura recomendada: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verbo + qué + en quién o dónde + para qué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Caracterizar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las prácticas de retroalimentación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del curso X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para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proponer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 esquema asistido por IA.”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Uno solo. Si aparecen dos generales, en realidad hay dos investigaciones metidas en un mismo documento.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Prueba del espejo: lea la pregunta y enseguida el general, en voz alta.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Si no suenan a lo mismo, algo sobra o algo falta. Casi siempre el general se fue a prometer de más.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general no puede prometer resultados que el diseño propuesto no vaya a poder producir.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Objetivo general vs. objetivos específicos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380698"/>
                <a:gridCol w="3769439"/>
                <a:gridCol w="4761397"/>
              </a:tblGrid>
              <a:tr h="502920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Objetivo general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Objetivos específicos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Cuántos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Tres, normalmente (entre dos y cuatro)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Qué declara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El propósito global del estudio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Los escalones verificables para alcanzarlo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Relación con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 la pregunta puesta en afirmativo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Cada uno responde una parte de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Prueba de calidad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Suena igual que la pregunta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Sumados, y solo sumados, dan el general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Error típico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Prometer más de lo que se podrá cumplir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Escribir actividades de clase o pasos administrativos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Cuándo se “tacha”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Al cerrar Proyecto II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Uno por uno, a medida que se cumplen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 de la suma: si cumplo los tres específicos y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aún así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no cumplí el general, falta un específico. Si cumplo dos y el general ya está cumplido, sobra uno.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Verbos: los que puedo verificar y los que no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52044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79090"/>
                <a:gridCol w="4166222"/>
                <a:gridCol w="4166222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Verbos que SÍ (observables)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Qué producen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Verbos prohibidos (no observables)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Caracterizar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descripción organizada de un fenómeno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Conocer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¿cómo se ve que alguien “conoció”?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Identificar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listado justificado de elementos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Aprender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es un estado interno, no un resultado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Analizar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descomposición con criterios explícitos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Entender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nadie puede auditarlo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Contrastar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Una comparación entre casos o fuentes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Interesarse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no es un logro de investigación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Diseñar / proponer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Un artefacto o una propuesta documentada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Concientizar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es una intención, no un objetivo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Establecer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Criterios, requisitos o relaciones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Profundizar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— no dice dónde termina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534924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Prueba del verbo: si no puedo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ver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que se cumplió, no sirve. Y en Proyecto I “diseñar” y “proponer” son legítimos; “aplicar” e “implementar” todavía no.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Cómo se arman tres específicos que de verdad sumen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Piense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escalones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no en tareas: cada uno deja al lector un piso más arriba.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Patrón que funciona en anteproyectos de IA: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Específico 1 — describir: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caracterizar la situación actual, es decir, qué pasa hoy sin la IA.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Específico 2 — fundamentar: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identificar criterios, requisitos o categorías desde teoría y antecedentes.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Específico 3 — proponer: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diseñar la propuesta o el diseño metodológico que responde la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Cada específico se escribe con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un solo verbo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 Dos verbos significan dos objetivos escondidos.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Ninguno puede depender de datos que en Proyecto I no se van a recolectar.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“Evaluar el impacto del asistente en los usuarios” exige campo: eso es Proyecto II.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Los específicos ordenan el documento: casi siempre se corresponden con los capítulos que van a escribir.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Ejemplo modelado — de la pregunta a los objetivos (línea educación)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Pregunta: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“¿Qué prácticas de retroalimentación mediadas por un asistente de IA podrían proponerse para el curso de Laboratorio de Automatización, a partir de las fricciones que reportan estudiantes y docente?”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Objetivo general: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“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Proponer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un esquema de retroalimentación mediada por un asistente de IA para el curso de Laboratorio de Automatización, a partir de las fricciones identificadas en su proceso actual de entrega y corrección.”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Específico 1: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“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Caracterizar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proceso actual de entrega y retroalimentación de informes en el curso.”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Específico 2: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“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Identificar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desde antecedentes y marco teórico, los criterios de una retroalimentación formativa efectiva.”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Específico 3: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“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Diseñar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la propuesta de esquema asistido por IA y su ruta de validación para Proyecto II.”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Fíjense: los tres se pueden tachar, ninguno dice “leer autores” y ninguno exige salir a campo hoy.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específico 3 termina en “ruta de validación”, no en “validación”. Así se cierra un anteproyecto honesto.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El mismo hilo en la línea de entornos productivos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1636730"/>
                <a:gridCol w="9274804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Pieza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Redacción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“¿Cómo se registra hoy la información de paradas de máquina en la línea de empaque de la planta X y qué requisitos debería cumplir una propuesta de asistente de IA, según los supervisores de turno?”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General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“Proponer los requisitos de un asistente de IA para el registro de paradas de máquina en la línea de empaque de la planta X, a partir de la caracterización del proceso actual.”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Específico 1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“Caracterizar el procedimiento actual de registro de paradas y sus puntos de pérdida de información.”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Específico 2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“Identificar, desde antecedentes y marco teórico, los criterios de calidad de un registro operativo asistido por IA.”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Específico 3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“Establecer los requisitos funcionales y las restricciones de la propuesta, junto con su ruta de validación para Proyecto II.”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Mismo patrón que en el ejemplo anterior: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describir → fundamentar → proponer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 Cambia el contexto, no la estructura.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Justificación: los tres pilares (y por qué no es autobiografía)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Responde a una sola pregunta: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¿por qué vale la pena hacer esto?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Pilar 1 — el vacío: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qué no se sabe todavía o qué no se resuelve bien en la práctica.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Se apoya en los antecedentes: “se ha estudiado A y B, pero no en este contexto”.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Pilar 2 — la relevancia: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a quién le sirve el resultado y para qué decisión concreta.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Nombre al beneficiario: el docente del curso, el supervisor de turno, el área de mantenimiento.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Pilar 3 — la pertinencia: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por qué encaja en la línea oficial de IA del programa.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Se argumenta el aporte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esperable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nunca resultados obtenidos: todavía no se ha ejecutado nada.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“Me gusta la IA” y “trabajo en esa empresa” son motivaciones legítimas, pero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no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son argumentos.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Extensión típica: entre media página y una. Se escribe en presente y sin promesas grandilocuentes.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Justificación: frases que se caen y frases que se sostienen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251460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882292"/>
                <a:gridCol w="2470536"/>
                <a:gridCol w="5558706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 cae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Por qué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Se sostiene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“Este proyecto es muy importante para la sociedad.”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Genérico: sirve igual para cualquier trabajo del mundo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“La propuesta le da al docente del curso un criterio para devolver retroalimentación en días y no en semanas.”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“Me apasiona la inteligencia artificial.”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Autobiografía; no es un argumento de investigación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“Los antecedentes revisados abordan cursos virtuales, pero no laboratorios presenciales como el de este estudio.”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“Con esto la empresa ahorrará millones.”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Promete un resultado que aún no se ha medido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“El registro actual pierde información de turno, lo que impide priorizar mantenimiento; documentarlo es el primer paso.”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“Hay mucha información sobre el tema.”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Eso justifica </a:t>
                      </a:r>
                      <a:r>
                        <a:rPr sz="1100" b="1" i="0">
                          <a:solidFill>
                            <a:srgbClr val="2B2B2B"/>
                          </a:solidFill>
                          <a:latin typeface="Calibri"/>
                        </a:rPr>
                        <a:t>no</a:t>
                      </a:r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 hacerlo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“El fenómeno está documentado a nivel internacional, pero hay poca evidencia en plantas medianas del país.”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34340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Regla: si la frase sirve igual para el trabajo de otro equipo, bórrela. Una justificación 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intransferible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Alcance y limitación: la promesa y la honestidad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301752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2567420"/>
                <a:gridCol w="4172057"/>
                <a:gridCol w="4172057"/>
              </a:tblGrid>
              <a:tr h="502920">
                <a:tc>
                  <a:txBody>
                    <a:bodyPr/>
                    <a:lstStyle/>
                    <a:p>
                      <a:pPr algn="l"/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Alcance (lo que SÍ)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Limitación (lo que NO)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Qué declara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Hasta dónde llega el estudio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Qué restricciones reales lo condicionan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Ejemplos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Población objetivo, periodo, categorías o variables, tipo de producto entregado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Acceso restringido a la organización, tiempo del programa, disponibilidad de informantes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Restricción propia del curso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Se entrega un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diseño propuesto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En Proyecto I </a:t>
                      </a:r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no se aplican instrumentos</a:t>
                      </a:r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 ni se recolectan datos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Cómo se escribe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Viñetas afirmativas: “el estudio abarca…”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Viñetas honestas: “el estudio no incluye…”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200" b="1" i="0">
                          <a:solidFill>
                            <a:srgbClr val="2B2B2B"/>
                          </a:solidFill>
                          <a:latin typeface="Calibri"/>
                        </a:rPr>
                        <a:t>Efecto en el lector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Sabe qué esperar y no exige de más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200" b="0" i="0">
                          <a:solidFill>
                            <a:srgbClr val="2B2B2B"/>
                          </a:solidFill>
                          <a:latin typeface="Calibri"/>
                        </a:rPr>
                        <a:t>Confía: quien declara sus límites conoce su trabajo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484632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Declarar limitaciones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no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 debilita el anteproyecto: lo hace creíble. Lo que sí lo debilita es prometer lo que no se podrá cumplir.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más se devuelve corregido en este bloque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Específicos que son tareas.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“Leer autores”, “reunirnos con el equipo”, “buscar papers” son su agenda de trabajo, no objetivos. Pregúntese qué </a:t>
            </a:r>
            <a:r>
              <a:rPr sz="1300" b="1" i="0">
                <a:solidFill>
                  <a:srgbClr val="2B2B2B"/>
                </a:solidFill>
                <a:latin typeface="Calibri"/>
              </a:rPr>
              <a:t>conocimiento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produce ese paso y escriba eso.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191256"/>
            <a:ext cx="10911535" cy="969264"/>
          </a:xfrm>
          <a:prstGeom prst="roundRect">
            <a:avLst/>
          </a:prstGeom>
          <a:solidFill>
            <a:srgbClr val="FBE4E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68680" y="3300984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⚠️ Importante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Verbos que no se ven.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Conocer, entender, aprender, concientizar. Cámbielos por analizar, caracterizar, identificar, contrastar, establecer, diseñar o proponer.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389120"/>
            <a:ext cx="10911535" cy="969264"/>
          </a:xfrm>
          <a:prstGeom prst="roundRect">
            <a:avLst/>
          </a:prstGeom>
          <a:solidFill>
            <a:srgbClr val="FDEC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4498848"/>
            <a:ext cx="10454335" cy="7498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💡 Aclaración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Alcance y limitación en el mismo párrafo.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Sepárelos en dos listas: lo que SÍ hará y lo que NO podrá. Si están revueltos, el lector no sabe qué le prometieron.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Lo que más se devuelve corregido en este bloque (cont.)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737360"/>
            <a:ext cx="10911535" cy="1225296"/>
          </a:xfrm>
          <a:prstGeom prst="roundRect">
            <a:avLst/>
          </a:prstGeom>
          <a:solidFill>
            <a:srgbClr val="E8F5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68680" y="1847088"/>
            <a:ext cx="10454335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" b="1" i="0">
                <a:solidFill>
                  <a:srgbClr val="0C2340"/>
                </a:solidFill>
                <a:latin typeface="Calibri"/>
              </a:rPr>
              <a:t>ℹ️ Nota institucional</a:t>
            </a:r>
          </a:p>
          <a:p>
            <a:pPr>
              <a:spcBef>
                <a:spcPts val="400"/>
              </a:spcBef>
            </a:pPr>
            <a:r>
              <a:rPr sz="1300" b="1" i="0">
                <a:solidFill>
                  <a:srgbClr val="2B2B2B"/>
                </a:solidFill>
                <a:latin typeface="Calibri"/>
              </a:rPr>
              <a:t>Objetivos que exigen campo.</a:t>
            </a:r>
            <a:r>
              <a:rPr sz="1300" b="0" i="0">
                <a:solidFill>
                  <a:srgbClr val="2B2B2B"/>
                </a:solidFill>
                <a:latin typeface="Calibri"/>
              </a:rPr>
              <a:t> “Evaluar el impacto”, “medir la satisfacción”, “aplicar el instrumento” pertenecen a Proyecto II. En Proyecto I se propone el diseño y su ruta de validación.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Paso a paso: cómo queda el bloque de formulación en el documento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1.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En el documento del equipo, con la plantilla APA de la CUN, cree los subtítulos en este orden exacto: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Planteamiento → Pregunta → Objetivo general → Objetivos específicos → Justificación → Alcances → Limitaciones.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2.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Copie su pregunta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justo encima del general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, aunque luego la mueva: verlas juntas evita el desfase.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3.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el general con la fórmula verbo + qué + dónde + para qué, y léalo en voz alta contra la pregunta.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4.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Numere los específicos 1, 2 y 3, cada uno con un solo verbo al inicio.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5.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Redacte la justificación en tres párrafos, uno por pilar: vacío, relevancia, pertinencia.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6.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Escriba alcances y limitaciones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dos listas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viñetas separadas, nunca en prosa mezclada.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7.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Suba el avance a CDigital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S03_ObjetivosJustificacion_Apellidos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El documento es </a:t>
            </a:r>
            <a:r>
              <a:rPr sz="1200" b="1" i="1">
                <a:solidFill>
                  <a:srgbClr val="2B2B2B"/>
                </a:solidFill>
                <a:latin typeface="Calibri"/>
              </a:rPr>
              <a:t>acumulativo</a:t>
            </a:r>
            <a:r>
              <a:rPr sz="1200" b="0" i="1">
                <a:solidFill>
                  <a:srgbClr val="2B2B2B"/>
                </a:solidFill>
                <a:latin typeface="Calibri"/>
              </a:rPr>
              <a:t>: no abran un archivo nuevo; sigan escribiendo debajo de lo de la sesión anterior. [URL CDigital — campus del curso pendiente]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TALLER (20 minutos) — redacción del bloque de formulación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Consigna literal: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20 minutos en el documento del equipo. Cuatro productos.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(1)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Objetivo general con la fórmula verbo + qué + dónde + para qué.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(2)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Tres específicos numerados, un verbo cada uno, en el orden describir → fundamentar → proponer.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(3)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De media a una página de justificación: tres párrafos, un pilar por párrafo.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</a:t>
            </a:r>
            <a:r>
              <a:rPr sz="1500" b="1" i="0">
                <a:solidFill>
                  <a:srgbClr val="2B2B2B"/>
                </a:solidFill>
                <a:latin typeface="Calibri"/>
              </a:rPr>
              <a:t>(4)</a:t>
            </a:r>
            <a:r>
              <a:rPr sz="1500" b="0" i="0">
                <a:solidFill>
                  <a:srgbClr val="2B2B2B"/>
                </a:solidFill>
                <a:latin typeface="Calibri"/>
              </a:rPr>
              <a:t> Alcances y limitaciones en dos listas de viñetas separadas.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El Docente circula por los equipos; prioridad para quienes no logren pasar del específico 1.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Criterio de éxito (verificable):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cada específico se puede “tachar” el día que se cumpla, y el general suena igual que la pregunta en afirmativo.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Prueba final: tache mentalmente los tres específicos. ¿Ya quedó cumplido el general? Si no, falta uno.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Prohibido en este taller: verbos no observables, objetivos que exijan recolectar datos y justificaciones que hablen de ustedes.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Checklist de autoevaluación antes de subir el avance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40080" y="1691639"/>
          <a:ext cx="10911534" cy="4526280"/>
        </p:xfrm>
        <a:graphic>
          <a:graphicData uri="http://schemas.openxmlformats.org/drawingml/2006/table">
            <a:tbl>
              <a:tblPr>
                <a:tableStyleId>{2D5ABB26-0587-4C30-8999-92F81FD0307C}</a:tableStyleId>
              </a:tblPr>
              <a:tblGrid>
                <a:gridCol w="3482404"/>
                <a:gridCol w="6500489"/>
                <a:gridCol w="928641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Reviso que…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Cómo lo compruebo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300" b="1" i="0">
                          <a:solidFill>
                            <a:srgbClr val="FFFFFF"/>
                          </a:solidFill>
                          <a:latin typeface="Calibri"/>
                        </a:rPr>
                        <a:t>Listo</a:t>
                      </a:r>
                    </a:p>
                  </a:txBody>
                  <a:tcPr anchor="ctr" marL="109728" marR="91440" marT="36576" marB="36576">
                    <a:solidFill>
                      <a:srgbClr val="0C234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El general refleja la pregunta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leo seguidos y dicen lo mismo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Hay un solo objetivo general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Cuento los verbos principales: uno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específico tiene un verbo observable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Ninguno usa conocer, entender ni aprender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Los específicos suman el general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Al tacharlos los tres, el general queda cumplido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Ningún específico exige campo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No aparece aplicar, medir impacto ni encuestar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 justificación tiene los tres pilares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Señalo el párrafo del vacío, el de relevancia y el de pertinencia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Alcance y limitación están separados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Son dos listas distintas, con título propio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Las citas van en APA 7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Cada afirmación prestada tiene autor y año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2B2B2B"/>
                          </a:solidFill>
                          <a:latin typeface="Calibri"/>
                        </a:rPr>
                        <a:t>[  ]</a:t>
                      </a:r>
                    </a:p>
                  </a:txBody>
                  <a:tcPr anchor="ctr" marL="109728" marR="91440" marT="36576" marB="36576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40080" y="60807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Ocho casillas. Si alguna queda vacía, el bloque de formulación todavía no está listo para la entrega acumulativa.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88720"/>
          </a:xfrm>
          <a:prstGeom prst="rect">
            <a:avLst/>
          </a:prstGeom>
          <a:solidFill>
            <a:srgbClr val="0C23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0"/>
            <a:ext cx="9082735" cy="11887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2600" b="1" i="0">
                <a:solidFill>
                  <a:srgbClr val="FFFFFF"/>
                </a:solidFill>
                <a:latin typeface="Calibri"/>
              </a:rPr>
              <a:t>Trabajo autónomo y qué traer a la próxima sesión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691639"/>
            <a:ext cx="10911535" cy="4617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Empaquetar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bloque completo de formulación en el documento, en el orden trabajado hoy.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Planteamiento, pregunta, objetivos, justificación, alcances y limitaciones, con sus referencias en APA 7.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Revisar la coherencia de punta a punta: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léanlo de corrido; debe sonar a una sola historia sin saltos.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Ese hilo —problema, pregunta, objetivos, justificación, alcances— es exactamente lo que se evalúa.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Generar las referencias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de lo citado en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ZoteroBib (zbib.org)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o con las citas integradas de Google Docs.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Subir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el avance a CDigital como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S03_ObjetivosJustificacion_Apellidos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.</a:t>
            </a:r>
          </a:p>
          <a:p>
            <a:pPr>
              <a:spcAft>
                <a:spcPts val="10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–   Para la próxima sesión: traigan </a:t>
            </a:r>
            <a:r>
              <a:rPr sz="1600" b="1" i="0">
                <a:solidFill>
                  <a:srgbClr val="2B2B2B"/>
                </a:solidFill>
                <a:latin typeface="Calibri"/>
              </a:rPr>
              <a:t>tres estudios previos</a:t>
            </a:r>
            <a:r>
              <a:rPr sz="1600" b="0" i="0">
                <a:solidFill>
                  <a:srgbClr val="2B2B2B"/>
                </a:solidFill>
                <a:latin typeface="Calibri"/>
              </a:rPr>
              <a:t> localizados en Google Scholar, SciELO o Redalyc.</a:t>
            </a:r>
          </a:p>
          <a:p>
            <a:pPr lvl="1">
              <a:spcAft>
                <a:spcPts val="600"/>
              </a:spcAft>
            </a:pPr>
            <a:r>
              <a:rPr sz="1500" b="0" i="0">
                <a:solidFill>
                  <a:srgbClr val="2B2B2B"/>
                </a:solidFill>
                <a:latin typeface="Calibri"/>
              </a:rPr>
              <a:t>●   Empezamos antecedentes: estudios con autor, año, método y hallazgos. No noticias, no blogs.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094415" y="6446520"/>
            <a:ext cx="548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000" b="1" i="0">
                <a:solidFill>
                  <a:srgbClr val="8F989D"/>
                </a:solidFill>
                <a:latin typeface="Calibri"/>
              </a:rPr>
              <a:t>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5943600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200" b="0" i="1">
                <a:solidFill>
                  <a:srgbClr val="2B2B2B"/>
                </a:solidFill>
                <a:latin typeface="Calibri"/>
              </a:rPr>
              <a:t>Cada entrega se construye encima de la anterior: no son tareas sueltas. Las tutorías por equipo se acuerdan con el Docente durante la semana.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0074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cun_sol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362895" y="5632704"/>
            <a:ext cx="1371600" cy="95097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640080" y="1737360"/>
            <a:ext cx="10911535" cy="109728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/>
            <a:r>
              <a:rPr sz="3400" b="1" i="0">
                <a:solidFill>
                  <a:srgbClr val="0C2340"/>
                </a:solidFill>
                <a:latin typeface="Calibri"/>
              </a:rPr>
              <a:t>Cierre — Sesión 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3017520"/>
            <a:ext cx="10911535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Sesión 03: Objetivos, justificación, alcances y limitaciones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2B2B2B"/>
                </a:solidFill>
                <a:latin typeface="Calibri"/>
              </a:rPr>
              <a:t>Siguiente encuentro: continúa el hilo del mismo entregable.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4754880"/>
            <a:ext cx="10911535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2000" b="1" i="0">
                <a:solidFill>
                  <a:srgbClr val="007433"/>
                </a:solidFill>
                <a:latin typeface="Calibri"/>
              </a:rPr>
              <a:t>PROYECTO 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CUN</dc:creator>
  <cp:keywords/>
  <dc:description/>
  <cp:lastModifiedBy>CUN</cp:lastModifiedBy>
  <cp:revision>1</cp:revision>
  <dcterms:created xsi:type="dcterms:W3CDTF">2013-01-27T09:14:16Z</dcterms:created>
  <dcterms:modified xsi:type="dcterms:W3CDTF">2013-01-27T09:15:58Z</dcterms:modified>
  <cp:category/>
</cp:coreProperties>
</file>