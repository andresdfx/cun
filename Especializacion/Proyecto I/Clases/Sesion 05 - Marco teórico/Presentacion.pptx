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MARCO TEÓRICO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teórico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marco teórico es su par de lentes, no su relleno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saben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investigó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(antecedentes). Ahora toca decidir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lentes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van a mirar el fenómeno.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 elección no es decorativa: define qué van a considerar dato y qué van a ignorar.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miro “retroalimentación” con lentes de evaluación formativa, veo tiempos y criterios de mejora.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miro con lentes de carga cognitiva, veo cuánta información puede procesar el estudiante.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Mismo fenómeno, dos investigaciones distintas: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marco teórico decide cuál de las dos harán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escribe seis páginas de “historia de la inteligencia artificial” y no vuelve a usar ninguna.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marco teórico: es peso muerto que el lector tiene que atravesar.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salen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el primer apartado teórico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Prime la profundidad: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dos a cuatro constructos bien hilados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valen más que quince citas sueltas.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un 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articulación de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teorías, modelos y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sostienen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justificación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por qué esos y no otros: elegir es parte del trabajo intelectual.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da sentido a las categorías o variables que después usará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libros ni una cadena de definiciones copiadas de la web.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glosario: el glosario define palabras sueltas; el marco teórico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conceptos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historia del campo: a nadie le sirve el año en que nació el perceptrón si su pregunta es sobre retroalimentación.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admisión de cada párrafo: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¿esto que afirmo, el método podrá “tocarlo” después?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no, ese párrafo sobra por más bonito que esté.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marco teórico se escribe hacia adelante: cada concepto que entra hoy debe reaparecer en la metodología.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textos que se confunden con el marco teórico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4166222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es marco teórico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Resumen de libros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Encadena lo que dijeron varios autores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elige ni relaciona: solo acumula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Glosario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términos uno por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Define, pero no explica el fenómeno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Reporta estudios previos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 investigaciones, no de conceptos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Historia del campo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Narra cómo evolucionó la disciplina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cultura general, no andamiaje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Elige constructos, los define con autor y los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relaciona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el único que el método puede llegar a usar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Diferencia práctica: si borro un párrafo y la metodología sigue teniendo sentido, ese párrafo no era marco teórico.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Teoría, modelo y constructo: el vocabulario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Teoría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explicación general y sostenida de por qué ocurre un fenómeno.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teorías de la evaluación formativa; teorías de aceptación de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Modelo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representación operativa de una teoría, con componentes y relaciones nombradas.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un modelo de aceptación tecnológica con “utilidad percibida” y “facilidad de uso percibida”.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concepto puntual que su estudio va a usar y, más adelante, a observar.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“utilidad percibida”, “oportunidad de la retroalimentación”, “calidad del registro operativo”.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trabajo: la teoría da contexto, el modelo da estructura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constructo es lo que se trabaja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capítulo se organiza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autores ni por libros leídos.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constructo lleva su definición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autor y año en APA 7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definición sin fuente es una opinión.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de coherencia: cómo se decide qué entra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orden es siempre el mismo y no se puede saltar ningún paso: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leo en voz alta, completa.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Subrayo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sustantivos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esos son los conceptos que estoy obligado a definir.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Busco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los definen u operacionalizan mejor, no el primero que aparezca.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Conecto cada concepto con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 de aplicación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IA productiva o IA en educación.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concepto no cuelga de la pregunta,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autor no aporta nada al concepto,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si un constructo no va a reaparecer en la metodología, también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hilo es lo que se revisa en tutoría: pregunta, constructos, autores, contexto. Sin saltos y sin adornos.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admisión de un constructo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4166222"/>
                <a:gridCol w="41662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 no…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Necesidad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¿Mi pregunta me obliga a definirlo?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Fuera: es cultura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¿Tengo un autor y año que lo definan?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 hasta conseguir la fuente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Operatividad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¿Puedo decir cómo se reconoce en la práctica?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queda, pero hay que bajarlo a tierra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Trazabilidad al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¿Va a reaparecer en la metodología?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Fuera: es teoría ornamental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Pertinencia al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¿Aplica a mi organización, aula o proceso?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queda, pero hay que matizar sus límites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¿Ya sumo más de cuatro constructos centrales?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Recorte: profundidad antes que acumulación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marco teórico de especialización se sostiene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dos a cuatro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constructos bien hilados. La lista larga no impresiona a nadie.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se consiguen fuentes teóricas (no es lo mismo que buscar antecedentes)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4166222"/>
                <a:gridCol w="376943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aquí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encontrarla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seminal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texto que propuso el constructo por primera vez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Google Scholar: suele ser el más citado del 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Capítulo de libro o manual de referencia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consolidadas y comparadas entre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Biblioteca virtual de la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Revisión sistemática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mapa de cómo se ha definido el constructo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Scholar, SciELO,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latinoamericano reciente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constructo aplicado a contextos parecidos al suyo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SciELO,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Norma o guía técnica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ya acordadas en la industria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Sitio oficial de la entidad que la emite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Diferencia con la sesión pasada: allá buscaban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estudios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aquí buscan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definiciones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 veces el mismo texto sirve para las dos cosas, con función distinta.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el mapa de constructos,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trabajo: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Sustantivos subrayados: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retroalimentación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asistente de 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fricciones de uso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Del subrayado salen tres constructos, ni uno más: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Retroalimentación formativa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la hace formativa y no solamente correctiva.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Oportunidad de la devolución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tiempo entre entrega y retorno, y su efecto en la mejora.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Aceptación de la tecnología por el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utilidad percibida y facilidad de uso percibida.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fuera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mapa: historia de la IA, tipos de redes neuronales, mercado de asistentes.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de esos tres iba a reaparecer en la metodología. Fuera, sin nostalgia.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constructos, tres apartados del capítulo. El mapa se convierte, literalmente, en su tabla de contenido.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mapa, ya con función y con uso posterior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3967830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aporta a la 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reaparece en el método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formativa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qué cuenta como “buena” retroalimentación en este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los criterios de la propuesta y en la rejilla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 de la devolución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Convierte “tarde” en una categoría observable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la categoría de tiempo del 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Aceptación tecnológica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 por qué una herramienta útil puede terminar sin usarse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las preguntas propuestas a docente y estudiantes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Historia de la 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ninguna parte: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por eso salió del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tercera columna es la prueba definitiva. Si una fila la deja vacía, esa fila no pertenece al marco teórico.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párrafo del apartado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párrafo por idea, y cada párrafo con la misma arquitectura de cuatro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Afirmación: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sostiene usted sobre el constructo.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Fuente: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quién lo dice, en APA 7 (Apellido, año).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Precisión: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cómo se entenderá ese constructo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este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Enlace: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eso importa para su pregunta o para su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Evite el párrafo sándwich de citas: tres autores seguidos sin una sola frase de ustedes.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voz no aparece en el párrafo, el lector no sabe qué está afirmando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cada apartado anunciando el siguiente constructo: así el capítulo se lee de corrido y no a saltos.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Longitud realista del avance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El capítulo completo se termina en trabajo autónomo.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marco teórico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Definiciones encadenadas sacadas de la web.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la pregunta, no por el buscador: ¿cuál de esos conceptos exige SU pregunta? Ese, y con autor citado en APA 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Teoría que el método nunca va a tocar.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un constructo no reaparece en la metodología, es peso muerto: quítelo aunque le haya costado escribirlo.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Quince citas para “verse riguroso”.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lector experto detecta la cita decorativa al instante. Tres constructos bien hilados sostienen más que quince referencias sueltas.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marco teórico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Definir sin citar.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Toda definición operativa lleva autor y año. Una definición sin fuente es una opinión, y una opinión no sostiene un anteproyecto.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mapa de constructos en Excalidraw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excalidraw.com: gratis, en el navegador, sin cuenta y sin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Ponga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recuadro, en el centro del lienzo.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una flecha desde la pregunta hacia cada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subrayó (entre dos y cuatro).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constructo, una flecha hacia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 y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lo define.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constructo, una segunda flecha hacia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reaparecerá en el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Mire el lienzo completo: todo lo que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flecha de entrada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desde la pregunta, bórrelo.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la imagen en PNG e insértela en el documento del equipo como figura.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Rotúlela en APA 7: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Figura 1. Mapa de constructos del estudio.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Elaboración propia.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Alternativas igual de válidas y gratuitas: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Miro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su versión libre. Ninguna requiere instalar nada.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(20 minutos) — mapa de constructos y primer apartado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minutos, dos productos, ambos en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Excalidraw: pregunta al centro, constructos, autores y punto de reaparición en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primer apartado teórico en el documento del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apartado desarrolla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la arquitectura de cuatro movimientos vista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circula; prioridad para los equipos que no logren pasar de dos constructos.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párrafo del apartado afirma algo que el método podrá “tocar”.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en voz alta: se señala un párrafo al azar y ustedes dicen en qué parte de la metodología reaparece.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Suban el mapa exportado y el texto dentro del mismo documento acumulativo.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pegar definiciones sin autor y abrir un apartado de “historia de la inteligencia artificial”.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constructo cuelga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Está subrayado en la pregunta o se deduce directamente de ella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Son entre dos y cuatro constructos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en el mapa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definición tiene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aparece huérfana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Digo cómo lo entiendo 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Después de cada cita hay una frase mía de precisión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 voz aparece en cada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párrafos de puras citas encadenadas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reaparece en el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nombrar dónde se usará cada constructo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historia ni glosario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apartado narra la evolución del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mapa está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Insertado como figura y rotulado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falla la casilla “todo reaparece en el método”, el problema no es el marco: es que el método aún no está pensado. Anótelo para la tutoría.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capítulo teórico a partir del mapa: un apartado por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Podar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piedad: todo lo que no reaparezca en la metodología sale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definición tenga su cita en APA 7, generada en ZoteroBib o en las citas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S05_MarcoTeorico_Apellidos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 traigan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definición operativa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Operativa significa cómo se reconoce ese concepto en la práctica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contexto, no en general.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 concreto: ¿qué contará como “retroalimentación oportuna” en su caso: 48 horas, 72 horas, una semana?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Esas definiciones son la materia prima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conceptual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justamente lo que sigue.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acumula hacia la siguiente entrega del anteproyecto. Las tutorías por equipo se acuerdan con el Docente durante la semana.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Marco teórico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