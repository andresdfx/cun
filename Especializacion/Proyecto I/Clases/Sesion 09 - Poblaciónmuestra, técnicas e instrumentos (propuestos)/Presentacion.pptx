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09 — Población/muestra, técnicas e instrumentos (propuestos)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09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Población/muestra, técnicas e instrumentos (propuestos)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regla de oro de hoy: nadie manda todavía ese formulario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Empiezo por lo que más se rompe en este punto del curso, y no es un detalle menor.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equipo entusiasta arma un Google Form y lo envía "de prueba" a cuarenta personas de una empresa.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Cree que adelantó trabajo. En realidad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recolectó datos personales sin aval institucional ni 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Eso no es avance de Proyecto I: es un riesgo ético y legal que puede invalidar todo el proyecto.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Proyecto I se PROPONE el instrumento. En Proyecto II, con aval, se aplica.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Esa frontera no tiene excepciones.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usted va a dejar por escrito, en condicional: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 quiénes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estudiaría (población y muestra)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 criterios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elegiría.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los estudiaría (técnica)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 qué herramienta concreta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(instrumento).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del bloque tendrá un bosquejo de instrumento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alineado a sus objetivos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listo para revisión.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la muestra: ¿cuál es su unidad de análisis?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pregunta que casi nadie se hace primero: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¿qué es exactamente lo que voy a estudiar, uno por uno?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Esa cosa que se cuenta de a una es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proyectos de IA la unidad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siempre es una persona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persona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analista, un docente, un usuario del servicio).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registro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PQRS, una transacción, una historia clínica anonimizada).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documento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 acta, una política institucional, un artículo científico).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Puede ser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evento del sistema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(una sesión de uso, una consulta al modelo, una línea de log).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su unidad son registros o documentos,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consentimiento no desaparece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cambia de forma (aval de la entidad, anonimización, licencia del dataset).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Definir mal la unidad arrastra el error a toda la sección: la muestra, el instrumento y el análisis quedan torcidos.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Población, muestra y muestreo: tres cosas distintas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2909742"/>
                <a:gridCol w="2727883"/>
                <a:gridCol w="309160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Concepto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es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Ejemplo (proyecto de IA)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Unidad de análisis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elemento que se estudia de a 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Confundirla con la fuente de información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PQRS radicada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Población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total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de unidades que interesan al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Escribirla sin delimitar tiempo ni lugar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Las PQRS radicadas en la Alcaldía de X durante un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Marco muestral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lista real desde la cual se puede seleccionar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Suponer que existe cuando nadie la tiene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registro digital de radicación de la entidad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Muestra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subconjunto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que efectivamente se estudiaría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Decir "algunas" sin número ni criterio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380 PQRS seleccionadas del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Muestreo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procedimiento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para elegir esa muestra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el tipo sin explicar cómo se ejecutaría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Aleatorio simple sobre el registro anonimizado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Población y muestra se escriben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delimitadas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quiénes,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dónde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en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periodo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"Los funcionarios públicos" no es una población: es un 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Criterios de inclusión y exclusión: sin ellos, la muestra es un deseo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las condiciones que alguien (o algo) debe cumplir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para entrar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estudio.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= las condiciones que, aun cumpliendo las de inclusión,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dejan por fuera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son opuestos ni la misma lista al revés: cada una responde una pregunta diferente.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Ejemplo modelado, redactado como debe quedar: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"Funcionarios de la oficina de atención al ciudadano con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mínimo seis meses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antigüedad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contacto directo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el sistema de radicación."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Exclusión: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"Personal en periodo de prueba, contratistas temporales de menos de tres meses y quienes no otorguen consentimiento informado."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criterio debe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verificable por un tercero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si dos personas leen su criterio y clasifican distinto, el criterio está mal escrito.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"Los que quieran participar"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un criterio de 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 la ausencia de criterio.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Cierre siempre con una frase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participación voluntaria y consentimiento informado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Tipos de muestreo: probabilístico y no probabilístico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09742"/>
                <a:gridCol w="4000896"/>
                <a:gridCol w="400089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se selecciona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Cuándo se propone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Aleatorio simple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Todos tienen la misma probabilidad; sorteo sobre la lista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marco muestral completo y accesible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Estratificado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divide en estratos y se muestrea dentro de cada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Interesa comparar subgrupos (áreas, sedes, tipos)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Sistemático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toma cada k-ésimo elemento de la lista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Registros ordenados, como radicados o logs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Por conveniencia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que están disponibles y accesibles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Estudios exploratorios; se declara la limitación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Por criterio o experto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eligen por su conocimiento del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Entrevistas a quienes sí saben del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Bola de nieve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 participante recomienda al siguiente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Poblaciones difíciles de identificar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Teórico / por saturación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(no prob.)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 suma gente hasta que no aparece información nueva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Investigación cualitativa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muestreo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probabilístico no está prohibido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está permitido si se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declara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si se reconoce su límite (no generaliza). Lo que no se acepta es esconderlo.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¿De qué tamaño debe ser la muestra?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es cuantitativa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hay población finita conocida, se justifica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fórmula de tamaño muestral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declaran tres cosas: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nivel de confianza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(típico 95 %),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margen de error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(típico 5 %)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variabilidad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(0,5 si no se conoce).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puede calcular con una calculadora en línea gratuita o con una hoja de Google Sheets; lo que se evalúa es que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declare los parámetros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es cualitativa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hay fórmula: el criterio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saturación teórica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realizarían entrevistas hasta alcanzar saturación; se estima un rango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a 12 participantes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rango estimado con criterio vale más que un número inventado con falsa precisión.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 su unidad son registros o documentos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el tamaño se justifica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periodo y cobertura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"todas las PQRS de un año", no "unas cuantas".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Nunca escriba un número sin explicar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 dónde salió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número solo no significa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En Proyecto I esta cifra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y estimada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puede ajustarse en Proyecto II con la realidad del terreno.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Técnica e instrumento no son sinónimos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La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técnica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el procedimiento general (encuestar, entrevistar, observar, analizar documentos). El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instrumento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es la herramienta concreta que usted construye y adjunta (el cuestionario, la guía, la rúbrica, la ficha).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Analogía de aula: la técnica es "tomar una fotografía"; el instrumento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la cámara específica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 sus ajustes. En el anteproyecto se evalúa sobre todo el instrumento, porque es lo que usted diseñó.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2B2B2B"/>
                </a:solidFill>
                <a:latin typeface="Calibri"/>
              </a:rPr>
              <a:t>Escribir solo "se aplicará una encuesta" no es un instrumento propuesto. Sin ítems redactados, no hay nada que revisar ni que validar.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técnica al instrumento: qué produce cada ruta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64165"/>
                <a:gridCol w="3637178"/>
                <a:gridCol w="2909742"/>
                <a:gridCol w="2000448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Técnica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Encaja con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Encuesta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Cuestionario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(ítems cerrados, escalas)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Frecuencias, promedios, correlaciones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Entrevista semiestructurada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Guía de entrevista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(preguntas abiertas)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Relatos, percepciones, categorías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Grupo focal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Guía de moderación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(ejes de discusión)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Consensos y tensiones del grupo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Cualitativo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Observación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Lista de chequeo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o ficha de registro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Conductas y eventos observados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documental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Matriz de análisis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(filas: documento; columnas: categorías)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Comparación sistemática de contenidos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Análisis de datos o logs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Protocolo de extracción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(variables, filtros, periodo)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Métricas y series de datos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Cuantitativo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Juicio de expertos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Formato de validación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por pertinencia y claridad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Ajustes al instrumento antes de aplicarlo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Ambos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Puede proponer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más de una técnica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pero cada una necesita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su propio instrumento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bosquejado. No se vale nombrar tres y adjuntar cero.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cuatro declaraciones obligatorias de todo instrumento propuesto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Propósito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información busca obtener y a qué objetivo específico responde.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"Este cuestionario busca caracterizar la percepción de los analistas sobre el tiempo de gestión, en respuesta al objetivo específico 2."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Estructura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cuántos bloques, cuántos ítems, de qué tipo y con qué escala.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"Tres bloques, 14 ítems: 4 de caracterización, 6 en escala Likert de 5 puntos y 4 de respuesta abierta."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Validación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cómo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 validaría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antes de aplicarlo en Proyecto II.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sometería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juicio de tres expertos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(pertinencia, claridad y suficiencia) y a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prueba piloto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con 5 sujetos ajenos a la muestra."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Plan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qué se haría con los datos una vez recolectados.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"Los ítems cerrados se analizarían con estadística descriptiva en Google Sheets; las respuestas abiertas, por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categorización temática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Sin estas cuatro declaraciones, el instrumento está incompleto — aunque tenga cincuenta preguntas.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Matriz de alineación: cada ítem cuelga de un objetivo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637178"/>
                <a:gridCol w="2546024"/>
                <a:gridCol w="2909742"/>
                <a:gridCol w="181858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Categoría / variable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Bloque del instrumento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Ítems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OE1. Caracterizar el flujo actual de atención de PQRS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Tiempos y etapas del proceso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A — Proceso actual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 a 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OE2. Identificar la percepción del personal sobre la carga operativa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Percepción de carga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B — Escala Likert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5 a 10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OE3. Establecer requisitos de un clasificador automático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Requisitos funcionales esperados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Bloque C — Preguntas abiertas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11 a 14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 (sin objetivo asociado)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"¿Le gusta la inteligencia artificial?"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Ítem que sobra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en dos direcciones: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ítem sin objetivo → se elimina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;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objetivo sin ítems → falta instrumento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Esta matriz es la evidencia de que su instrumento no salió de la intuición.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modelado: ítems reales de los dos tipos de instrumento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Cuestionario — Bloque B (escala Likert de 5: 1 = totalmente en desacuerdo … 5 = totalmente de acuerdo)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responde a OE2: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5. "El volumen diario de PQRS que debo clasificar manualmente supera el tiempo disponible en mi jornada."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6. "La clasificación manual de peticiones genera errores de asignación al área competente."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7. "Contar con una sugerencia automática de categoría agilizaría mi trabajo."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Guía de entrevista semiestructurada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→ responde a OE3: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1. "Cuénteme cómo es un día normal de trabajo con el sistema de radicación, desde que llega la petición."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2. "¿En qué momento del proceso siente que se pierde más tiempo? ¿Por qué cree que ocurre?"</a:t>
            </a:r>
          </a:p>
          <a:p>
            <a:pPr lvl="1">
              <a:spcAft>
                <a:spcPts val="600"/>
              </a:spcAft>
            </a:pPr>
            <a:r>
              <a:rPr sz="1400" b="0" i="0">
                <a:solidFill>
                  <a:srgbClr val="2B2B2B"/>
                </a:solidFill>
                <a:latin typeface="Calibri"/>
              </a:rPr>
              <a:t>●   3. "Si un asistente automático le sugiriera la categoría de cada petición, ¿qué necesitaría para confiar en esa sugerencia?"</a:t>
            </a:r>
          </a:p>
          <a:p>
            <a:pPr>
              <a:spcAft>
                <a:spcPts val="10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–   Note el contraste: la Likert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mide magnitud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la entrevista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abre relato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 Nunca ponga una pregunta abierta dentro de una escala.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esto se redacta como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propuesta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"el cuestionario se aplicaría", "la entrevista se realizaría". Nada se envía a nadie en esta fase.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y datos: lo que su instrumento debe prever desde 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Consentimiento informado.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Todo instrumento dirigido a personas debe prever un texto de consentimiento: propósito, uso de los datos, carácter voluntario y posibilidad de retirarse.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redacta ahora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, se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usa en Proyecto II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Anonimización.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su unidad son registros, el protocolo debe decir cómo se eliminarían nombres, cédulas y contactos antes del análisis (Ley 1581 de 2012). Un dataset con datos personales identificables no se manipula "para mirar".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Menores de edad.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la población incluye menores, se requiere autorización del representante legal y asentimiento del menor. No hay atajo posible.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Ética y datos: lo que su instrumento debe prever desde ya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Aval institucional.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va a acceder a datos de una entidad, prevea la carta de solicitud y el compromiso de confidencialidad. Gestionarlo temprano evita que el proyecto se caiga en la fase de campo.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 para bosquejar su instrumento en Google Docs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Cree un documento nuevo titulado `Instrumento propuesto — &lt;nombre de su proyecto&gt;`.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primero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matriz de alineación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(objetivo → categoría → bloque → ítems). Antes de redactar ítems, decida qué mide cada bloque.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los ítems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bloque por bloque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siguiendo el orden de la matriz.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Revise cada ítem con tres filtros: ¿es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?, ¿es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idea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?, ¿está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libre de sesgo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(no induce la respuesta)?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Elimine los ítems dobles ("¿es rápido y confiable?" son dos preguntas, no una).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Agregue al inicio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texto de consentimiento informado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propuesto.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Cierre con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declaraciones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propósito, estructura, validación tentativa y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Pase todo el documento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condicional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busque "apliqué", "realizamos", "se aplicó" y reescríbalos.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"Se aplicó el cuestionario a 40 funcionarios" → "El cuestionario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se aplicaría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40 funcionarios en la fase de campo de Proyecto II".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Todo en el navegador y gratis.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 cree el formulario en Google Forms todavía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el bosquejo va en un documento, no en una herramienta lista para enviar.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Bosquejo de instrumento (20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con el documento de instrumento abierto: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muestra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delimitadas (quiénes, dónde, en qué periodo) más los criterios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Declare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tipo de muestreo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propuesto y por qué es el pertinente para su enfoque.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Bosqueje su instrumento: si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cuestionario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entre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10 y 15 ítems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si es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guía de entrevista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8 preguntas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abiertas.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(d)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lado de cada bloque, escriba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 qué objetivo específico responde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(e)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Cierre con un párrafo de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plan de análisis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(mínimo tres renglones).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ningún ítem queda sin objetivo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ningún objetivo queda sin ítems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todo el texto está en condicional.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 y frena cualquier intento de aplicación anticipada.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Entrega: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archivo como `S09_InstrumentosPropuestos_Apellidos` en [URL CDigital — campus del curso pendiente].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entregar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unidad de análisis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 nombrada explícitamente (persona, registro, documento o evento).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Población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muestra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están delimitadas por lugar y periodo, y no se confunden entre sí.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Escribí criterios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de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exclusión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separados, y ambos son verificables por un tercero.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Declaré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tipo de muestreo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y, si es no probabilístico, reconocí su limitación.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tamaño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la muestra tiene una justificación explícita (parámetros, saturación o cobertura).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bloque del instrumento indica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 qué objetivo específico responde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Ningún ítem induce la respuesta ni mezcla dos preguntas en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Incluí las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cuatro declaraciones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propósito, estructura, validación tentativa y plan de análisis.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Dejé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escrito y explícito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el instrumento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propuesta para Proyecto II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no envié nada a nadie.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viene después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Autónomo de esta semana: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Termine los ítems que quedaron a medias y redacte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consentimiento informado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Pídale a un compañero de otro equipo que lea tres ítems: si los interpreta distinto a usted, reescríbalos.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Deje una frase explícita al inicio de la sección: "Los instrumentos aquí presentados constituyen una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propuesta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su aplicación corresponde a Proyecto II".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la próxima sesión miramos el proyecto como un sistema completo: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Cronograma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fases hacia Proyecto II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viabilidad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real (acceso, permisos, tiempo, recursos).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Integración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del anteproyecto: dejar de tener piezas sueltas y tener un solo documento.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Traiga su documento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completo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un solo archivo — trabajaremos sobre él, no sobre fragmentos.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Las tutorías por equipo se acuerdan durante la semana con el Docente; no hay atención sin cita previa.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09: Población/muestra, técnicas e instrumentos (propuestos)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94560" y="6446520"/>
            <a:ext cx="5943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8F989D"/>
                </a:solidFill>
                <a:latin typeface="Calibri"/>
              </a:rPr>
              <a:t>Inicio 8:10 pm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