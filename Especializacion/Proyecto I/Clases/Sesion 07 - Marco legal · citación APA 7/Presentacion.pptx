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07 — MARCO LEGAL · CITACIÓN APA 7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Marco legal · citación APA 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Dos cosas pueden hundir un anteproyecto de IA en la última revisión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real y frecuente: un equipo propone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modelo que clasifica PQRS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una secretaría de salud municipal.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PQRS traen nombre, cédula, teléfono y diagnóstico: eso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dato personal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algunos son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datos sensibles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anteproyecto no menciona ni una norma. Resultado: la propuesta es inviable antes de empezar.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Segundo caso: el documento tiene 18 referencias al final y solo 6 aparecen citadas en el 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otras 12 son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bibliografía huérfana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se ven como relleno y bajan la nota de todo el marco referencial.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cerramos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referencial completo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las dos piezas que faltan: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legal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decidir si aplica, y si aplica, redactarlo con normas reales.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Clínica de APA 7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dejar citas y referencias sin un solo cabo suelto.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del día: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ninguna cita sin referencia, ninguna referencia sin cita, ninguna ley inventada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el marco legal (y qué NO 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conjunto de normas, políticas y reglamentos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condicionan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su estudio puede o no puede hacer.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Condicionan el acceso a los datos, el uso de la información y la difusión de los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listado decorativo de leyes que suenan importantes.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copia diez normas y ninguna toca su objeto de estudio, no tiene marco legal: tiene relleno.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marco teórico: la teoría explica el fenómeno; la norma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autoriza o limita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investigación.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prueba de pertinencia de cada norma que incluya: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¿Puedo escribir una frase que diga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me obliga o qué me prohíbe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esta norma en MI estudio?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puedo escribir esa frase, la norma sobra.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Proyecto I el marco legal se redacta pensando en el trabajo de campo que vendrá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Proyecto II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¿A usted le aplica marco legal? Semáforo de decisión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28331"/>
                <a:gridCol w="2000448"/>
                <a:gridCol w="418275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 su estudio…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¿Aplica?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debe quedar escrito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Trata datos personales (nombres, cédulas, correos, historias clínicas)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Sí, obligatorio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Protección de datos y tratamiento de la información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Involucra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menores de edad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Sí, sin excepción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Protección reforzada + consentimiento del representante legal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Usa información propiedad de una empresa o entidad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Confidencialidad, aval institucional y uso autorizado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Reutiliza datasets, código o modelos de terceros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Licencias de uso y derechos de autor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Trabaja con información pública abierta ya anonimizada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Basta con citar la fuente y su licencia de uso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Solo diseña una arquitectura o compara algoritmos con datos sintéticos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No aplica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declaración explícita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no aplicabilidad, argumentada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marco legal no depende del tema: depende de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los datos y las personas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que su estudio tocaría.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Normas colombianas que más aparecen en proyectos de 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4091825"/>
                <a:gridCol w="409182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Norma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 qué trata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la necesita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Ley 1581 de 2012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Régimen general de protección de datos personales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Siempre que trate datos de personas identificables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Decreto 1074 de 2015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Reglamenta el tratamiento de datos (autorización, finalidad)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Al describir cómo pediría la autorización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Ley 1273 de 2009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Delitos informáticos: acceso abusivo, uso de datos ajenos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 accedería a sistemas o bases de una entidad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Ley 1712 de 2014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Transparencia y acceso a la información pública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 sus datos vienen de una entidad del Estado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Ley 1098 de 2006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Código de Infancia y Adolescencia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 la población incluye menores de edad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Ley 23 de 1982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Decisión Andina 351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Derechos de autor sobre obras y software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 reutiliza código, datasets o modelos de terceros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CONPES 3975 de 2019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Política nacional de transformación digital e 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Para enmarcar la política pública de IA en Colombia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Referente internacional opcional: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Reglamento (UE) 2024/1689 de 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útil si su marco conversa con estándares de riesgo.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redacta un párrafo de marco legal (fórmula de tres tiempos)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 1 — La norma: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nómbrela completa la primera vez y diga qué regula, en una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 2 — El artículo o principio pertinente: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pedazo concreto que lo toca a usted.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 3 — La implicación para SU estudio: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tendrá que hacer o dejar de hacer por causa de esa norma.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modelado, párrafo completo: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Ley 1581 de 2012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establece el régimen general de protección de datos personales en Colombia."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"Su principio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finalidad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exige que los datos se recolecten para un propósito informado al titular."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"En consecuencia,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Proyecto II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registros de PQRS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anonimizarían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antes del análisis y se solicitaría autorización escrita a la entidad, sin conservar nombres ni números de identificación."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tercer tiempo es el que casi nadie escribe — y es el único que demuestra que usted entendió la norma.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Escríbalo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("se solicitaría", "se anonimizarían"): en Proyecto I nada se ejecuta todavía.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Si a usted no le aplica: cómo declararlo sin quedar mal parado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Declarar que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aplica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una respuesta profesional y válida. Lo que se penaliza no es la ausencia de leyes, es el silencio o la invención.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481328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Redacción sugerida: "El presente estudio no requiere marco legal específico, dado que su alcance se limita al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diseño metodológico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a la comparación de algoritmos sobre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datos sintéticos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sin tratamiento de datos personales ni intervención sobre sujetos humanos."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Nunca copie una lista de leyes de otro trabajo "por si acaso". Una norma que usted no puede explicar en la sustentación es una trampa que usted mismo se puso.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error #1 de APA: confundir la cita con la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Son dos objetos distintos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siempre van en pareja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Cita en el 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va dentro del párrafo. Es corta: apellido y año. Su función es señalar.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Referencia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va en la lista final. Es larga y completa. Su función es permitir que otro encuentre la fuente.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regla de oro, en las dos direcciones: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Toda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cuerpo debe tener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referencia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final → si falta, el lector no puede rastrear la fuente.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Toda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referencia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debe estar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citada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menos una vez → si sobra,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bibliografía huérfana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Cómo se verifica en 5 minutos: tome la lista final y busque cada apellido en el documento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Ctrl + F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Cero resultados en el cuerpo = referencia huérfana: o la cita, o la borra.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Meta mínima del avance de hoy: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cero citas huérfanas y cero referencias huérfanas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Cita narrativa vs. cita parentética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4364614"/>
                <a:gridCol w="43646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Autores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Narrativa (el autor va DENTRO de la frase)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Parentética (al final, entre paréntesis)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Pérez (2021)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sostiene que el sesgo algorítmico…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…el sesgo algorítmico persiste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(Pérez, 2021)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Pérez y Gómez (2021)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compararon dos modelos…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…dos modelos comparables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(Pérez y Gómez, 2021)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Tres o más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Rodríguez et al. (2022)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evaluaron el desempeño…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…un desempeño superior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(Rodríguez et al., 2022)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Institución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DANE (2023)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reporta que…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…según cifras oficiales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(DANE, 2023)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textual corta (&lt; 40 palabras)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Pérez (2021) afirma: "el sesgo se hereda del dato" (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p. 45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).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…"el sesgo se hereda del dato"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(Pérez, 2021, p. 45)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textual larga (≥ 40 palabras)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Bloque aparte,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sin comillas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con sangría de 1,27 cm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referencia con página va al final del bloque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tres o más autores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se usa `et al.`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desde la primera cita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(APA 7 eliminó la lista completa inicial). En textos en español se usa «y»; APA en inglés usa «&amp;».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Plantillas de referencia APA 7 por tipo de fuente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46024"/>
                <a:gridCol w="836551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Estructura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Artículo de revista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Apellido, N. (Año). Título del artículo.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Nombre de la Revista, vol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(núm.), pp–pp. https://doi.org/10.xxxx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Libro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Apellido, N. (Año).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Título del libro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(n.ª ed.). Editorial.  *(APA 7 ya no pide la ciudad)*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Capítulo de libro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Apellido, N. (Año). Título del capítulo. En N. Editor (Ed.),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Título del libro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(pp. xx–xx). Editorial.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Tesis o trabajo de grado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Apellido, N. (Año).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Título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[Tesis de especialización, Nombre de la Universidad]. Repositorio institucional. URL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Informe institucional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Organización. (Año).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Título del informe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(Informe n.º xx). URL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Página web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Autor. (Año, día de mes).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Título de la página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. Nombre del sitio. URL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Ley colombiana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Congreso de la República de Colombia. (Año, día de mes).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Ley xxxx de aaaa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. Diario Oficial n.º xxxxx. URL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Modelo de IA generativa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OpenAI. (Año).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ChatGPT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(versión) [Modelo de lenguaje grande]. URL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Lista de referencias: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orden alfabético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sangría francesa de 1,27 cm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 interlineado doble. Si la fuente tiene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DOI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el DOI manda sobre la URL.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 párrafo real y su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del cuerpo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(mezcla narrativa + parentética, como debe ser):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"La clasificación automática de peticiones ciudadanas ha mostrado mejoras sostenidas en tiempos de respuesta.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Hernández-Sampieri y Mendoza (2018)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advierten que toda medición requiere definir antes la variable; en esta línea, el desempeño de los clasificadores se evalúa hoy con métricas de precisión y exhaustividad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(Rodríguez et al., 2022)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 correspondientes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la lista final y en orden alfabético: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Hernández-Sampieri, R. y Mendoza, C. P. (2018).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Metodología de la investigación: las rutas cuantitativa, cualitativa y mixta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McGraw-Hill.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Rodríguez, L., Martínez, A. y Salas, J. (2022). Clasificación automática de peticiones ciudadanas.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Revista Colombiana de Computación, 23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(1), 45–61. https://doi.org/10.29375/ejemplo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Fíjese en tres detalles que se califican: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año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viaja siempre pegado al autor, en el texto y en la referencia.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volumen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va en negrita/cursiva y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número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entre paréntesis, sin negrita.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Los apellidos de la lista van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alfabéticos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en el orden en que usted los citó.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que voy a buscar en su avance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Bibliografía huérfana.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Referencias que nunca aparecen en el texto. O la cita en el cuerpo, o la retira de la lista: no hay tercera opción.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Leyes inventadas o mal numeradas.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Verifique número y año en la fuente oficial. Una "Ley 1518 de 2012" en vez de la 1581 delata que copió sin leer.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Falta el DOI o la URL.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la fuente lo tiene, va. Búsquelo en el propio artículo o en Google Scholar; ZoteroBib normalmente lo trae solo.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que voy a buscar en su avance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Estilos mezclados.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Decidir es simple: ¿el autor va dentro de la frase o entre paréntesis al final? Lo importante es que el criterio sea consistente en todo el documento.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dejar las referencias limpias con ZoteroBib (zbib.org)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Entre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zbib.org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navegador. No hay que instalar nada ni crear cuenta.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Pegue en la barra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DOI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URL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ISBN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el título exacto de la fuente y presione *Cite*.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Revise lo que trajo: nombres completos, año, revista, volumen. La herramienta acierta mucho, pero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siempre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Seleccione el estilo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American Psychological Association 7th edition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menú de estilos.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Repita con todas sus fuentes hasta armar la lista completa; el orden alfabético lo hace la herramienta.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*Copy to clipboard* → péguelo en su Google Doc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final del documento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Doc, aplique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sangría francesa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Formato → Alineación y sangría → Sangría especial →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Francesa (1,27 cm)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con la verificación cruzada: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Ctrl + F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cada apellido de la lista dentro del cuerpo del texto.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Alternativa integrada: en Google Docs,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Herramientas → Citas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permite insertar la cita y generar la lista sin salir del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esto corre en el navegador y 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gratis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no se requiere instalar ningún programa de escritorio ni complemento pago.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Limpieza legal y bibliográfica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su documento de avance abierto en Google Docs: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Decida si aplica marco legal y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párrafo con la fórmula de tres tiempos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norma, principio pertinente, implicación para su estudio.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no aplica, escriba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declaración argumentada de no aplicabilidad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(mínimo dos renglones, con razón explícita).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Regenere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todas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sus referencias en ZoteroBib con estilo APA 7 y aplique sangría francesa.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(d)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Haga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verificación cruzada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Ctrl + F: marque en amarillo toda referencia que no encuentre en el cuerpo.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cero resaltados en amarillo al terminar y el párrafo legal con la implicación redactada en condicional.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circula por los equipos durante el taller; levante la mano cuando llegue a la parte (d).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archivo como `S07_LegalAPA_Apellidos` en [URL CDigital — campus del curso pendiente].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esto queda cerrado el bloque referencial: antecedentes, teórico, conceptual, contextual y legal.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Marque cada casilla sobre su propio documento. Si alguna falla, todavía está a tiempo.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Toda cita del cuerpo tiene su referencia completa en la lista final.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Toda referencia de la lista aparece citada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menos una vez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cuerpo.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lista está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orden alfabético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sangría francesa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1,27 cm.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fuentes que tienen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DOI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 muestran en formato `https://doi.org/...`.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 tres o más autores uso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et al.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desde la primera cita, y de forma consistente.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norma citada viene acompañada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 implicación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mi estudio (o declaré que no aplica).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Ninguna norma del documento está ahí "por si acaso": puedo explicar todas en voz alta.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Los verbos del marco legal están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condicional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en pasado.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de esta semana: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Integre al documento las correcciones que reciba en la tutoría y deje el marco referencial cerrado.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Vuelva a correr la verificación cruzada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después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integrar: cada edición nueva puede crear una cita huérfana.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Guarde una copia del documento antes de la próxima sesión: sobre él construiremos la metodología.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 damos un salto grande: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pasamos del "qué" al "cómo".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Empezamos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diseño metodológico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paradigma, enfoque y alcance.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de investigación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escrita y a la mano — es la que decide el método.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Recuerde: las tutorías por equipo se acuerdan durante la semana con el Docente; no hay atención sin cita previa.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el material de apoyo y la plantilla APA quedan en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07: Marco legal · citación APA 7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