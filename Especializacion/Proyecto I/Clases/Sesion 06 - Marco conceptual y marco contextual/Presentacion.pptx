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MARCO CONCEPTUAL Y MARCO CONTEXTUAL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conceptual y marco contextual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Una palabra, cinco lectores, cinco significados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Escriba “adopción” en su anteproyecto y cinco lectores van a entender cinco cosas distintas.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¿Adopción es que instalen la herramienta? ¿Que la usen una vez? ¿Que la usen a diario durante un mes?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Mientras la palabra siga ambigua, el método no puede observar nada: no sabe qué buscar.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un equipo prometió “evaluar la usabilidad” de un asistente.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preguntarles qué era usabilidad para ellos, dieron tres respuestas distintas dentro del mismo equipo.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cerramos esa puerta con dos piezas: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(qué significan sus términos)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(dónde ocurre todo).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esto queda prácticamente completo el marco referencial del anteproyecto.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día: si dos lectores pueden entender cosas distintas por la misma palabra, esa palabra necesita definición operativa.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Marco conceptual: el diccionario operativo de su estudio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el apartado donde ustedes fijan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entenderán, en ESTE trabajo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sus términos clave.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la definición general del término: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definición de trabajo, la que van a poder usar.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Baja a tierra el marco teórico: traduce constructos abstractos a algo utilizable.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Marco teórico: “la retroalimentación formativa orienta la mejora del desempeño”.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Marco conceptual: “en este estudio, retroalimentación oportuna es la devolución entregada en 72 horas o menos”.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Cubre entre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y seis términos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los que su pregunta, sus objetivos y su método usan de verdad.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incluya términos que todo el mundo entiende igual (“estudiante”, “empresa”) salvo que su uso sea especial.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definición conserva su ancla teórica: se cita al autor y enseguida se dice cómo la ajusta 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Prueba: si un lector ajeno al equipo pudiera identificar el fenómeno con su definición en la mano, la definición sirve.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Definición teórica vs. definición operativa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64658"/>
                <a:gridCol w="4117560"/>
                <a:gridCol w="4529316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teórica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operativa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Responde 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es este concepto?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lo reconozco en mi contexto?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 dónde sale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 un autor, citado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 una decisión argumentada del equipo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Abstracta y general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Concreta, con umbral o criterio observable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“Retroalimentación que orienta la mejora del desempeño (Autor, año)”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“Devolución escrita con al menos un criterio de mejora, entregada en 72 horas o menos”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Sirve para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Ubicar el concepto en el campo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Que el método sepa qué observar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 falta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concepto queda sin respaldo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método queda sin punto de apoyo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Se escriben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las dos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y en ese orden. Una operativa sin ancla teórica es un capricho; una teórica sin operativa no se puede usar.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una definición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Fórmula: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“En este estudio, X se entiende como … y se reconoce cuando …”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primera parte fija el significado; la segunda, el criterio de reconocimiento.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criterio debe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verificable por otra persona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por la intuición del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“Uso frecuente” no sirve. “Al menos tres accesos por semana durante un mes” sí sirve.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el término admite grados, ponga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umbral o rango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adjetivos.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“retroalimentación rápida”. Bien: “devolución en 72 horas hábiles o menos”.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el término es cualitativo, ponga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rasgos observables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lugar de números.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“Fricción de uso” = mención explícita de un obstáculo al ejecutar la tarea con la herramienta.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umbral es una decisión, no una verdad revelada. Se sustenta con el autor, con un antecedente o con la realidad del contexto, pero se sustenta.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Así queda la tabla de definiciones en el documento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4719"/>
                <a:gridCol w="3174264"/>
                <a:gridCol w="3174264"/>
                <a:gridCol w="26782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Término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teórica (con autor)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operativa (cómo la uso yo)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le importa a la 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Retroalimentación oportuna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Devolución que llega a tiempo de influir en la siguiente entrega (Autor, año)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Devolución escrita entregada en 72 horas hábiles o menos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 indaga fricciones de tiempo: sin umbral no hay qué observar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Fricción de uso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Obstáculo percibido al ejecutar una tarea con una tecnología (Autor, año)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Mención explícita del usuario a un paso que lo detiene o lo obliga a repetir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la unidad que recogerá el instrumento propuesto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Asistente de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Sistema conversacional que apoya una tarea humana con lenguaje natural (Autor, año)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Herramienta de acceso web y gratuito, sin instalación, usada por docente o estudiante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Delimita qué herramientas entran y cuáles no en la propuesta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Cuatro columnas y de cuatro a seis filas.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 cuarta columna es obligatoria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sin ella la tabla es un glosario, no un marco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cómo se llenó la fila de “retroalimentación oportuna”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 — de dónde salió el término: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aparece en la pregunta y en el objetivo específico 1. No se inventó.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 — definición teórica: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tomó del autor ya trabajado en el marco teórico y se citó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 — la decisión difícil: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¿oportuna es 24 horas, 72 horas o una semana?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miraron dos cosas: qué reportan los antecedentes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cuál es el ciclo real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sesión semanal).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decidió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72 horas hábiles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porque permite corregir antes de la siguiente entrega.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 — se dejó el argumento escrito: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línea explicando por qué ese umbral y no otro.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5 — la cuarta columna: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“la pregunta indaga fricciones de tiempo; sin umbral, no hay qué observar”.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Resultado: cualquier lector puede aplicar esa definición y llegar a la misma clasificación que ustedes.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umbral puede cambiar en Proyecto II con la evidencia. Lo que no puede pasar es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exista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Marco contextual: el “dónde” que el método va a necesitar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Describe con precisión el escenario donde vive el problema: organización, aula, proceso, territorio.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restricciones reales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ese escenario: turnos, horarios, permisos, conectividad, personal.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criterio para incluir un dato de contexto es uno solo: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¿el método lo va a necesitar?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digo que la planta trabaja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turnos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es porque la propuesta tendrá que cubrirlos.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digo que el curso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sesión semanal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es porque eso define qué significa “oportuno”.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contexto: el panorama macro, tipo “en Colombia la IA crece a doble dígito”.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es un titular de prensa: no le dice absolutamente nada al método.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 I el escenario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describe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interviene: hoy nadie entra a la planta ni al aula a recolectar.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Extensión típica: una página. Precisa y aterrizada, nunca panorámica.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Contexto útil vs. contexto de relleno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85231"/>
                <a:gridCol w="2367597"/>
                <a:gridCol w="555870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Frase de relleno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falta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útil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“En Colombia la IA está en auge.”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dice dónde ocurre 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 planta opera tres turnos y cada supervisor cierra su reporte al final del turno.”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 empresa es líder de su sector.”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publicidad, no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“El área de mantenimiento recibe los reportes en papel y los digita al día siguiente.”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 educación virtual creció mucho.”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delimita el escenario del estudio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“El curso es presencial, tiene una sesión semanal y entrega informe cada quince días.”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 institución cuenta con tecnología moderna.”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dice qué hay ni qué falta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“Las aulas tienen conexión estable; los estudiantes usan equipos propios, sin software licenciado.”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 de poda: pregúntele a cada frase “¿esto cambia algo del método?”. Si no cambia nada, se borra.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se describe del contexto: lista de chequeo del escenario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Organización o unidad: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tipo es, a qué se dedica, tamaño aproximado, ubicación.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Proceso o práctica concreta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donde ocurre el fenómeno, descrito paso a paso.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la empresa entera: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línea de empaque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No el programa entero: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ese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Actores y roles: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ejecuta, quién supervisa, quién decide y quién usa la información.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Ritmos y tiempos: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turnos, sesiones, ciclos de entrega, periodicidad de los reportes.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Recursos y restricciones tecnológicas: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herramientas hay, conectividad, permisos, políticas de 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Condiciones de acceso: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autorizaciones haría falta gestionar más adelante para el trabajo de campo.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anticipan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se tramitan hoy: eso corresponde a Proyecto 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viñeta debe poder responderse con un dato concreto, no con un adjetivo.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un párrafo de contexto que sí sirve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“El estudio se ubica en la línea de empaque de una planta de alimentos del Valle del Cauca, con operación en tres turnos diarios.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turno tiene un supervisor responsable de registrar las paradas de máquina en una planilla física al cierre.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área de mantenimiento digita esas planillas al día siguiente y las consolida semanalmente.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planta cuenta con conectividad en la oficina de mantenimiento, pero no en el piso de producción.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acceso a los registros requiere autorización del jefe de planta, que se gestionará en la fase de campo de Proyecto II.”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Cuenten los datos que quedaron: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turnos, planilla física, digitación diferida, sin conectividad en piso, autorización pendiente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uno de esos cinco datos condiciona la propuesta. Por eso están, y por eso ninguno sobra.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Compárenlo con “la empresa es líder en su sector y apuesta por la innovación”: esa frase no le sirve al método para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conceptual y contextual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Copiar la definición del diccionario o de una enciclopedia.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 se busca la definición general del término, sino cómo lo va a usar USTED en este estudio, con umbral o con rasgos observables.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Dejar términos ambiguos.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“adopción”, “usabilidad” o “eficiencia” aparecen en su pregunta u objetivos sin definir, el método se cae. Primero se define; después se observa.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Confundir conceptual con teórico.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marco teórico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explica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fenómeno; el conceptual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define para poder usar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mismo término aparece en ambos, con distinta función.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conceptual y contextual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Contexto que el método no usará.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describe un dato del escenario y no puede decir en qué parte del método influye, recórtelo. El contexto sirve al método, no al conteo de páginas.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cómo se arma esto hoy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 acumulativo del equipo, abra dos subtítulos: “Marco conceptual” y “Marco contextual”.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una tabla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columnas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Término, Definición teórica, Definición operativa, Por qué le importa a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Traiga los términos desde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y sus 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desde la imaginación: subráyelos primero.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la segunda columna con las definiciones ya citadas en el marco teórico: reutilice, no reescriba.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la tercera con la fórmula “se entiende como… y se reconoce cuando…”, con umbral o rasgos.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la cuarta en una frase: qué se rompería en el estudio si ese término quedara ambiguo.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Debajo de la tabla, redacte el contexto en prosa siguiendo la lista de chequeo del escenario.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S06_ConceptualContextual_Apellidos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desde el navegador y sin costo: Google Docs para el documento, ZoteroBib para las citas nuevas. [URL CDigital — campus del curso pendiente]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(22 minutos) — definiciones operativas y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22 minutos, dos productos en el documento del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tabla conceptual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a seis términos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las cuatro columnas completas.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Una página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contextual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organización o aula, proceso, actores, ritmos y restricciones.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términos se toman de la pregunta y de los objetivos: si un término no aparece allí, no va en la tabla.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circula; prioridad para los equipos que no logren ponerle umbral a sus definiciones.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ningún término admite dos interpretaciones y cada dato de contexto se puede vincular a una decisión del método.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 en voz alta: el Docente lee una definición del equipo vecino y pregunta “¿esto cuenta o no cuenta?”. Debe haber una sola respuesta posible.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Suban el avance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S06_ConceptualContextual_Apellidos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Prohibido en este taller: definiciones copiadas de un diccionario y párrafos de contexto que empiecen por “en el mundo actual…”.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14565"/>
                <a:gridCol w="6268328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término sale de la pregunta o de los 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encuentro subrayado en esos textos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entre cuatro y seis términos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cuento en la tabla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definición teórica tiene autor y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celda de la segunda columna va sin cita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operativas tienen umbral o rasgos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queda ningún adjetivo suelto: rápido, frecuente, adecuado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cuarta columna está llena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fila dice qué se rompe si el término queda ambiguo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contexto responde con datos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Turnos, sesiones, roles, herramientas; no adjetivos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contexto panorámico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frase habla del país o del mundo en general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escenario se describe, no se interviene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aparece ninguna frase de recolección o de aplicación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Ocho casillas. La última es innegociable en Proyecto 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Terminar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tabla conceptual con todos sus términos y con la cuarta columna redactada.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texto contextual y pegarlo en el documento acumulativo, después del marco teórico.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Revisar hacia atrás: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¿alguna definición de hoy obliga a ajustar la pregunta o un objetivo? Si es así, ajústelo ya.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normal y es sano: el marco conceptual suele destapar ambigüedades de la formulación.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cada cita nueva esté en APA 7, generada en ZoteroBib o con las citas de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S06_ConceptualContextual_Apellidos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próxima sesión cierra el marco referencial: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legal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(cuando aplica) y clínica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citación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Traigan identificadas las normas, políticas o reglamentos que tocan su contexto: datos personales, reglamento interno, lineamientos del sector.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tutorías por equipo se acuerdan con el Docente durante la semana; el foco de esta semana es afinar definiciones.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Marco conceptual y marco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