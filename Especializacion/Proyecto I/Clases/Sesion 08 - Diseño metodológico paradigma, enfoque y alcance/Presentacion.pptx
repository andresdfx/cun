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08 — Diseño metodológico: paradigma, enfoque y alcance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Diseño metodológico: paradigma, enfoque y alcance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Dos preguntas de IA que NO se pueden investigar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Hasta hoy trabajamos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problema, pregunta, objetivos, marco. Desde hoy trabajamos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Lea estas dos preguntas y note que suenan parecidas, pero exigen métodos opuestos: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"¿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medida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clasificador automático reduce el tiempo de respuesta a las PQRS de una alcaldía?"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"¿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 experimentan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analistas de una IPS la incorporación de un asistente de IA en su rutina diaria?"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pide números, comparación y medición → ruta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cuantitativa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pide relatos, significados y experiencia vivida → ruta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cualitativa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usted responde la B con una encuesta de escalas cerradas, no está investigando: está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forzando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dato.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desajuste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pregunta–método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error más caro del anteproyecto, porque obliga a rehacerlo entero.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Aviso permanente: hoy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proponemos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diseño. Aplicarlo es trabajo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Proyecto II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aval.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decisiones distintas que la gente confunde en una sola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Paradigma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su postura sobre qué es el conocimiento y cómo se accede a él.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Responde: ¿la realidad se mide o se interpreta? Es el nivel más filosófico y el más corto de escribir.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Enfoque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cuantitativo, cualitativo o mixto. Define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tipo de dato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buscará.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elige por gusto ni por facilidad: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deriva de la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hasta dónde llega su conocimiento: exploratorio, descriptivo, correlacional o explicativo.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Responde: ¿voy a explorar, a retratar, a relacionar o a explicar la causa?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plan concreto de obtención de evidencia (experimental, no experimental, estudio de caso…).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el más operativo: dice qué se haría, con quién y en qué momento.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cuatro deben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conversar entre sí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una contradice a otra, el capítulo no se sostiene.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paradigmas, en el idioma del aula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3273460"/>
                <a:gridCol w="2546024"/>
                <a:gridCol w="236416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Paradigma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Supuesto sobre la realidad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busca producir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Encaja con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Positivista / pospositivista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una realidad medible, aproximable con datos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Medir, comparar, generalizar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 cuantitativo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Interpretativo (constructivista)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realidad se construye en el sentido que le dan las personas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Comprender significados y experiencias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 cualitativo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Sociocrítico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realidad está atravesada por relaciones de poder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Transformar una situación con los participantes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Cualitativo participativo (IAP)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Pragmático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Vale lo que responde mejor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Combinar rutas por utilidad y no por dogma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 mixto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En un anteproyecto de especialización, el paradigma se declara y se justifica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párrafo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No se escribe un ensayo de epistemología.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enfoque se DERIVA de la pregunta: los verbos la delatan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Lea su pregunta en voz alta y subraye el verbo y el conector. Ellos ya decidieron por usted.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Señales de ruta cuantitativa: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"en qué medida", "cuánto", "qué relación existe", "qué diferencia hay", "qué efecto tiene".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Implican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variables medibles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instrumentos estandarizados y análisis estadístico.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Señales de ruta cualitativa: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"cómo viven", "qué sentido le dan", "cómo se configuran", "qué percepciones", "cómo se experimenta".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Implican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categorías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entrevistas o documentos y análisis de contenido o codificación.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Señales de ruta mixta: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pregunta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cláusulas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piden cosas distintas.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Ejemplo: "¿en qué medida mejora el tiempo de respuesta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y cómo perciben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analistas ese cambio?"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rápida: si la respuesta ideal a su pregunta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número o una tabla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es cuantitativa.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respuesta ideal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descripción densa o un relato organizado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es cualitativa.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Cuantitativo · Cualitativo · Mixto, frente a frente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27659"/>
                <a:gridCol w="3091601"/>
                <a:gridCol w="3091601"/>
                <a:gridCol w="300067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Mixto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Lógica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Deductiva: de la teoría al dato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Inductiva: del dato a la categoría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Ambas, en secuencia o en paralelo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Qué se estudia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Variables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 indicadores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Categorías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significados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Variables + categorías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Dato típico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Escalas, conteos, métricas, logs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Entrevistas, documentos, observación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dos, integrados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Muestra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Grande, busca representatividad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Pequeña, busca profundidad y saturación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de cada tipo, justificadas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Análisis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Estadística descriptiva e inferencial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Codificación y análisis de contenido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Integración o "triangulación"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Cifras, tablas, correlaciones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Categorías, patrones, citas textuales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Convergencias y divergencias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Riesgo típico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Medir lo fácil y no lo importante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Perder rigor por falta de sistematicidad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Hacer dos estudios flojos en vez de uno bueno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1">
                <a:solidFill>
                  <a:srgbClr val="2B2B2B"/>
                </a:solidFill>
                <a:latin typeface="Calibri"/>
              </a:rPr>
              <a:t>Mixto no es "un poquito de cada uno".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Cuesta el doble: exige justificar por qué una sola ruta es insuficiente para responder su pregunta.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alcance: hasta dónde llega su estudio (Hernández-Sampieri)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18589"/>
                <a:gridCol w="3091601"/>
                <a:gridCol w="2727883"/>
                <a:gridCol w="32734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Alcance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típica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 en 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Exploratorio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está pasando con…? (tema poco estudiado)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Primer mapa, hipótesis por formular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Uso de IA generativa en juzgados municipales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Descriptivo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es? ¿Cuáles son sus características?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retrato con dimensiones y frecuencias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Caracterizar el flujo actual de PQRS y sus tiempos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Correlacional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relación hay entre X y Y?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Grado y sentido de la asociación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Relación entre calidad del dato y precisión del modelo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¿Por qué ocurre? ¿Qué efecto produce X sobre Y?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Explicación causal, casi siempre con diseño experimental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Efecto de la clasificación automática sobre el tiempo de respuesta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alcances son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acumulativos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un estudio correlacional describe antes de correlacionar. En una especialización, lo honesto suele ser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descriptivo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correlacional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y alcance no son lo mismo: la confusión que más se repite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dos ejes independientes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enfoque dice de qué material está hecho su dato (números o significados); el alcance dice qué tan lejos llega su conclusión (describir, relacionar, explicar).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Se combinan: existe un estudio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cualitativo descriptivo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también uno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cuantitativo descriptivo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"Descriptivo" no significa "cualitativo", aunque suene parecido.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Una frase como "mi investigación es de enfoque descriptivo" es un error de categoría, y se nota. Lo correcto: "enfoque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cuantitativo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alcance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descriptivo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Diseños que se proponen con más frecuencia en proyectos de 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2082"/>
                <a:gridCol w="2455095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Diseño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 qué consiste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conviene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Cuanti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 experimental transversal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mide una sola vez, sin manipular nada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Caracterizar una situación actual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Cuanti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 experimental longitudinal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mide el mismo objeto en varios momentos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Ver evolución de una métrica en el tiempo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Cuanti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Cuasiexperimental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comparación entre grupos, sin asignación aleatoria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Comparar proceso con y sin apoyo de 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Estudio de caso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profundo de una unidad delimitada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entidad, un área, un sistema concreto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Fenomenológico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Recupera la experiencia vivida de los participantes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experimentan…?"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Teoría fundamentada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Construye categorías desde el dato hasta saturar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Fenómenos poco teorizados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Cuali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Análisis documental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dato son documentos, actas, logs o repositorios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Cuando no hay acceso a personas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Mixto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Explicativo secuencial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Primero mide, luego explica con entrevistas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número muestra algo raro y hay que entenderlo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Elija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descríbalo. Un anteproyecto que lista cuatro diseños "posibles" es un anteproyecto que aún no decidió.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la misma idea, dos rutas distintas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Idea de partida: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IA aplicada a la atención de peticiones ciudadanas en una alcaldía municipal.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Versión A — pregunta cuantitativa: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"¿Qué relación existe entre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calidad de los datos de entrada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un clasificador de PQRS en la Alcaldía de X?"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Enfoque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cuantitativo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Alcance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correlacional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Diseño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experimental transversal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Técnica propuesta: análisis de un corpus histórico de PQRS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anonimizado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análisis con estadística descriptiva y correlación.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Versión B — pregunta cualitativa: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"¿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Cómo perciben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funcionarios de ventanilla la incorporación de un clasificador automático en su rutina de trabajo?"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Enfoque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cualitativo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Alcance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descriptivo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Diseño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estudio de caso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Técnica propuesta: entrevista semiestructurada a funcionarios; análisis por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categorías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codificación.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Misma idea, dos investigaciones legítimas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completamente distintas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Lo que cambió no fue el gusto del equipo: fue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verbo de la pregunta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matriz de coherencia: su herramienta de control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73460"/>
                <a:gridCol w="1363941"/>
                <a:gridCol w="1727659"/>
                <a:gridCol w="2364165"/>
                <a:gridCol w="218230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Alcance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Técnica propuesta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es coherente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relación hay entre calidad del dato y precisión del clasificador?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Correlacional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de corpus histórico anonimizado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Pide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relación entre dos variables medibles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perciben los funcionarios el uso del clasificador?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Descriptivo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 semiestructurada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Pide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significados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no magnitudes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¿Cuáles son las características actuales del flujo de PQRS?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Descriptivo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documental de registros y tiempos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Pide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retrato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no explicación causal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efecto tiene el clasificador sobre el tiempo de respuesta?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Cuasiexperimento con dos grupos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Pide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causa–efecto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exige comparación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 perciben el cambio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y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cuánto varía el tiempo?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Descriptivo + correlacional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Entrevistas + registros de tiempo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Dos cláusulas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distintas en una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última columna,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"por qué es coherente"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es la que se califica. Es la única que demuestra que usted derivó el método y no lo escogió al azar.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el capítulo metodológico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"Elegí cualitativo porque me gusta más" / "porque es más fácil".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enfoque se deriva de la pregunta. Si no puede derivarlo, el problema no es el método: es que la pregunta todavía está mal formulada.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Pregunta cualitativa con encuesta de escalas.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busca significados, entreviste. Una escala Likert nunca le va a contar cómo vive alguien un cambio.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"Mixto" sin justificación.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Escriba explícitamente qué parte de su pregunta no responde la ruta cuantitativa y qué parte no responde la cualitativa. Sin eso, mixto es una excusa para no decidir.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el capítulo metodológico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Aplicar el instrumento "solo para probar".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Proyecto I el diseño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propone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Recolectar datos sin aval es un riesgo real, no un adelanto.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para redactar el capítulo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inicio del capítulo, como encabezado de trabajo. Todo lo demás se deriva de ella.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paradigma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párrafo: cuál asume y por qué es congruente con lo que busca conocer.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Declare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enfoque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justifíquelo citando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verbo de su propia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Declare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diga qué se compromete a entregar: retrato, relación o explicación.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Nombre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descríbalo en dos o tres renglones operativos.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Añada un párrafo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coherencia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amarre objetivos específicos con la ruta metodológica.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verbos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todo el capítulo va en condicional o futuro ("se aplicaría", "se analizaría").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Cite el respaldo metodológico: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Hernández-Sampieri y Mendoza (2018)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texto guía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Relea de corrido: si algún párrafo se puede borrar sin que nada cambie, era relleno.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Su ficha metodológica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Google Doc nuevo, arme la tabla de cinco columnas de la matriz de coherencia.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Columnas: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| Enfoque | Alcance | Técnica propuesta | Por qué es coherente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sola fila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SU pregunta real. No con la del ejemplo.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Debajo de la tabla, escriba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párrafo de paradigma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(mínimo cuatro renglones) y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párrafo de justificación del enfoque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En la justificación debe aparecer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citado el verbo de su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"dado que la pregunta indaga *en qué medida*…".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lector que solo vea su tabla puede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predecir el tipo de instrumento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usted usaría.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al llenar la fila descubre que su pregunta no encaja en ninguna ruta, no fuerce el método: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corrija la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Eso también es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 por los equipos; tenga la pregunta visible en pantalla cuando llegue su turno.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como `S08_DisenoMetodologico_Apellidos` en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 pregunta está copiada literalmente al inicio del capítulo metodológico.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Declaré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paradigma, enfoque, alcance y diseño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separado, sin mezclarlos en una sola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 justificación del enfoque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 el verbo de mi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dice "porque es el más adecuado".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confundo enfoque con alcance: escribí, por ejemplo, "cuantitativo, de alcance descriptivo".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escribí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expliqué qué parte de la pregunta no responde cada ruta por separado.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Elegí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diseño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lo describí en términos operativos, no como lista de opciones.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Todos los verbos del capítulo están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condicional o futuro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nada aparece como ya ejecutado.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objetivos específicos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siguen alineados con la ruta que acabo de elegir.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Respaldé la elección metodológica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una cita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texto guía, en APA 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de esta semana: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Convierta la fila de su matriz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prosa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el capítulo metodológico se entrega redactado, la tabla es su borrador de control.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Revise si algún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 específico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quedó huérfano de método; si lo hay, o se ajusta el objetivo o se amplía la técnica.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Anote las dudas metodológicas concretas para llevarlas a la tutoría de la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 aterrizamos el método a personas y herramientas: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Población y muestra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propuestas, con criterios de inclusión y exclusión.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Técnicas e instrumentos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que en Proyecto I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bosquejan y proponen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nunca se aplican.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decidida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técnica tentativa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 el insumo con el que empezaremos.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tutorías por equipo se acuerdan durante la semana con el Docente; no hay atención sin cita previa.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08: Diseño metodológico: paradigma, enfoque y alcance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