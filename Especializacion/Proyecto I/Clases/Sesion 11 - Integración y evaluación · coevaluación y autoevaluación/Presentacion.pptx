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"/>
            <a:ext cx="1325880" cy="9192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303324"/>
            <a:ext cx="10911535" cy="14764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11 — Integración y evaluación · coevaluación y autoevaluación</a:t>
            </a:r>
          </a:p>
          <a:p>
            <a:pPr algn="ctr">
              <a:spcBef>
                <a:spcPts val="800"/>
              </a:spcBef>
            </a:pPr>
            <a:r>
              <a:rPr sz="1600" b="0" i="0">
                <a:solidFill>
                  <a:srgbClr val="CFDDEE"/>
                </a:solidFill>
                <a:latin typeface="Calibri"/>
              </a:rPr>
              <a:t>Proyecto I — Especialización en Inteligencia Artificial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37560"/>
            <a:ext cx="10911535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11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Integración y evaluación · coevaluación y autoevaluación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PROYECTO 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Su anteproyecto se va a leer de corrido: ¿historia o collage?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Quien evalúa su anteproyecto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lo lee por capítulos sueltos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lo lee de principio a fin, seguido.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Y en esa lectura corrida se nota, en dos minutos, si el documento es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una historia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o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un collage de tareas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Collage: el capítulo 1 promete una cosa, el método hace otra y el cronograma no menciona ninguna de las dos.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Historia: cada sección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recoge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lo que dijo la anterior y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prepara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la siguiente. No hay saltos ni sorpresas.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Hoy, en la última sesión de contenido, hacemos tres cosas concretas: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Verificar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la integración final con un checklist en mano, sección por sección.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Entrenar el ojo crítico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con una rúbrica de cuatro criterios, leyendo el trabajo de otro equipo.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Aplicar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los ajustes que valgan la pena en su propio documento, hoy mismo.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Lo que se corrige hoy no se corrige nunca más: después de este encuentro, el trabajo es autónomo.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Las tres preguntas de oro de la integración 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Si las tres respuestas son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sí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su anteproyecto está listo para el entregable final.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1. ¿El documento cuenta UNA sola historia de principio a fin?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Prueba: lea solo el problema y el cronograma. ¿Se nota que son del mismo proyecto?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2. ¿El APA está estable, sin citas ni referencias huérfanas?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Prueba: Ctrl + F de cada apellido de la lista final dentro del cuerpo. Cero resultados = referencia huérfana.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3. ¿Queda clarísimo que los instrumentos son PROPUESTOS y no aplicados?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Prueba: busque los verbos "se aplicó", "aplicamos", "los resultados muestran". Ninguno debería aparecer.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Un "más o menos" en cualquiera de las tres es un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Las tres se verifican con evidencia, no con impresión.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Estas tres preguntas son exactamente las que el Docente aplica al abrir su documento.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Checklist de secciones: verificación en 30 segundos cada una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45262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64165"/>
                <a:gridCol w="4182755"/>
                <a:gridCol w="4364614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Sección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Qué debe existir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Cómo lo verifico rápido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Problema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Situación concreta, situada y con afectados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¿Puedo nombrar dónde ocurre y a quién afecta?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Pregunta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Una sola, delimitada y respondible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Ctrl + F del signo "¿": ¿aparece una versión o dos?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Objetivos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General que responde la pregunta + específicos que lo desglosan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¿El verbo del general cabe dentro del alcance declarado?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Marco referencial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Antecedentes, teórico, conceptual, contextual y legal (o su no aplicabilidad)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¿Cada concepto del marco reaparece en el método?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Método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Paradigma, enfoque, alcance y diseño justificados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¿La justificación cita el verbo de mi pregunta?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Instrumento propuesto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Ítems redactados + matriz de alineación con objetivos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¿Todo ítem tiene objetivo y todo objetivo tiene ítems?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Cronograma y viabilidad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Fases con productos verificables y los cuatro frentes de viabilidad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¿Aparece la fase de avales y permisos?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2B2B2B"/>
                          </a:solidFill>
                          <a:latin typeface="Calibri"/>
                        </a:rPr>
                        <a:t>Referencias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Lista APA 7 alfabética, con sangría francesa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Ctrl + F apellido por apellido en el cuerpo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60807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Imprima o copie esta tabla y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márquela sobre su propio documento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durante la clase. Lo que no pueda verificar con evidencia, cuéntelo como faltante.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La prueba del hilo: léala en voz alta, en seis frases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Ejercicio que se hace en cinco minutos y detecta el 80 % de los problemas de coherencia.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Escriba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una sola frase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por cada eslabón, tomándola literalmente de su documento: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1.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"Mi problema es que…"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2.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"Por eso mi pregunta es…"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3.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"Para responderla me apoyo en…" (los conceptos centrales del marco).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4.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"Y lo haré con un enfoque… de alcance…" (método).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5.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"Usando como instrumento propuesto…"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6.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"En un cronograma de… fases hasta Proyecto II."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Ahora léalas seguidas: si al pasar de una a otra usted tiene que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explicar algo que no está escrito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ahí está el gap.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Si alguna frase no se puede tomar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literal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del documento, es porque esa sección todavía no dice lo que usted cree que dice.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Coevaluación y autoevaluación: qué son y qué NO 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Coevaluación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usted valora el trabajo de sus pares con criterios explícitos.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No es calificar la simpatía del compañero ni devolver el favor de una nota alta.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Su valor real: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entrena el ojo crítico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. Al detectar el problema en el trabajo ajeno, aprende a verlo en el propio.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Autoevaluación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— usted valora su propio desempeño y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argumenta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su valoración con evidencia.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No es ponerse la nota máxima por haber entregado, ni castigarse por modestia.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Su valor real: obliga a mirar el proceso completo, no solo el producto de la última semana.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Ambas son actividades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individuales de cierre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que cada estudiante diligencia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CDigital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cada una en su ventana.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El detalle logístico y el peso de cada componente están en la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Presentación del Curso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y en la plataforma.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Lo de hoy en clase es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práctica formativa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entrena, pero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reemplaza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la actividad oficial de la plataforma.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Rúbrica de coevaluación: cuatro criterios, tres niveles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251460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909518"/>
                <a:gridCol w="3000672"/>
                <a:gridCol w="3000672"/>
                <a:gridCol w="3000672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Criterio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Por mejorar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Aceptable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Sólido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Coherencia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La pregunta, los objetivos y el método apuntan a cosas distintas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El hilo se sigue, con uno o dos saltos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Cada sección recoge la anterior sin saltos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Delimitación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Es un tema general, sin lugar ni periodo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Está delimitado, pero el alcance es ambicioso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Objeto, lugar y periodo claros y alcanzables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Método propuesto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Enfoque sin justificar o incoherente con la pregunta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Justificado, pero el instrumento no cuelga de los objetivos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Enfoque derivado de la pregunta e instrumento alineado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2B2B2B"/>
                          </a:solidFill>
                          <a:latin typeface="Calibri"/>
                        </a:rPr>
                        <a:t>APA 7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Citas o referencias huérfanas; formatos mezclados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Formato correcto con dos o tres inconsistencias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Calibri"/>
                        </a:rPr>
                        <a:t>Cero huérfanas, lista alfabética con sangría francesa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Una rúbrica sirve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antes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 de entregar, no solo después de calificar. Úsela como lista de control sobre su propio trabajo.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Cómo se da un comentario que sí sirve: la fórmula en tres partes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Un buen comentario tiene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observación + ubicación + acción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 Si le falta alguna de las tres, no es accionable.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Observación concreta: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qué específicamente no funciona (no "está flojo").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Ubicación: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dónde está — página, sección, párrafo o número de ítem.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Acción sugerida: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qué haría usted para arreglarlo, en una frase que se pueda ejecutar.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Ejemplo aplicado a la fórmula: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"La pregunta (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p. 4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) no nombra el contexto donde ocurre el fenómeno;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agregue la entidad y el periodo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al final de la pregunta."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Tres reglas de convivencia para la coevaluación de hoy: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Se comenta el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documento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nunca a la persona: "la sección no delimita", no "ustedes no delimitaron".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Si señala un problema,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proponga una salida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; y reconozca al menos una cosa que quedó bien.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Feedback vago vs. feedback accionable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691639"/>
          <a:ext cx="10911534" cy="35204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819037"/>
                <a:gridCol w="7092497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Comentario vago (no sirve)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Calibri"/>
                        </a:rPr>
                        <a:t>Comentario accionable (sí sirve)</a:t>
                      </a:r>
                    </a:p>
                  </a:txBody>
                  <a:tcPr anchor="ctr" marL="109728" marR="91440" marT="36576" marB="36576">
                    <a:solidFill>
                      <a:srgbClr val="0C23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"Está bien, me gustó"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"El marco conceptual (p. 12) define bien 'sesgo algorítmico'; ese mismo nivel de detalle le falta a 'carga operativa'"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"Falta profundizar"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"El apartado de antecedentes solo trae fuentes nacionales; agregue dos internacionales de los últimos cinco años"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"No entendí el método"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"El enfoque dice cualitativo pero el instrumento (p. 20) es una escala Likert; o cambia el enfoque o cambia el instrumento"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"Revisen las normas APA"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"Las referencias 3, 7 y 11 no aparecen citadas en el cuerpo; cítelas o retírelas de la lista"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"El objetivo está mal"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"El OE3 dice 'implementar', pero el estudio solo propone; cámbielo por 'diseñar' o 'formular'"</a:t>
                      </a:r>
                    </a:p>
                  </a:txBody>
                  <a:tcPr anchor="ctr" marL="109728" marR="91440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"Muy ambicioso"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2B2B2B"/>
                          </a:solidFill>
                          <a:latin typeface="Calibri"/>
                        </a:rPr>
                        <a:t>"El cronograma asigna una semana a 500 encuestas; con la muestra que declaran serían al menos cuatro"</a:t>
                      </a:r>
                    </a:p>
                  </a:txBody>
                  <a:tcPr anchor="ctr" marL="109728" marR="91440" marT="36576" marB="36576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34924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0" i="1">
                <a:solidFill>
                  <a:srgbClr val="2B2B2B"/>
                </a:solidFill>
                <a:latin typeface="Calibri"/>
              </a:rPr>
              <a:t>El comentario de la derecha se puede </a:t>
            </a:r>
            <a:r>
              <a:rPr sz="1200" b="1" i="1">
                <a:solidFill>
                  <a:srgbClr val="2B2B2B"/>
                </a:solidFill>
                <a:latin typeface="Calibri"/>
              </a:rPr>
              <a:t>ejecutar hoy mismo</a:t>
            </a:r>
            <a:r>
              <a:rPr sz="1200" b="0" i="1">
                <a:solidFill>
                  <a:srgbClr val="2B2B2B"/>
                </a:solidFill>
                <a:latin typeface="Calibri"/>
              </a:rPr>
              <a:t>. El de la izquierda solo genera ansiedad. Esa es toda la diferencia.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Lo que hacemos hoy y lo que se diligencia en la plataforma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1225296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La coevaluación practicada en clase es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formativa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: entrena criterios. La actividad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oficial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de coevaluación y la de autoevaluación se diligencian de forma individual en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CDigital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, cada una en su ventana.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191256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300984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Participar en el ejercicio de clase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no marca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la actividad de la plataforma como cumplida. Son registros distintos: si no la diligencia en CDigital, no queda.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389120"/>
            <a:ext cx="10911535" cy="1225296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498848"/>
            <a:ext cx="1045433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El detalle logístico (ventanas, formato y peso de cada componente) está en la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Presentación del Curso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y publicado en [URL CDigital — campus del curso pendiente]. Revíselo apenas termine el encuentro.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Ejemplo modelado: un párrafo real y tres comentarios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Párrafo evaluado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(tomado de un anteproyecto tipo):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●   "Se implementará un modelo de inteligencia artificial para mejorar la atención al ciudadano. Se aplicó una encuesta a los funcionarios y los resultados muestran una alta carga operativa. La investigación es de tipo descriptiva."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Comentario 1 — criterio Método propuesto: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●   "El párrafo dice 'se aplicó' y 'los resultados muestran': eso ubica el estudio como ya ejecutado.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Reescriba en condicional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: 'se aplicaría', 'permitiría identificar'."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Comentario 2 — criterio Delimitación: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●   "'Mejorar la atención al ciudadano' no dice dónde ni a quiénes.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Agregue la entidad y el periodo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: 'en la oficina de atención al ciudadano de la Alcaldía de X'."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Comentario 3 — criterio Coherencia:</a:t>
            </a:r>
          </a:p>
          <a:p>
            <a:pPr lvl="1">
              <a:spcAft>
                <a:spcPts val="600"/>
              </a:spcAft>
            </a:pPr>
            <a:r>
              <a:rPr sz="1400" b="0" i="0">
                <a:solidFill>
                  <a:srgbClr val="2B2B2B"/>
                </a:solidFill>
                <a:latin typeface="Calibri"/>
              </a:rPr>
              <a:t>●   "'Implementar' promete un producto funcionando, pero el alcance declarado es </a:t>
            </a:r>
            <a:r>
              <a:rPr sz="1400" b="1" i="0">
                <a:solidFill>
                  <a:srgbClr val="2B2B2B"/>
                </a:solidFill>
                <a:latin typeface="Calibri"/>
              </a:rPr>
              <a:t>descriptivo</a:t>
            </a:r>
            <a:r>
              <a:rPr sz="1400" b="0" i="0">
                <a:solidFill>
                  <a:srgbClr val="2B2B2B"/>
                </a:solidFill>
                <a:latin typeface="Calibri"/>
              </a:rPr>
              <a:t>. Cambie el verbo por 'diseñar' o 'proponer', o ajuste el alcance."</a:t>
            </a:r>
          </a:p>
          <a:p>
            <a:pPr>
              <a:spcAft>
                <a:spcPts val="10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–   Los tres comentarios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caben en tres renglones cada uno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y se pueden aplicar de inmediato. Así son los que sirven.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Autoevaluarse con criterios (sin inflarse ni castigarse)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Autoevaluar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poner un número: es sostener una valoración con evidencia del proceso.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Use los mismos cuatro criterios de la rúbrica y responda por escrito, para cada uno: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¿Qué hice?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la acción concreta y verificable, no la intención.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¿Qué evidencia lo respalda?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la sección, el entregable o la corrección aplicada.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¿Qué me faltó?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— una debilidad reconocida honestamente vale más que un elogio genérico.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Ejemplo de argumentación bien hecha: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"En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APA 7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me ubico en nivel sólido: regeneré todas las referencias en ZoteroBib, apliqué sangría francesa y verifiqué una por una con Ctrl + F; no quedaron huérfanas."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"En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método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me ubico en aceptable: el enfoque quedó justificado, pero cuatro ítems del instrumento todavía no cuelgan de ningún objetivo."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Reconocer una debilidad concreta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baja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su valoración: demuestra que usted sabe leer su propio trabajo.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Errores frecuentes en el cierre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Presentar los instrumentos como aplicados.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Es la frontera de Proyecto I y la que se revisa con más rigor. Deje escrito y explícito que son una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propuesta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para Proyecto II.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935224"/>
            <a:ext cx="10911535" cy="969264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44952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Devolver feedback vago.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"Está bien" no ayuda a nadie y desperdicia el ejercicio. Use la fórmula: observación + ubicación + acción.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133087"/>
            <a:ext cx="10911535" cy="969264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242816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El documento suena a piezas pegadas.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Léalo de corrido en voz alta y una las costuras con frases de enlace entre secciones. La transición es parte del contenido.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Errores frecuentes en el cierre (cont.)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969264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1" i="0">
                <a:solidFill>
                  <a:srgbClr val="2B2B2B"/>
                </a:solidFill>
                <a:latin typeface="Calibri"/>
              </a:rPr>
              <a:t>Autoevaluarse sin criterios.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 Use la rúbrica de los cuatro criterios y argumente cada uno con evidencia; una nota sin argumento no es autoevaluación.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TALLER · Coevaluación entre pares y ajustes (20 minutos)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Consigna literal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en parejas de equipos (lectura cruzada):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(a)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Intercambien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una sección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del anteproyecto — de preferencia el método o el instrumento propuesto.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(b)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Ubique la sección recibida en la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rúbrica de cuatro criterios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y marque un nivel por criterio.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(c)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Escriba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tres comentarios accionables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uno por criterio distinto, con la fórmula observación + ubicación + acción.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(d)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Devuelva los comentarios al equipo autor y reciba los suyos.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(e)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Aplique de inmediato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, en su propio documento, al menos las mejoras que sean claramente pertinentes.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 verificable: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al cerrar el taller, su documento tiene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tres mejoras concretas aplicadas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usted puede señalarlas en pantalla.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Los comentarios que reciba y no aplique hoy, anótelos como pendientes con responsable.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suba el archivo como `S11_CierreIntegracion_Apellidos` en [URL CDigital — campus del curso pendiente].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Puente a Proyecto II: lo que queda listo y lo que NO se hizo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El cierre honesto de un anteproyecto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declara sus dos caras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y eso se valora.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Lo que queda listo para ejecutar apenas haya aval: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Problema delimitado, pregunta única y objetivos alineados.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Marco referencial completo con referencias en APA 7 verificadas.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Diseño metodológico justificado e instrumento propuesto, con su matriz de alineación.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Cronograma por fases, análisis de viabilidad y previsión de permisos.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Lo que NO se hizo, y está bien que no se haya hecho: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Todo el trabajo de campo: aplicación de instrumentos, recolección, análisis de datos reales y resultados.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Ese "lo que falta"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no es una debilidad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: es el alcance correcto de Proyecto I. Escríbalo así, con esas palabras, al cerrar el documento.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Checklist final antes de subir el anteproyecto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Las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tres preguntas de oro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dan sí: una sola historia, APA estable, instrumentos claramente propuestos.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Las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ocho secciones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del checklist están presentes y las puedo ubicar por página.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prueba del hilo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seis frases se lee sin que yo tenga que explicar nada por fuera del texto.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Apliqué al menos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tres mejoras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surgidas de la lectura de mis pares.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Todos los verbos del método y del instrumento están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condicional o futuro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El documento está en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un solo archivo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con índice automático, formato y voz unificados.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Las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correcciones de todos los avances anteriores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están efectivamente incorporadas.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Cerré el documento con el párrafo de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alcance de Proyecto I y puente a Proyecto II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Diligencié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coevaluación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y la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autoevaluación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 CDigital, cada una en su ventana.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Trabajo autónomo y cierre del ciclo sincrónico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Autónomo hasta el cierre del curso: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Pulido final del anteproyecto: aplique los pendientes que anotó hoy, en orden de impacto.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Lectura final de corrido, en voz alta, con el checklist de las ocho secciones al lado.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Última verificación cruzada de referencias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después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de la edición final.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Diligencie en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CDigital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la coevaluación y la autoevaluación, cada una en su ventana. Son individuales.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Acompañamiento: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las tutorías por equipo se acuerdan durante la semana con el Docente; no hay atención sin cita previa.</a:t>
            </a:r>
          </a:p>
          <a:p>
            <a:pPr lvl="1">
              <a:spcAft>
                <a:spcPts val="6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●   La tutoría de este encuentro es de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pulido final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: traiga el documento abierto y las dudas concretas.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Cierre del curso: sale con un anteproyecto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completo, coherente y viable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, listo para ejecutarse en Proyecto II una vez tenga el aval.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Gracias por el trabajo sostenido de todo el periodo. Nos vemos en las tutorías de cierre.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11: Integración y evaluación · coevaluación y autoevaluación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PROYECTO 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