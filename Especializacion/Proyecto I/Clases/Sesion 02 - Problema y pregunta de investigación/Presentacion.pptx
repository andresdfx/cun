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02 — PROBLEMA Y PREGUNTA DE INVESTIGACIÓN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Proyecto I — Especialización en Inteligencia Artificial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02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Problema y pregunta de investigación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PROYECTO 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Todo el anteproyecto cuelga de una sola frase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pregunta de investigación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la pieza que sostiene todo lo demás.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Objetivos, marco teórico y metodología no son secciones sueltas: son respuestas a esa frase.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la pregunta nace torcida, el error se hereda hasta el último capítulo de Proyecto II.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Caso de aula: un equipo llega diciendo “vamos a hacer un chatbot para la empresa donde trabajo”.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Eso es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solución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un problema: todavía nadie ha dicho qué le duele a quién.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recorremos el camino en el orden correcto: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dolor → problema → 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La solución llega mucho después.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Salida esperada de esta hora: dos textos escritos, un planteamiento de 8 a 12 líneas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pregunta.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del curso: en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Proyecto I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se diseña y se propone; el trabajo de campo es Proyecto II.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Tema, problema y pregunta: tres palabras que no son sinónimas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Tema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el territorio amplio donde quiero trabajar: “IA en educación”, “IA en la industria”.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tema no se investiga: se recorre. Nadie puede “responder” un territorio.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Problema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una tensión concreta y observable dentro de ese territorio.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Existe solo si puedo nombrar cuatro cosas: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actor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síntoma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contexto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consecuencia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Sin actor no hay a quién le duela; sin síntoma solo hay una buena intención.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la forma interrogativa que va a gobernar todo el método.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es cualquier duda: es la duda que el diseño propuesto podrá responder.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NO es un problema: que una tecnología “no se use lo suficiente”, o que a usted le parezca interesante.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Orden obligatorio: primero identifico a quién le duele algo; después lo formulo como pregunta.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Cuatro niveles que se confunden todo el tiempo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289545"/>
                <a:gridCol w="2182307"/>
                <a:gridCol w="4563005"/>
                <a:gridCol w="287667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Nivel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es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Ejemplo (línea educación)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Por qué no basta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Tema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territorio amplio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“IA en educación”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 se puede responder ni delimitar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Problema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tensión observable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“Los informes del curso X se devuelven semanas después y los errores se repiten”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Aún no está en forma de pregunta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interrogación que guía el método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“¿Qué prácticas de retroalimentación mediadas por IA pueden proponerse para el curso X?”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 la única que el método puede responder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Solución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producto imaginado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“Un bot que corrija informes”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Llega al final; empezar por aquí sesga todo el trabajo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su documento arranca en la fila 4, devuélvase a la fila 2: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el dolor primero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Anatomía del planteamiento: las cuatro piezas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(a) Síntoma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el hecho observable que alguien puede constatar hoy.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 escribe en presente y con evidencia: “se entrega tarde”, “se repite el mismo error”, “se registra a mano”.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(b) Contexto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dónde ocurre: una organización, un aula, un proceso o un turno concretos.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“En Colombia” no es contexto: es un titular de prensa.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(c) Actor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quién padece el síntoma y quién decide sobre él.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Suelen ser dos: quien lo sufre (estudiante, operario) y quien podría cambiarlo (docente, supervisor).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(d) Consecuencia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qué se pierde si nada cambia: tiempo, calidad, reprocesos, aprendizaje.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planteamiento cierra conectando esas cuatro piezas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línea de IA del programa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Prueba rápida: si al leer sus 10 líneas no se pueden señalar (a), (b), (c) y (d), el texto todavía no es un problema.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Pregunta débil vs. pregunta fuerte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80698"/>
                <a:gridCol w="2777481"/>
                <a:gridCol w="5753354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 débil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Por qué falla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Versión fuerte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¿La IA es útil en las empresas?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Sin actor, sin contexto y sin fenómeno; se responde “sí” y se acabó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¿Cómo perciben los supervisores de turno de la planta X el registro de paradas de máquina y qué apoyo esperarían de un asistente de IA?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¿ChatGPT ayuda a estudiar?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Pregunta de sí/no y de opinión; no delimita tarea ni población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prácticas de uso de un asistente conversacional reportan los estudiantes del curso X al elaborar informes de laboratorio y qué fricciones aparecen?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¿Cómo mejorar la educación con IA?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Pregunta planetaria: no cabe en el tiempo del programa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requisitos debería cumplir una propuesta de retroalimentación asistida por IA para el curso X, según docente y estudiantes?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¿Hago un bot para mi empresa?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Empieza por la solución; no hay fenómeno que estudiar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¿Cómo funciona hoy el proceso Y en la empresa Z y qué necesidades de información revela?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Las preguntas fuertes son largas y no suenan elegantes.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Eso está bien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una pregunta delimitada casi nunca es bonita.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filtro de las cinco preguntas (antes de enamorarse de la suya)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 ¿Quién?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el actor concreto. Si la respuesta es “todo el mundo”, no hay actor.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 ¿Dónde?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la organización, el aula o el proceso, con nombre y frontera.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 ¿Qué fenómeno?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el hecho que voy a observar, no la tecnología que me gusta.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 ¿En qué lapso?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¿cabe en el tiempo del programa? Si necesita dos años, recórtela.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 ¿Con qué acceso a la información?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¿tengo puerta de entrada a ese contexto?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Cuidado con la trampa: tener acceso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significa que hoy vaya a recolectar datos.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alguna respuesta es “no sé” o “todos”, la pregunta está cruda: recórtela hasta que responda las cinco.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Recortar no es rendirse. Una pregunta pequeña y respondible vale más que una grande e imposible.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abre una pregunta: arranques que sirven y arranques que la matan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80698"/>
                <a:gridCol w="3967830"/>
                <a:gridCol w="456300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Arranque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tipo de respuesta pide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Sirve cuando…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¿Cómo…?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Describe un proceso o una práctica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Quiere entender cómo ocurre algo hoy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¿Qué factores…?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Identifica elementos que influyen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Sospecha causas y quiere caracterizarlas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¿Qué características…?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Caracteriza un fenómeno o una población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Necesita describir antes de proponer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¿Qué requisitos…?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Establece criterios para una propuesta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Va a diseñar algo y debe fundamentarlo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¿En qué medida…?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Compara o gradúa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Ya tiene categorías o variables definidas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¿Es…? / ¿Sirve…?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Sí o no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Nunca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cierra la investigación en una palabra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¿Debo hacer…?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Una decisión personal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Nunca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eso es gestión, no investigación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Truco de reescritura: cambie “¿es…?” por “¿cómo…?”, “¿qué factores…?” o “¿en qué medida…?” y la pregunta se abre sola.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dos líneas oficiales de IA del programa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15087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975873"/>
                <a:gridCol w="3372656"/>
                <a:gridCol w="456300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Línea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 qué se ocupa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Ejemplo de problema que encaja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Uso y adaptación de IA para entornos productivos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IA aplicada a procesos de empresas, plantas, servicios y operación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registro manual de paradas de máquina en una línea de empaque impide priorizar mantenimiento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Implementación de IA en la educación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IA aplicada a enseñanza, aprendizaje, evaluación y acompañamiento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retroalimentación de informes llega semanas después y pierde su función formativa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337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1">
                <a:solidFill>
                  <a:srgbClr val="2B2B2B"/>
                </a:solidFill>
                <a:latin typeface="Calibri"/>
              </a:rPr>
              <a:t>No hay una tercera línea.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Si su tema no encaja en ninguna, se reformula: no se inventa una línea nueva. Escoja una sola.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1 — línea educación, paso a paso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Punto de partida (tema crudo): “usar IA para calificar más rápido”.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(a) Síntoma: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informes de laboratorio se devuelven semanas después y los mismos errores reaparecen en la entrega siguiente.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(b) Contexto: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curso de Laboratorio de Automatización de un programa técnico, presencial, una sesión semanal.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(c) Actores: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estudiantes que entregan y el docente que corrige.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(d) Consecuencia: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se pierde la función formativa de la devolución; el estudiante avanza repitiendo el error.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Pregunta resultante: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“¿Qué prácticas de retroalimentación mediadas por un asistente de IA podrían proponerse para el curso de Laboratorio de Automatización, a partir de las fricciones que reportan estudiantes y docente?”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Vea lo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dice: no dice “un chatbot”, no promete resultados y no afirma que la IA funcione.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Actor, fenómeno y contexto están los tres en la frase. Ese es exactamente el criterio de aprobación de hoy.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2 — línea entornos productivos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Punto de partida (tema crudo): “meterle IA al mantenimiento de la planta”.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(a) Síntoma: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las paradas de máquina se anotan a mano en una planilla al cierre del turno y llegan incompletas.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(b) Contexto: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línea de empaque de una planta de alimentos del Valle del Cauca, tres turnos diarios.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(c) Actores: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supervisores de turno que registran y el equipo de mantenimiento que usa el dato.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(d) Consecuencia: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mantenimiento no puede priorizar; se repiten fallas que nadie alcanzó a caracterizar.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Pregunta resultante: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“¿Cómo se registra actualmente la información de paradas de máquina en la línea de empaque de la planta X y qué requisitos debería cumplir una propuesta de asistente de IA para apoyar ese registro, según los supervisores de turno?”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Note el orden interno de la pregunta: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describe primero, propone después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Ese orden es lo que la hace viable.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Dos líneas distintas, la misma anatomía. Si su borrador no se deja desarmar así, todavía es un tema.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que hoy vamos a cortar de raíz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Empezar por la solución.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“Voy a hacer un chatbot” no es un problema. Guarde la solución un minuto y responda: ¿qué le duele hoy a alguien SIN ese chatbot? Ese dolor es su problema.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Pregunta que no cabe en el periodo.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no puede responderla con los recursos de un semestre, recórtela a un actor y un contexto. Recortar es una decisión metodológica, no una derrota.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645152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754880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Objetivo no es lo mismo que pregunta.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El objetivo empieza con verbo (“Caracterizar…”); la pregunta empieza con interrogante (“¿Cómo…?”). Van en secciones distintas del documento.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que hoy vamos a cortar de raíz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En Proyecto I no se recolecta nada.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 hay encuestas aplicadas, ni entrevistas, ni observación en campo: hoy se diseña y se propone. El trabajo de campo llega en Proyecto II, con aval previo.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cómo lo escriben hoy en Google Docs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Abran el documento del equipo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la plantilla APA de la CUN: uno solo, compartido con permiso de edición.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Creen tres subtítulos: “Planteamiento del problema”, “Pregunta de investigación” y “Línea de IA”.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Escriban primero las cuatro piezas en bruto, en viñetas: síntoma, contexto, actores, consecuencia.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Recién ahí redacten el párrafo corrido de 8 a 12 líneas. La viñeta se vuelve prosa, nunca al revés.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Escriban la pregunta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sola frase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resáltenla; si necesita dos frases, aún no está delimitada.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Marquen debajo la línea oficial de IA en la que encaja: una sola, escrita textualmente.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ya consultaron alguna fuente, generen la cita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ZoteroBib (zbib.org)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o con las citas integradas de Docs.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Suban el avance a CDigital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S02_ProblemaPregunta_Apellidos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Todo se hace desde el navegador, gratis y sin instalar nada. https://cdigital.cun.edu.co/course/view.php?id=130378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Borrador de problema y pregunta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Por equipos, en el documento del equipo · el Docente pasa por los equipos mientras escriben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final tiene: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planteamiento, la pregunta en una frase y la línea oficial de IA en que encaja.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 8 a 12 líneas de planteamiento: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síntoma, contexto, actores y consecuencia.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Su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pregunta de investigación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sola frase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línea oficial de 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la que encaja, escrita tal cual aparece en el programa.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4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Al cerrar, tres equipos leen en voz alta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solo su 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una frase cada uno.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clase, sin falta: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pasos 1 a 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Del 3 en adelante puede quedar en trabajo autónomo, pero antes de la próxima sesión.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Prohibido durante el taller: escribir la solución, prometer resultados o nombrar la herramienta que van a construir.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cómo se revisa y dónde se entrega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Borrador de problema y pregunta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Quedó bien si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—compruébelo usted antes de cerrar el documento—: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Al escuchar la pregunta se identifican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actor + fenómeno + contexto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falta uno de los tres, la pregunta vuelve a taller: no avanza a objetivos todavía.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 B: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se atasca en el síntoma, levante la mano: es donde el Docente entra primero. Y escriba el síntoma como algo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 puede contar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—cuántos, cada cuánto, cuánto cuesta—.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Hoy no se sube nada al aula: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guarde `S02_ProblemaPregunta_Apellidos` (Google Doc o PDF) en su Drive y tráigalo a la próxima sesión. Es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avance formativo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se revisa en clase.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Esto alimenta: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ACA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—tarea, 25%—, el documento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sí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recibe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; cierra en la semana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Sesión 07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subir el avance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482404"/>
                <a:gridCol w="6500489"/>
                <a:gridCol w="928641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Reviso que…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lo compruebo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Hay un actor concreto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Puedo señalar quién sufre el síntoma, con nombre de rol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Hay un contexto delimitado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Nombro organización, aula o proceso; no un país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síntoma es observable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Otra persona podría constatarlo sin creerme a mí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pregunta cabe en una frase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leo en 20 segundos sin quedarme sin aire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No empieza por “¿es…?”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Arranca con cómo, qué factores, qué características, qué requisitos o en qué medida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No propone una solución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Las palabras app, bot o sistema no aparecen en la pregunta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Encaja en una línea oficial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escribí textualmente debajo de la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No aplico instrumentos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No hay ninguna frase que diga “se aplicó” o “se encuestó”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Ocho casillas. Si alguna queda vacía, el avance todavía no está listo para subir a CDigital.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y qué traer 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Pulir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planteamiento hasta que las cuatro piezas se lean sin esfuerzo, en prosa continua.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Buscar tres referencias exploratorias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sobre su fenómeno en fuentes académicas abiertas: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Google Scholar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SciELO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Redalyc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todas gratuitas y desde el navegador.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Guarden de cada una: autor, año, título y el enlace o DOI.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Generar la cita APA 7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esas tres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ZoteroBib (zbib.org)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pegarlas al final del documento.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Subir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avance a CDigital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S02_ProblemaPregunta_Apellidos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próxima sesión todo cuelga de esta pregunta: escribimos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objetivo general, específicos, justificación, alcances y limitaciones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durante la semana la pregunta cambia —es normal—, actualícenla en el documento antes del próximo encuentro.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Las tutorías por equipo se acuerdan con el Docente durante la semana; no hay atención espontánea sin cita.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RUTA DE ENTREGABLES DEL CURSO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Sin fechas a propósito: aquí va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qué punto del curso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cierra cada ítem · la ventana exacta la fija CDigital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59113"/>
                <a:gridCol w="2659113"/>
                <a:gridCol w="559330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Cierra en la semana de…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Entregable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debes tener 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cierra esta semana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25%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Estudia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problema y pregunta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de investigación; resuélvelo dentro de su ventana.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07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Tarea · 25%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 en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plantilla APA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problema, pregunta, objetivos, mínimo 6 antecedentes y los marcos.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10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Tarea · 42%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 el anteproyecto integrado con las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correcciones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de la ACA 1, metodología y viabilidad.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Diligénciala tú, dentro de su ventana, según tu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participación real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Foro · 4%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Publica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tu propio aporte y valora hechos del trabajo del equipo, con respeto.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1663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Esta misma tabla va al final de todas las sesiones.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 cada ventana está en el enunciado del ítem (`Clases/Recursos/ACAs/`) y en el aula: si el aula y cualquier otro material se contradicen,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manda el aula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02: Problema y pregunta de investigación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PROYECTO 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