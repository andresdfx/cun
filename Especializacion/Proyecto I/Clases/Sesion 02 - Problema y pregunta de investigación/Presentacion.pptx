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gmw6EEk8JyHYTPndGd624giGGa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40F404-45B6-410F-ADA1-F103ECC86602}">
  <a:tblStyle styleId="{B840F404-45B6-410F-ADA1-F103ECC8660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3f57b7b6f_2_94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g3f3f57b7b6f_2_94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g3f3f57b7b6f_2_9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f3f57b7b6f_2_98"/>
          <p:cNvSpPr txBox="1"/>
          <p:nvPr>
            <p:ph type="title"/>
          </p:nvPr>
        </p:nvSpPr>
        <p:spPr>
          <a:xfrm>
            <a:off x="415589" y="2867800"/>
            <a:ext cx="113604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g3f3f57b7b6f_2_98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3f3f57b7b6f_2_101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g3f3f57b7b6f_2_101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g3f3f57b7b6f_2_10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f3f57b7b6f_2_105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g3f3f57b7b6f_2_105"/>
          <p:cNvSpPr txBox="1"/>
          <p:nvPr>
            <p:ph idx="1" type="body"/>
          </p:nvPr>
        </p:nvSpPr>
        <p:spPr>
          <a:xfrm>
            <a:off x="415589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g3f3f57b7b6f_2_105"/>
          <p:cNvSpPr txBox="1"/>
          <p:nvPr>
            <p:ph idx="2" type="body"/>
          </p:nvPr>
        </p:nvSpPr>
        <p:spPr>
          <a:xfrm>
            <a:off x="6443028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g3f3f57b7b6f_2_105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3f57b7b6f_2_110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g3f3f57b7b6f_2_11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3f57b7b6f_2_113"/>
          <p:cNvSpPr txBox="1"/>
          <p:nvPr>
            <p:ph type="title"/>
          </p:nvPr>
        </p:nvSpPr>
        <p:spPr>
          <a:xfrm>
            <a:off x="415589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g3f3f57b7b6f_2_113"/>
          <p:cNvSpPr txBox="1"/>
          <p:nvPr>
            <p:ph idx="1" type="body"/>
          </p:nvPr>
        </p:nvSpPr>
        <p:spPr>
          <a:xfrm>
            <a:off x="415589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g3f3f57b7b6f_2_11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3f57b7b6f_2_117"/>
          <p:cNvSpPr txBox="1"/>
          <p:nvPr>
            <p:ph type="title"/>
          </p:nvPr>
        </p:nvSpPr>
        <p:spPr>
          <a:xfrm>
            <a:off x="653649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g3f3f57b7b6f_2_117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f3f57b7b6f_2_120"/>
          <p:cNvSpPr/>
          <p:nvPr/>
        </p:nvSpPr>
        <p:spPr>
          <a:xfrm>
            <a:off x="6095838" y="-167"/>
            <a:ext cx="60957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f3f57b7b6f_2_120"/>
          <p:cNvSpPr txBox="1"/>
          <p:nvPr>
            <p:ph type="title"/>
          </p:nvPr>
        </p:nvSpPr>
        <p:spPr>
          <a:xfrm>
            <a:off x="353991" y="1644233"/>
            <a:ext cx="53934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g3f3f57b7b6f_2_120"/>
          <p:cNvSpPr txBox="1"/>
          <p:nvPr>
            <p:ph idx="1" type="subTitle"/>
          </p:nvPr>
        </p:nvSpPr>
        <p:spPr>
          <a:xfrm>
            <a:off x="353991" y="3737433"/>
            <a:ext cx="53934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g3f3f57b7b6f_2_120"/>
          <p:cNvSpPr txBox="1"/>
          <p:nvPr>
            <p:ph idx="2" type="body"/>
          </p:nvPr>
        </p:nvSpPr>
        <p:spPr>
          <a:xfrm>
            <a:off x="6585824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g3f3f57b7b6f_2_12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3f57b7b6f_2_126"/>
          <p:cNvSpPr txBox="1"/>
          <p:nvPr>
            <p:ph idx="1" type="body"/>
          </p:nvPr>
        </p:nvSpPr>
        <p:spPr>
          <a:xfrm>
            <a:off x="415589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g3f3f57b7b6f_2_126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3f57b7b6f_2_129"/>
          <p:cNvSpPr txBox="1"/>
          <p:nvPr>
            <p:ph hasCustomPrompt="1" type="title"/>
          </p:nvPr>
        </p:nvSpPr>
        <p:spPr>
          <a:xfrm>
            <a:off x="415589" y="1474833"/>
            <a:ext cx="113604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g3f3f57b7b6f_2_129"/>
          <p:cNvSpPr txBox="1"/>
          <p:nvPr>
            <p:ph idx="1" type="body"/>
          </p:nvPr>
        </p:nvSpPr>
        <p:spPr>
          <a:xfrm>
            <a:off x="415589" y="4202967"/>
            <a:ext cx="113604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g3f3f57b7b6f_2_129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3f57b7b6f_2_13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3f57b7b6f_2_90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g3f3f57b7b6f_2_90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g3f3f57b7b6f_2_9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02 — PROBLEMA Y PREGUNTA DE INVESTIGACIÓN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Proyecto I — Especialización en Inteligencia Artificial</a:t>
            </a:r>
            <a:endParaRPr/>
          </a:p>
        </p:txBody>
      </p:sp>
      <p:sp>
        <p:nvSpPr>
          <p:cNvPr id="58" name="Google Shape;5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Problema y pregunta de investigación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PROYECTO 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 txBox="1"/>
          <p:nvPr/>
        </p:nvSpPr>
        <p:spPr>
          <a:xfrm>
            <a:off x="340950" y="-65950"/>
            <a:ext cx="10595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TODO EL ANTEPROYECTO CUELGA DE UNA SOLA FRASE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743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640080" y="1691639"/>
            <a:ext cx="10911600" cy="29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de investigación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la pieza que sostiene todo lo demás.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Objetivos, marco teórico y metodología no son secciones sueltas: son respuestas a esa frase.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la pregunta nace torcida, el error se hereda hasta el último capítulo de Proyecto II.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Caso de aula: un equipo llega diciendo “vamos a hacer un chatbot para la empresa donde trabajo”.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Eso es una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un problema: todavía nadie ha dicho qué le duele a quién.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Hoy recorremos el camino en el orden correcto: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dolor → problema → pregunta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La solución llega mucho después.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Salida esperada de esta hora: dos textos escritos, un planteamiento de 8 a 12 líneas y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pregunta.</a:t>
            </a:r>
            <a:endParaRPr sz="1700"/>
          </a:p>
        </p:txBody>
      </p:sp>
      <p:sp>
        <p:nvSpPr>
          <p:cNvPr id="66" name="Google Shape;66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67" name="Google Shape;67;p2"/>
          <p:cNvSpPr txBox="1"/>
          <p:nvPr/>
        </p:nvSpPr>
        <p:spPr>
          <a:xfrm>
            <a:off x="640080" y="4990700"/>
            <a:ext cx="999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del curso: en </a:t>
            </a:r>
            <a:r>
              <a:rPr b="1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r>
              <a:rPr b="0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diseña y se propone; el trabajo de campo es Proyecto II.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 txBox="1"/>
          <p:nvPr/>
        </p:nvSpPr>
        <p:spPr>
          <a:xfrm>
            <a:off x="640074" y="0"/>
            <a:ext cx="105666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TEMA, PROBLEMA Y PREGUNTA: TRES PALABRAS QUE NO SON SINÓNIMAS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640080" y="1691639"/>
            <a:ext cx="10911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el territorio amplio donde quiero trabajar: “IA en educación”, “IA en la industria”.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tema no se investiga: se recorre. Nadie puede “responder” un territorio.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una tensión concreta y observable dentro de ese territorio.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Existe solo si puedo nombrar cuatro cosas: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síntoma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consecuencia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Sin actor no hay a quién le duela; sin síntoma solo hay una buena intención.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la forma interrogativa que va a gobernar todo el método.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cualquier duda: es la duda que el diseño propuesto podrá responder.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NO es un problema: que una tecnología “no se use lo suficiente”, o que a usted le parezca interesante.</a:t>
            </a:r>
            <a:endParaRPr sz="1700"/>
          </a:p>
        </p:txBody>
      </p:sp>
      <p:sp>
        <p:nvSpPr>
          <p:cNvPr id="75" name="Google Shape;75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76" name="Google Shape;76;p3"/>
          <p:cNvSpPr txBox="1"/>
          <p:nvPr/>
        </p:nvSpPr>
        <p:spPr>
          <a:xfrm>
            <a:off x="640080" y="5325800"/>
            <a:ext cx="999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Orden obligatorio: primero identifico a quién le duele algo; después lo formulo como pregunta.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640075" y="0"/>
            <a:ext cx="103788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CUATRO NIVELES QUE SE CONFUNDEN TODO EL TIEMPO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3" name="Google Shape;83;p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1289550"/>
                <a:gridCol w="2182300"/>
                <a:gridCol w="4563000"/>
                <a:gridCol w="28766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Nivel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es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(línea educación)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no basta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territorio amplio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“IA en educación”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se puede responder ni delimitar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tensión observable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“Los informes del curso X se devuelven semanas después y los errores se repiten”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Aún no está en forma de pregunta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interrogación que guía el método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“¿Qué prácticas de retroalimentación mediadas por IA pueden proponerse para el curso X?”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 la única que el método puede responder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Solución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producto imaginado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“Un bot que corrija informes”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Llega al final; empezar por aquí sesga todo el trabajo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4" name="Google Shape;84;p4"/>
          <p:cNvSpPr txBox="1"/>
          <p:nvPr/>
        </p:nvSpPr>
        <p:spPr>
          <a:xfrm>
            <a:off x="640068" y="4808925"/>
            <a:ext cx="109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su documento arranca en la fila 4, devuélvase a la fila 2: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dolor primero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</p:txBody>
      </p:sp>
      <p:sp>
        <p:nvSpPr>
          <p:cNvPr id="85" name="Google Shape;85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640075" y="0"/>
            <a:ext cx="10292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ANATOMÍA DEL PLANTEAMIENTO: LAS CUATRO PIEZAS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640080" y="1691639"/>
            <a:ext cx="10911600" cy="29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observable que alguien puede constatar hoy.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Se escribe en presente y con evidencia: “se entrega tarde”, “se repite el mismo error”, “se registra a mano”.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dónde ocurre: una organización, un aula, un proceso o un turno concretos.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“En Colombia” no es contexto: es un titular de prensa.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quién padece el síntoma y quién decide sobre él.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Suelen ser dos: quien lo sufre (estudiante, operario) y quien podría cambiarlo (docente, supervisor).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qué se pierde si nada cambia: tiempo, calidad, reprocesos, aprendizaje.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planteamiento cierra conectando esas cuatro piezas con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línea de IA del programa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</p:txBody>
      </p:sp>
      <p:sp>
        <p:nvSpPr>
          <p:cNvPr id="93" name="Google Shape;93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640080" y="49925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rápida: si al leer sus 10 líneas no se pueden señalar (a), (b), (c) y (d), el texto todavía no es un problema.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640075" y="0"/>
            <a:ext cx="10595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PREGUNTA DÉBIL VS. PREGUNTA FUERTE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1" name="Google Shape;101;p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2380700"/>
                <a:gridCol w="2777475"/>
                <a:gridCol w="57533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débil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falla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Versión fuerte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¿La IA es útil en las empresas?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 actor, sin contexto y sin fenómeno; se responde “sí” y se acabó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¿ChatGPT ayuda a estudiar?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sí/no y de opinión; no delimita tarea ni población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mejorar la educación con IA?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planetaria: no cabe en el tiempo del programa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 debería cumplir una propuesta de retroalimentación asistida por IA para el curso X, según docente y estudiantes?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¿Hago un bot para mi empresa?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Empieza por la solución; no hay fenómeno que estudiar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funciona hoy el proceso Y en la empresa Z y qué necesidades de información revela?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2" name="Google Shape;102;p6"/>
          <p:cNvSpPr txBox="1"/>
          <p:nvPr/>
        </p:nvSpPr>
        <p:spPr>
          <a:xfrm>
            <a:off x="640068" y="4997925"/>
            <a:ext cx="109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 fuertes son largas y no suenan elegantes.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Eso está bien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una pregunta delimitada casi nunca es bonita.</a:t>
            </a:r>
            <a:endParaRPr sz="1600"/>
          </a:p>
        </p:txBody>
      </p:sp>
      <p:sp>
        <p:nvSpPr>
          <p:cNvPr id="103" name="Google Shape;103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filtro de las cinco preguntas (antes de enamorarse de la suya)</a:t>
            </a: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¿Quién?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actor concreto. Si la respuesta es “todo el mundo”, no hay actor.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¿Dónde?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la organización, el aula o el proceso, con nombre y frontera.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 ¿Qué fenómeno?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que voy a observar, no la tecnología que me gusta.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 ¿En qué lapso?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¿cabe en el tiempo del programa? Si necesita dos años, recórtela.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 ¿Con qué acceso a la información?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¿tengo puerta de entrada a ese contexto?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Cuidado con la trampa: tener acceso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significa que hoy vaya a recolectar datos.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alguna respuesta es “no sé” o “todos”, la pregunta está cruda: recórtela hasta que responda las cinco.</a:t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Recortar no es rendirse. Una pregunta pequeña y respondible vale más que una grande e imposible.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abre una pregunta: arranques que sirven y arranques que la matan</a:t>
            </a:r>
            <a:endParaRPr/>
          </a:p>
        </p:txBody>
      </p:sp>
      <p:graphicFrame>
        <p:nvGraphicFramePr>
          <p:cNvPr id="119" name="Google Shape;119;p8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2380700"/>
                <a:gridCol w="3967825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Arranque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tipo de respuesta pide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Sirve cuando…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Describe un proceso o una práctica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Quiere entender cómo ocurre algo hoy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factores…?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Identifica elementos que influyen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Sospecha causas y quiere caracterizarlas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características…?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Caracteriza un fenómeno o una población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Necesita describir antes de proponer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Establece criterios para una propuesta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 a diseñar algo y debe fundamentarlo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¿En qué medida…?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Compara o gradúa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 tiene categorías o variables definidas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¿Es…? / ¿Sirve…?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 o no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cierra la investigación en una palabra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¿Debo hacer…?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 decisión personal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eso es gestión, no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Google Shape;120;p8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Truco de reescritura: cambie “¿es…?” por “¿cómo…?”, “¿qué factores…?” o “¿en qué medida…?” y la pregunta se abre sola.</a:t>
            </a:r>
            <a:endParaRPr/>
          </a:p>
        </p:txBody>
      </p:sp>
      <p:sp>
        <p:nvSpPr>
          <p:cNvPr id="121" name="Google Shape;121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dos líneas oficiales de IA del programa</a:t>
            </a:r>
            <a:endParaRPr/>
          </a:p>
        </p:txBody>
      </p:sp>
      <p:graphicFrame>
        <p:nvGraphicFramePr>
          <p:cNvPr id="128" name="Google Shape;128;p9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2975875"/>
                <a:gridCol w="3372650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de problema que encaja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Uso y adaptación de IA para entornos productivos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procesos de empresas, plantas, servicios y operación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registro manual de paradas de máquina en una línea de empaque impide priorizar mantenimiento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Implementación de IA en la educación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enseñanza, aprendizaje, evaluación y acompañamiento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retroalimentación de informes llega semanas después y pierde su función formativa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9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hay una tercera línea.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su tema no encaja en ninguna, se reformula: no se inventa una línea nueva. Escoja una sola.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1 — línea educación, paso a paso</a:t>
            </a:r>
            <a:endParaRPr/>
          </a:p>
        </p:txBody>
      </p:sp>
      <p:sp>
        <p:nvSpPr>
          <p:cNvPr id="137" name="Google Shape;137;p1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“usar IA para calificar más rápido”.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informes de laboratorio se devuelven semanas después y los mismos errores reaparecen en la entrega siguiente.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de Laboratorio de Automatización de un programa técnico, presencial, una sesión semanal.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estudiantes que entregan y el docente que corrige.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pierde la función formativa de la devolución; el estudiante avanza repitiendo el error.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Vea lo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dice: no dice “un chatbot”, no promete resultados y no afirma que la IA funcione.</a:t>
            </a:r>
            <a:endParaRPr/>
          </a:p>
        </p:txBody>
      </p:sp>
      <p:sp>
        <p:nvSpPr>
          <p:cNvPr id="138" name="Google Shape;138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39" name="Google Shape;139;p10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Actor, fenómeno y contexto están los tres en la frase. Ese es exactamente el criterio de aprobación de hoy.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2 — línea entornos productivos</a:t>
            </a:r>
            <a:endParaRPr/>
          </a:p>
        </p:txBody>
      </p:sp>
      <p:sp>
        <p:nvSpPr>
          <p:cNvPr id="146" name="Google Shape;146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“meterle IA al mantenimiento de la planta”.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las paradas de máquina se anotan a mano en una planilla al cierre del turno y llegan incompletas.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línea de empaque de una planta de alimentos del Valle del Cauca, tres turnos diarios.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supervisores de turno que registran y el equipo de mantenimiento que usa el dato.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mantenimiento no puede priorizar; se repiten fallas que nadie alcanzó a caracterizar.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Note el orden interno de la pregunta: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describe primero, propone después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Ese orden es lo que la hace viable.</a:t>
            </a:r>
            <a:endParaRPr/>
          </a:p>
        </p:txBody>
      </p:sp>
      <p:sp>
        <p:nvSpPr>
          <p:cNvPr id="147" name="Google Shape;147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48" name="Google Shape;148;p11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líneas distintas, la misma anatomía. Si su borrador no se deja desarmar así, todavía es un tema.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</a:t>
            </a:r>
            <a:endParaRPr/>
          </a:p>
        </p:txBody>
      </p:sp>
      <p:sp>
        <p:nvSpPr>
          <p:cNvPr id="155" name="Google Shape;155;p12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2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Empezar por la solución.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“Voy a hacer un chatbot” no es un problema. Guarde la solución un minuto y responda: ¿qué le duele hoy a alguien SIN ese chatbot? Ese dolor es su problema.</a:t>
            </a:r>
            <a:endParaRPr/>
          </a:p>
        </p:txBody>
      </p:sp>
      <p:sp>
        <p:nvSpPr>
          <p:cNvPr id="157" name="Google Shape;157;p12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2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que no cabe en el periodo.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puede responderla con los recursos de un semestre, recórtela a un actor y un contexto. Recortar es una decisión metodológica, no una derrota.</a:t>
            </a:r>
            <a:endParaRPr/>
          </a:p>
        </p:txBody>
      </p:sp>
      <p:sp>
        <p:nvSpPr>
          <p:cNvPr id="159" name="Google Shape;159;p12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2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no es lo mismo que pregunta.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objetivo empieza con verbo (“Caracterizar…”); la pregunta empieza con interrogante (“¿Cómo…?”). Van en secciones distintas del documento.</a:t>
            </a:r>
            <a:endParaRPr/>
          </a:p>
        </p:txBody>
      </p:sp>
      <p:sp>
        <p:nvSpPr>
          <p:cNvPr id="161" name="Google Shape;161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 (cont.)</a:t>
            </a:r>
            <a:endParaRPr/>
          </a:p>
        </p:txBody>
      </p:sp>
      <p:sp>
        <p:nvSpPr>
          <p:cNvPr id="168" name="Google Shape;168;p13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Proyecto I no se recolecta nada.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hay encuestas aplicadas, ni entrevistas, ni observación en campo: hoy se diseña y se propone. El trabajo de campo llega en Proyecto II, con aval previo.</a:t>
            </a:r>
            <a:endParaRPr/>
          </a:p>
        </p:txBody>
      </p:sp>
      <p:sp>
        <p:nvSpPr>
          <p:cNvPr id="170" name="Google Shape;170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cómo lo escriben hoy en Google Docs</a:t>
            </a:r>
            <a:endParaRPr/>
          </a:p>
        </p:txBody>
      </p:sp>
      <p:sp>
        <p:nvSpPr>
          <p:cNvPr id="177" name="Google Shape;177;p1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Abran el documento del equipo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la plantilla APA de la CUN: uno solo, compartido con permiso de edición.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Creen tres subtítulos: “Planteamiento del problema”, “Pregunta de investigación” y “Línea de IA”.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primero las cuatro piezas en bruto, en viñetas: síntoma, contexto, actores, consecuencia.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Recién ahí redacten el párrafo corrido de 8 a 12 líneas. La viñeta se vuelve prosa, nunca al revés.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la pregunta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resáltenla; si necesita dos frases, aún no está delimitada.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Marquen debajo la línea oficial de IA en la que encaja: una sola, escrita textualmente.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ya consultaron alguna fuente, generen la cita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con las citas integradas de Docs.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Suban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78" name="Google Shape;178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179" name="Google Shape;179;p14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Todo se hace desde el navegador, gratis y sin instalar nada. https://cdigital.cun.edu.co/course/view.php?id=130378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Borrador de problema y pregunta</a:t>
            </a:r>
            <a:endParaRPr/>
          </a:p>
        </p:txBody>
      </p:sp>
      <p:sp>
        <p:nvSpPr>
          <p:cNvPr id="186" name="Google Shape;186;p15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Por equipos, en el documento del equipo · el Docente pasa por los equipos mientras escriben</a:t>
            </a:r>
            <a:endParaRPr/>
          </a:p>
        </p:txBody>
      </p:sp>
      <p:sp>
        <p:nvSpPr>
          <p:cNvPr id="187" name="Google Shape;187;p15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final tiene: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planteamiento, la pregunta en una frase y la línea oficial de IA en que encaja.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 8 a 12 líneas de planteamiento: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síntoma, contexto, actores y consecuencia.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Su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de investigación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3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línea oficial de IA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la que encaja, escrita tal cual aparece en el programa.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4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Al cerrar, tres equipos leen en voz alta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solo su pregunta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una frase cada uno.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clase, sin falta: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pasos 1 a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Del 3 en adelante puede quedar en trabajo autónomo, pero antes de la próxima sesión.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189" name="Google Shape;189;p1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Prohibido durante el taller: escribir la solución, prometer resultados o nombrar la herramienta que van a construir.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cómo se revisa y dónde se entrega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Borrador de problema y pregunta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Quedó bien si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—compruébelo usted antes de cerrar el documento—: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Al escuchar la pregunta se identifican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 + fenómeno + contexto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falta uno de los tres, la pregunta vuelve a taller: no avanza a objetivos todavía.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 B: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se atasca en el síntoma, levante la mano: es donde el Docente entra primero. Y escriba el síntoma como algo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puede contar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—cuántos, cada cuánto, cuánto cuesta—.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 no se sube nada al aula: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guarde `S02_ProblemaPregunta_Apellidos` (Google Doc o PDF) en su Drive y tráigalo a la próxima sesión. Es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avance formativo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se revisa en clase.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Esto alimenta: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—tarea, 25%—, el documento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recibe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cierra en la semana de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Checklist de autoevaluación antes de subir el avance</a:t>
            </a:r>
            <a:endParaRPr/>
          </a:p>
        </p:txBody>
      </p:sp>
      <p:graphicFrame>
        <p:nvGraphicFramePr>
          <p:cNvPr id="205" name="Google Shape;205;p1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3482400"/>
                <a:gridCol w="6500500"/>
                <a:gridCol w="9286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Reviso que…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 lo compruebo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actor concreto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Puedo señalar quién sufre el síntoma, con nombre de rol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contexto delimitado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Nombro organización, aula o proceso; no un país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síntoma es observable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Otra persona podría constatarlo sin creerme a mí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pregunta cabe en una frase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leo en 20 segundos sin quedarme sin aire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empieza por “¿es…?”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Arranca con cómo, qué factores, qué características, qué requisitos o en qué medida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propone una solución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 palabras app, bot o sistema no aparecen en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Encaja en una línea oficial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escribí textualmente debajo de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aplico instrumentos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hay ninguna frase que diga “se aplicó” o “se encuestó”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06" name="Google Shape;206;p17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Ocho casillas. Si alguna queda vacía, el avance todavía no está listo para subir a CDigital.</a:t>
            </a:r>
            <a:endParaRPr/>
          </a:p>
        </p:txBody>
      </p:sp>
      <p:sp>
        <p:nvSpPr>
          <p:cNvPr id="207" name="Google Shape;207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autónomo y qué traer a la próxima sesión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Pulir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planteamiento hasta que las cuatro piezas se lean sin esfuerzo, en prosa continua.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Buscar tres referencias exploratorias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sobre su fenómeno en fuentes académicas abiertas: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Scholar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SciELO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Redalyc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todas gratuitas y desde el navegador.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Guarden de cada una: autor, año, título y el enlace o DOI.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Generar la cita APA 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esas tres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pegarlas al final del documento.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La próxima sesión todo cuelga de esta pregunta: escribimos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general, específicos, justificación, alcances y limitaciones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durante la semana la pregunta cambia —es normal—, actualícenla en el documento antes del próximo encuentro.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equipo se acuerdan con el Docente durante la semana; no hay atención espontánea sin cita.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RUTA DE ENTREGABLES DEL CURSO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fechas a propósito: aquí va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 punto del curso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cierra cada ítem · la ventana exacta la fija CDigital</a:t>
            </a:r>
            <a:endParaRPr/>
          </a:p>
        </p:txBody>
      </p:sp>
      <p:graphicFrame>
        <p:nvGraphicFramePr>
          <p:cNvPr id="224" name="Google Shape;224;p19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{B840F404-45B6-410F-ADA1-F103ECC86602}</a:tableStyleId>
              </a:tblPr>
              <a:tblGrid>
                <a:gridCol w="2659125"/>
                <a:gridCol w="2659125"/>
                <a:gridCol w="55933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Cierra en la semana de…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debes tener 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cierra esta semana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Estudia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investigación; resuélvelo dentro de su ventana.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07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en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plantilla APA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problema, pregunta, objetivos, mínimo 6 antecedentes y los marcos.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10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42%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el anteproyecto integrado con las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correcciones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la ACA 1, metodología y viabilidad.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Diligénciala tú, dentro de su ventana, según tu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participación real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Foro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tu propio aporte y valora hechos del trabajo del equipo, con respeto.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5" name="Google Shape;225;p19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Esta misma tabla va al final de todas las sesiones.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cada ventana está en el enunciado del ítem (`Clases/Recursos/ACAs/`) y en el aula: si el aula y cualquier otro material se contradicen,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32" name="Google Shape;23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0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02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 Problema y pregunta de investigación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encuentro: continúa el hilo del mismo entregable.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