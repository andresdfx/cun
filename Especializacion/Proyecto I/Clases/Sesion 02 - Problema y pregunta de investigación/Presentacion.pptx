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7" roundtripDataSignature="AMtx7mgmw6EEk8JyHYTPndGd624giGGa7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A4C2333-6E85-4CB6-90B6-96A6A85CDC4F}">
  <a:tblStyle styleId="{CA4C2333-6E85-4CB6-90B6-96A6A85CDC4F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7" Type="http://customschemas.google.com/relationships/presentationmetadata" Target="meta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p1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2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3f3f57b7b6f_2_94"/>
          <p:cNvSpPr txBox="1"/>
          <p:nvPr>
            <p:ph type="ctrTitle"/>
          </p:nvPr>
        </p:nvSpPr>
        <p:spPr>
          <a:xfrm>
            <a:off x="415600" y="992767"/>
            <a:ext cx="11360400" cy="27369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1pPr>
            <a:lvl2pPr lvl="1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2pPr>
            <a:lvl3pPr lvl="2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3pPr>
            <a:lvl4pPr lvl="3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4pPr>
            <a:lvl5pPr lvl="4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5pPr>
            <a:lvl6pPr lvl="5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6pPr>
            <a:lvl7pPr lvl="6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7pPr>
            <a:lvl8pPr lvl="7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8pPr>
            <a:lvl9pPr lvl="8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9pPr>
          </a:lstStyle>
          <a:p/>
        </p:txBody>
      </p:sp>
      <p:sp>
        <p:nvSpPr>
          <p:cNvPr id="11" name="Google Shape;11;g3f3f57b7b6f_2_94"/>
          <p:cNvSpPr txBox="1"/>
          <p:nvPr>
            <p:ph idx="1" type="subTitle"/>
          </p:nvPr>
        </p:nvSpPr>
        <p:spPr>
          <a:xfrm>
            <a:off x="415589" y="3778833"/>
            <a:ext cx="11360400" cy="10569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/>
        </p:txBody>
      </p:sp>
      <p:sp>
        <p:nvSpPr>
          <p:cNvPr id="12" name="Google Shape;12;g3f3f57b7b6f_2_94"/>
          <p:cNvSpPr txBox="1"/>
          <p:nvPr>
            <p:ph idx="12" type="sldNum"/>
          </p:nvPr>
        </p:nvSpPr>
        <p:spPr>
          <a:xfrm>
            <a:off x="11296309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g3f3f57b7b6f_2_98"/>
          <p:cNvSpPr txBox="1"/>
          <p:nvPr>
            <p:ph type="title"/>
          </p:nvPr>
        </p:nvSpPr>
        <p:spPr>
          <a:xfrm>
            <a:off x="415589" y="2867800"/>
            <a:ext cx="11360400" cy="11223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5" name="Google Shape;15;g3f3f57b7b6f_2_98"/>
          <p:cNvSpPr txBox="1"/>
          <p:nvPr>
            <p:ph idx="12" type="sldNum"/>
          </p:nvPr>
        </p:nvSpPr>
        <p:spPr>
          <a:xfrm>
            <a:off x="11296309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g3f3f57b7b6f_2_101"/>
          <p:cNvSpPr txBox="1"/>
          <p:nvPr>
            <p:ph type="title"/>
          </p:nvPr>
        </p:nvSpPr>
        <p:spPr>
          <a:xfrm>
            <a:off x="415589" y="593367"/>
            <a:ext cx="11360400" cy="7635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18" name="Google Shape;18;g3f3f57b7b6f_2_101"/>
          <p:cNvSpPr txBox="1"/>
          <p:nvPr>
            <p:ph idx="1" type="body"/>
          </p:nvPr>
        </p:nvSpPr>
        <p:spPr>
          <a:xfrm>
            <a:off x="415589" y="1536633"/>
            <a:ext cx="11360400" cy="455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49250" lvl="1" marL="9144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indent="-349250" lvl="2" marL="13716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indent="-349250" lvl="3" marL="182880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indent="-349250" lvl="4" marL="22860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19" name="Google Shape;19;g3f3f57b7b6f_2_101"/>
          <p:cNvSpPr txBox="1"/>
          <p:nvPr>
            <p:ph idx="12" type="sldNum"/>
          </p:nvPr>
        </p:nvSpPr>
        <p:spPr>
          <a:xfrm>
            <a:off x="11296309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3f3f57b7b6f_2_105"/>
          <p:cNvSpPr txBox="1"/>
          <p:nvPr>
            <p:ph type="title"/>
          </p:nvPr>
        </p:nvSpPr>
        <p:spPr>
          <a:xfrm>
            <a:off x="415589" y="593367"/>
            <a:ext cx="11360400" cy="7635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22" name="Google Shape;22;g3f3f57b7b6f_2_105"/>
          <p:cNvSpPr txBox="1"/>
          <p:nvPr>
            <p:ph idx="1" type="body"/>
          </p:nvPr>
        </p:nvSpPr>
        <p:spPr>
          <a:xfrm>
            <a:off x="415589" y="1536633"/>
            <a:ext cx="5333100" cy="455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49250" lvl="0" marL="45720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indent="-330200" lvl="1" marL="9144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23" name="Google Shape;23;g3f3f57b7b6f_2_105"/>
          <p:cNvSpPr txBox="1"/>
          <p:nvPr>
            <p:ph idx="2" type="body"/>
          </p:nvPr>
        </p:nvSpPr>
        <p:spPr>
          <a:xfrm>
            <a:off x="6443028" y="1536633"/>
            <a:ext cx="5333100" cy="455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49250" lvl="0" marL="45720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indent="-330200" lvl="1" marL="9144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24" name="Google Shape;24;g3f3f57b7b6f_2_105"/>
          <p:cNvSpPr txBox="1"/>
          <p:nvPr>
            <p:ph idx="12" type="sldNum"/>
          </p:nvPr>
        </p:nvSpPr>
        <p:spPr>
          <a:xfrm>
            <a:off x="11296309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g3f3f57b7b6f_2_110"/>
          <p:cNvSpPr txBox="1"/>
          <p:nvPr>
            <p:ph type="title"/>
          </p:nvPr>
        </p:nvSpPr>
        <p:spPr>
          <a:xfrm>
            <a:off x="415589" y="593367"/>
            <a:ext cx="11360400" cy="7635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27" name="Google Shape;27;g3f3f57b7b6f_2_110"/>
          <p:cNvSpPr txBox="1"/>
          <p:nvPr>
            <p:ph idx="12" type="sldNum"/>
          </p:nvPr>
        </p:nvSpPr>
        <p:spPr>
          <a:xfrm>
            <a:off x="11296309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g3f3f57b7b6f_2_113"/>
          <p:cNvSpPr txBox="1"/>
          <p:nvPr>
            <p:ph type="title"/>
          </p:nvPr>
        </p:nvSpPr>
        <p:spPr>
          <a:xfrm>
            <a:off x="415589" y="740800"/>
            <a:ext cx="3744000" cy="10077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sp>
        <p:nvSpPr>
          <p:cNvPr id="30" name="Google Shape;30;g3f3f57b7b6f_2_113"/>
          <p:cNvSpPr txBox="1"/>
          <p:nvPr>
            <p:ph idx="1" type="body"/>
          </p:nvPr>
        </p:nvSpPr>
        <p:spPr>
          <a:xfrm>
            <a:off x="415589" y="1852800"/>
            <a:ext cx="3744000" cy="42393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indent="-330200" lvl="1" marL="9144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31" name="Google Shape;31;g3f3f57b7b6f_2_113"/>
          <p:cNvSpPr txBox="1"/>
          <p:nvPr>
            <p:ph idx="12" type="sldNum"/>
          </p:nvPr>
        </p:nvSpPr>
        <p:spPr>
          <a:xfrm>
            <a:off x="11296309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g3f3f57b7b6f_2_117"/>
          <p:cNvSpPr txBox="1"/>
          <p:nvPr>
            <p:ph type="title"/>
          </p:nvPr>
        </p:nvSpPr>
        <p:spPr>
          <a:xfrm>
            <a:off x="653649" y="600200"/>
            <a:ext cx="8490300" cy="54543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/>
        </p:txBody>
      </p:sp>
      <p:sp>
        <p:nvSpPr>
          <p:cNvPr id="34" name="Google Shape;34;g3f3f57b7b6f_2_117"/>
          <p:cNvSpPr txBox="1"/>
          <p:nvPr>
            <p:ph idx="12" type="sldNum"/>
          </p:nvPr>
        </p:nvSpPr>
        <p:spPr>
          <a:xfrm>
            <a:off x="11296309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g3f3f57b7b6f_2_120"/>
          <p:cNvSpPr/>
          <p:nvPr/>
        </p:nvSpPr>
        <p:spPr>
          <a:xfrm>
            <a:off x="6095838" y="-167"/>
            <a:ext cx="60957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g3f3f57b7b6f_2_120"/>
          <p:cNvSpPr txBox="1"/>
          <p:nvPr>
            <p:ph type="title"/>
          </p:nvPr>
        </p:nvSpPr>
        <p:spPr>
          <a:xfrm>
            <a:off x="353991" y="1644233"/>
            <a:ext cx="5393400" cy="19764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/>
        </p:txBody>
      </p:sp>
      <p:sp>
        <p:nvSpPr>
          <p:cNvPr id="38" name="Google Shape;38;g3f3f57b7b6f_2_120"/>
          <p:cNvSpPr txBox="1"/>
          <p:nvPr>
            <p:ph idx="1" type="subTitle"/>
          </p:nvPr>
        </p:nvSpPr>
        <p:spPr>
          <a:xfrm>
            <a:off x="353991" y="3737433"/>
            <a:ext cx="5393400" cy="16467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9" name="Google Shape;39;g3f3f57b7b6f_2_120"/>
          <p:cNvSpPr txBox="1"/>
          <p:nvPr>
            <p:ph idx="2" type="body"/>
          </p:nvPr>
        </p:nvSpPr>
        <p:spPr>
          <a:xfrm>
            <a:off x="6585824" y="965433"/>
            <a:ext cx="5115900" cy="49269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-381000" lvl="0" marL="4572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49250" lvl="1" marL="9144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indent="-349250" lvl="2" marL="13716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indent="-349250" lvl="3" marL="182880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indent="-349250" lvl="4" marL="22860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40" name="Google Shape;40;g3f3f57b7b6f_2_120"/>
          <p:cNvSpPr txBox="1"/>
          <p:nvPr>
            <p:ph idx="12" type="sldNum"/>
          </p:nvPr>
        </p:nvSpPr>
        <p:spPr>
          <a:xfrm>
            <a:off x="11296309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f3f57b7b6f_2_126"/>
          <p:cNvSpPr txBox="1"/>
          <p:nvPr>
            <p:ph idx="1" type="body"/>
          </p:nvPr>
        </p:nvSpPr>
        <p:spPr>
          <a:xfrm>
            <a:off x="415589" y="5640767"/>
            <a:ext cx="7998300" cy="806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/>
        </p:txBody>
      </p:sp>
      <p:sp>
        <p:nvSpPr>
          <p:cNvPr id="43" name="Google Shape;43;g3f3f57b7b6f_2_126"/>
          <p:cNvSpPr txBox="1"/>
          <p:nvPr>
            <p:ph idx="12" type="sldNum"/>
          </p:nvPr>
        </p:nvSpPr>
        <p:spPr>
          <a:xfrm>
            <a:off x="11296309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g3f3f57b7b6f_2_129"/>
          <p:cNvSpPr txBox="1"/>
          <p:nvPr>
            <p:ph hasCustomPrompt="1" type="title"/>
          </p:nvPr>
        </p:nvSpPr>
        <p:spPr>
          <a:xfrm>
            <a:off x="415589" y="1474833"/>
            <a:ext cx="11360400" cy="26181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46" name="Google Shape;46;g3f3f57b7b6f_2_129"/>
          <p:cNvSpPr txBox="1"/>
          <p:nvPr>
            <p:ph idx="1" type="body"/>
          </p:nvPr>
        </p:nvSpPr>
        <p:spPr>
          <a:xfrm>
            <a:off x="415589" y="4202967"/>
            <a:ext cx="11360400" cy="17343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49250" lvl="1" marL="914400" algn="ctr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indent="-349250" lvl="2" marL="1371600" algn="ctr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indent="-349250" lvl="3" marL="1828800" algn="ctr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indent="-349250" lvl="4" marL="2286000" algn="ctr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 algn="ctr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 algn="ctr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 algn="ctr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 algn="ctr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47" name="Google Shape;47;g3f3f57b7b6f_2_129"/>
          <p:cNvSpPr txBox="1"/>
          <p:nvPr>
            <p:ph idx="12" type="sldNum"/>
          </p:nvPr>
        </p:nvSpPr>
        <p:spPr>
          <a:xfrm>
            <a:off x="11296309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3f3f57b7b6f_2_133"/>
          <p:cNvSpPr txBox="1"/>
          <p:nvPr>
            <p:ph idx="12" type="sldNum"/>
          </p:nvPr>
        </p:nvSpPr>
        <p:spPr>
          <a:xfrm>
            <a:off x="11296309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g3f3f57b7b6f_2_90"/>
          <p:cNvSpPr txBox="1"/>
          <p:nvPr>
            <p:ph type="title"/>
          </p:nvPr>
        </p:nvSpPr>
        <p:spPr>
          <a:xfrm>
            <a:off x="415589" y="593367"/>
            <a:ext cx="113604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g3f3f57b7b6f_2_90"/>
          <p:cNvSpPr txBox="1"/>
          <p:nvPr>
            <p:ph idx="1" type="body"/>
          </p:nvPr>
        </p:nvSpPr>
        <p:spPr>
          <a:xfrm>
            <a:off x="415589" y="1536633"/>
            <a:ext cx="113604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indent="-3492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2pPr>
            <a:lvl3pPr indent="-3492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3pPr>
            <a:lvl4pPr indent="-3492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4pPr>
            <a:lvl5pPr indent="-3492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5pPr>
            <a:lvl6pPr indent="-3492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6pPr>
            <a:lvl7pPr indent="-3492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7pPr>
            <a:lvl8pPr indent="-3492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8pPr>
            <a:lvl9pPr indent="-3492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g3f3f57b7b6f_2_90"/>
          <p:cNvSpPr txBox="1"/>
          <p:nvPr>
            <p:ph idx="12" type="sldNum"/>
          </p:nvPr>
        </p:nvSpPr>
        <p:spPr>
          <a:xfrm>
            <a:off x="11296309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 algn="r">
              <a:buNone/>
              <a:defRPr sz="1300">
                <a:solidFill>
                  <a:schemeClr val="dk2"/>
                </a:solidFill>
              </a:defRPr>
            </a:lvl1pPr>
            <a:lvl2pPr lvl="1" algn="r">
              <a:buNone/>
              <a:defRPr sz="1300">
                <a:solidFill>
                  <a:schemeClr val="dk2"/>
                </a:solidFill>
              </a:defRPr>
            </a:lvl2pPr>
            <a:lvl3pPr lvl="2" algn="r">
              <a:buNone/>
              <a:defRPr sz="1300">
                <a:solidFill>
                  <a:schemeClr val="dk2"/>
                </a:solidFill>
              </a:defRPr>
            </a:lvl3pPr>
            <a:lvl4pPr lvl="3" algn="r">
              <a:buNone/>
              <a:defRPr sz="1300">
                <a:solidFill>
                  <a:schemeClr val="dk2"/>
                </a:solidFill>
              </a:defRPr>
            </a:lvl4pPr>
            <a:lvl5pPr lvl="4" algn="r">
              <a:buNone/>
              <a:defRPr sz="1300">
                <a:solidFill>
                  <a:schemeClr val="dk2"/>
                </a:solidFill>
              </a:defRPr>
            </a:lvl5pPr>
            <a:lvl6pPr lvl="5" algn="r">
              <a:buNone/>
              <a:defRPr sz="1300">
                <a:solidFill>
                  <a:schemeClr val="dk2"/>
                </a:solidFill>
              </a:defRPr>
            </a:lvl6pPr>
            <a:lvl7pPr lvl="6" algn="r">
              <a:buNone/>
              <a:defRPr sz="1300">
                <a:solidFill>
                  <a:schemeClr val="dk2"/>
                </a:solidFill>
              </a:defRPr>
            </a:lvl7pPr>
            <a:lvl8pPr lvl="7" algn="r">
              <a:buNone/>
              <a:defRPr sz="1300">
                <a:solidFill>
                  <a:schemeClr val="dk2"/>
                </a:solidFill>
              </a:defRPr>
            </a:lvl8pPr>
            <a:lvl9pPr lvl="8" algn="r">
              <a:buNone/>
              <a:defRPr sz="13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1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_cun_solo.png" id="56" name="Google Shape;5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274320"/>
            <a:ext cx="1325880" cy="919277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SESIÓN 02 — PROBLEMA Y PREGUNTA DE INVESTIGACIÓN</a:t>
            </a:r>
            <a:endParaRPr/>
          </a:p>
          <a:p>
            <a:pPr indent="0" lvl="0" marL="0" marR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CFDDEE"/>
                </a:solidFill>
                <a:latin typeface="Calibri"/>
                <a:ea typeface="Calibri"/>
                <a:cs typeface="Calibri"/>
                <a:sym typeface="Calibri"/>
              </a:rPr>
              <a:t>Proyecto I — Especialización en Inteligencia Artificial</a:t>
            </a:r>
            <a:endParaRPr/>
          </a:p>
        </p:txBody>
      </p:sp>
      <p:sp>
        <p:nvSpPr>
          <p:cNvPr id="58" name="Google Shape;58;p1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Sesión 02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Tema: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Problema y pregunta de investigación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Asignatura: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PROYECTO I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2"/>
          <p:cNvSpPr txBox="1"/>
          <p:nvPr/>
        </p:nvSpPr>
        <p:spPr>
          <a:xfrm>
            <a:off x="340950" y="-65950"/>
            <a:ext cx="10595400" cy="132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TODO EL ANTEPROYECTO CUELGA DE UNA SOLA FRASE</a:t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274320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2"/>
          <p:cNvSpPr txBox="1"/>
          <p:nvPr/>
        </p:nvSpPr>
        <p:spPr>
          <a:xfrm>
            <a:off x="640080" y="1691639"/>
            <a:ext cx="10911600" cy="29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</a:t>
            </a:r>
            <a:r>
              <a:rPr b="0" i="0" lang="en-US" sz="19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La </a:t>
            </a:r>
            <a:r>
              <a:rPr b="1" i="0" lang="en-US" sz="19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pregunta de investigación</a:t>
            </a:r>
            <a:r>
              <a:rPr b="0" i="0" lang="en-US" sz="19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es la pieza que sostiene todo lo demás.</a:t>
            </a:r>
            <a:endParaRPr sz="1700"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Objetivos, marco teórico y metodología no son secciones sueltas: son respuestas a esa frase.</a:t>
            </a:r>
            <a:endParaRPr sz="17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9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Si la pregunta nace torcida, el error se hereda hasta el último capítulo de Proyecto II.</a:t>
            </a:r>
            <a:endParaRPr sz="17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9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Caso de aula: un equipo llega diciendo “vamos a hacer un chatbot para la empresa donde trabajo”.</a:t>
            </a:r>
            <a:endParaRPr sz="1700"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Eso es una </a:t>
            </a:r>
            <a:r>
              <a:rPr b="1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solución</a:t>
            </a: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, no un problema: todavía nadie ha dicho qué le duele a quién.</a:t>
            </a:r>
            <a:endParaRPr sz="17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9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Hoy recorremos el camino en el orden correcto: </a:t>
            </a:r>
            <a:r>
              <a:rPr b="1" i="0" lang="en-US" sz="19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dolor → problema → pregunta</a:t>
            </a:r>
            <a:r>
              <a:rPr b="0" i="0" lang="en-US" sz="19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 La solución llega mucho después.</a:t>
            </a:r>
            <a:endParaRPr sz="17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9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Salida esperada de esta hora: dos textos escritos, un planteamiento de 8 a 12 líneas y </a:t>
            </a:r>
            <a:r>
              <a:rPr b="1" i="0" lang="en-US" sz="19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una</a:t>
            </a:r>
            <a:r>
              <a:rPr b="0" i="0" lang="en-US" sz="19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pregunta.</a:t>
            </a:r>
            <a:endParaRPr sz="1700"/>
          </a:p>
        </p:txBody>
      </p:sp>
      <p:sp>
        <p:nvSpPr>
          <p:cNvPr id="66" name="Google Shape;66;p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67" name="Google Shape;67;p2"/>
          <p:cNvSpPr txBox="1"/>
          <p:nvPr/>
        </p:nvSpPr>
        <p:spPr>
          <a:xfrm>
            <a:off x="640080" y="4990700"/>
            <a:ext cx="99972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Regla del curso: en </a:t>
            </a:r>
            <a:r>
              <a:rPr b="1" i="1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Proyecto I</a:t>
            </a:r>
            <a:r>
              <a:rPr b="0" i="1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se diseña y se propone; el trabajo de campo es Proyecto II.</a:t>
            </a:r>
            <a:endParaRPr sz="17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3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3"/>
          <p:cNvSpPr txBox="1"/>
          <p:nvPr/>
        </p:nvSpPr>
        <p:spPr>
          <a:xfrm>
            <a:off x="640074" y="0"/>
            <a:ext cx="10566600" cy="132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TEMA, PROBLEMA Y PREGUNTA: TRES PALABRAS QUE NO SON SINÓNIMAS</a:t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3"/>
          <p:cNvSpPr txBox="1"/>
          <p:nvPr/>
        </p:nvSpPr>
        <p:spPr>
          <a:xfrm>
            <a:off x="640080" y="1691639"/>
            <a:ext cx="10911600" cy="326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</a:t>
            </a: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  </a:t>
            </a:r>
            <a:r>
              <a:rPr b="1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Tema</a:t>
            </a: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= el territorio amplio donde quiero trabajar: “IA en educación”, “IA en la industria”.</a:t>
            </a:r>
            <a:endParaRPr sz="1700"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Un tema no se investiga: se recorre. Nadie puede “responder” un territorio.</a:t>
            </a:r>
            <a:endParaRPr sz="17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Problema</a:t>
            </a: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= una tensión concreta y observable dentro de ese territorio.</a:t>
            </a:r>
            <a:endParaRPr sz="1700"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Existe solo si puedo nombrar cuatro cosas: </a:t>
            </a:r>
            <a:r>
              <a:rPr b="1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actor</a:t>
            </a: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b="1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síntoma</a:t>
            </a: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b="1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contexto</a:t>
            </a: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y </a:t>
            </a:r>
            <a:r>
              <a:rPr b="1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consecuencia</a:t>
            </a: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700"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Sin actor no hay a quién le duela; sin síntoma solo hay una buena intención.</a:t>
            </a:r>
            <a:endParaRPr sz="17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Pregunta</a:t>
            </a: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= la forma interrogativa que va a gobernar todo el método.</a:t>
            </a:r>
            <a:endParaRPr sz="1700"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No es cualquier duda: es la duda que el diseño propuesto podrá responder.</a:t>
            </a:r>
            <a:endParaRPr sz="17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Lo que NO es un problema: que una tecnología “no se use lo suficiente”, o que a usted le parezca interesante.</a:t>
            </a:r>
            <a:endParaRPr sz="1700"/>
          </a:p>
        </p:txBody>
      </p:sp>
      <p:sp>
        <p:nvSpPr>
          <p:cNvPr id="75" name="Google Shape;75;p3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76" name="Google Shape;76;p3"/>
          <p:cNvSpPr txBox="1"/>
          <p:nvPr/>
        </p:nvSpPr>
        <p:spPr>
          <a:xfrm>
            <a:off x="640080" y="5325800"/>
            <a:ext cx="99972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Orden obligatorio: primero identifico a quién le duele algo; después lo formulo como pregunta.</a:t>
            </a:r>
            <a:endParaRPr sz="17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4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4"/>
          <p:cNvSpPr txBox="1"/>
          <p:nvPr/>
        </p:nvSpPr>
        <p:spPr>
          <a:xfrm>
            <a:off x="640075" y="0"/>
            <a:ext cx="10378800" cy="132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CUATRO NIVELES QUE SE CONFUNDEN TODO EL TIEMPO</a:t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83" name="Google Shape;83;p4"/>
          <p:cNvGraphicFramePr/>
          <p:nvPr/>
        </p:nvGraphicFramePr>
        <p:xfrm>
          <a:off x="640080" y="169163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{CA4C2333-6E85-4CB6-90B6-96A6A85CDC4F}</a:tableStyleId>
              </a:tblPr>
              <a:tblGrid>
                <a:gridCol w="1289550"/>
                <a:gridCol w="2182300"/>
                <a:gridCol w="4563000"/>
                <a:gridCol w="2876675"/>
              </a:tblGrid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7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Nivel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7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Qué es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7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Ejemplo (línea educación)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7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Por qué no basta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Tema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El territorio amplio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“IA en educación”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 se puede responder ni delimitar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Problema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 tensión observable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“Los informes del curso X se devuelven semanas después y los errores se repiten”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Aún no está en forma de pregunta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Pregunta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 interrogación que guía el método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“¿Qué prácticas de retroalimentación mediadas por IA pueden proponerse para el curso X?”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Es la única que el método puede responder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Solución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El producto imaginado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“Un bot que corrija informes”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6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Llega al final; empezar por aquí sesga todo el trabajo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4" name="Google Shape;84;p4"/>
          <p:cNvSpPr txBox="1"/>
          <p:nvPr/>
        </p:nvSpPr>
        <p:spPr>
          <a:xfrm>
            <a:off x="640068" y="4808925"/>
            <a:ext cx="109116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Si su documento arranca en la fila 4, devuélvase a la fila 2: </a:t>
            </a:r>
            <a:r>
              <a:rPr b="1" i="1" lang="en-US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el dolor primero</a:t>
            </a:r>
            <a:r>
              <a:rPr b="0" i="1" lang="en-US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600"/>
          </a:p>
        </p:txBody>
      </p:sp>
      <p:sp>
        <p:nvSpPr>
          <p:cNvPr id="85" name="Google Shape;85;p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5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5"/>
          <p:cNvSpPr txBox="1"/>
          <p:nvPr/>
        </p:nvSpPr>
        <p:spPr>
          <a:xfrm>
            <a:off x="640075" y="0"/>
            <a:ext cx="10292400" cy="132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ANATOMÍA DEL PLANTEAMIENTO: LAS CUATRO PIEZAS</a:t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5"/>
          <p:cNvSpPr txBox="1"/>
          <p:nvPr/>
        </p:nvSpPr>
        <p:spPr>
          <a:xfrm>
            <a:off x="640080" y="1691639"/>
            <a:ext cx="10911600" cy="292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 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(a) Síntoma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el hecho observable que alguien puede constatar hoy.</a:t>
            </a:r>
            <a:endParaRPr sz="1600"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Se escribe en presente y con evidencia: “se entrega tarde”, “se repite el mismo error”, “se registra a mano”.</a:t>
            </a:r>
            <a:endParaRPr sz="16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(b) Contexto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dónde ocurre: una organización, un aula, un proceso o un turno concretos.</a:t>
            </a:r>
            <a:endParaRPr sz="1600"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“En Colombia” no es contexto: es un titular de prensa.</a:t>
            </a:r>
            <a:endParaRPr sz="16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(c) Actor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quién padece el síntoma y quién decide sobre él.</a:t>
            </a:r>
            <a:endParaRPr sz="1600"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Suelen ser dos: quien lo sufre (estudiante, operario) y quien podría cambiarlo (docente, supervisor).</a:t>
            </a:r>
            <a:endParaRPr sz="16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(d) Consecuencia</a:t>
            </a: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qué se pierde si nada cambia: tiempo, calidad, reprocesos, aprendizaje.</a:t>
            </a:r>
            <a:endParaRPr sz="16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El planteamiento cierra conectando esas cuatro piezas con </a:t>
            </a:r>
            <a:r>
              <a:rPr b="1" i="0" lang="en-US" sz="18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una línea de IA del programa</a:t>
            </a:r>
            <a:r>
              <a:rPr b="0" i="0" lang="en-US" sz="19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700"/>
          </a:p>
        </p:txBody>
      </p:sp>
      <p:sp>
        <p:nvSpPr>
          <p:cNvPr id="93" name="Google Shape;93;p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94" name="Google Shape;94;p5"/>
          <p:cNvSpPr txBox="1"/>
          <p:nvPr/>
        </p:nvSpPr>
        <p:spPr>
          <a:xfrm>
            <a:off x="640080" y="4992500"/>
            <a:ext cx="99972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Prueba rápida: si al leer sus 10 líneas no se pueden señalar (a), (b), (c) y (d), el texto todavía no es un problema.</a:t>
            </a:r>
            <a:endParaRPr sz="16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6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6"/>
          <p:cNvSpPr txBox="1"/>
          <p:nvPr/>
        </p:nvSpPr>
        <p:spPr>
          <a:xfrm>
            <a:off x="640075" y="0"/>
            <a:ext cx="10595400" cy="132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PREGUNTA DÉBIL VS. PREGUNTA FUERTE</a:t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01" name="Google Shape;101;p6"/>
          <p:cNvGraphicFramePr/>
          <p:nvPr/>
        </p:nvGraphicFramePr>
        <p:xfrm>
          <a:off x="640080" y="169163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{CA4C2333-6E85-4CB6-90B6-96A6A85CDC4F}</a:tableStyleId>
              </a:tblPr>
              <a:tblGrid>
                <a:gridCol w="2380700"/>
                <a:gridCol w="2777475"/>
                <a:gridCol w="5753350"/>
              </a:tblGrid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7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Pregunta débil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7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Por qué falla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7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Versión fuerte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¿La IA es útil en las empresas?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Sin actor, sin contexto y sin fenómeno; se responde “sí” y se acabó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¿Cómo perciben los supervisores de turno de la planta X el registro de paradas de máquina y qué apoyo esperarían de un asistente de IA?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¿ChatGPT ayuda a estudiar?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Pregunta de sí/no y de opinión; no delimita tarea ni población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¿Qué prácticas de uso de un asistente conversacional reportan los estudiantes del curso X al elaborar informes de laboratorio y qué fricciones aparecen?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¿Cómo mejorar la educación con IA?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Pregunta planetaria: no cabe en el tiempo del programa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¿Qué requisitos debería cumplir una propuesta de retroalimentación asistida por IA para el curso X, según docente y estudiantes?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¿Hago un bot para mi empresa?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Empieza por la solución; no hay fenómeno que estudiar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¿Cómo funciona hoy el proceso Y en la empresa Z y qué necesidades de información revela?</a:t>
                      </a:r>
                      <a:endParaRPr sz="1800"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2" name="Google Shape;102;p6"/>
          <p:cNvSpPr txBox="1"/>
          <p:nvPr/>
        </p:nvSpPr>
        <p:spPr>
          <a:xfrm>
            <a:off x="640068" y="4997925"/>
            <a:ext cx="109116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Las preguntas fuertes son largas y no suenan elegantes. </a:t>
            </a:r>
            <a:r>
              <a:rPr b="1" i="1" lang="en-US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Eso está bien</a:t>
            </a:r>
            <a:r>
              <a:rPr b="0" i="1" lang="en-US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: una pregunta delimitada casi nunca es bonita.</a:t>
            </a:r>
            <a:endParaRPr sz="1600"/>
          </a:p>
        </p:txBody>
      </p:sp>
      <p:sp>
        <p:nvSpPr>
          <p:cNvPr id="103" name="Google Shape;103;p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7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7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El filtro de las cinco preguntas (antes de enamorarse de la suya)</a:t>
            </a:r>
            <a:endParaRPr/>
          </a:p>
        </p:txBody>
      </p:sp>
      <p:sp>
        <p:nvSpPr>
          <p:cNvPr id="110" name="Google Shape;110;p7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1. ¿Quién?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el actor concreto. Si la respuesta es “todo el mundo”, no hay actor.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2. ¿Dónde?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la organización, el aula o el proceso, con nombre y frontera.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3. ¿Qué fenómeno?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el hecho que voy a observar, no la tecnología que me gusta.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4. ¿En qué lapso?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¿cabe en el tiempo del programa? Si necesita dos años, recórtela.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5. ¿Con qué acceso a la información?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 ¿tengo puerta de entrada a ese contexto?</a:t>
            </a:r>
            <a:endParaRPr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Cuidado con la trampa: tener acceso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no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significa que hoy vaya a recolectar datos.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Si alguna respuesta es “no sé” o “todos”, la pregunta está cruda: recórtela hasta que responda las cinco.</a:t>
            </a:r>
            <a:endParaRPr/>
          </a:p>
        </p:txBody>
      </p:sp>
      <p:sp>
        <p:nvSpPr>
          <p:cNvPr id="111" name="Google Shape;111;p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/>
          </a:p>
        </p:txBody>
      </p:sp>
      <p:sp>
        <p:nvSpPr>
          <p:cNvPr id="112" name="Google Shape;112;p7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Recortar no es rendirse. Una pregunta pequeña y respondible vale más que una grande e imposible.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8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8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Cómo se abre una pregunta: arranques que sirven y arranques que la matan</a:t>
            </a:r>
            <a:endParaRPr/>
          </a:p>
        </p:txBody>
      </p:sp>
      <p:graphicFrame>
        <p:nvGraphicFramePr>
          <p:cNvPr id="119" name="Google Shape;119;p8"/>
          <p:cNvGraphicFramePr/>
          <p:nvPr/>
        </p:nvGraphicFramePr>
        <p:xfrm>
          <a:off x="640080" y="169163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{CA4C2333-6E85-4CB6-90B6-96A6A85CDC4F}</a:tableStyleId>
              </a:tblPr>
              <a:tblGrid>
                <a:gridCol w="2380700"/>
                <a:gridCol w="3967825"/>
                <a:gridCol w="4563000"/>
              </a:tblGrid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Arranque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Qué tipo de respuesta pide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Sirve cuando…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¿Cómo…?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Describe un proceso o una práctica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Quiere entender cómo ocurre algo hoy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¿Qué factores…?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Identifica elementos que influyen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Sospecha causas y quiere caracterizarlas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¿Qué características…?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Caracteriza un fenómeno o una población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Necesita describir antes de proponer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¿Qué requisitos…?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Establece criterios para una propuesta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 a diseñar algo y debe fundamentarlo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¿En qué medida…?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Compara o gradúa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 tiene categorías o variables definidas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¿Es…? / ¿Sirve…?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Sí o no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Nunca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cierra la investigación en una palabra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¿Debo hacer…?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Una decisión personal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Nunca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eso es gestión, no investigación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0" name="Google Shape;120;p8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Truco de reescritura: cambie “¿es…?” por “¿cómo…?”, “¿qué factores…?” o “¿en qué medida…?” y la pregunta se abre sola.</a:t>
            </a:r>
            <a:endParaRPr/>
          </a:p>
        </p:txBody>
      </p:sp>
      <p:sp>
        <p:nvSpPr>
          <p:cNvPr id="121" name="Google Shape;121;p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9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9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Las dos líneas oficiales de IA del programa</a:t>
            </a:r>
            <a:endParaRPr/>
          </a:p>
        </p:txBody>
      </p:sp>
      <p:graphicFrame>
        <p:nvGraphicFramePr>
          <p:cNvPr id="128" name="Google Shape;128;p9"/>
          <p:cNvGraphicFramePr/>
          <p:nvPr/>
        </p:nvGraphicFramePr>
        <p:xfrm>
          <a:off x="640080" y="169163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{CA4C2333-6E85-4CB6-90B6-96A6A85CDC4F}</a:tableStyleId>
              </a:tblPr>
              <a:tblGrid>
                <a:gridCol w="2975875"/>
                <a:gridCol w="3372650"/>
                <a:gridCol w="4563000"/>
              </a:tblGrid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Línea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 qué se ocupa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Ejemplo de problema que encaja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Uso y adaptación de IA para entornos productivos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IA aplicada a procesos de empresas, plantas, servicios y operación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El registro manual de paradas de máquina en una línea de empaque impide priorizar mantenimiento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Implementación de IA en la educación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IA aplicada a enseñanza, aprendizaje, evaluación y acompañamiento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 retroalimentación de informes llega semanas después y pierde su función formativa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29" name="Google Shape;129;p9"/>
          <p:cNvSpPr txBox="1"/>
          <p:nvPr/>
        </p:nvSpPr>
        <p:spPr>
          <a:xfrm>
            <a:off x="640080" y="3337560"/>
            <a:ext cx="10911535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No hay una tercera línea.</a:t>
            </a: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Si su tema no encaja en ninguna, se reformula: no se inventa una línea nueva. Escoja una sola.</a:t>
            </a:r>
            <a:endParaRPr/>
          </a:p>
        </p:txBody>
      </p:sp>
      <p:sp>
        <p:nvSpPr>
          <p:cNvPr id="130" name="Google Shape;130;p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0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0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Ejemplo modelado 1 — línea educación, paso a paso</a:t>
            </a:r>
            <a:endParaRPr/>
          </a:p>
        </p:txBody>
      </p:sp>
      <p:sp>
        <p:nvSpPr>
          <p:cNvPr id="137" name="Google Shape;137;p10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Punto de partida (tema crudo): “usar IA para calificar más rápido”.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(a) Síntoma: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los informes de laboratorio se devuelven semanas después y los mismos errores reaparecen en la entrega siguiente.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(b) Contexto: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el curso de Laboratorio de Automatización de un programa técnico, presencial, una sesión semanal.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(c) Actores: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los estudiantes que entregan y el docente que corrige.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(d) Consecuencia: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se pierde la función formativa de la devolución; el estudiante avanza repitiendo el error.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Pregunta resultante:</a:t>
            </a:r>
            <a:endParaRPr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“¿Qué prácticas de retroalimentación mediadas por un asistente de IA podrían proponerse para el curso de Laboratorio de Automatización, a partir de las fricciones que reportan estudiantes y docente?”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Vea lo que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no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dice: no dice “un chatbot”, no promete resultados y no afirma que la IA funcione.</a:t>
            </a:r>
            <a:endParaRPr/>
          </a:p>
        </p:txBody>
      </p:sp>
      <p:sp>
        <p:nvSpPr>
          <p:cNvPr id="138" name="Google Shape;138;p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/>
          </a:p>
        </p:txBody>
      </p:sp>
      <p:sp>
        <p:nvSpPr>
          <p:cNvPr id="139" name="Google Shape;139;p10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Actor, fenómeno y contexto están los tres en la frase. Ese es exactamente el criterio de aprobación de hoy.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1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Ejemplo modelado 2 — línea entornos productivos</a:t>
            </a:r>
            <a:endParaRPr/>
          </a:p>
        </p:txBody>
      </p:sp>
      <p:sp>
        <p:nvSpPr>
          <p:cNvPr id="146" name="Google Shape;146;p11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Punto de partida (tema crudo): “meterle IA al mantenimiento de la planta”.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(a) Síntoma: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las paradas de máquina se anotan a mano en una planilla al cierre del turno y llegan incompletas.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(b) Contexto: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la línea de empaque de una planta de alimentos del Valle del Cauca, tres turnos diarios.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(c) Actores: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los supervisores de turno que registran y el equipo de mantenimiento que usa el dato.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(d) Consecuencia: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mantenimiento no puede priorizar; se repiten fallas que nadie alcanzó a caracterizar.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Pregunta resultante:</a:t>
            </a:r>
            <a:endParaRPr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“¿Cómo se registra actualmente la información de paradas de máquina en la línea de empaque de la planta X y qué requisitos debería cumplir una propuesta de asistente de IA para apoyar ese registro, según los supervisores de turno?”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Note el orden interno de la pregunta: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describe primero, propone después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 Ese orden es lo que la hace viable.</a:t>
            </a:r>
            <a:endParaRPr/>
          </a:p>
        </p:txBody>
      </p:sp>
      <p:sp>
        <p:nvSpPr>
          <p:cNvPr id="147" name="Google Shape;147;p1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/>
          </a:p>
        </p:txBody>
      </p:sp>
      <p:sp>
        <p:nvSpPr>
          <p:cNvPr id="148" name="Google Shape;148;p11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Dos líneas distintas, la misma anatomía. Si su borrador no se deja desarmar así, todavía es un tema.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1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Errores frecuentes que hoy vamos a cortar de raíz</a:t>
            </a:r>
            <a:endParaRPr/>
          </a:p>
        </p:txBody>
      </p:sp>
      <p:sp>
        <p:nvSpPr>
          <p:cNvPr id="155" name="Google Shape;155;p12"/>
          <p:cNvSpPr/>
          <p:nvPr/>
        </p:nvSpPr>
        <p:spPr>
          <a:xfrm>
            <a:off x="640080" y="1737360"/>
            <a:ext cx="10911535" cy="1225296"/>
          </a:xfrm>
          <a:prstGeom prst="roundRect">
            <a:avLst>
              <a:gd fmla="val 16667" name="adj"/>
            </a:avLst>
          </a:prstGeom>
          <a:solidFill>
            <a:srgbClr val="FBE4E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2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⚠️ Importante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Empezar por la solución.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“Voy a hacer un chatbot” no es un problema. Guarde la solución un minuto y responda: ¿qué le duele hoy a alguien SIN ese chatbot? Ese dolor es su problema.</a:t>
            </a:r>
            <a:endParaRPr/>
          </a:p>
        </p:txBody>
      </p:sp>
      <p:sp>
        <p:nvSpPr>
          <p:cNvPr id="157" name="Google Shape;157;p12"/>
          <p:cNvSpPr/>
          <p:nvPr/>
        </p:nvSpPr>
        <p:spPr>
          <a:xfrm>
            <a:off x="640080" y="3191256"/>
            <a:ext cx="10911535" cy="1225296"/>
          </a:xfrm>
          <a:prstGeom prst="roundRect">
            <a:avLst>
              <a:gd fmla="val 16667" name="adj"/>
            </a:avLst>
          </a:prstGeom>
          <a:solidFill>
            <a:srgbClr val="FBE4E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12"/>
          <p:cNvSpPr txBox="1"/>
          <p:nvPr/>
        </p:nvSpPr>
        <p:spPr>
          <a:xfrm>
            <a:off x="868680" y="3300984"/>
            <a:ext cx="10454335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⚠️ Importante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Pregunta que no cabe en el periodo.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Si no puede responderla con los recursos de un semestre, recórtela a un actor y un contexto. Recortar es una decisión metodológica, no una derrota.</a:t>
            </a:r>
            <a:endParaRPr/>
          </a:p>
        </p:txBody>
      </p:sp>
      <p:sp>
        <p:nvSpPr>
          <p:cNvPr id="159" name="Google Shape;159;p12"/>
          <p:cNvSpPr/>
          <p:nvPr/>
        </p:nvSpPr>
        <p:spPr>
          <a:xfrm>
            <a:off x="640080" y="4645152"/>
            <a:ext cx="10911535" cy="1225296"/>
          </a:xfrm>
          <a:prstGeom prst="roundRect">
            <a:avLst>
              <a:gd fmla="val 16667" name="adj"/>
            </a:avLst>
          </a:prstGeom>
          <a:solidFill>
            <a:srgbClr val="FDECD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12"/>
          <p:cNvSpPr txBox="1"/>
          <p:nvPr/>
        </p:nvSpPr>
        <p:spPr>
          <a:xfrm>
            <a:off x="868680" y="4754880"/>
            <a:ext cx="10454335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💡 Aclaración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Objetivo no es lo mismo que pregunta.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El objetivo empieza con verbo (“Caracterizar…”); la pregunta empieza con interrogante (“¿Cómo…?”). Van en secciones distintas del documento.</a:t>
            </a:r>
            <a:endParaRPr/>
          </a:p>
        </p:txBody>
      </p:sp>
      <p:sp>
        <p:nvSpPr>
          <p:cNvPr id="161" name="Google Shape;161;p1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3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3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Errores frecuentes que hoy vamos a cortar de raíz (cont.)</a:t>
            </a:r>
            <a:endParaRPr/>
          </a:p>
        </p:txBody>
      </p:sp>
      <p:sp>
        <p:nvSpPr>
          <p:cNvPr id="168" name="Google Shape;168;p13"/>
          <p:cNvSpPr/>
          <p:nvPr/>
        </p:nvSpPr>
        <p:spPr>
          <a:xfrm>
            <a:off x="640080" y="1737360"/>
            <a:ext cx="10911535" cy="1225296"/>
          </a:xfrm>
          <a:prstGeom prst="roundRect">
            <a:avLst>
              <a:gd fmla="val 16667" name="adj"/>
            </a:avLst>
          </a:prstGeom>
          <a:solidFill>
            <a:srgbClr val="E8F5E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3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ℹ️ Nota institucional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En Proyecto I no se recolecta nada.</a:t>
            </a:r>
            <a:r>
              <a:rPr b="0" i="0" lang="en-US" sz="13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No hay encuestas aplicadas, ni entrevistas, ni observación en campo: hoy se diseña y se propone. El trabajo de campo llega en Proyecto II, con aval previo.</a:t>
            </a:r>
            <a:endParaRPr/>
          </a:p>
        </p:txBody>
      </p:sp>
      <p:sp>
        <p:nvSpPr>
          <p:cNvPr id="170" name="Google Shape;170;p13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13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4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4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Paso a paso: cómo lo escriben hoy en Google Docs</a:t>
            </a:r>
            <a:endParaRPr/>
          </a:p>
        </p:txBody>
      </p:sp>
      <p:sp>
        <p:nvSpPr>
          <p:cNvPr id="177" name="Google Shape;177;p14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1.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Abran el documento del equipo en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Google Docs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con la plantilla APA de la CUN: uno solo, compartido con permiso de edición.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2.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Creen tres subtítulos: “Planteamiento del problema”, “Pregunta de investigación” y “Línea de IA”.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3.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Escriban primero las cuatro piezas en bruto, en viñetas: síntoma, contexto, actores, consecuencia.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4.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Recién ahí redacten el párrafo corrido de 8 a 12 líneas. La viñeta se vuelve prosa, nunca al revés.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5.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Escriban la pregunta en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una sola frase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y resáltenla; si necesita dos frases, aún no está delimitada.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6.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Marquen debajo la línea oficial de IA en la que encaja: una sola, escrita textualmente.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7.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Si ya consultaron alguna fuente, generen la cita en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ZoteroBib (zbib.org)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o con las citas integradas de Docs.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8.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Suban el avance a CDigital como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S02_ProblemaPregunta_Apellidos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</p:txBody>
      </p:sp>
      <p:sp>
        <p:nvSpPr>
          <p:cNvPr id="178" name="Google Shape;178;p1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14</a:t>
            </a:r>
            <a:endParaRPr/>
          </a:p>
        </p:txBody>
      </p:sp>
      <p:sp>
        <p:nvSpPr>
          <p:cNvPr id="179" name="Google Shape;179;p14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Todo se hace desde el navegador, gratis y sin instalar nada. https://cdigital.cun.edu.co/course/view.php?id=130378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5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5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TALLER · Borrador de problema y pregunta</a:t>
            </a:r>
            <a:endParaRPr/>
          </a:p>
        </p:txBody>
      </p:sp>
      <p:sp>
        <p:nvSpPr>
          <p:cNvPr id="186" name="Google Shape;186;p15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Por equipos, en el documento del equipo · el Docente pasa por los equipos mientras escriben</a:t>
            </a:r>
            <a:endParaRPr/>
          </a:p>
        </p:txBody>
      </p:sp>
      <p:sp>
        <p:nvSpPr>
          <p:cNvPr id="187" name="Google Shape;187;p15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Al final tiene: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el planteamiento, la pregunta en una frase y la línea oficial de IA en que encaja.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Paso 1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·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De 8 a 12 líneas de planteamiento: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síntoma, contexto, actores y consecuencia.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Paso 2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· Su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pregunta de investigación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en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una sola frase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Paso 3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· La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línea oficial de IA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en la que encaja, escrita tal cual aparece en el programa.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Paso 4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· Al cerrar, tres equipos leen en voz alta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solo su pregunta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, una frase cada uno.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En clase, sin falta: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los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pasos 1 a 2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 Del 3 en adelante puede quedar en trabajo autónomo, pero antes de la próxima sesión.</a:t>
            </a:r>
            <a:endParaRPr/>
          </a:p>
        </p:txBody>
      </p:sp>
      <p:sp>
        <p:nvSpPr>
          <p:cNvPr id="188" name="Google Shape;188;p1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15</a:t>
            </a:r>
            <a:endParaRPr/>
          </a:p>
        </p:txBody>
      </p:sp>
      <p:sp>
        <p:nvSpPr>
          <p:cNvPr id="189" name="Google Shape;189;p1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Prohibido durante el taller: escribir la solución, prometer resultados o nombrar la herramienta que van a construir.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6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6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TALLER · cómo se revisa y dónde se entrega</a:t>
            </a:r>
            <a:endParaRPr/>
          </a:p>
        </p:txBody>
      </p:sp>
      <p:sp>
        <p:nvSpPr>
          <p:cNvPr id="196" name="Google Shape;196;p16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Borrador de problema y pregunta</a:t>
            </a:r>
            <a:endParaRPr/>
          </a:p>
        </p:txBody>
      </p:sp>
      <p:sp>
        <p:nvSpPr>
          <p:cNvPr id="197" name="Google Shape;197;p16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Quedó bien si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—compruébelo usted antes de cerrar el documento—:</a:t>
            </a:r>
            <a:endParaRPr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Al escuchar la pregunta se identifican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actor + fenómeno + contexto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Si falta uno de los tres, la pregunta vuelve a taller: no avanza a objetivos todavía.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Plan B: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Si se atasca en el síntoma, levante la mano: es donde el Docente entra primero. Y escriba el síntoma como algo que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 puede contar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—cuántos, cada cuánto, cuánto cuesta—.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Hoy no se sube nada al aula: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guarde `S02_ProblemaPregunta_Apellidos` (Google Doc o PDF) en su Drive y tráigalo a la próxima sesión. Es un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avance formativo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, se revisa en clase.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Esto alimenta: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ACA 1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—tarea, 25%—, el documento que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sí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recibe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CDigital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; cierra en la semana de la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Sesión 07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</p:txBody>
      </p:sp>
      <p:sp>
        <p:nvSpPr>
          <p:cNvPr id="198" name="Google Shape;198;p1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16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7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7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Checklist de autoevaluación antes de subir el avance</a:t>
            </a:r>
            <a:endParaRPr/>
          </a:p>
        </p:txBody>
      </p:sp>
      <p:graphicFrame>
        <p:nvGraphicFramePr>
          <p:cNvPr id="205" name="Google Shape;205;p17"/>
          <p:cNvGraphicFramePr/>
          <p:nvPr/>
        </p:nvGraphicFramePr>
        <p:xfrm>
          <a:off x="640080" y="169163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{CA4C2333-6E85-4CB6-90B6-96A6A85CDC4F}</a:tableStyleId>
              </a:tblPr>
              <a:tblGrid>
                <a:gridCol w="3482400"/>
                <a:gridCol w="6500500"/>
                <a:gridCol w="928650"/>
              </a:tblGrid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Reviso que…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Cómo lo compruebo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Listo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Hay un actor concreto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Puedo señalar quién sufre el síntoma, con nombre de rol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[  ]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Hay un contexto delimitado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Nombro organización, aula o proceso; no un país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[  ]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El síntoma es observable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Otra persona podría constatarlo sin creerme a mí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[  ]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 pregunta cabe en una frase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 leo en 20 segundos sin quedarme sin aire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[  ]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 empieza por “¿es…?”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Arranca con cómo, qué factores, qué características, qué requisitos o en qué medida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[  ]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 propone una solución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Las palabras app, bot o sistema no aparecen en la pregunta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[  ]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Encaja en una línea oficial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 escribí textualmente debajo de la pregunta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[  ]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 aplico instrumentos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 hay ninguna frase que diga “se aplicó” o “se encuestó”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[  ]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06" name="Google Shape;206;p17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Ocho casillas. Si alguna queda vacía, el avance todavía no está listo para subir a CDigital.</a:t>
            </a:r>
            <a:endParaRPr/>
          </a:p>
        </p:txBody>
      </p:sp>
      <p:sp>
        <p:nvSpPr>
          <p:cNvPr id="207" name="Google Shape;207;p1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17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18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18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Trabajo autónomo y qué traer a la próxima sesión</a:t>
            </a:r>
            <a:endParaRPr/>
          </a:p>
        </p:txBody>
      </p:sp>
      <p:sp>
        <p:nvSpPr>
          <p:cNvPr id="214" name="Google Shape;214;p18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Pulir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el planteamiento hasta que las cuatro piezas se lean sin esfuerzo, en prosa continua.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Buscar tres referencias exploratorias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sobre su fenómeno en fuentes académicas abiertas:</a:t>
            </a:r>
            <a:endParaRPr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Google Scholar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SciELO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y </a:t>
            </a:r>
            <a:r>
              <a:rPr b="1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Redalyc</a:t>
            </a: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, todas gratuitas y desde el navegador.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Guarden de cada una: autor, año, título y el enlace o DOI.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Generar la cita APA 7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de esas tres en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ZoteroBib (zbib.org)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y pegarlas al final del documento.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Subir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el avance a CDigital como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S02_ProblemaPregunta_Apellidos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–   La próxima sesión todo cuelga de esta pregunta: escribimos </a:t>
            </a:r>
            <a:r>
              <a:rPr b="1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objetivo general, específicos, justificación, alcances y limitaciones</a:t>
            </a: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1" marL="45720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●   Si durante la semana la pregunta cambia —es normal—, actualícenla en el documento antes del próximo encuentro.</a:t>
            </a:r>
            <a:endParaRPr/>
          </a:p>
        </p:txBody>
      </p:sp>
      <p:sp>
        <p:nvSpPr>
          <p:cNvPr id="215" name="Google Shape;215;p1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18</a:t>
            </a:r>
            <a:endParaRPr/>
          </a:p>
        </p:txBody>
      </p:sp>
      <p:sp>
        <p:nvSpPr>
          <p:cNvPr id="216" name="Google Shape;216;p18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Las tutorías por equipo se acuerdan con el Docente durante la semana; no hay atención espontánea sin cita.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9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9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RUTA DE ENTREGABLES DEL CURSO</a:t>
            </a:r>
            <a:endParaRPr/>
          </a:p>
        </p:txBody>
      </p:sp>
      <p:sp>
        <p:nvSpPr>
          <p:cNvPr id="223" name="Google Shape;223;p19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Sin fechas a propósito: aquí va </a:t>
            </a:r>
            <a:r>
              <a:rPr b="1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en qué punto del curso</a:t>
            </a:r>
            <a:r>
              <a:rPr b="0" i="0" lang="en-US" sz="15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cierra cada ítem · la ventana exacta la fija CDigital</a:t>
            </a:r>
            <a:endParaRPr/>
          </a:p>
        </p:txBody>
      </p:sp>
      <p:graphicFrame>
        <p:nvGraphicFramePr>
          <p:cNvPr id="224" name="Google Shape;224;p19"/>
          <p:cNvGraphicFramePr/>
          <p:nvPr/>
        </p:nvGraphicFramePr>
        <p:xfrm>
          <a:off x="640080" y="201167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{CA4C2333-6E85-4CB6-90B6-96A6A85CDC4F}</a:tableStyleId>
              </a:tblPr>
              <a:tblGrid>
                <a:gridCol w="2659125"/>
                <a:gridCol w="2659125"/>
                <a:gridCol w="5593300"/>
              </a:tblGrid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Cierra en la semana de…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Entregable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Qué debes tener listo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0C2340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Sesión 02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· cierra esta semana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Quiz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· Cuestionario · 25%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Estudia </a:t>
                      </a: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problema y pregunta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de investigación; resuélvelo dentro de su ventana.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Sesión 07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· pendiente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ACA 1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· Tarea · 25%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Sube en </a:t>
                      </a: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plantilla APA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problema, pregunta, objetivos, mínimo 6 antecedentes y los marcos.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Sesión 10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· pendiente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ACA FINAL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· Tarea · 42%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Sube el anteproyecto integrado con las </a:t>
                      </a: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correcciones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de la ACA 1, metodología y viabilidad.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Sesión 11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· pendiente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Autoevaluación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· Cuestionario · 4%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Diligénciala tú, dentro de su ventana, según tu </a:t>
                      </a: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participación real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2F2F2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Sesión 11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· pendiente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Coevaluación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· Foro · 4%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Publica</a:t>
                      </a:r>
                      <a:r>
                        <a:rPr b="0" i="0" lang="en-US" sz="1100" u="none" cap="none" strike="noStrike">
                          <a:solidFill>
                            <a:srgbClr val="2B2B2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tu propio aporte y valora hechos del trabajo del equipo, con respeto.</a:t>
                      </a:r>
                      <a:endParaRPr/>
                    </a:p>
                  </a:txBody>
                  <a:tcPr marT="36575" marB="36575" marR="91450" marL="109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5" name="Google Shape;225;p19"/>
          <p:cNvSpPr txBox="1"/>
          <p:nvPr/>
        </p:nvSpPr>
        <p:spPr>
          <a:xfrm>
            <a:off x="640080" y="5166360"/>
            <a:ext cx="10911535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Esta misma tabla va al final de todas las sesiones. La </a:t>
            </a:r>
            <a:r>
              <a:rPr b="1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fecha</a:t>
            </a: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 de cada ventana está en el enunciado del ítem (`Clases/Recursos/ACAs/`) y en el aula: si el aula y cualquier otro material se contradicen, </a:t>
            </a:r>
            <a:r>
              <a:rPr b="1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manda el aula</a:t>
            </a:r>
            <a:r>
              <a:rPr b="0" i="1" lang="en-US" sz="12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</p:txBody>
      </p:sp>
      <p:sp>
        <p:nvSpPr>
          <p:cNvPr id="226" name="Google Shape;226;p1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F989D"/>
                </a:solidFill>
                <a:latin typeface="Calibri"/>
                <a:ea typeface="Calibri"/>
                <a:cs typeface="Calibri"/>
                <a:sym typeface="Calibri"/>
              </a:rPr>
              <a:t>19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2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_cun_solo.png" id="232" name="Google Shape;232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62895" y="5632704"/>
            <a:ext cx="1371600" cy="950976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20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>
                <a:solidFill>
                  <a:srgbClr val="0C2340"/>
                </a:solidFill>
                <a:latin typeface="Calibri"/>
                <a:ea typeface="Calibri"/>
                <a:cs typeface="Calibri"/>
                <a:sym typeface="Calibri"/>
              </a:rPr>
              <a:t>Cierre — Sesión 02</a:t>
            </a:r>
            <a:endParaRPr/>
          </a:p>
        </p:txBody>
      </p:sp>
      <p:sp>
        <p:nvSpPr>
          <p:cNvPr id="234" name="Google Shape;234;p20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Sesión 02: Problema y pregunta de investigación</a:t>
            </a:r>
            <a:endParaRPr/>
          </a:p>
          <a:p>
            <a:pPr indent="0" lvl="0" marL="0" marR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2B2B2B"/>
                </a:solidFill>
                <a:latin typeface="Calibri"/>
                <a:ea typeface="Calibri"/>
                <a:cs typeface="Calibri"/>
                <a:sym typeface="Calibri"/>
              </a:rPr>
              <a:t>Siguiente encuentro: continúa el hilo del mismo entregable.</a:t>
            </a:r>
            <a:endParaRPr/>
          </a:p>
        </p:txBody>
      </p:sp>
      <p:sp>
        <p:nvSpPr>
          <p:cNvPr id="235" name="Google Shape;235;p20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007433"/>
                </a:solidFill>
                <a:latin typeface="Calibri"/>
                <a:ea typeface="Calibri"/>
                <a:cs typeface="Calibri"/>
                <a:sym typeface="Calibri"/>
              </a:rPr>
              <a:t>PROYECTO I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>CUN</dc:creator>
</cp:coreProperties>
</file>