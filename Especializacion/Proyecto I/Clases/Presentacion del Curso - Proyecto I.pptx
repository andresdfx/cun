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92608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un_solo.png"/>
          <p:cNvPicPr>
            <a:picLocks noChangeAspect="1"/>
          </p:cNvPicPr>
          <p:nvPr/>
        </p:nvPicPr>
        <p:blipFill>
          <a:blip r:embed="rId2"/>
          <a:stretch>
            <a:fillRect/>
          </a:stretch>
        </p:blipFill>
        <p:spPr>
          <a:xfrm>
            <a:off x="457200" y="274320"/>
            <a:ext cx="1325880" cy="919277"/>
          </a:xfrm>
          <a:prstGeom prst="rect">
            <a:avLst/>
          </a:prstGeom>
        </p:spPr>
      </p:pic>
      <p:sp>
        <p:nvSpPr>
          <p:cNvPr id="5" name="TextBox 4"/>
          <p:cNvSpPr txBox="1"/>
          <p:nvPr/>
        </p:nvSpPr>
        <p:spPr>
          <a:xfrm>
            <a:off x="640080" y="1303324"/>
            <a:ext cx="10911535" cy="1476451"/>
          </a:xfrm>
          <a:prstGeom prst="rect">
            <a:avLst/>
          </a:prstGeom>
          <a:noFill/>
        </p:spPr>
        <p:txBody>
          <a:bodyPr wrap="square" anchor="ctr" lIns="0" rIns="0" tIns="0" bIns="0">
            <a:spAutoFit/>
          </a:bodyPr>
          <a:lstStyle/>
          <a:p>
            <a:pPr algn="ctr"/>
            <a:r>
              <a:rPr sz="3400" b="1" i="0">
                <a:solidFill>
                  <a:srgbClr val="FFFFFF"/>
                </a:solidFill>
                <a:latin typeface="Calibri"/>
              </a:rPr>
              <a:t>PROYECTO I</a:t>
            </a:r>
          </a:p>
          <a:p>
            <a:pPr algn="ctr">
              <a:spcBef>
                <a:spcPts val="800"/>
              </a:spcBef>
            </a:pPr>
            <a:r>
              <a:rPr sz="1600" b="0" i="0">
                <a:solidFill>
                  <a:srgbClr val="CFDDEE"/>
                </a:solidFill>
                <a:latin typeface="Calibri"/>
              </a:rPr>
              <a:t>Especialización en Inteligencia Artificial · Código ESP329</a:t>
            </a:r>
          </a:p>
        </p:txBody>
      </p:sp>
      <p:sp>
        <p:nvSpPr>
          <p:cNvPr id="6" name="TextBox 5"/>
          <p:cNvSpPr txBox="1"/>
          <p:nvPr/>
        </p:nvSpPr>
        <p:spPr>
          <a:xfrm>
            <a:off x="640080" y="3337560"/>
            <a:ext cx="10911535" cy="2651760"/>
          </a:xfrm>
          <a:prstGeom prst="rect">
            <a:avLst/>
          </a:prstGeom>
          <a:noFill/>
        </p:spPr>
        <p:txBody>
          <a:bodyPr wrap="square" anchor="t" lIns="0" rIns="0" tIns="0" bIns="0">
            <a:spAutoFit/>
          </a:bodyPr>
          <a:lstStyle/>
          <a:p>
            <a:pPr>
              <a:spcAft>
                <a:spcPts val="800"/>
              </a:spcAft>
            </a:pPr>
            <a:r>
              <a:rPr sz="1500" b="1" i="0">
                <a:solidFill>
                  <a:srgbClr val="2B2B2B"/>
                </a:solidFill>
                <a:latin typeface="Calibri"/>
              </a:rPr>
              <a:t>Periodo:</a:t>
            </a:r>
            <a:r>
              <a:rPr sz="1500" b="0" i="0">
                <a:solidFill>
                  <a:srgbClr val="2B2B2B"/>
                </a:solidFill>
                <a:latin typeface="Calibri"/>
              </a:rPr>
              <a:t> </a:t>
            </a:r>
            <a:r>
              <a:rPr sz="1500" b="1" i="0">
                <a:solidFill>
                  <a:srgbClr val="2B2B2B"/>
                </a:solidFill>
                <a:latin typeface="Calibri"/>
              </a:rPr>
              <a:t>26ES4</a:t>
            </a:r>
            <a:r>
              <a:rPr sz="1500" b="0" i="0">
                <a:solidFill>
                  <a:srgbClr val="2B2B2B"/>
                </a:solidFill>
                <a:latin typeface="Calibri"/>
              </a:rPr>
              <a:t> · </a:t>
            </a:r>
            <a:r>
              <a:rPr sz="1500" b="1" i="0">
                <a:solidFill>
                  <a:srgbClr val="2B2B2B"/>
                </a:solidFill>
                <a:latin typeface="Calibri"/>
              </a:rPr>
              <a:t>10 de agosto de 2026 – 22 de noviembre de 2026</a:t>
            </a:r>
          </a:p>
          <a:p>
            <a:pPr>
              <a:spcAft>
                <a:spcPts val="800"/>
              </a:spcAft>
            </a:pPr>
            <a:r>
              <a:rPr sz="1500" b="1" i="0">
                <a:solidFill>
                  <a:srgbClr val="2B2B2B"/>
                </a:solidFill>
                <a:latin typeface="Calibri"/>
              </a:rPr>
              <a:t>Programa:</a:t>
            </a:r>
            <a:r>
              <a:rPr sz="1500" b="0" i="0">
                <a:solidFill>
                  <a:srgbClr val="2B2B2B"/>
                </a:solidFill>
                <a:latin typeface="Calibri"/>
              </a:rPr>
              <a:t> Especialización en Inteligencia Artificial</a:t>
            </a:r>
          </a:p>
          <a:p>
            <a:pPr>
              <a:spcAft>
                <a:spcPts val="800"/>
              </a:spcAft>
            </a:pPr>
            <a:r>
              <a:rPr sz="1500" b="1" i="0">
                <a:solidFill>
                  <a:srgbClr val="2B2B2B"/>
                </a:solidFill>
                <a:latin typeface="Calibri"/>
              </a:rPr>
              <a:t>Código SIAC:</a:t>
            </a:r>
            <a:r>
              <a:rPr sz="1500" b="0" i="0">
                <a:solidFill>
                  <a:srgbClr val="2B2B2B"/>
                </a:solidFill>
                <a:latin typeface="Calibri"/>
              </a:rPr>
              <a:t> ESP329 · Virtual · 2 créditos · 25% / 25% / 50% en tres cortes</a:t>
            </a:r>
          </a:p>
          <a:p>
            <a:pPr>
              <a:spcAft>
                <a:spcPts val="800"/>
              </a:spcAft>
            </a:pPr>
            <a:r>
              <a:rPr sz="1500" b="1" i="0">
                <a:solidFill>
                  <a:srgbClr val="2B2B2B"/>
                </a:solidFill>
                <a:latin typeface="Calibri"/>
              </a:rPr>
              <a:t>Fuente curricular:</a:t>
            </a:r>
            <a:r>
              <a:rPr sz="1500" b="0" i="0">
                <a:solidFill>
                  <a:srgbClr val="2B2B2B"/>
                </a:solidFill>
                <a:latin typeface="Calibri"/>
              </a:rPr>
              <a:t> Especializacion_En_Inteligencia_Artificial_Proyecto_I_ESP329.docx</a:t>
            </a:r>
          </a:p>
          <a:p>
            <a:pPr>
              <a:spcAft>
                <a:spcPts val="800"/>
              </a:spcAft>
            </a:pPr>
            <a:r>
              <a:rPr sz="1500" b="1" i="0">
                <a:solidFill>
                  <a:srgbClr val="2B2B2B"/>
                </a:solidFill>
                <a:latin typeface="Calibri"/>
              </a:rPr>
              <a:t>Modalidad:</a:t>
            </a:r>
            <a:r>
              <a:rPr sz="1500" b="0" i="0">
                <a:solidFill>
                  <a:srgbClr val="2B2B2B"/>
                </a:solidFill>
                <a:latin typeface="Calibri"/>
              </a:rPr>
              <a:t> Virtual — encuentro sincrónico semanal por Google Meet</a:t>
            </a:r>
          </a:p>
          <a:p>
            <a:pPr>
              <a:spcAft>
                <a:spcPts val="800"/>
              </a:spcAft>
            </a:pPr>
            <a:r>
              <a:rPr sz="1500" b="1" i="0">
                <a:solidFill>
                  <a:srgbClr val="2B2B2B"/>
                </a:solidFill>
                <a:latin typeface="Calibri"/>
              </a:rPr>
              <a:t>Horario confirmado:</a:t>
            </a:r>
            <a:r>
              <a:rPr sz="1500" b="0" i="0">
                <a:solidFill>
                  <a:srgbClr val="2B2B2B"/>
                </a:solidFill>
                <a:latin typeface="Calibri"/>
              </a:rPr>
              <a:t> </a:t>
            </a:r>
            <a:r>
              <a:rPr sz="1500" b="1" i="0">
                <a:solidFill>
                  <a:srgbClr val="2B2B2B"/>
                </a:solidFill>
                <a:latin typeface="Calibri"/>
              </a:rPr>
              <a:t>Lunes, 8:00 pm – 10:00 pm (2 horas)</a:t>
            </a:r>
            <a:r>
              <a:rPr sz="1500" b="0" i="0">
                <a:solidFill>
                  <a:srgbClr val="2B2B2B"/>
                </a:solidFill>
                <a:latin typeface="Calibri"/>
              </a:rPr>
              <a:t> · inicio efectivo </a:t>
            </a:r>
            <a:r>
              <a:rPr sz="1500" b="1" i="0">
                <a:solidFill>
                  <a:srgbClr val="2B2B2B"/>
                </a:solidFill>
                <a:latin typeface="Calibri"/>
              </a:rPr>
              <a:t>8:10 pm</a:t>
            </a:r>
          </a:p>
          <a:p>
            <a:pPr>
              <a:spcAft>
                <a:spcPts val="800"/>
              </a:spcAft>
            </a:pPr>
            <a:r>
              <a:rPr sz="1500" b="1" i="0">
                <a:solidFill>
                  <a:srgbClr val="2B2B2B"/>
                </a:solidFill>
                <a:latin typeface="Calibri"/>
              </a:rPr>
              <a:t>Grupo:</a:t>
            </a:r>
            <a:r>
              <a:rPr sz="1500" b="0" i="0">
                <a:solidFill>
                  <a:srgbClr val="2B2B2B"/>
                </a:solidFill>
                <a:latin typeface="Calibri"/>
              </a:rPr>
              <a:t> </a:t>
            </a:r>
            <a:r>
              <a:rPr sz="1500" b="1" i="0">
                <a:solidFill>
                  <a:srgbClr val="2B2B2B"/>
                </a:solidFill>
                <a:latin typeface="Calibri"/>
              </a:rPr>
              <a:t>54ES4</a:t>
            </a:r>
          </a:p>
          <a:p>
            <a:pPr>
              <a:spcAft>
                <a:spcPts val="800"/>
              </a:spcAft>
            </a:pPr>
            <a:r>
              <a:rPr sz="1500" b="1" i="0">
                <a:solidFill>
                  <a:srgbClr val="2B2B2B"/>
                </a:solidFill>
                <a:latin typeface="Calibri"/>
              </a:rPr>
              <a:t>Contacto del Docente:</a:t>
            </a:r>
            <a:r>
              <a:rPr sz="1500" b="0" i="0">
                <a:solidFill>
                  <a:srgbClr val="2B2B2B"/>
                </a:solidFill>
                <a:latin typeface="Calibri"/>
              </a:rPr>
              <a:t> julian_castanoe@cun.edu.co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Docente</a:t>
            </a:r>
          </a:p>
        </p:txBody>
      </p:sp>
      <p:sp>
        <p:nvSpPr>
          <p:cNvPr id="4" name="TextBox 3"/>
          <p:cNvSpPr txBox="1"/>
          <p:nvPr/>
        </p:nvSpPr>
        <p:spPr>
          <a:xfrm>
            <a:off x="2560320" y="2148840"/>
            <a:ext cx="8991295" cy="1874519"/>
          </a:xfrm>
          <a:prstGeom prst="rect">
            <a:avLst/>
          </a:prstGeom>
          <a:noFill/>
        </p:spPr>
        <p:txBody>
          <a:bodyPr wrap="square" anchor="t" lIns="0" rIns="0" tIns="0" bIns="0">
            <a:spAutoFit/>
          </a:bodyPr>
          <a:lstStyle/>
          <a:p>
            <a:pPr>
              <a:spcAft>
                <a:spcPts val="1200"/>
              </a:spcAft>
            </a:pPr>
            <a:r>
              <a:rPr sz="1800" b="0" i="0">
                <a:solidFill>
                  <a:srgbClr val="2B2B2B"/>
                </a:solidFill>
                <a:latin typeface="Calibri"/>
              </a:rPr>
              <a:t>Ingeniero de Sistemas</a:t>
            </a:r>
          </a:p>
          <a:p>
            <a:pPr>
              <a:spcAft>
                <a:spcPts val="1200"/>
              </a:spcAft>
            </a:pPr>
            <a:r>
              <a:rPr sz="1800" b="0" i="0">
                <a:solidFill>
                  <a:srgbClr val="2B2B2B"/>
                </a:solidFill>
                <a:latin typeface="Calibri"/>
              </a:rPr>
              <a:t>Candidato a MSc en Inteligencia Artificial</a:t>
            </a:r>
          </a:p>
          <a:p>
            <a:pPr>
              <a:spcAft>
                <a:spcPts val="1200"/>
              </a:spcAft>
            </a:pPr>
            <a:r>
              <a:rPr sz="1800" b="0" i="0">
                <a:solidFill>
                  <a:srgbClr val="2B2B2B"/>
                </a:solidFill>
                <a:latin typeface="Calibri"/>
              </a:rPr>
              <a:t>Líder Técnico</a:t>
            </a:r>
          </a:p>
          <a:p>
            <a:pPr>
              <a:spcAft>
                <a:spcPts val="1200"/>
              </a:spcAft>
            </a:pPr>
            <a:r>
              <a:rPr sz="1800" b="0" i="0">
                <a:solidFill>
                  <a:srgbClr val="2B2B2B"/>
                </a:solidFill>
                <a:latin typeface="Calibri"/>
              </a:rPr>
              <a:t>Speaker Tecnológico</a:t>
            </a:r>
          </a:p>
        </p:txBody>
      </p:sp>
      <p:pic>
        <p:nvPicPr>
          <p:cNvPr id="5" name="Picture 4" descr="gmail_icon.png"/>
          <p:cNvPicPr>
            <a:picLocks noChangeAspect="1"/>
          </p:cNvPicPr>
          <p:nvPr/>
        </p:nvPicPr>
        <p:blipFill>
          <a:blip r:embed="rId2"/>
          <a:stretch>
            <a:fillRect/>
          </a:stretch>
        </p:blipFill>
        <p:spPr>
          <a:xfrm>
            <a:off x="2560320" y="4160520"/>
            <a:ext cx="292608" cy="292608"/>
          </a:xfrm>
          <a:prstGeom prst="rect">
            <a:avLst/>
          </a:prstGeom>
        </p:spPr>
      </p:pic>
      <p:sp>
        <p:nvSpPr>
          <p:cNvPr id="6" name="TextBox 5"/>
          <p:cNvSpPr txBox="1"/>
          <p:nvPr/>
        </p:nvSpPr>
        <p:spPr>
          <a:xfrm>
            <a:off x="3063239" y="4142232"/>
            <a:ext cx="8488375" cy="365760"/>
          </a:xfrm>
          <a:prstGeom prst="rect">
            <a:avLst/>
          </a:prstGeom>
          <a:noFill/>
        </p:spPr>
        <p:txBody>
          <a:bodyPr wrap="square" anchor="ctr" lIns="0" rIns="0" tIns="0" bIns="0">
            <a:spAutoFit/>
          </a:bodyPr>
          <a:lstStyle/>
          <a:p>
            <a:r>
              <a:rPr sz="1600" b="1" i="0">
                <a:solidFill>
                  <a:srgbClr val="007433"/>
                </a:solidFill>
                <a:latin typeface="Calibri"/>
              </a:rPr>
              <a:t>julian_castanoe@cun.edu.co</a:t>
            </a:r>
          </a:p>
        </p:txBody>
      </p:sp>
      <p:pic>
        <p:nvPicPr>
          <p:cNvPr id="7" name="Picture 6" descr="logo_cun_solo.png"/>
          <p:cNvPicPr>
            <a:picLocks noChangeAspect="1"/>
          </p:cNvPicPr>
          <p:nvPr/>
        </p:nvPicPr>
        <p:blipFill>
          <a:blip r:embed="rId3"/>
          <a:stretch>
            <a:fillRect/>
          </a:stretch>
        </p:blipFill>
        <p:spPr>
          <a:xfrm>
            <a:off x="457200" y="5523586"/>
            <a:ext cx="1463040" cy="1014374"/>
          </a:xfrm>
          <a:prstGeom prst="rect">
            <a:avLst/>
          </a:prstGeom>
        </p:spPr>
      </p:pic>
      <p:sp>
        <p:nvSpPr>
          <p:cNvPr id="8" name="TextBox 7"/>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ROMPEHIELOS — DOS VERDADES Y UNA MENTIRA</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Dos verdades y una mentira · Slido · 8 minutos</a:t>
            </a:r>
          </a:p>
        </p:txBody>
      </p:sp>
      <p:sp>
        <p:nvSpPr>
          <p:cNvPr id="5" name="TextBox 4"/>
          <p:cNvSpPr txBox="1"/>
          <p:nvPr/>
        </p:nvSpPr>
        <p:spPr>
          <a:xfrm>
            <a:off x="640080" y="2011679"/>
            <a:ext cx="5852160" cy="429768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Entra a slido.com</a:t>
            </a:r>
            <a:r>
              <a:rPr sz="1300" b="0" i="0">
                <a:solidFill>
                  <a:srgbClr val="2B2B2B"/>
                </a:solidFill>
                <a:latin typeface="Calibri"/>
              </a:rPr>
              <a:t> y escribe el </a:t>
            </a:r>
            <a:r>
              <a:rPr sz="1300" b="1" i="0">
                <a:solidFill>
                  <a:srgbClr val="2B2B2B"/>
                </a:solidFill>
                <a:latin typeface="Calibri"/>
              </a:rPr>
              <a:t>código del evento</a:t>
            </a:r>
            <a:r>
              <a:rPr sz="1300" b="0" i="0">
                <a:solidFill>
                  <a:srgbClr val="2B2B2B"/>
                </a:solidFill>
                <a:latin typeface="Calibri"/>
              </a:rPr>
              <a:t> que el Docente pega en el chat del Meet. Sin cuenta ni instalar nada.</a:t>
            </a:r>
          </a:p>
          <a:p>
            <a:pPr>
              <a:spcAft>
                <a:spcPts val="1000"/>
              </a:spcAft>
            </a:pPr>
            <a:r>
              <a:rPr sz="1300" b="0" i="0">
                <a:solidFill>
                  <a:srgbClr val="2B2B2B"/>
                </a:solidFill>
                <a:latin typeface="Calibri"/>
              </a:rPr>
              <a:t>–   </a:t>
            </a:r>
            <a:r>
              <a:rPr sz="1300" b="1" i="0">
                <a:solidFill>
                  <a:srgbClr val="2B2B2B"/>
                </a:solidFill>
                <a:latin typeface="Calibri"/>
              </a:rPr>
              <a:t>El juego:</a:t>
            </a:r>
            <a:r>
              <a:rPr sz="1300" b="0" i="0">
                <a:solidFill>
                  <a:srgbClr val="2B2B2B"/>
                </a:solidFill>
                <a:latin typeface="Calibri"/>
              </a:rPr>
              <a:t> «</a:t>
            </a:r>
            <a:r>
              <a:rPr sz="1300" b="1" i="0">
                <a:solidFill>
                  <a:srgbClr val="2B2B2B"/>
                </a:solidFill>
                <a:latin typeface="Calibri"/>
              </a:rPr>
              <a:t>dos verdades y una mentira</a:t>
            </a:r>
            <a:r>
              <a:rPr sz="1300" b="0" i="0">
                <a:solidFill>
                  <a:srgbClr val="2B2B2B"/>
                </a:solidFill>
                <a:latin typeface="Calibri"/>
              </a:rPr>
              <a:t>» sobre el Docente. Se proyectan tres frases suyas y votas </a:t>
            </a:r>
            <a:r>
              <a:rPr sz="1300" b="1" i="0">
                <a:solidFill>
                  <a:srgbClr val="2B2B2B"/>
                </a:solidFill>
                <a:latin typeface="Calibri"/>
              </a:rPr>
              <a:t>cuál de las tres NO es cierta</a:t>
            </a:r>
            <a:r>
              <a:rPr sz="1300" b="0" i="0">
                <a:solidFill>
                  <a:srgbClr val="2B2B2B"/>
                </a:solidFill>
                <a:latin typeface="Calibri"/>
              </a:rPr>
              <a:t> — acertar es </a:t>
            </a:r>
            <a:r>
              <a:rPr sz="1300" b="1" i="0">
                <a:solidFill>
                  <a:srgbClr val="2B2B2B"/>
                </a:solidFill>
                <a:latin typeface="Calibri"/>
              </a:rPr>
              <a:t>1 entre 3</a:t>
            </a:r>
            <a:r>
              <a:rPr sz="1300" b="0" i="0">
                <a:solidFill>
                  <a:srgbClr val="2B2B2B"/>
                </a:solidFill>
                <a:latin typeface="Calibri"/>
              </a:rPr>
              <a:t>, así que arrancamos todos iguales.</a:t>
            </a:r>
          </a:p>
          <a:p>
            <a:pPr>
              <a:spcAft>
                <a:spcPts val="1000"/>
              </a:spcAft>
            </a:pPr>
            <a:r>
              <a:rPr sz="1300" b="0" i="0">
                <a:solidFill>
                  <a:srgbClr val="2B2B2B"/>
                </a:solidFill>
                <a:latin typeface="Calibri"/>
              </a:rPr>
              <a:t>–   </a:t>
            </a:r>
            <a:r>
              <a:rPr sz="1300" b="1" i="0">
                <a:solidFill>
                  <a:srgbClr val="2B2B2B"/>
                </a:solidFill>
                <a:latin typeface="Calibri"/>
              </a:rPr>
              <a:t>Tres rondas (~4 min).</a:t>
            </a:r>
            <a:r>
              <a:rPr sz="1300" b="0" i="0">
                <a:solidFill>
                  <a:srgbClr val="2B2B2B"/>
                </a:solidFill>
                <a:latin typeface="Calibri"/>
              </a:rPr>
              <a:t> Al cerrar cada una el Docente revela la mentira y cuenta la historia de la verdad más rara: ahí queda hecha su presentación.</a:t>
            </a:r>
          </a:p>
          <a:p>
            <a:pPr>
              <a:spcAft>
                <a:spcPts val="1000"/>
              </a:spcAft>
            </a:pPr>
            <a:r>
              <a:rPr sz="1300" b="0" i="0">
                <a:solidFill>
                  <a:srgbClr val="2B2B2B"/>
                </a:solidFill>
                <a:latin typeface="Calibri"/>
              </a:rPr>
              <a:t>–   </a:t>
            </a:r>
            <a:r>
              <a:rPr sz="1300" b="1" i="0">
                <a:solidFill>
                  <a:srgbClr val="2B2B2B"/>
                </a:solidFill>
                <a:latin typeface="Calibri"/>
              </a:rPr>
              <a:t>Ronda final (~2 min):</a:t>
            </a:r>
            <a:r>
              <a:rPr sz="1300" b="0" i="0">
                <a:solidFill>
                  <a:srgbClr val="2B2B2B"/>
                </a:solidFill>
                <a:latin typeface="Calibri"/>
              </a:rPr>
              <a:t> sale la tabla de posiciones y los </a:t>
            </a:r>
            <a:r>
              <a:rPr sz="1300" b="1" i="0">
                <a:solidFill>
                  <a:srgbClr val="2B2B2B"/>
                </a:solidFill>
                <a:latin typeface="Calibri"/>
              </a:rPr>
              <a:t>tres primeros</a:t>
            </a:r>
            <a:r>
              <a:rPr sz="1300" b="0" i="0">
                <a:solidFill>
                  <a:srgbClr val="2B2B2B"/>
                </a:solidFill>
                <a:latin typeface="Calibri"/>
              </a:rPr>
              <a:t> toman el micrófono con </a:t>
            </a:r>
            <a:r>
              <a:rPr sz="1300" b="1" i="0">
                <a:solidFill>
                  <a:srgbClr val="2B2B2B"/>
                </a:solidFill>
                <a:latin typeface="Calibri"/>
              </a:rPr>
              <a:t>sus</a:t>
            </a:r>
            <a:r>
              <a:rPr sz="1300" b="0" i="0">
                <a:solidFill>
                  <a:srgbClr val="2B2B2B"/>
                </a:solidFill>
                <a:latin typeface="Calibri"/>
              </a:rPr>
              <a:t> dos verdades y una mentira. Gana quien engañe a más gente. Hablan tres, no 50.</a:t>
            </a:r>
          </a:p>
          <a:p>
            <a:pPr>
              <a:spcAft>
                <a:spcPts val="1000"/>
              </a:spcAft>
            </a:pPr>
            <a:r>
              <a:rPr sz="1300" b="0" i="0">
                <a:solidFill>
                  <a:srgbClr val="2B2B2B"/>
                </a:solidFill>
                <a:latin typeface="Calibri"/>
              </a:rPr>
              <a:t>–   </a:t>
            </a:r>
            <a:r>
              <a:rPr sz="1300" b="1" i="0">
                <a:solidFill>
                  <a:srgbClr val="2B2B2B"/>
                </a:solidFill>
                <a:latin typeface="Calibri"/>
              </a:rPr>
              <a:t>Premio:</a:t>
            </a:r>
            <a:r>
              <a:rPr sz="1300" b="0" i="0">
                <a:solidFill>
                  <a:srgbClr val="2B2B2B"/>
                </a:solidFill>
                <a:latin typeface="Calibri"/>
              </a:rPr>
              <a:t> </a:t>
            </a:r>
            <a:r>
              <a:rPr sz="1300" b="1" i="0">
                <a:solidFill>
                  <a:srgbClr val="2B2B2B"/>
                </a:solidFill>
                <a:latin typeface="Calibri"/>
              </a:rPr>
              <a:t>revisión 1 a 1 con el Docente</a:t>
            </a:r>
            <a:r>
              <a:rPr sz="1300" b="0" i="0">
                <a:solidFill>
                  <a:srgbClr val="2B2B2B"/>
                </a:solidFill>
                <a:latin typeface="Calibri"/>
              </a:rPr>
              <a:t> del avance del ganador, antes de la primera entrega.</a:t>
            </a:r>
          </a:p>
          <a:p>
            <a:pPr>
              <a:spcAft>
                <a:spcPts val="1000"/>
              </a:spcAft>
            </a:pPr>
            <a:r>
              <a:rPr sz="1300" b="0" i="0">
                <a:solidFill>
                  <a:srgbClr val="2B2B2B"/>
                </a:solidFill>
                <a:latin typeface="Calibri"/>
              </a:rPr>
              <a:t>–   </a:t>
            </a:r>
            <a:r>
              <a:rPr sz="1300" b="1" i="0">
                <a:solidFill>
                  <a:srgbClr val="2B2B2B"/>
                </a:solidFill>
                <a:latin typeface="Calibri"/>
              </a:rPr>
              <a:t>Las preguntas</a:t>
            </a:r>
            <a:r>
              <a:rPr sz="1300" b="0" i="0">
                <a:solidFill>
                  <a:srgbClr val="2B2B2B"/>
                </a:solidFill>
                <a:latin typeface="Calibri"/>
              </a:rPr>
              <a:t> de toda la sesión van por el </a:t>
            </a:r>
            <a:r>
              <a:rPr sz="1300" b="1" i="0">
                <a:solidFill>
                  <a:srgbClr val="2B2B2B"/>
                </a:solidFill>
                <a:latin typeface="Calibri"/>
              </a:rPr>
              <a:t>Q&amp;A</a:t>
            </a:r>
            <a:r>
              <a:rPr sz="1300" b="0" i="0">
                <a:solidFill>
                  <a:srgbClr val="2B2B2B"/>
                </a:solidFill>
                <a:latin typeface="Calibri"/>
              </a:rPr>
              <a:t> del mismo Slido.</a:t>
            </a:r>
          </a:p>
        </p:txBody>
      </p:sp>
      <p:sp>
        <p:nvSpPr>
          <p:cNvPr id="6" name="Rounded Rectangle 5"/>
          <p:cNvSpPr/>
          <p:nvPr/>
        </p:nvSpPr>
        <p:spPr>
          <a:xfrm>
            <a:off x="8332927" y="1993391"/>
            <a:ext cx="3328415" cy="3886200"/>
          </a:xfrm>
          <a:prstGeom prst="round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095" y="2606039"/>
            <a:ext cx="2926079" cy="2103120"/>
          </a:xfrm>
          <a:prstGeom prst="rect">
            <a:avLst/>
          </a:prstGeom>
          <a:noFill/>
        </p:spPr>
        <p:txBody>
          <a:bodyPr wrap="square" anchor="ctr" lIns="0" rIns="0" tIns="0" bIns="0">
            <a:spAutoFit/>
          </a:bodyPr>
          <a:lstStyle/>
          <a:p>
            <a:pPr algn="ctr"/>
            <a:r>
              <a:rPr sz="3000" b="1" i="0">
                <a:solidFill>
                  <a:srgbClr val="007433"/>
                </a:solidFill>
                <a:latin typeface="Calibri"/>
              </a:rPr>
              <a:t>slido.com</a:t>
            </a:r>
          </a:p>
          <a:p>
            <a:pPr algn="ctr">
              <a:spcBef>
                <a:spcPts val="1400"/>
              </a:spcBef>
            </a:pPr>
            <a:r>
              <a:rPr sz="1300" b="0" i="0">
                <a:solidFill>
                  <a:srgbClr val="0C2340"/>
                </a:solidFill>
                <a:latin typeface="Calibri"/>
              </a:rPr>
              <a:t>El </a:t>
            </a:r>
            <a:r>
              <a:rPr sz="1300" b="1" i="0">
                <a:solidFill>
                  <a:srgbClr val="0C2340"/>
                </a:solidFill>
                <a:latin typeface="Calibri"/>
              </a:rPr>
              <a:t>código del evento</a:t>
            </a:r>
            <a:r>
              <a:rPr sz="1300" b="0" i="0">
                <a:solidFill>
                  <a:srgbClr val="0C2340"/>
                </a:solidFill>
                <a:latin typeface="Calibri"/>
              </a:rPr>
              <a:t> te lo pega el Docente en el </a:t>
            </a:r>
            <a:r>
              <a:rPr sz="1300" b="1" i="0">
                <a:solidFill>
                  <a:srgbClr val="0C2340"/>
                </a:solidFill>
                <a:latin typeface="Calibri"/>
              </a:rPr>
              <a:t>chat del Meet</a:t>
            </a:r>
            <a:r>
              <a:rPr sz="1300" b="0" i="0">
                <a:solidFill>
                  <a:srgbClr val="0C2340"/>
                </a:solidFill>
                <a:latin typeface="Calibri"/>
              </a:rPr>
              <a:t>.</a:t>
            </a:r>
          </a:p>
        </p:txBody>
      </p:sp>
      <p:sp>
        <p:nvSpPr>
          <p:cNvPr id="8" name="TextBox 7"/>
          <p:cNvSpPr txBox="1"/>
          <p:nvPr/>
        </p:nvSpPr>
        <p:spPr>
          <a:xfrm>
            <a:off x="8332927" y="5230367"/>
            <a:ext cx="3328415" cy="640080"/>
          </a:xfrm>
          <a:prstGeom prst="rect">
            <a:avLst/>
          </a:prstGeom>
          <a:noFill/>
        </p:spPr>
        <p:txBody>
          <a:bodyPr wrap="square" anchor="t" lIns="0" rIns="0" tIns="0" bIns="0">
            <a:spAutoFit/>
          </a:bodyPr>
          <a:lstStyle/>
          <a:p>
            <a:pPr algn="ctr"/>
            <a:r>
              <a:rPr sz="900" b="1" i="0">
                <a:solidFill>
                  <a:srgbClr val="007433"/>
                </a:solidFill>
                <a:latin typeface="Calibri"/>
              </a:rPr>
              <a:t>[URL Slido — evento del rompehielos pendiente · PROYECTO I]</a:t>
            </a:r>
          </a:p>
        </p:txBody>
      </p:sp>
      <p:sp>
        <p:nvSpPr>
          <p:cNvPr id="9" name="TextBox 8"/>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ES PROYECTO I?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Inicia la ruta de trabajo de grado: delimitar una situación problemática y convertirla en un </a:t>
            </a:r>
            <a:r>
              <a:rPr sz="1600" b="1" i="0">
                <a:solidFill>
                  <a:srgbClr val="2B2B2B"/>
                </a:solidFill>
                <a:latin typeface="Calibri"/>
              </a:rPr>
              <a:t>anteproyecto</a:t>
            </a:r>
            <a:r>
              <a:rPr sz="1600" b="0" i="0">
                <a:solidFill>
                  <a:srgbClr val="2B2B2B"/>
                </a:solidFill>
                <a:latin typeface="Calibri"/>
              </a:rPr>
              <a:t> coherente, viable y éticamente fundamentado.</a:t>
            </a:r>
          </a:p>
          <a:p>
            <a:pPr>
              <a:spcAft>
                <a:spcPts val="1000"/>
              </a:spcAft>
            </a:pPr>
            <a:r>
              <a:rPr sz="1600" b="0" i="0">
                <a:solidFill>
                  <a:srgbClr val="2B2B2B"/>
                </a:solidFill>
                <a:latin typeface="Calibri"/>
              </a:rPr>
              <a:t>–   Macrocompetencia: </a:t>
            </a:r>
            <a:r>
              <a:rPr sz="1600" b="1" i="0">
                <a:solidFill>
                  <a:srgbClr val="2B2B2B"/>
                </a:solidFill>
                <a:latin typeface="Calibri"/>
              </a:rPr>
              <a:t>formula un anteproyecto</a:t>
            </a:r>
            <a:r>
              <a:rPr sz="1600" b="0" i="0">
                <a:solidFill>
                  <a:srgbClr val="2B2B2B"/>
                </a:solidFill>
                <a:latin typeface="Calibri"/>
              </a:rPr>
              <a:t> pertinente para la especialización (problema, antecedentes, objetivos y ruta metodológica viable).</a:t>
            </a:r>
          </a:p>
          <a:p>
            <a:pPr>
              <a:spcAft>
                <a:spcPts val="1000"/>
              </a:spcAft>
            </a:pPr>
            <a:r>
              <a:rPr sz="1600" b="0" i="0">
                <a:solidFill>
                  <a:srgbClr val="2B2B2B"/>
                </a:solidFill>
                <a:latin typeface="Calibri"/>
              </a:rPr>
              <a:t>–   Producto final: </a:t>
            </a:r>
            <a:r>
              <a:rPr sz="1600" b="1" i="0">
                <a:solidFill>
                  <a:srgbClr val="2B2B2B"/>
                </a:solidFill>
                <a:latin typeface="Calibri"/>
              </a:rPr>
              <a:t>anteproyecto completo</a:t>
            </a:r>
            <a:r>
              <a:rPr sz="1600" b="0" i="0">
                <a:solidFill>
                  <a:srgbClr val="2B2B2B"/>
                </a:solidFill>
                <a:latin typeface="Calibri"/>
              </a:rPr>
              <a:t>, base para Proyecto II (o equivalente).</a:t>
            </a:r>
          </a:p>
          <a:p>
            <a:pPr lvl="1">
              <a:spcAft>
                <a:spcPts val="600"/>
              </a:spcAft>
            </a:pPr>
            <a:r>
              <a:rPr sz="1500" b="0" i="0">
                <a:solidFill>
                  <a:srgbClr val="2B2B2B"/>
                </a:solidFill>
                <a:latin typeface="Calibri"/>
              </a:rPr>
              <a:t>●   En este espacio </a:t>
            </a:r>
            <a:r>
              <a:rPr sz="1500" b="1" i="0">
                <a:solidFill>
                  <a:srgbClr val="2B2B2B"/>
                </a:solidFill>
                <a:latin typeface="Calibri"/>
              </a:rPr>
              <a:t>no se recolecta ni se aplica</a:t>
            </a:r>
            <a:r>
              <a:rPr sz="1500" b="0" i="0">
                <a:solidFill>
                  <a:srgbClr val="2B2B2B"/>
                </a:solidFill>
                <a:latin typeface="Calibri"/>
              </a:rPr>
              <a:t> trabajo de campo — eso corresponde a Proyecto II, tras el aval metodológico.</a:t>
            </a:r>
          </a:p>
          <a:p>
            <a:pPr>
              <a:spcAft>
                <a:spcPts val="1000"/>
              </a:spcAft>
            </a:pPr>
            <a:r>
              <a:rPr sz="1600" b="0" i="0">
                <a:solidFill>
                  <a:srgbClr val="2B2B2B"/>
                </a:solidFill>
                <a:latin typeface="Calibri"/>
              </a:rPr>
              <a:t>–   El Docente acompaña como </a:t>
            </a:r>
            <a:r>
              <a:rPr sz="1600" b="1" i="0">
                <a:solidFill>
                  <a:srgbClr val="2B2B2B"/>
                </a:solidFill>
                <a:latin typeface="Calibri"/>
              </a:rPr>
              <a:t>garante metodológico</a:t>
            </a:r>
            <a:r>
              <a:rPr sz="1600" b="0" i="0">
                <a:solidFill>
                  <a:srgbClr val="2B2B2B"/>
                </a:solidFill>
                <a:latin typeface="Calibri"/>
              </a:rPr>
              <a:t> (orientación, revisión y coherencia del anteproyecto).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RESULTADOS DE APRENDIZAJE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Analiza críticamente información académica y profesional relevante.</a:t>
            </a:r>
          </a:p>
          <a:p>
            <a:pPr>
              <a:spcAft>
                <a:spcPts val="1000"/>
              </a:spcAft>
            </a:pPr>
            <a:r>
              <a:rPr sz="1600" b="0" i="0">
                <a:solidFill>
                  <a:srgbClr val="2B2B2B"/>
                </a:solidFill>
                <a:latin typeface="Calibri"/>
              </a:rPr>
              <a:t>–   Formula problemas, preguntas y objetivos investigables.</a:t>
            </a:r>
          </a:p>
          <a:p>
            <a:pPr>
              <a:spcAft>
                <a:spcPts val="1000"/>
              </a:spcAft>
            </a:pPr>
            <a:r>
              <a:rPr sz="1600" b="0" i="0">
                <a:solidFill>
                  <a:srgbClr val="2B2B2B"/>
                </a:solidFill>
                <a:latin typeface="Calibri"/>
              </a:rPr>
              <a:t>–   Sustenta las decisiones teóricas y metodológicas del anteproyecto.</a:t>
            </a:r>
          </a:p>
          <a:p>
            <a:pPr>
              <a:spcAft>
                <a:spcPts val="1000"/>
              </a:spcAft>
            </a:pPr>
            <a:r>
              <a:rPr sz="1600" b="0" i="0">
                <a:solidFill>
                  <a:srgbClr val="2B2B2B"/>
                </a:solidFill>
                <a:latin typeface="Calibri"/>
              </a:rPr>
              <a:t>–   Integra los componentes del proyecto en un documento académico coherente.</a:t>
            </a:r>
          </a:p>
          <a:p>
            <a:pPr>
              <a:spcAft>
                <a:spcPts val="1000"/>
              </a:spcAft>
            </a:pPr>
            <a:r>
              <a:rPr sz="1600" b="0" i="0">
                <a:solidFill>
                  <a:srgbClr val="2B2B2B"/>
                </a:solidFill>
                <a:latin typeface="Calibri"/>
              </a:rPr>
              <a:t>–   Aplica integridad académica, propiedad intelectual y uso responsable de fuentes e IA.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LÍNEAS DE INVESTIGACIÓN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Todo anteproyecto de la Especialización en IA se enmarca en una línea de </a:t>
            </a:r>
            <a:r>
              <a:rPr sz="1600" b="1" i="0">
                <a:solidFill>
                  <a:srgbClr val="2B2B2B"/>
                </a:solidFill>
                <a:latin typeface="Calibri"/>
              </a:rPr>
              <a:t>programa</a:t>
            </a:r>
            <a:r>
              <a:rPr sz="1600" b="0" i="0">
                <a:solidFill>
                  <a:srgbClr val="2B2B2B"/>
                </a:solidFill>
                <a:latin typeface="Calibri"/>
              </a:rPr>
              <a:t>:</a:t>
            </a:r>
          </a:p>
          <a:p>
            <a:pPr lvl="1">
              <a:spcAft>
                <a:spcPts val="600"/>
              </a:spcAft>
            </a:pPr>
            <a:r>
              <a:rPr sz="1500" b="0" i="0">
                <a:solidFill>
                  <a:srgbClr val="2B2B2B"/>
                </a:solidFill>
                <a:latin typeface="Calibri"/>
              </a:rPr>
              <a:t>●   </a:t>
            </a:r>
            <a:r>
              <a:rPr sz="1500" b="1" i="0">
                <a:solidFill>
                  <a:srgbClr val="2B2B2B"/>
                </a:solidFill>
                <a:latin typeface="Calibri"/>
              </a:rPr>
              <a:t>Uso y adaptación de IA para entornos productivos</a:t>
            </a:r>
          </a:p>
          <a:p>
            <a:pPr lvl="1">
              <a:spcAft>
                <a:spcPts val="600"/>
              </a:spcAft>
            </a:pPr>
            <a:r>
              <a:rPr sz="1500" b="0" i="0">
                <a:solidFill>
                  <a:srgbClr val="2B2B2B"/>
                </a:solidFill>
                <a:latin typeface="Calibri"/>
              </a:rPr>
              <a:t>●   </a:t>
            </a:r>
            <a:r>
              <a:rPr sz="1500" b="1" i="0">
                <a:solidFill>
                  <a:srgbClr val="2B2B2B"/>
                </a:solidFill>
                <a:latin typeface="Calibri"/>
              </a:rPr>
              <a:t>Implementación de IA en la educación</a:t>
            </a:r>
          </a:p>
          <a:p>
            <a:pPr>
              <a:spcAft>
                <a:spcPts val="1000"/>
              </a:spcAft>
            </a:pPr>
            <a:r>
              <a:rPr sz="1600" b="0" i="0">
                <a:solidFill>
                  <a:srgbClr val="2B2B2B"/>
                </a:solidFill>
                <a:latin typeface="Calibri"/>
              </a:rPr>
              <a:t>–   Según ESP329, los proyectos también dialogan con líneas </a:t>
            </a:r>
            <a:r>
              <a:rPr sz="1600" b="1" i="0">
                <a:solidFill>
                  <a:srgbClr val="2B2B2B"/>
                </a:solidFill>
                <a:latin typeface="Calibri"/>
              </a:rPr>
              <a:t>institucionales</a:t>
            </a:r>
            <a:r>
              <a:rPr sz="1600" b="0" i="0">
                <a:solidFill>
                  <a:srgbClr val="2B2B2B"/>
                </a:solidFill>
                <a:latin typeface="Calibri"/>
              </a:rPr>
              <a:t> (Gestión y Tecnologías · Innovación Pedagógica · Responsabilidad Social) cuando sea pertinente.</a:t>
            </a:r>
          </a:p>
          <a:p>
            <a:pPr>
              <a:spcAft>
                <a:spcPts val="1000"/>
              </a:spcAft>
            </a:pPr>
            <a:r>
              <a:rPr sz="1600" b="0" i="0">
                <a:solidFill>
                  <a:srgbClr val="2B2B2B"/>
                </a:solidFill>
                <a:latin typeface="Calibri"/>
              </a:rPr>
              <a:t>–   Si tu tema no encaja, </a:t>
            </a:r>
            <a:r>
              <a:rPr sz="1600" b="1" i="0">
                <a:solidFill>
                  <a:srgbClr val="2B2B2B"/>
                </a:solidFill>
                <a:latin typeface="Calibri"/>
              </a:rPr>
              <a:t>el Docente</a:t>
            </a:r>
            <a:r>
              <a:rPr sz="1600" b="0" i="0">
                <a:solidFill>
                  <a:srgbClr val="2B2B2B"/>
                </a:solidFill>
                <a:latin typeface="Calibri"/>
              </a:rPr>
              <a:t> te orienta a reformularlo.</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ESTRUCTURA TEMÁTICA ESP329 — 7 UNIDADES</a:t>
            </a:r>
          </a:p>
        </p:txBody>
      </p:sp>
      <p:graphicFrame>
        <p:nvGraphicFramePr>
          <p:cNvPr id="4" name="Table 3"/>
          <p:cNvGraphicFramePr>
            <a:graphicFrameLocks noGrp="1"/>
          </p:cNvGraphicFramePr>
          <p:nvPr/>
        </p:nvGraphicFramePr>
        <p:xfrm>
          <a:off x="640080" y="1691639"/>
          <a:ext cx="10911533" cy="4023360"/>
        </p:xfrm>
        <a:graphic>
          <a:graphicData uri="http://schemas.openxmlformats.org/drawingml/2006/table">
            <a:tbl>
              <a:tblPr>
                <a:tableStyleId>{2D5ABB26-0587-4C30-8999-92F81FD0307C}</a:tableStyleId>
              </a:tblPr>
              <a:tblGrid>
                <a:gridCol w="600634"/>
                <a:gridCol w="4204444"/>
                <a:gridCol w="6106455"/>
              </a:tblGrid>
              <a:tr h="502920">
                <a:tc>
                  <a:txBody>
                    <a:bodyPr/>
                    <a:lstStyle/>
                    <a:p>
                      <a:pPr algn="l"/>
                      <a:r>
                        <a:rPr sz="1300" b="1" i="0">
                          <a:solidFill>
                            <a:srgbClr val="FFFFFF"/>
                          </a:solidFill>
                          <a:latin typeface="Calibri"/>
                        </a:rPr>
                        <a:t>U</a:t>
                      </a:r>
                    </a:p>
                  </a:txBody>
                  <a:tcPr anchor="ctr" marL="109728" marR="91440" marT="36576" marB="36576">
                    <a:solidFill>
                      <a:srgbClr val="0C2340"/>
                    </a:solidFill>
                  </a:tcPr>
                </a:tc>
                <a:tc>
                  <a:txBody>
                    <a:bodyPr/>
                    <a:lstStyle/>
                    <a:p>
                      <a:pPr algn="l"/>
                      <a:r>
                        <a:rPr sz="1300" b="1" i="0">
                          <a:solidFill>
                            <a:srgbClr val="FFFFFF"/>
                          </a:solidFill>
                          <a:latin typeface="Calibri"/>
                        </a:rPr>
                        <a:t>Unidad didáctica</a:t>
                      </a:r>
                    </a:p>
                  </a:txBody>
                  <a:tcPr anchor="ctr" marL="109728" marR="91440" marT="36576" marB="36576">
                    <a:solidFill>
                      <a:srgbClr val="0C2340"/>
                    </a:solidFill>
                  </a:tcPr>
                </a:tc>
                <a:tc>
                  <a:txBody>
                    <a:bodyPr/>
                    <a:lstStyle/>
                    <a:p>
                      <a:pPr algn="l"/>
                      <a:r>
                        <a:rPr sz="1300" b="1" i="0">
                          <a:solidFill>
                            <a:srgbClr val="FFFFFF"/>
                          </a:solidFill>
                          <a:latin typeface="Calibri"/>
                        </a:rPr>
                        <a:t>Producto esperado</a:t>
                      </a:r>
                    </a:p>
                  </a:txBody>
                  <a:tcPr anchor="ctr" marL="109728" marR="91440" marT="36576" marB="36576">
                    <a:solidFill>
                      <a:srgbClr val="0C2340"/>
                    </a:solidFill>
                  </a:tcPr>
                </a:tc>
              </a:tr>
              <a:tr h="502920">
                <a:tc>
                  <a:txBody>
                    <a:bodyPr/>
                    <a:lstStyle/>
                    <a:p>
                      <a:pPr algn="l"/>
                      <a:r>
                        <a:rPr sz="1100" b="0" i="0">
                          <a:solidFill>
                            <a:srgbClr val="2B2B2B"/>
                          </a:solidFill>
                          <a:latin typeface="Calibri"/>
                        </a:rPr>
                        <a:t>1</a:t>
                      </a:r>
                    </a:p>
                  </a:txBody>
                  <a:tcPr anchor="ctr" marL="109728" marR="91440" marT="36576" marB="36576">
                    <a:solidFill>
                      <a:srgbClr val="FFFFFF"/>
                    </a:solidFill>
                  </a:tcPr>
                </a:tc>
                <a:tc>
                  <a:txBody>
                    <a:bodyPr/>
                    <a:lstStyle/>
                    <a:p>
                      <a:pPr algn="l"/>
                      <a:r>
                        <a:rPr sz="1100" b="0" i="0">
                          <a:solidFill>
                            <a:srgbClr val="2B2B2B"/>
                          </a:solidFill>
                          <a:latin typeface="Calibri"/>
                        </a:rPr>
                        <a:t>Fundamentos y enfoque de investigación</a:t>
                      </a:r>
                    </a:p>
                  </a:txBody>
                  <a:tcPr anchor="ctr" marL="109728" marR="91440" marT="36576" marB="36576">
                    <a:solidFill>
                      <a:srgbClr val="FFFFFF"/>
                    </a:solidFill>
                  </a:tcPr>
                </a:tc>
                <a:tc>
                  <a:txBody>
                    <a:bodyPr/>
                    <a:lstStyle/>
                    <a:p>
                      <a:pPr algn="l"/>
                      <a:r>
                        <a:rPr sz="1100" b="0" i="0">
                          <a:solidFill>
                            <a:srgbClr val="2B2B2B"/>
                          </a:solidFill>
                          <a:latin typeface="Calibri"/>
                        </a:rPr>
                        <a:t>Enfoque y tipo de investigación justificados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2</a:t>
                      </a:r>
                    </a:p>
                  </a:txBody>
                  <a:tcPr anchor="ctr" marL="109728" marR="91440" marT="36576" marB="36576">
                    <a:solidFill>
                      <a:srgbClr val="F2F2F2"/>
                    </a:solidFill>
                  </a:tcPr>
                </a:tc>
                <a:tc>
                  <a:txBody>
                    <a:bodyPr/>
                    <a:lstStyle/>
                    <a:p>
                      <a:pPr algn="l"/>
                      <a:r>
                        <a:rPr sz="1100" b="0" i="0">
                          <a:solidFill>
                            <a:srgbClr val="2B2B2B"/>
                          </a:solidFill>
                          <a:latin typeface="Calibri"/>
                        </a:rPr>
                        <a:t>Problema y pregunta de investigación</a:t>
                      </a:r>
                    </a:p>
                  </a:txBody>
                  <a:tcPr anchor="ctr" marL="109728" marR="91440" marT="36576" marB="36576">
                    <a:solidFill>
                      <a:srgbClr val="F2F2F2"/>
                    </a:solidFill>
                  </a:tcPr>
                </a:tc>
                <a:tc>
                  <a:txBody>
                    <a:bodyPr/>
                    <a:lstStyle/>
                    <a:p>
                      <a:pPr algn="l"/>
                      <a:r>
                        <a:rPr sz="1100" b="0" i="0">
                          <a:solidFill>
                            <a:srgbClr val="2B2B2B"/>
                          </a:solidFill>
                          <a:latin typeface="Calibri"/>
                        </a:rPr>
                        <a:t>Problema delimitado y pregunta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3</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a:t>
                      </a:r>
                    </a:p>
                  </a:txBody>
                  <a:tcPr anchor="ctr" marL="109728" marR="91440" marT="36576" marB="36576">
                    <a:solidFill>
                      <a:srgbClr val="FFFFFF"/>
                    </a:solidFill>
                  </a:tcPr>
                </a:tc>
                <a:tc>
                  <a:txBody>
                    <a:bodyPr/>
                    <a:lstStyle/>
                    <a:p>
                      <a:pPr algn="l"/>
                      <a:r>
                        <a:rPr sz="1100" b="0" i="0">
                          <a:solidFill>
                            <a:srgbClr val="2B2B2B"/>
                          </a:solidFill>
                          <a:latin typeface="Calibri"/>
                        </a:rPr>
                        <a:t>Objetivos y justificación articulados</a:t>
                      </a:r>
                    </a:p>
                  </a:txBody>
                  <a:tcPr anchor="ctr" marL="109728" marR="91440" marT="36576" marB="36576">
                    <a:solidFill>
                      <a:srgbClr val="FFFFFF"/>
                    </a:solidFill>
                  </a:tcPr>
                </a:tc>
              </a:tr>
              <a:tr h="502920">
                <a:tc>
                  <a:txBody>
                    <a:bodyPr/>
                    <a:lstStyle/>
                    <a:p>
                      <a:pPr algn="l"/>
                      <a:r>
                        <a:rPr sz="1100" b="0"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Construcción del marco referencial</a:t>
                      </a:r>
                    </a:p>
                  </a:txBody>
                  <a:tcPr anchor="ctr" marL="109728" marR="91440" marT="36576" marB="36576">
                    <a:solidFill>
                      <a:srgbClr val="F2F2F2"/>
                    </a:solidFill>
                  </a:tcPr>
                </a:tc>
                <a:tc>
                  <a:txBody>
                    <a:bodyPr/>
                    <a:lstStyle/>
                    <a:p>
                      <a:pPr algn="l"/>
                      <a:r>
                        <a:rPr sz="1100" b="0" i="0">
                          <a:solidFill>
                            <a:srgbClr val="2B2B2B"/>
                          </a:solidFill>
                          <a:latin typeface="Calibri"/>
                        </a:rPr>
                        <a:t>Marco pertinente, actualizado y sustentado</a:t>
                      </a:r>
                    </a:p>
                  </a:txBody>
                  <a:tcPr anchor="ctr" marL="109728" marR="91440" marT="36576" marB="36576">
                    <a:solidFill>
                      <a:srgbClr val="F2F2F2"/>
                    </a:solidFill>
                  </a:tcPr>
                </a:tc>
              </a:tr>
              <a:tr h="502920">
                <a:tc>
                  <a:txBody>
                    <a:bodyPr/>
                    <a:lstStyle/>
                    <a:p>
                      <a:pPr algn="l"/>
                      <a:r>
                        <a:rPr sz="1100" b="0" i="0">
                          <a:solidFill>
                            <a:srgbClr val="2B2B2B"/>
                          </a:solidFill>
                          <a:latin typeface="Calibri"/>
                        </a:rPr>
                        <a:t>5</a:t>
                      </a:r>
                    </a:p>
                  </a:txBody>
                  <a:tcPr anchor="ctr" marL="109728" marR="91440" marT="36576" marB="36576">
                    <a:solidFill>
                      <a:srgbClr val="FFFFFF"/>
                    </a:solidFill>
                  </a:tcPr>
                </a:tc>
                <a:tc>
                  <a:txBody>
                    <a:bodyPr/>
                    <a:lstStyle/>
                    <a:p>
                      <a:pPr algn="l"/>
                      <a:r>
                        <a:rPr sz="1100" b="0" i="0">
                          <a:solidFill>
                            <a:srgbClr val="2B2B2B"/>
                          </a:solidFill>
                          <a:latin typeface="Calibri"/>
                        </a:rPr>
                        <a:t>Diseño metodológico</a:t>
                      </a:r>
                    </a:p>
                  </a:txBody>
                  <a:tcPr anchor="ctr" marL="109728" marR="91440" marT="36576" marB="36576">
                    <a:solidFill>
                      <a:srgbClr val="FFFFFF"/>
                    </a:solidFill>
                  </a:tcPr>
                </a:tc>
                <a:tc>
                  <a:txBody>
                    <a:bodyPr/>
                    <a:lstStyle/>
                    <a:p>
                      <a:pPr algn="l"/>
                      <a:r>
                        <a:rPr sz="1100" b="0" i="0">
                          <a:solidFill>
                            <a:srgbClr val="2B2B2B"/>
                          </a:solidFill>
                          <a:latin typeface="Calibri"/>
                        </a:rPr>
                        <a:t>Metodología coherente (instrumentos propuestos)</a:t>
                      </a:r>
                    </a:p>
                  </a:txBody>
                  <a:tcPr anchor="ctr" marL="109728" marR="91440" marT="36576" marB="36576">
                    <a:solidFill>
                      <a:srgbClr val="FFFFFF"/>
                    </a:solidFill>
                  </a:tcPr>
                </a:tc>
              </a:tr>
              <a:tr h="502920">
                <a:tc>
                  <a:txBody>
                    <a:bodyPr/>
                    <a:lstStyle/>
                    <a:p>
                      <a:pPr algn="l"/>
                      <a:r>
                        <a:rPr sz="1100" b="0" i="0">
                          <a:solidFill>
                            <a:srgbClr val="2B2B2B"/>
                          </a:solidFill>
                          <a:latin typeface="Calibri"/>
                        </a:rPr>
                        <a:t>6</a:t>
                      </a:r>
                    </a:p>
                  </a:txBody>
                  <a:tcPr anchor="ctr" marL="109728" marR="91440" marT="36576" marB="36576">
                    <a:solidFill>
                      <a:srgbClr val="F2F2F2"/>
                    </a:solidFill>
                  </a:tcPr>
                </a:tc>
                <a:tc>
                  <a:txBody>
                    <a:bodyPr/>
                    <a:lstStyle/>
                    <a:p>
                      <a:pPr algn="l"/>
                      <a:r>
                        <a:rPr sz="1100" b="0" i="0">
                          <a:solidFill>
                            <a:srgbClr val="2B2B2B"/>
                          </a:solidFill>
                          <a:latin typeface="Calibri"/>
                        </a:rPr>
                        <a:t>Planeación y viabilidad del proyecto</a:t>
                      </a:r>
                    </a:p>
                  </a:txBody>
                  <a:tcPr anchor="ctr" marL="109728" marR="91440" marT="36576" marB="36576">
                    <a:solidFill>
                      <a:srgbClr val="F2F2F2"/>
                    </a:solidFill>
                  </a:tcPr>
                </a:tc>
                <a:tc>
                  <a:txBody>
                    <a:bodyPr/>
                    <a:lstStyle/>
                    <a:p>
                      <a:pPr algn="l"/>
                      <a:r>
                        <a:rPr sz="1100" b="0" i="0">
                          <a:solidFill>
                            <a:srgbClr val="2B2B2B"/>
                          </a:solidFill>
                          <a:latin typeface="Calibri"/>
                        </a:rPr>
                        <a:t>Plan de trabajo viable</a:t>
                      </a:r>
                    </a:p>
                  </a:txBody>
                  <a:tcPr anchor="ctr" marL="109728" marR="91440" marT="36576" marB="36576">
                    <a:solidFill>
                      <a:srgbClr val="F2F2F2"/>
                    </a:solidFill>
                  </a:tcPr>
                </a:tc>
              </a:tr>
              <a:tr h="502920">
                <a:tc>
                  <a:txBody>
                    <a:bodyPr/>
                    <a:lstStyle/>
                    <a:p>
                      <a:pPr algn="l"/>
                      <a:r>
                        <a:rPr sz="1100" b="0" i="0">
                          <a:solidFill>
                            <a:srgbClr val="2B2B2B"/>
                          </a:solidFill>
                          <a:latin typeface="Calibri"/>
                        </a:rPr>
                        <a:t>7</a:t>
                      </a:r>
                    </a:p>
                  </a:txBody>
                  <a:tcPr anchor="ctr" marL="109728" marR="91440" marT="36576" marB="36576">
                    <a:solidFill>
                      <a:srgbClr val="FFFFFF"/>
                    </a:solidFill>
                  </a:tcPr>
                </a:tc>
                <a:tc>
                  <a:txBody>
                    <a:bodyPr/>
                    <a:lstStyle/>
                    <a:p>
                      <a:pPr algn="l"/>
                      <a:r>
                        <a:rPr sz="1100" b="0" i="0">
                          <a:solidFill>
                            <a:srgbClr val="2B2B2B"/>
                          </a:solidFill>
                          <a:latin typeface="Calibri"/>
                        </a:rPr>
                        <a:t>Integración y evaluación del anteproyecto</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listo para P-II</a:t>
                      </a:r>
                    </a:p>
                  </a:txBody>
                  <a:tcPr anchor="ctr" marL="109728" marR="91440" marT="36576" marB="36576">
                    <a:solidFill>
                      <a:srgbClr val="FFFFFF"/>
                    </a:solidFill>
                  </a:tcPr>
                </a:tc>
              </a:tr>
            </a:tbl>
          </a:graphicData>
        </a:graphic>
      </p:graphicFrame>
      <p:sp>
        <p:nvSpPr>
          <p:cNvPr id="5" name="TextBox 4"/>
          <p:cNvSpPr txBox="1"/>
          <p:nvPr/>
        </p:nvSpPr>
        <p:spPr>
          <a:xfrm>
            <a:off x="640080" y="5852160"/>
            <a:ext cx="10911535" cy="548640"/>
          </a:xfrm>
          <a:prstGeom prst="rect">
            <a:avLst/>
          </a:prstGeom>
          <a:noFill/>
        </p:spPr>
        <p:txBody>
          <a:bodyPr wrap="square" anchor="t" lIns="0" rIns="0" tIns="0" bIns="0">
            <a:spAutoFit/>
          </a:bodyPr>
          <a:lstStyle/>
          <a:p>
            <a:r>
              <a:rPr sz="1200" b="0" i="1">
                <a:solidFill>
                  <a:srgbClr val="2B2B2B"/>
                </a:solidFill>
                <a:latin typeface="Calibri"/>
              </a:rPr>
              <a:t>Fuente primaria: Especializacion_En_Inteligencia_Artificial_Proyecto_I_ESP329.docx. Las sesiones semanales desarrollan estas unidades (ver calendario).</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ESTRATEGIA DIDÁCTICA (ESP329)</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600" b="0" i="0">
                <a:solidFill>
                  <a:srgbClr val="2B2B2B"/>
                </a:solidFill>
                <a:latin typeface="Calibri"/>
              </a:rPr>
              <a:t>–   </a:t>
            </a:r>
            <a:r>
              <a:rPr sz="1600" b="1" i="0">
                <a:solidFill>
                  <a:srgbClr val="2B2B2B"/>
                </a:solidFill>
                <a:latin typeface="Calibri"/>
              </a:rPr>
              <a:t>Aprendizaje basado en proyectos</a:t>
            </a:r>
            <a:r>
              <a:rPr sz="1600" b="0" i="0">
                <a:solidFill>
                  <a:srgbClr val="2B2B2B"/>
                </a:solidFill>
                <a:latin typeface="Calibri"/>
              </a:rPr>
              <a:t> + acompañamiento tutorial.</a:t>
            </a:r>
          </a:p>
          <a:p>
            <a:pPr>
              <a:spcAft>
                <a:spcPts val="1000"/>
              </a:spcAft>
            </a:pPr>
            <a:r>
              <a:rPr sz="1600" b="0" i="0">
                <a:solidFill>
                  <a:srgbClr val="2B2B2B"/>
                </a:solidFill>
                <a:latin typeface="Calibri"/>
              </a:rPr>
              <a:t>–   Sesiones sincrónicas: orientaciones metodológicas, ejemplos, discusión y talleres aplicados al anteproyecto.</a:t>
            </a:r>
          </a:p>
          <a:p>
            <a:pPr>
              <a:spcAft>
                <a:spcPts val="1000"/>
              </a:spcAft>
            </a:pPr>
            <a:r>
              <a:rPr sz="1600" b="0" i="0">
                <a:solidFill>
                  <a:srgbClr val="2B2B2B"/>
                </a:solidFill>
                <a:latin typeface="Calibri"/>
              </a:rPr>
              <a:t>–   Trabajo autónomo: búsqueda/lectura crítica, escritura progresiva, revisión entre pares e incorporación de retro.</a:t>
            </a:r>
          </a:p>
          <a:p>
            <a:pPr>
              <a:spcAft>
                <a:spcPts val="1000"/>
              </a:spcAft>
            </a:pPr>
            <a:r>
              <a:rPr sz="1600" b="0" i="0">
                <a:solidFill>
                  <a:srgbClr val="2B2B2B"/>
                </a:solidFill>
                <a:latin typeface="Calibri"/>
              </a:rPr>
              <a:t>–   Los tres cortes trabajan </a:t>
            </a:r>
            <a:r>
              <a:rPr sz="1600" b="1" i="0">
                <a:solidFill>
                  <a:srgbClr val="2B2B2B"/>
                </a:solidFill>
                <a:latin typeface="Calibri"/>
              </a:rPr>
              <a:t>un mismo producto acumulativo</a:t>
            </a:r>
            <a:r>
              <a:rPr sz="1600" b="0" i="0">
                <a:solidFill>
                  <a:srgbClr val="2B2B2B"/>
                </a:solidFill>
                <a:latin typeface="Calibri"/>
              </a:rPr>
              <a:t> (no tareas aisladas): el corte 1 lo comprueba un </a:t>
            </a:r>
            <a:r>
              <a:rPr sz="1600" b="1" i="0">
                <a:solidFill>
                  <a:srgbClr val="2B2B2B"/>
                </a:solidFill>
                <a:latin typeface="Calibri"/>
              </a:rPr>
              <a:t>Quiz</a:t>
            </a:r>
            <a:r>
              <a:rPr sz="1600" b="0" i="0">
                <a:solidFill>
                  <a:srgbClr val="2B2B2B"/>
                </a:solidFill>
                <a:latin typeface="Calibri"/>
              </a:rPr>
              <a:t> en el aula y los cortes 2 y 3 se </a:t>
            </a:r>
            <a:r>
              <a:rPr sz="1600" b="1" i="0">
                <a:solidFill>
                  <a:srgbClr val="2B2B2B"/>
                </a:solidFill>
                <a:latin typeface="Calibri"/>
              </a:rPr>
              <a:t>suben</a:t>
            </a:r>
            <a:r>
              <a:rPr sz="1600" b="0" i="0">
                <a:solidFill>
                  <a:srgbClr val="2B2B2B"/>
                </a:solidFill>
                <a:latin typeface="Calibri"/>
              </a:rPr>
              <a:t> como </a:t>
            </a:r>
            <a:r>
              <a:rPr sz="1600" b="1" i="0">
                <a:solidFill>
                  <a:srgbClr val="2B2B2B"/>
                </a:solidFill>
                <a:latin typeface="Calibri"/>
              </a:rPr>
              <a:t>ACA 1</a:t>
            </a:r>
            <a:r>
              <a:rPr sz="1600" b="0" i="0">
                <a:solidFill>
                  <a:srgbClr val="2B2B2B"/>
                </a:solidFill>
                <a:latin typeface="Calibri"/>
              </a:rPr>
              <a:t> y </a:t>
            </a:r>
            <a:r>
              <a:rPr sz="1600" b="1" i="0">
                <a:solidFill>
                  <a:srgbClr val="2B2B2B"/>
                </a:solidFill>
                <a:latin typeface="Calibri"/>
              </a:rPr>
              <a:t>ACA FINAL</a:t>
            </a:r>
            <a:r>
              <a:rPr sz="1600" b="0" i="0">
                <a:solidFill>
                  <a:srgbClr val="2B2B2B"/>
                </a:solidFill>
                <a:latin typeface="Calibri"/>
              </a:rPr>
              <a:t>.</a:t>
            </a:r>
          </a:p>
          <a:p>
            <a:pPr>
              <a:spcAft>
                <a:spcPts val="1000"/>
              </a:spcAft>
            </a:pPr>
            <a:r>
              <a:rPr sz="1600" b="0" i="0">
                <a:solidFill>
                  <a:srgbClr val="2B2B2B"/>
                </a:solidFill>
                <a:latin typeface="Calibri"/>
              </a:rPr>
              <a:t>–   Mediación: encuentros sincrónicos, tutorías, recursos en </a:t>
            </a:r>
            <a:r>
              <a:rPr sz="1600" b="1" i="0">
                <a:solidFill>
                  <a:srgbClr val="2B2B2B"/>
                </a:solidFill>
                <a:latin typeface="Calibri"/>
              </a:rPr>
              <a:t>CDigital</a:t>
            </a:r>
            <a:r>
              <a:rPr sz="1600" b="0" i="0">
                <a:solidFill>
                  <a:srgbClr val="2B2B2B"/>
                </a:solidFill>
                <a:latin typeface="Calibri"/>
              </a:rPr>
              <a:t> y atención asincrónica.</a:t>
            </a:r>
          </a:p>
          <a:p>
            <a:pPr>
              <a:spcAft>
                <a:spcPts val="1000"/>
              </a:spcAft>
            </a:pPr>
            <a:r>
              <a:rPr sz="1600" b="0" i="0">
                <a:solidFill>
                  <a:srgbClr val="2B2B2B"/>
                </a:solidFill>
                <a:latin typeface="Calibri"/>
              </a:rPr>
              <a:t>–   Las tutorías por grupo se acuerdan en la semana con el Docente (no hay atención espontánea sin cita).</a:t>
            </a:r>
          </a:p>
          <a:p>
            <a:pPr>
              <a:spcAft>
                <a:spcPts val="1000"/>
              </a:spcAft>
            </a:pPr>
            <a:r>
              <a:rPr sz="1600" b="0" i="0">
                <a:solidFill>
                  <a:srgbClr val="2B2B2B"/>
                </a:solidFill>
                <a:latin typeface="Calibri"/>
              </a:rPr>
              <a:t>–   IA generativa: apoyo permitido solo con supervisión humana, verificación, declaración transparente y protección de datos.</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ENCUENTRO SEMANAL (2 HORAS)</a:t>
            </a:r>
          </a:p>
        </p:txBody>
      </p:sp>
      <p:graphicFrame>
        <p:nvGraphicFramePr>
          <p:cNvPr id="4" name="Table 3"/>
          <p:cNvGraphicFramePr>
            <a:graphicFrameLocks noGrp="1"/>
          </p:cNvGraphicFramePr>
          <p:nvPr/>
        </p:nvGraphicFramePr>
        <p:xfrm>
          <a:off x="640080" y="1691639"/>
          <a:ext cx="10911534" cy="1508760"/>
        </p:xfrm>
        <a:graphic>
          <a:graphicData uri="http://schemas.openxmlformats.org/drawingml/2006/table">
            <a:tbl>
              <a:tblPr>
                <a:tableStyleId>{2D5ABB26-0587-4C30-8999-92F81FD0307C}</a:tableStyleId>
              </a:tblPr>
              <a:tblGrid>
                <a:gridCol w="3637178"/>
                <a:gridCol w="3637178"/>
                <a:gridCol w="3637178"/>
              </a:tblGrid>
              <a:tr h="502920">
                <a:tc>
                  <a:txBody>
                    <a:bodyPr/>
                    <a:lstStyle/>
                    <a:p>
                      <a:pPr algn="l"/>
                      <a:r>
                        <a:rPr sz="1300" b="1" i="0">
                          <a:solidFill>
                            <a:srgbClr val="FFFFFF"/>
                          </a:solidFill>
                          <a:latin typeface="Calibri"/>
                        </a:rPr>
                        <a:t>Bloque</a:t>
                      </a:r>
                    </a:p>
                  </a:txBody>
                  <a:tcPr anchor="ctr" marL="109728" marR="91440" marT="36576" marB="36576">
                    <a:solidFill>
                      <a:srgbClr val="0C2340"/>
                    </a:solidFill>
                  </a:tcPr>
                </a:tc>
                <a:tc>
                  <a:txBody>
                    <a:bodyPr/>
                    <a:lstStyle/>
                    <a:p>
                      <a:pPr algn="l"/>
                      <a:r>
                        <a:rPr sz="1300" b="1" i="0">
                          <a:solidFill>
                            <a:srgbClr val="FFFFFF"/>
                          </a:solidFill>
                          <a:latin typeface="Calibri"/>
                        </a:rPr>
                        <a:t>Horario</a:t>
                      </a:r>
                    </a:p>
                  </a:txBody>
                  <a:tcPr anchor="ctr" marL="109728" marR="91440" marT="36576" marB="36576">
                    <a:solidFill>
                      <a:srgbClr val="0C2340"/>
                    </a:solidFill>
                  </a:tcPr>
                </a:tc>
                <a:tc>
                  <a:txBody>
                    <a:bodyPr/>
                    <a:lstStyle/>
                    <a:p>
                      <a:pPr algn="l"/>
                      <a:r>
                        <a:rPr sz="1300" b="1" i="0">
                          <a:solidFill>
                            <a:srgbClr val="FFFFFF"/>
                          </a:solidFill>
                          <a:latin typeface="Calibri"/>
                        </a:rPr>
                        <a:t>Qué ocurre</a:t>
                      </a:r>
                    </a:p>
                  </a:txBody>
                  <a:tcPr anchor="ctr" marL="109728" marR="91440" marT="36576" marB="36576">
                    <a:solidFill>
                      <a:srgbClr val="0C2340"/>
                    </a:solidFill>
                  </a:tcPr>
                </a:tc>
              </a:tr>
              <a:tr h="502920">
                <a:tc>
                  <a:txBody>
                    <a:bodyPr/>
                    <a:lstStyle/>
                    <a:p>
                      <a:pPr algn="l"/>
                      <a:r>
                        <a:rPr sz="1200" b="0" i="0">
                          <a:solidFill>
                            <a:srgbClr val="2B2B2B"/>
                          </a:solidFill>
                          <a:latin typeface="Calibri"/>
                        </a:rPr>
                        <a:t>Contenido nuevo</a:t>
                      </a:r>
                    </a:p>
                  </a:txBody>
                  <a:tcPr anchor="ctr" marL="109728" marR="91440" marT="36576" marB="36576">
                    <a:solidFill>
                      <a:srgbClr val="FFFFFF"/>
                    </a:solidFill>
                  </a:tcPr>
                </a:tc>
                <a:tc>
                  <a:txBody>
                    <a:bodyPr/>
                    <a:lstStyle/>
                    <a:p>
                      <a:pPr algn="l"/>
                      <a:r>
                        <a:rPr sz="1200" b="0" i="0">
                          <a:solidFill>
                            <a:srgbClr val="2B2B2B"/>
                          </a:solidFill>
                          <a:latin typeface="Calibri"/>
                        </a:rPr>
                        <a:t>8:00 – 9:00 pm</a:t>
                      </a:r>
                    </a:p>
                  </a:txBody>
                  <a:tcPr anchor="ctr" marL="109728" marR="91440" marT="36576" marB="36576">
                    <a:solidFill>
                      <a:srgbClr val="FFFFFF"/>
                    </a:solidFill>
                  </a:tcPr>
                </a:tc>
                <a:tc>
                  <a:txBody>
                    <a:bodyPr/>
                    <a:lstStyle/>
                    <a:p>
                      <a:pPr algn="l"/>
                      <a:r>
                        <a:rPr sz="1200" b="0" i="0">
                          <a:solidFill>
                            <a:srgbClr val="2B2B2B"/>
                          </a:solidFill>
                          <a:latin typeface="Calibri"/>
                        </a:rPr>
                        <a:t>Orientación metodológica de la unidad, modelación, dudas.</a:t>
                      </a:r>
                    </a:p>
                  </a:txBody>
                  <a:tcPr anchor="ctr" marL="109728" marR="91440" marT="36576" marB="36576">
                    <a:solidFill>
                      <a:srgbClr val="FFFFFF"/>
                    </a:solidFill>
                  </a:tcPr>
                </a:tc>
              </a:tr>
              <a:tr h="502920">
                <a:tc>
                  <a:txBody>
                    <a:bodyPr/>
                    <a:lstStyle/>
                    <a:p>
                      <a:pPr algn="l"/>
                      <a:r>
                        <a:rPr sz="1200" b="0" i="0">
                          <a:solidFill>
                            <a:srgbClr val="2B2B2B"/>
                          </a:solidFill>
                          <a:latin typeface="Calibri"/>
                        </a:rPr>
                        <a:t>Tutoría / taller</a:t>
                      </a:r>
                    </a:p>
                  </a:txBody>
                  <a:tcPr anchor="ctr" marL="109728" marR="91440" marT="36576" marB="36576">
                    <a:solidFill>
                      <a:srgbClr val="F2F2F2"/>
                    </a:solidFill>
                  </a:tcPr>
                </a:tc>
                <a:tc>
                  <a:txBody>
                    <a:bodyPr/>
                    <a:lstStyle/>
                    <a:p>
                      <a:pPr algn="l"/>
                      <a:r>
                        <a:rPr sz="1200" b="0" i="0">
                          <a:solidFill>
                            <a:srgbClr val="2B2B2B"/>
                          </a:solidFill>
                          <a:latin typeface="Calibri"/>
                        </a:rPr>
                        <a:t>9:00 – 10:00 pm</a:t>
                      </a:r>
                    </a:p>
                  </a:txBody>
                  <a:tcPr anchor="ctr" marL="109728" marR="91440" marT="36576" marB="36576">
                    <a:solidFill>
                      <a:srgbClr val="F2F2F2"/>
                    </a:solidFill>
                  </a:tcPr>
                </a:tc>
                <a:tc>
                  <a:txBody>
                    <a:bodyPr/>
                    <a:lstStyle/>
                    <a:p>
                      <a:pPr algn="l"/>
                      <a:r>
                        <a:rPr sz="1200" b="0" i="0">
                          <a:solidFill>
                            <a:srgbClr val="2B2B2B"/>
                          </a:solidFill>
                          <a:latin typeface="Calibri"/>
                        </a:rPr>
                        <a:t>Trabajo en equipos con acompañamiento del Docente.</a:t>
                      </a:r>
                    </a:p>
                  </a:txBody>
                  <a:tcPr anchor="ctr" marL="109728" marR="91440" marT="36576" marB="36576">
                    <a:solidFill>
                      <a:srgbClr val="F2F2F2"/>
                    </a:solidFill>
                  </a:tcPr>
                </a:tc>
              </a:tr>
            </a:tbl>
          </a:graphicData>
        </a:graphic>
      </p:graphicFrame>
      <p:sp>
        <p:nvSpPr>
          <p:cNvPr id="5" name="TextBox 4"/>
          <p:cNvSpPr txBox="1"/>
          <p:nvPr/>
        </p:nvSpPr>
        <p:spPr>
          <a:xfrm>
            <a:off x="640080" y="3337560"/>
            <a:ext cx="10911535" cy="548640"/>
          </a:xfrm>
          <a:prstGeom prst="rect">
            <a:avLst/>
          </a:prstGeom>
          <a:noFill/>
        </p:spPr>
        <p:txBody>
          <a:bodyPr wrap="square" anchor="t" lIns="0" rIns="0" tIns="0" bIns="0">
            <a:spAutoFit/>
          </a:bodyPr>
          <a:lstStyle/>
          <a:p>
            <a:r>
              <a:rPr sz="1200" b="0" i="1">
                <a:solidFill>
                  <a:srgbClr val="2B2B2B"/>
                </a:solidFill>
                <a:latin typeface="Calibri"/>
              </a:rPr>
              <a:t>ESP329: 32 h acompañamiento directo + 64 h autónomo (2 créditos). Todo el encuentro se graba. Las tutorías por grupo se acuerdan en la semana con el Docente (no hay atención espontánea sin cita). Registra cada tutoría (slide siguiente).</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REGISTRO OBLIGATORIO DE TUTORÍAS</a:t>
            </a:r>
          </a:p>
        </p:txBody>
      </p:sp>
      <p:sp>
        <p:nvSpPr>
          <p:cNvPr id="4" name="Rounded Rectangle 3"/>
          <p:cNvSpPr/>
          <p:nvPr/>
        </p:nvSpPr>
        <p:spPr>
          <a:xfrm>
            <a:off x="640080" y="1783080"/>
            <a:ext cx="10911535" cy="219456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64592" cy="2194560"/>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271455" cy="640080"/>
          </a:xfrm>
          <a:prstGeom prst="rect">
            <a:avLst/>
          </a:prstGeom>
          <a:noFill/>
        </p:spPr>
        <p:txBody>
          <a:bodyPr wrap="square" anchor="t" lIns="0" rIns="0" tIns="0" bIns="0">
            <a:spAutoFit/>
          </a:bodyPr>
          <a:lstStyle/>
          <a:p>
            <a:r>
              <a:rPr sz="2000" b="1" i="0">
                <a:solidFill>
                  <a:srgbClr val="0C2340"/>
                </a:solidFill>
                <a:latin typeface="Calibri"/>
              </a:rPr>
              <a:t>En CADA tutoría (del encuentro o adicional) diligencia TU formulario:</a:t>
            </a:r>
          </a:p>
        </p:txBody>
      </p:sp>
      <p:sp>
        <p:nvSpPr>
          <p:cNvPr id="7" name="TextBox 6"/>
          <p:cNvSpPr txBox="1"/>
          <p:nvPr/>
        </p:nvSpPr>
        <p:spPr>
          <a:xfrm>
            <a:off x="1051560" y="2743200"/>
            <a:ext cx="10271455" cy="822960"/>
          </a:xfrm>
          <a:prstGeom prst="rect">
            <a:avLst/>
          </a:prstGeom>
          <a:noFill/>
        </p:spPr>
        <p:txBody>
          <a:bodyPr wrap="square" anchor="ctr" lIns="0" rIns="0" tIns="0" bIns="0">
            <a:spAutoFit/>
          </a:bodyPr>
          <a:lstStyle/>
          <a:p>
            <a:pPr algn="ctr"/>
            <a:r>
              <a:rPr sz="2200" b="1" i="0">
                <a:solidFill>
                  <a:srgbClr val="007433"/>
                </a:solidFill>
                <a:latin typeface="Calibri"/>
              </a:rPr>
              <a:t>https://forms.gle/oZ8xCYiUo3KEWr1d9</a:t>
            </a:r>
          </a:p>
        </p:txBody>
      </p:sp>
      <p:sp>
        <p:nvSpPr>
          <p:cNvPr id="8" name="TextBox 7"/>
          <p:cNvSpPr txBox="1"/>
          <p:nvPr/>
        </p:nvSpPr>
        <p:spPr>
          <a:xfrm>
            <a:off x="640080" y="4206240"/>
            <a:ext cx="10911535" cy="457200"/>
          </a:xfrm>
          <a:prstGeom prst="rect">
            <a:avLst/>
          </a:prstGeom>
          <a:noFill/>
        </p:spPr>
        <p:txBody>
          <a:bodyPr wrap="square" anchor="t" lIns="0" rIns="0" tIns="0" bIns="0">
            <a:spAutoFit/>
          </a:bodyPr>
          <a:lstStyle/>
          <a:p>
            <a:r>
              <a:rPr sz="1400" b="0" i="0">
                <a:solidFill>
                  <a:srgbClr val="2B2B2B"/>
                </a:solidFill>
                <a:latin typeface="Calibri"/>
              </a:rPr>
              <a:t>Las tutorías por grupo se acuerdan en la semana con el Docente (no hay atención espontánea sin cita).</a:t>
            </a:r>
          </a:p>
        </p:txBody>
      </p:sp>
      <p:sp>
        <p:nvSpPr>
          <p:cNvPr id="9" name="TextBox 8"/>
          <p:cNvSpPr txBox="1"/>
          <p:nvPr/>
        </p:nvSpPr>
        <p:spPr>
          <a:xfrm>
            <a:off x="640080" y="4709159"/>
            <a:ext cx="10911535" cy="457200"/>
          </a:xfrm>
          <a:prstGeom prst="rect">
            <a:avLst/>
          </a:prstGeom>
          <a:noFill/>
        </p:spPr>
        <p:txBody>
          <a:bodyPr wrap="square" anchor="t" lIns="0" rIns="0" tIns="0" bIns="0">
            <a:spAutoFit/>
          </a:bodyPr>
          <a:lstStyle/>
          <a:p>
            <a:r>
              <a:rPr sz="1400" b="0" i="0">
                <a:solidFill>
                  <a:srgbClr val="2B2B2B"/>
                </a:solidFill>
                <a:latin typeface="Calibri"/>
              </a:rPr>
              <a:t>⚠️ Sin este registro, tu asistencia a tutorías puede no quedar acreditada.</a:t>
            </a:r>
          </a:p>
        </p:txBody>
      </p:sp>
      <p:sp>
        <p:nvSpPr>
          <p:cNvPr id="10" name="TextBox 9"/>
          <p:cNvSpPr txBox="1"/>
          <p:nvPr/>
        </p:nvSpPr>
        <p:spPr>
          <a:xfrm>
            <a:off x="640080" y="5212079"/>
            <a:ext cx="10911535" cy="457200"/>
          </a:xfrm>
          <a:prstGeom prst="rect">
            <a:avLst/>
          </a:prstGeom>
          <a:noFill/>
        </p:spPr>
        <p:txBody>
          <a:bodyPr wrap="square" anchor="t" lIns="0" rIns="0" tIns="0" bIns="0">
            <a:spAutoFit/>
          </a:bodyPr>
          <a:lstStyle/>
          <a:p>
            <a:r>
              <a:rPr sz="1400" b="0" i="0">
                <a:solidFill>
                  <a:srgbClr val="2B2B2B"/>
                </a:solidFill>
                <a:latin typeface="Calibri"/>
              </a:rPr>
              <a:t>Formulario del ESTUDIANTE (distinto del registro del Docente). Ambos son obligatorios.</a:t>
            </a:r>
          </a:p>
        </p:txBody>
      </p:sp>
      <p:sp>
        <p:nvSpPr>
          <p:cNvPr id="11" name="TextBox 10"/>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CONTENIDO</a:t>
            </a:r>
          </a:p>
        </p:txBody>
      </p:sp>
      <p:sp>
        <p:nvSpPr>
          <p:cNvPr id="4" name="TextBox 3"/>
          <p:cNvSpPr txBox="1"/>
          <p:nvPr/>
        </p:nvSpPr>
        <p:spPr>
          <a:xfrm>
            <a:off x="640080"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1</a:t>
            </a:r>
            <a:r>
              <a:rPr sz="1200" b="0" i="0">
                <a:solidFill>
                  <a:srgbClr val="2B2B2B"/>
                </a:solidFill>
                <a:latin typeface="Calibri"/>
              </a:rPr>
              <a:t> — Presentación del curso · docente · estudiantes · ACAs.</a:t>
            </a:r>
          </a:p>
          <a:p>
            <a:pPr>
              <a:spcAft>
                <a:spcPts val="600"/>
              </a:spcAft>
            </a:pPr>
            <a:r>
              <a:rPr sz="1200" b="0" i="0">
                <a:solidFill>
                  <a:srgbClr val="2B2B2B"/>
                </a:solidFill>
                <a:latin typeface="Calibri"/>
              </a:rPr>
              <a:t>–   </a:t>
            </a:r>
            <a:r>
              <a:rPr sz="1200" b="1" i="0">
                <a:solidFill>
                  <a:srgbClr val="2B2B2B"/>
                </a:solidFill>
                <a:latin typeface="Calibri"/>
              </a:rPr>
              <a:t>Sesión 2</a:t>
            </a:r>
            <a:r>
              <a:rPr sz="1200" b="0" i="0">
                <a:solidFill>
                  <a:srgbClr val="2B2B2B"/>
                </a:solidFill>
                <a:latin typeface="Calibri"/>
              </a:rPr>
              <a:t> — Problema y pregunta de investigación.</a:t>
            </a:r>
          </a:p>
          <a:p>
            <a:pPr>
              <a:spcAft>
                <a:spcPts val="600"/>
              </a:spcAft>
            </a:pPr>
            <a:r>
              <a:rPr sz="1200" b="0" i="0">
                <a:solidFill>
                  <a:srgbClr val="2B2B2B"/>
                </a:solidFill>
                <a:latin typeface="Calibri"/>
              </a:rPr>
              <a:t>–   </a:t>
            </a:r>
            <a:r>
              <a:rPr sz="1200" b="1" i="0">
                <a:solidFill>
                  <a:srgbClr val="2B2B2B"/>
                </a:solidFill>
                <a:latin typeface="Calibri"/>
              </a:rPr>
              <a:t>Sesión 3</a:t>
            </a:r>
            <a:r>
              <a:rPr sz="1200" b="0" i="0">
                <a:solidFill>
                  <a:srgbClr val="2B2B2B"/>
                </a:solidFill>
                <a:latin typeface="Calibri"/>
              </a:rPr>
              <a:t> — Objetivos, justificación, alcances y limitaciones.</a:t>
            </a:r>
          </a:p>
          <a:p>
            <a:pPr>
              <a:spcAft>
                <a:spcPts val="600"/>
              </a:spcAft>
            </a:pPr>
            <a:r>
              <a:rPr sz="1200" b="0" i="0">
                <a:solidFill>
                  <a:srgbClr val="2B2B2B"/>
                </a:solidFill>
                <a:latin typeface="Calibri"/>
              </a:rPr>
              <a:t>–   </a:t>
            </a:r>
            <a:r>
              <a:rPr sz="1200" b="1" i="0">
                <a:solidFill>
                  <a:srgbClr val="2B2B2B"/>
                </a:solidFill>
                <a:latin typeface="Calibri"/>
              </a:rPr>
              <a:t>Sesión 4</a:t>
            </a:r>
            <a:r>
              <a:rPr sz="1200" b="0" i="0">
                <a:solidFill>
                  <a:srgbClr val="2B2B2B"/>
                </a:solidFill>
                <a:latin typeface="Calibri"/>
              </a:rPr>
              <a:t> — Retroalimentación del Quiz · Antecedentes de investigación.</a:t>
            </a:r>
          </a:p>
          <a:p>
            <a:pPr>
              <a:spcAft>
                <a:spcPts val="600"/>
              </a:spcAft>
            </a:pPr>
            <a:r>
              <a:rPr sz="1200" b="0" i="0">
                <a:solidFill>
                  <a:srgbClr val="2B2B2B"/>
                </a:solidFill>
                <a:latin typeface="Calibri"/>
              </a:rPr>
              <a:t>–   </a:t>
            </a:r>
            <a:r>
              <a:rPr sz="1200" b="1" i="0">
                <a:solidFill>
                  <a:srgbClr val="2B2B2B"/>
                </a:solidFill>
                <a:latin typeface="Calibri"/>
              </a:rPr>
              <a:t>Sesión 5</a:t>
            </a:r>
            <a:r>
              <a:rPr sz="1200" b="0" i="0">
                <a:solidFill>
                  <a:srgbClr val="2B2B2B"/>
                </a:solidFill>
                <a:latin typeface="Calibri"/>
              </a:rPr>
              <a:t> — Marco teórico.</a:t>
            </a:r>
          </a:p>
          <a:p>
            <a:pPr>
              <a:spcAft>
                <a:spcPts val="600"/>
              </a:spcAft>
            </a:pPr>
            <a:r>
              <a:rPr sz="1200" b="0" i="0">
                <a:solidFill>
                  <a:srgbClr val="2B2B2B"/>
                </a:solidFill>
                <a:latin typeface="Calibri"/>
              </a:rPr>
              <a:t>–   </a:t>
            </a:r>
            <a:r>
              <a:rPr sz="1200" b="1" i="0">
                <a:solidFill>
                  <a:srgbClr val="2B2B2B"/>
                </a:solidFill>
                <a:latin typeface="Calibri"/>
              </a:rPr>
              <a:t>Sesión 6</a:t>
            </a:r>
            <a:r>
              <a:rPr sz="1200" b="0" i="0">
                <a:solidFill>
                  <a:srgbClr val="2B2B2B"/>
                </a:solidFill>
                <a:latin typeface="Calibri"/>
              </a:rPr>
              <a:t> — Marco conceptual y marco contextual.</a:t>
            </a:r>
          </a:p>
        </p:txBody>
      </p:sp>
      <p:sp>
        <p:nvSpPr>
          <p:cNvPr id="5" name="TextBox 4"/>
          <p:cNvSpPr txBox="1"/>
          <p:nvPr/>
        </p:nvSpPr>
        <p:spPr>
          <a:xfrm>
            <a:off x="6210147" y="1627632"/>
            <a:ext cx="5341467" cy="4727448"/>
          </a:xfrm>
          <a:prstGeom prst="rect">
            <a:avLst/>
          </a:prstGeom>
          <a:noFill/>
        </p:spPr>
        <p:txBody>
          <a:bodyPr wrap="square" anchor="t" lIns="0" rIns="0" tIns="0" bIns="0">
            <a:spAutoFit/>
          </a:bodyPr>
          <a:lstStyle/>
          <a:p>
            <a:pPr>
              <a:spcAft>
                <a:spcPts val="600"/>
              </a:spcAft>
            </a:pPr>
            <a:r>
              <a:rPr sz="1200" b="0" i="0">
                <a:solidFill>
                  <a:srgbClr val="2B2B2B"/>
                </a:solidFill>
                <a:latin typeface="Calibri"/>
              </a:rPr>
              <a:t>–   </a:t>
            </a:r>
            <a:r>
              <a:rPr sz="1200" b="1" i="0">
                <a:solidFill>
                  <a:srgbClr val="2B2B2B"/>
                </a:solidFill>
                <a:latin typeface="Calibri"/>
              </a:rPr>
              <a:t>Sesión 7</a:t>
            </a:r>
            <a:r>
              <a:rPr sz="1200" b="0" i="0">
                <a:solidFill>
                  <a:srgbClr val="2B2B2B"/>
                </a:solidFill>
                <a:latin typeface="Calibri"/>
              </a:rPr>
              <a:t> — Marco legal · citación APA 7.</a:t>
            </a:r>
          </a:p>
          <a:p>
            <a:pPr>
              <a:spcAft>
                <a:spcPts val="600"/>
              </a:spcAft>
            </a:pPr>
            <a:r>
              <a:rPr sz="1200" b="0" i="0">
                <a:solidFill>
                  <a:srgbClr val="2B2B2B"/>
                </a:solidFill>
                <a:latin typeface="Calibri"/>
              </a:rPr>
              <a:t>–   </a:t>
            </a:r>
            <a:r>
              <a:rPr sz="1200" b="1" i="0">
                <a:solidFill>
                  <a:srgbClr val="2B2B2B"/>
                </a:solidFill>
                <a:latin typeface="Calibri"/>
              </a:rPr>
              <a:t>Sesión 8</a:t>
            </a:r>
            <a:r>
              <a:rPr sz="1200" b="0" i="0">
                <a:solidFill>
                  <a:srgbClr val="2B2B2B"/>
                </a:solidFill>
                <a:latin typeface="Calibri"/>
              </a:rPr>
              <a:t> — Diseño metodológico: paradigma, enfoque y alcance.</a:t>
            </a:r>
          </a:p>
          <a:p>
            <a:pPr>
              <a:spcAft>
                <a:spcPts val="600"/>
              </a:spcAft>
            </a:pPr>
            <a:r>
              <a:rPr sz="1200" b="0" i="0">
                <a:solidFill>
                  <a:srgbClr val="2B2B2B"/>
                </a:solidFill>
                <a:latin typeface="Calibri"/>
              </a:rPr>
              <a:t>–   </a:t>
            </a:r>
            <a:r>
              <a:rPr sz="1200" b="1" i="0">
                <a:solidFill>
                  <a:srgbClr val="2B2B2B"/>
                </a:solidFill>
                <a:latin typeface="Calibri"/>
              </a:rPr>
              <a:t>Sesión 9</a:t>
            </a:r>
            <a:r>
              <a:rPr sz="1200" b="0" i="0">
                <a:solidFill>
                  <a:srgbClr val="2B2B2B"/>
                </a:solidFill>
                <a:latin typeface="Calibri"/>
              </a:rPr>
              <a:t> — Devolución de la ACA 1 · población, muestra e instrumentos propuestos.</a:t>
            </a:r>
          </a:p>
          <a:p>
            <a:pPr>
              <a:spcAft>
                <a:spcPts val="600"/>
              </a:spcAft>
            </a:pPr>
            <a:r>
              <a:rPr sz="1200" b="0" i="0">
                <a:solidFill>
                  <a:srgbClr val="2B2B2B"/>
                </a:solidFill>
                <a:latin typeface="Calibri"/>
              </a:rPr>
              <a:t>–   </a:t>
            </a:r>
            <a:r>
              <a:rPr sz="1200" b="1" i="0">
                <a:solidFill>
                  <a:srgbClr val="2B2B2B"/>
                </a:solidFill>
                <a:latin typeface="Calibri"/>
              </a:rPr>
              <a:t>Sesión 10</a:t>
            </a:r>
            <a:r>
              <a:rPr sz="1200" b="0" i="0">
                <a:solidFill>
                  <a:srgbClr val="2B2B2B"/>
                </a:solidFill>
                <a:latin typeface="Calibri"/>
              </a:rPr>
              <a:t> — Planeación, viabilidad e integración del anteproyecto.</a:t>
            </a:r>
          </a:p>
          <a:p>
            <a:pPr>
              <a:spcAft>
                <a:spcPts val="600"/>
              </a:spcAft>
            </a:pPr>
            <a:r>
              <a:rPr sz="1200" b="0" i="0">
                <a:solidFill>
                  <a:srgbClr val="2B2B2B"/>
                </a:solidFill>
                <a:latin typeface="Calibri"/>
              </a:rPr>
              <a:t>–   </a:t>
            </a:r>
            <a:r>
              <a:rPr sz="1200" b="1" i="0">
                <a:solidFill>
                  <a:srgbClr val="2B2B2B"/>
                </a:solidFill>
                <a:latin typeface="Calibri"/>
              </a:rPr>
              <a:t>Sesión 11</a:t>
            </a:r>
            <a:r>
              <a:rPr sz="1200" b="0" i="0">
                <a:solidFill>
                  <a:srgbClr val="2B2B2B"/>
                </a:solidFill>
                <a:latin typeface="Calibri"/>
              </a:rPr>
              <a:t> — Integración y evaluación · coevaluación y autoevaluación.</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EVALUACIÓN — LOS TRES CORTES EN EL AULA (ESP329 / Art. 41)</a:t>
            </a:r>
          </a:p>
        </p:txBody>
      </p:sp>
      <p:graphicFrame>
        <p:nvGraphicFramePr>
          <p:cNvPr id="4" name="Table 3"/>
          <p:cNvGraphicFramePr>
            <a:graphicFrameLocks noGrp="1"/>
          </p:cNvGraphicFramePr>
          <p:nvPr/>
        </p:nvGraphicFramePr>
        <p:xfrm>
          <a:off x="640080" y="1691639"/>
          <a:ext cx="10911533" cy="3017520"/>
        </p:xfrm>
        <a:graphic>
          <a:graphicData uri="http://schemas.openxmlformats.org/drawingml/2006/table">
            <a:tbl>
              <a:tblPr>
                <a:tableStyleId>{2D5ABB26-0587-4C30-8999-92F81FD0307C}</a:tableStyleId>
              </a:tblPr>
              <a:tblGrid>
                <a:gridCol w="1925565"/>
                <a:gridCol w="1283710"/>
                <a:gridCol w="1375403"/>
                <a:gridCol w="916935"/>
                <a:gridCol w="5409920"/>
              </a:tblGrid>
              <a:tr h="502920">
                <a:tc>
                  <a:txBody>
                    <a:bodyPr/>
                    <a:lstStyle/>
                    <a:p>
                      <a:pPr algn="l"/>
                      <a:r>
                        <a:rPr sz="1300" b="1" i="0">
                          <a:solidFill>
                            <a:srgbClr val="FFFFFF"/>
                          </a:solidFill>
                          <a:latin typeface="Calibri"/>
                        </a:rPr>
                        <a:t>Ítem en CDigital</a:t>
                      </a:r>
                    </a:p>
                  </a:txBody>
                  <a:tcPr anchor="ctr" marL="109728" marR="91440" marT="36576" marB="36576">
                    <a:solidFill>
                      <a:srgbClr val="0C2340"/>
                    </a:solidFill>
                  </a:tcPr>
                </a:tc>
                <a:tc>
                  <a:txBody>
                    <a:bodyPr/>
                    <a:lstStyle/>
                    <a:p>
                      <a:pPr algn="l"/>
                      <a:r>
                        <a:rPr sz="1300" b="1" i="0">
                          <a:solidFill>
                            <a:srgbClr val="FFFFFF"/>
                          </a:solidFill>
                          <a:latin typeface="Calibri"/>
                        </a:rPr>
                        <a:t>Tipo</a:t>
                      </a:r>
                    </a:p>
                  </a:txBody>
                  <a:tcPr anchor="ctr" marL="109728" marR="91440" marT="36576" marB="36576">
                    <a:solidFill>
                      <a:srgbClr val="0C2340"/>
                    </a:solidFill>
                  </a:tcPr>
                </a:tc>
                <a:tc>
                  <a:txBody>
                    <a:bodyPr/>
                    <a:lstStyle/>
                    <a:p>
                      <a:pPr algn="l"/>
                      <a:r>
                        <a:rPr sz="1300" b="1" i="0">
                          <a:solidFill>
                            <a:srgbClr val="FFFFFF"/>
                          </a:solidFill>
                          <a:latin typeface="Calibri"/>
                        </a:rPr>
                        <a:t>Corte (peso)</a:t>
                      </a:r>
                    </a:p>
                  </a:txBody>
                  <a:tcPr anchor="ctr" marL="109728" marR="91440" marT="36576" marB="36576">
                    <a:solidFill>
                      <a:srgbClr val="0C2340"/>
                    </a:solidFill>
                  </a:tcPr>
                </a:tc>
                <a:tc>
                  <a:txBody>
                    <a:bodyPr/>
                    <a:lstStyle/>
                    <a:p>
                      <a:pPr algn="l"/>
                      <a:r>
                        <a:rPr sz="1300" b="1" i="0">
                          <a:solidFill>
                            <a:srgbClr val="FFFFFF"/>
                          </a:solidFill>
                          <a:latin typeface="Calibri"/>
                        </a:rPr>
                        <a:t>Peso</a:t>
                      </a:r>
                    </a:p>
                  </a:txBody>
                  <a:tcPr anchor="ctr" marL="109728" marR="91440" marT="36576" marB="36576">
                    <a:solidFill>
                      <a:srgbClr val="0C2340"/>
                    </a:solidFill>
                  </a:tcPr>
                </a:tc>
                <a:tc>
                  <a:txBody>
                    <a:bodyPr/>
                    <a:lstStyle/>
                    <a:p>
                      <a:pPr algn="l"/>
                      <a:r>
                        <a:rPr sz="1300" b="1" i="0">
                          <a:solidFill>
                            <a:srgbClr val="FFFFFF"/>
                          </a:solidFill>
                          <a:latin typeface="Calibri"/>
                        </a:rPr>
                        <a:t>Qué valora</a:t>
                      </a:r>
                    </a:p>
                  </a:txBody>
                  <a:tcPr anchor="ctr" marL="109728" marR="91440" marT="36576" marB="36576">
                    <a:solidFill>
                      <a:srgbClr val="0C2340"/>
                    </a:solidFill>
                  </a:tcPr>
                </a:tc>
              </a:tr>
              <a:tr h="502920">
                <a:tc>
                  <a:txBody>
                    <a:bodyPr/>
                    <a:lstStyle/>
                    <a:p>
                      <a:pPr algn="l"/>
                      <a:r>
                        <a:rPr sz="1100" b="1" i="0">
                          <a:solidFill>
                            <a:srgbClr val="2B2B2B"/>
                          </a:solidFill>
                          <a:latin typeface="Calibri"/>
                        </a:rPr>
                        <a:t>Quiz</a:t>
                      </a:r>
                    </a:p>
                  </a:txBody>
                  <a:tcPr anchor="ctr" marL="109728" marR="91440" marT="36576" marB="36576">
                    <a:solidFill>
                      <a:srgbClr val="FFFFFF"/>
                    </a:solidFill>
                  </a:tcPr>
                </a:tc>
                <a:tc>
                  <a:txBody>
                    <a:bodyPr/>
                    <a:lstStyle/>
                    <a:p>
                      <a:pPr algn="l"/>
                      <a:r>
                        <a:rPr sz="1100" b="0" i="0">
                          <a:solidFill>
                            <a:srgbClr val="2B2B2B"/>
                          </a:solidFill>
                          <a:latin typeface="Calibri"/>
                        </a:rPr>
                        <a:t>Cuestionario</a:t>
                      </a:r>
                    </a:p>
                  </a:txBody>
                  <a:tcPr anchor="ctr" marL="109728" marR="91440" marT="36576" marB="36576">
                    <a:solidFill>
                      <a:srgbClr val="FFFFFF"/>
                    </a:solidFill>
                  </a:tcPr>
                </a:tc>
                <a:tc>
                  <a:txBody>
                    <a:bodyPr/>
                    <a:lstStyle/>
                    <a:p>
                      <a:pPr algn="l"/>
                      <a:r>
                        <a:rPr sz="1100" b="0" i="0">
                          <a:solidFill>
                            <a:srgbClr val="2B2B2B"/>
                          </a:solidFill>
                          <a:latin typeface="Calibri"/>
                        </a:rPr>
                        <a:t>1 (25%)</a:t>
                      </a:r>
                    </a:p>
                  </a:txBody>
                  <a:tcPr anchor="ctr" marL="109728" marR="91440" marT="36576" marB="36576">
                    <a:solidFill>
                      <a:srgbClr val="FFFFFF"/>
                    </a:solidFill>
                  </a:tcPr>
                </a:tc>
                <a:tc>
                  <a:txBody>
                    <a:bodyPr/>
                    <a:lstStyle/>
                    <a:p>
                      <a:pPr algn="l"/>
                      <a:r>
                        <a:rPr sz="1100" b="1" i="0">
                          <a:solidFill>
                            <a:srgbClr val="2B2B2B"/>
                          </a:solidFill>
                          <a:latin typeface="Calibri"/>
                        </a:rPr>
                        <a:t>25%</a:t>
                      </a:r>
                    </a:p>
                  </a:txBody>
                  <a:tcPr anchor="ctr" marL="109728" marR="91440" marT="36576" marB="36576">
                    <a:solidFill>
                      <a:srgbClr val="FFFFFF"/>
                    </a:solidFill>
                  </a:tcPr>
                </a:tc>
                <a:tc>
                  <a:txBody>
                    <a:bodyPr/>
                    <a:lstStyle/>
                    <a:p>
                      <a:pPr algn="l"/>
                      <a:r>
                        <a:rPr sz="1100" b="0" i="0">
                          <a:solidFill>
                            <a:srgbClr val="2B2B2B"/>
                          </a:solidFill>
                          <a:latin typeface="Calibri"/>
                        </a:rPr>
                        <a:t>Comprobación individual en CDigital de las sesiones 02–03: problema, pregunta, objetivos y justificación. Guía escrita: `Quiz (25%)`.</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1</a:t>
                      </a:r>
                    </a:p>
                  </a:txBody>
                  <a:tcPr anchor="ctr" marL="109728" marR="91440" marT="36576" marB="36576">
                    <a:solidFill>
                      <a:srgbClr val="F2F2F2"/>
                    </a:solidFill>
                  </a:tcPr>
                </a:tc>
                <a:tc>
                  <a:txBody>
                    <a:bodyPr/>
                    <a:lstStyle/>
                    <a:p>
                      <a:pPr algn="l"/>
                      <a:r>
                        <a:rPr sz="1100" b="0" i="0">
                          <a:solidFill>
                            <a:srgbClr val="2B2B2B"/>
                          </a:solidFill>
                          <a:latin typeface="Calibri"/>
                        </a:rPr>
                        <a:t>Tarea</a:t>
                      </a:r>
                    </a:p>
                  </a:txBody>
                  <a:tcPr anchor="ctr" marL="109728" marR="91440" marT="36576" marB="36576">
                    <a:solidFill>
                      <a:srgbClr val="F2F2F2"/>
                    </a:solidFill>
                  </a:tcPr>
                </a:tc>
                <a:tc>
                  <a:txBody>
                    <a:bodyPr/>
                    <a:lstStyle/>
                    <a:p>
                      <a:pPr algn="l"/>
                      <a:r>
                        <a:rPr sz="1100" b="0" i="0">
                          <a:solidFill>
                            <a:srgbClr val="2B2B2B"/>
                          </a:solidFill>
                          <a:latin typeface="Calibri"/>
                        </a:rPr>
                        <a:t>2 (25%)</a:t>
                      </a:r>
                    </a:p>
                  </a:txBody>
                  <a:tcPr anchor="ctr" marL="109728" marR="91440" marT="36576" marB="36576">
                    <a:solidFill>
                      <a:srgbClr val="F2F2F2"/>
                    </a:solidFill>
                  </a:tcPr>
                </a:tc>
                <a:tc>
                  <a:txBody>
                    <a:bodyPr/>
                    <a:lstStyle/>
                    <a:p>
                      <a:pPr algn="l"/>
                      <a:r>
                        <a:rPr sz="1100" b="1" i="0">
                          <a:solidFill>
                            <a:srgbClr val="2B2B2B"/>
                          </a:solidFill>
                          <a:latin typeface="Calibri"/>
                        </a:rPr>
                        <a:t>25%</a:t>
                      </a:r>
                    </a:p>
                  </a:txBody>
                  <a:tcPr anchor="ctr" marL="109728" marR="91440" marT="36576" marB="36576">
                    <a:solidFill>
                      <a:srgbClr val="F2F2F2"/>
                    </a:solidFill>
                  </a:tcPr>
                </a:tc>
                <a:tc>
                  <a:txBody>
                    <a:bodyPr/>
                    <a:lstStyle/>
                    <a:p>
                      <a:pPr algn="l"/>
                      <a:r>
                        <a:rPr sz="1100" b="0" i="0">
                          <a:solidFill>
                            <a:srgbClr val="2B2B2B"/>
                          </a:solidFill>
                          <a:latin typeface="Calibri"/>
                        </a:rPr>
                        <a:t>Documento del equipo: correcciones + marco referencial — antecedentes, teórico, conceptual, contextual y legal. Enunciado: `ACA 1 (25%)`.</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FINAL</a:t>
                      </a:r>
                    </a:p>
                  </a:txBody>
                  <a:tcPr anchor="ctr" marL="109728" marR="91440" marT="36576" marB="36576">
                    <a:solidFill>
                      <a:srgbClr val="FFFFFF"/>
                    </a:solidFill>
                  </a:tcPr>
                </a:tc>
                <a:tc>
                  <a:txBody>
                    <a:bodyPr/>
                    <a:lstStyle/>
                    <a:p>
                      <a:pPr algn="l"/>
                      <a:r>
                        <a:rPr sz="1100" b="0" i="0">
                          <a:solidFill>
                            <a:srgbClr val="2B2B2B"/>
                          </a:solidFill>
                          <a:latin typeface="Calibri"/>
                        </a:rPr>
                        <a:t>Tarea</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42%</a:t>
                      </a:r>
                    </a:p>
                  </a:txBody>
                  <a:tcPr anchor="ctr" marL="109728" marR="91440" marT="36576" marB="36576">
                    <a:solidFill>
                      <a:srgbClr val="FFFFFF"/>
                    </a:solidFill>
                  </a:tcPr>
                </a:tc>
                <a:tc>
                  <a:txBody>
                    <a:bodyPr/>
                    <a:lstStyle/>
                    <a:p>
                      <a:pPr algn="l"/>
                      <a:r>
                        <a:rPr sz="1100" b="0" i="0">
                          <a:solidFill>
                            <a:srgbClr val="2B2B2B"/>
                          </a:solidFill>
                          <a:latin typeface="Calibri"/>
                        </a:rPr>
                        <a:t>Anteproyecto completo e integrado: metodología, instrumentos propuestos, cronograma, presupuesto y viabilidad. Enunciado: `ACA FINAL (42%)`.</a:t>
                      </a:r>
                    </a:p>
                  </a:txBody>
                  <a:tcPr anchor="ctr" marL="109728" marR="91440" marT="36576" marB="36576">
                    <a:solidFill>
                      <a:srgbClr val="FFFFFF"/>
                    </a:solidFill>
                  </a:tcPr>
                </a:tc>
              </a:tr>
              <a:tr h="502920">
                <a:tc>
                  <a:txBody>
                    <a:bodyPr/>
                    <a:lstStyle/>
                    <a:p>
                      <a:pPr algn="l"/>
                      <a:r>
                        <a:rPr sz="1100" b="1" i="0">
                          <a:solidFill>
                            <a:srgbClr val="2B2B2B"/>
                          </a:solidFill>
                          <a:latin typeface="Calibri"/>
                        </a:rPr>
                        <a:t>Autoevaluación</a:t>
                      </a:r>
                    </a:p>
                  </a:txBody>
                  <a:tcPr anchor="ctr" marL="109728" marR="91440" marT="36576" marB="36576">
                    <a:solidFill>
                      <a:srgbClr val="F2F2F2"/>
                    </a:solidFill>
                  </a:tcPr>
                </a:tc>
                <a:tc>
                  <a:txBody>
                    <a:bodyPr/>
                    <a:lstStyle/>
                    <a:p>
                      <a:pPr algn="l"/>
                      <a:r>
                        <a:rPr sz="1100" b="0" i="0">
                          <a:solidFill>
                            <a:srgbClr val="2B2B2B"/>
                          </a:solidFill>
                          <a:latin typeface="Calibri"/>
                        </a:rPr>
                        <a:t>Cuestionario</a:t>
                      </a:r>
                    </a:p>
                  </a:txBody>
                  <a:tcPr anchor="ctr" marL="109728" marR="91440" marT="36576" marB="36576">
                    <a:solidFill>
                      <a:srgbClr val="F2F2F2"/>
                    </a:solidFill>
                  </a:tcPr>
                </a:tc>
                <a:tc>
                  <a:txBody>
                    <a:bodyPr/>
                    <a:lstStyle/>
                    <a:p>
                      <a:pPr algn="l"/>
                      <a:r>
                        <a:rPr sz="1100" b="0" i="0">
                          <a:solidFill>
                            <a:srgbClr val="2B2B2B"/>
                          </a:solidFill>
                          <a:latin typeface="Calibri"/>
                        </a:rPr>
                        <a:t>3 (50%)</a:t>
                      </a:r>
                    </a:p>
                  </a:txBody>
                  <a:tcPr anchor="ctr" marL="109728" marR="91440" marT="36576" marB="36576">
                    <a:solidFill>
                      <a:srgbClr val="F2F2F2"/>
                    </a:solidFill>
                  </a:tcPr>
                </a:tc>
                <a:tc>
                  <a:txBody>
                    <a:bodyPr/>
                    <a:lstStyle/>
                    <a:p>
                      <a:pPr algn="l"/>
                      <a:r>
                        <a:rPr sz="1100" b="1" i="0">
                          <a:solidFill>
                            <a:srgbClr val="2B2B2B"/>
                          </a:solidFill>
                          <a:latin typeface="Calibri"/>
                        </a:rPr>
                        <a:t>4%</a:t>
                      </a:r>
                    </a:p>
                  </a:txBody>
                  <a:tcPr anchor="ctr" marL="109728" marR="91440" marT="36576" marB="36576">
                    <a:solidFill>
                      <a:srgbClr val="F2F2F2"/>
                    </a:solidFill>
                  </a:tcPr>
                </a:tc>
                <a:tc>
                  <a:txBody>
                    <a:bodyPr/>
                    <a:lstStyle/>
                    <a:p>
                      <a:pPr algn="l"/>
                      <a:r>
                        <a:rPr sz="1100" b="0" i="0">
                          <a:solidFill>
                            <a:srgbClr val="2B2B2B"/>
                          </a:solidFill>
                          <a:latin typeface="Calibri"/>
                        </a:rPr>
                        <a:t>Tu valoración de tu propio proceso y de tu aporte al equipo (individual). Instructivo: `Autoevaluacion individual (4%)`.</a:t>
                      </a:r>
                    </a:p>
                  </a:txBody>
                  <a:tcPr anchor="ctr" marL="109728" marR="91440" marT="36576" marB="36576">
                    <a:solidFill>
                      <a:srgbClr val="F2F2F2"/>
                    </a:solidFill>
                  </a:tcPr>
                </a:tc>
              </a:tr>
              <a:tr h="502920">
                <a:tc>
                  <a:txBody>
                    <a:bodyPr/>
                    <a:lstStyle/>
                    <a:p>
                      <a:pPr algn="l"/>
                      <a:r>
                        <a:rPr sz="1100" b="1" i="0">
                          <a:solidFill>
                            <a:srgbClr val="2B2B2B"/>
                          </a:solidFill>
                          <a:latin typeface="Calibri"/>
                        </a:rPr>
                        <a:t>Coevaluación</a:t>
                      </a:r>
                    </a:p>
                  </a:txBody>
                  <a:tcPr anchor="ctr" marL="109728" marR="91440" marT="36576" marB="36576">
                    <a:solidFill>
                      <a:srgbClr val="FFFFFF"/>
                    </a:solidFill>
                  </a:tcPr>
                </a:tc>
                <a:tc>
                  <a:txBody>
                    <a:bodyPr/>
                    <a:lstStyle/>
                    <a:p>
                      <a:pPr algn="l"/>
                      <a:r>
                        <a:rPr sz="1100" b="0" i="0">
                          <a:solidFill>
                            <a:srgbClr val="2B2B2B"/>
                          </a:solidFill>
                          <a:latin typeface="Calibri"/>
                        </a:rPr>
                        <a:t>Foro</a:t>
                      </a:r>
                    </a:p>
                  </a:txBody>
                  <a:tcPr anchor="ctr" marL="109728" marR="91440" marT="36576" marB="36576">
                    <a:solidFill>
                      <a:srgbClr val="FFFFFF"/>
                    </a:solidFill>
                  </a:tcPr>
                </a:tc>
                <a:tc>
                  <a:txBody>
                    <a:bodyPr/>
                    <a:lstStyle/>
                    <a:p>
                      <a:pPr algn="l"/>
                      <a:r>
                        <a:rPr sz="1100" b="0" i="0">
                          <a:solidFill>
                            <a:srgbClr val="2B2B2B"/>
                          </a:solidFill>
                          <a:latin typeface="Calibri"/>
                        </a:rPr>
                        <a:t>3 (50%)</a:t>
                      </a:r>
                    </a:p>
                  </a:txBody>
                  <a:tcPr anchor="ctr" marL="109728" marR="91440" marT="36576" marB="36576">
                    <a:solidFill>
                      <a:srgbClr val="FFFFFF"/>
                    </a:solidFill>
                  </a:tcPr>
                </a:tc>
                <a:tc>
                  <a:txBody>
                    <a:bodyPr/>
                    <a:lstStyle/>
                    <a:p>
                      <a:pPr algn="l"/>
                      <a:r>
                        <a:rPr sz="1100" b="1" i="0">
                          <a:solidFill>
                            <a:srgbClr val="2B2B2B"/>
                          </a:solidFill>
                          <a:latin typeface="Calibri"/>
                        </a:rPr>
                        <a:t>4%</a:t>
                      </a:r>
                    </a:p>
                  </a:txBody>
                  <a:tcPr anchor="ctr" marL="109728" marR="91440" marT="36576" marB="36576">
                    <a:solidFill>
                      <a:srgbClr val="FFFFFF"/>
                    </a:solidFill>
                  </a:tcPr>
                </a:tc>
                <a:tc>
                  <a:txBody>
                    <a:bodyPr/>
                    <a:lstStyle/>
                    <a:p>
                      <a:pPr algn="l"/>
                      <a:r>
                        <a:rPr sz="1100" b="0" i="0">
                          <a:solidFill>
                            <a:srgbClr val="2B2B2B"/>
                          </a:solidFill>
                          <a:latin typeface="Calibri"/>
                        </a:rPr>
                        <a:t>Valoración de los aportes de tus pares del equipo: se participa en el foro. Instructivo: `Coevaluacion individual (4%)`.</a:t>
                      </a:r>
                    </a:p>
                  </a:txBody>
                  <a:tcPr anchor="ctr" marL="109728" marR="91440" marT="36576" marB="36576">
                    <a:solidFill>
                      <a:srgbClr val="FFFFFF"/>
                    </a:solidFill>
                  </a:tcPr>
                </a:tc>
              </a:tr>
            </a:tbl>
          </a:graphicData>
        </a:graphic>
      </p:graphicFrame>
      <p:sp>
        <p:nvSpPr>
          <p:cNvPr id="5" name="TextBox 4"/>
          <p:cNvSpPr txBox="1"/>
          <p:nvPr/>
        </p:nvSpPr>
        <p:spPr>
          <a:xfrm>
            <a:off x="640080" y="4846320"/>
            <a:ext cx="10911535" cy="548640"/>
          </a:xfrm>
          <a:prstGeom prst="rect">
            <a:avLst/>
          </a:prstGeom>
          <a:noFill/>
        </p:spPr>
        <p:txBody>
          <a:bodyPr wrap="square" anchor="t" lIns="0" rIns="0" tIns="0" bIns="0">
            <a:spAutoFit/>
          </a:bodyPr>
          <a:lstStyle/>
          <a:p>
            <a:r>
              <a:rPr sz="1200" b="0" i="1">
                <a:solidFill>
                  <a:srgbClr val="2B2B2B"/>
                </a:solidFill>
                <a:latin typeface="Calibri"/>
              </a:rPr>
              <a:t>Estructura, tipo de actividad y pesos = </a:t>
            </a:r>
            <a:r>
              <a:rPr sz="1200" b="1" i="1">
                <a:solidFill>
                  <a:srgbClr val="2B2B2B"/>
                </a:solidFill>
                <a:latin typeface="Calibri"/>
              </a:rPr>
              <a:t>libro de calificaciones del aula</a:t>
            </a:r>
            <a:r>
              <a:rPr sz="1200" b="0" i="1">
                <a:solidFill>
                  <a:srgbClr val="2B2B2B"/>
                </a:solidFill>
                <a:latin typeface="Calibri"/>
              </a:rPr>
              <a:t>; suman </a:t>
            </a:r>
            <a:r>
              <a:rPr sz="1200" b="1" i="1">
                <a:solidFill>
                  <a:srgbClr val="2B2B2B"/>
                </a:solidFill>
                <a:latin typeface="Calibri"/>
              </a:rPr>
              <a:t>100%</a:t>
            </a:r>
            <a:r>
              <a:rPr sz="1200" b="0" i="1">
                <a:solidFill>
                  <a:srgbClr val="2B2B2B"/>
                </a:solidFill>
                <a:latin typeface="Calibri"/>
              </a:rPr>
              <a:t>. ESP329 declara nota única: el aula la compone en </a:t>
            </a:r>
            <a:r>
              <a:rPr sz="1200" b="1" i="1">
                <a:solidFill>
                  <a:srgbClr val="2B2B2B"/>
                </a:solidFill>
                <a:latin typeface="Calibri"/>
              </a:rPr>
              <a:t>tres cortes (25% / 25% / 50%)</a:t>
            </a:r>
            <a:r>
              <a:rPr sz="1200" b="0" i="1">
                <a:solidFill>
                  <a:srgbClr val="2B2B2B"/>
                </a:solidFill>
                <a:latin typeface="Calibri"/>
              </a:rPr>
              <a:t>. Producto único y acumulativo: si el anteproyecto final evidencia correcciones y resultados, el Docente puede ajustar favorablemente los avances previos, con trazabilidad en CDigital.</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AUTOEVALUACIÓN Y COEVALUACIÓN — CÓMO FUNCIONAN</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300" b="0" i="0">
                <a:solidFill>
                  <a:srgbClr val="2B2B2B"/>
                </a:solidFill>
                <a:latin typeface="Calibri"/>
              </a:rPr>
              <a:t>–   </a:t>
            </a:r>
            <a:r>
              <a:rPr sz="1300" b="1" i="0">
                <a:solidFill>
                  <a:srgbClr val="2B2B2B"/>
                </a:solidFill>
                <a:latin typeface="Calibri"/>
              </a:rPr>
              <a:t>En Proyecto I pesan 4% + 4%</a:t>
            </a:r>
            <a:r>
              <a:rPr sz="1300" b="0" i="0">
                <a:solidFill>
                  <a:srgbClr val="2B2B2B"/>
                </a:solidFill>
                <a:latin typeface="Calibri"/>
              </a:rPr>
              <a:t> (ESP329 · Art. 41 · cronograma AFI), dentro del tercer corte. Existen también en los demás cursos del Docente, con otro peso: lo que cambia es el porcentaje, no el instrumento.</a:t>
            </a:r>
          </a:p>
          <a:p>
            <a:pPr>
              <a:spcAft>
                <a:spcPts val="1000"/>
              </a:spcAft>
            </a:pPr>
            <a:r>
              <a:rPr sz="1300" b="0" i="0">
                <a:solidFill>
                  <a:srgbClr val="2B2B2B"/>
                </a:solidFill>
                <a:latin typeface="Calibri"/>
              </a:rPr>
              <a:t>–   </a:t>
            </a:r>
            <a:r>
              <a:rPr sz="1300" b="1" i="0">
                <a:solidFill>
                  <a:srgbClr val="2B2B2B"/>
                </a:solidFill>
                <a:latin typeface="Calibri"/>
              </a:rPr>
              <a:t>Autoevaluación (4%):</a:t>
            </a:r>
            <a:r>
              <a:rPr sz="1300" b="0" i="0">
                <a:solidFill>
                  <a:srgbClr val="2B2B2B"/>
                </a:solidFill>
                <a:latin typeface="Calibri"/>
              </a:rPr>
              <a:t> tú valoras tu proceso, aportes al equipo y logro del anteproyecto. Individual y honesta. En el aula es un </a:t>
            </a:r>
            <a:r>
              <a:rPr sz="1300" b="1" i="0">
                <a:solidFill>
                  <a:srgbClr val="2B2B2B"/>
                </a:solidFill>
                <a:latin typeface="Calibri"/>
              </a:rPr>
              <a:t>cuestionario</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Coevaluación (4%):</a:t>
            </a:r>
            <a:r>
              <a:rPr sz="1300" b="0" i="0">
                <a:solidFill>
                  <a:srgbClr val="2B2B2B"/>
                </a:solidFill>
                <a:latin typeface="Calibri"/>
              </a:rPr>
              <a:t> valoras el trabajo colaborativo / aportes de pares de tu equipo (respeto + criterio académico). En el aula es un </a:t>
            </a:r>
            <a:r>
              <a:rPr sz="1300" b="1" i="0">
                <a:solidFill>
                  <a:srgbClr val="2B2B2B"/>
                </a:solidFill>
                <a:latin typeface="Calibri"/>
              </a:rPr>
              <a:t>foro</a:t>
            </a:r>
            <a:r>
              <a:rPr sz="1300" b="0" i="0">
                <a:solidFill>
                  <a:srgbClr val="2B2B2B"/>
                </a:solidFill>
                <a:latin typeface="Calibri"/>
              </a:rPr>
              <a:t>: se participa, no se sube archivo.</a:t>
            </a:r>
          </a:p>
          <a:p>
            <a:pPr>
              <a:spcAft>
                <a:spcPts val="1000"/>
              </a:spcAft>
            </a:pPr>
            <a:r>
              <a:rPr sz="1300" b="0" i="0">
                <a:solidFill>
                  <a:srgbClr val="2B2B2B"/>
                </a:solidFill>
                <a:latin typeface="Calibri"/>
              </a:rPr>
              <a:t>–   </a:t>
            </a:r>
            <a:r>
              <a:rPr sz="1300" b="1" i="0">
                <a:solidFill>
                  <a:srgbClr val="2B2B2B"/>
                </a:solidFill>
                <a:latin typeface="Calibri"/>
              </a:rPr>
              <a:t>Dónde:</a:t>
            </a:r>
            <a:r>
              <a:rPr sz="1300" b="0" i="0">
                <a:solidFill>
                  <a:srgbClr val="2B2B2B"/>
                </a:solidFill>
                <a:latin typeface="Calibri"/>
              </a:rPr>
              <a:t> actividades individuales en </a:t>
            </a:r>
            <a:r>
              <a:rPr sz="1300" b="1" i="0">
                <a:solidFill>
                  <a:srgbClr val="2B2B2B"/>
                </a:solidFill>
                <a:latin typeface="Calibri"/>
              </a:rPr>
              <a:t>CDigital</a:t>
            </a:r>
            <a:r>
              <a:rPr sz="1300" b="0" i="0">
                <a:solidFill>
                  <a:srgbClr val="2B2B2B"/>
                </a:solidFill>
                <a:latin typeface="Calibri"/>
              </a:rPr>
              <a:t>. Instructivos en tu carpeta: `Recursos/ACAs/`.</a:t>
            </a:r>
          </a:p>
          <a:p>
            <a:pPr>
              <a:spcAft>
                <a:spcPts val="1000"/>
              </a:spcAft>
            </a:pPr>
            <a:r>
              <a:rPr sz="1300" b="0" i="0">
                <a:solidFill>
                  <a:srgbClr val="2B2B2B"/>
                </a:solidFill>
                <a:latin typeface="Calibri"/>
              </a:rPr>
              <a:t>–   </a:t>
            </a:r>
            <a:r>
              <a:rPr sz="1300" b="1" i="0">
                <a:solidFill>
                  <a:srgbClr val="2B2B2B"/>
                </a:solidFill>
                <a:latin typeface="Calibri"/>
              </a:rPr>
              <a:t>Cuándo (26ES4):</a:t>
            </a:r>
            <a:r>
              <a:rPr sz="1300" b="0" i="0">
                <a:solidFill>
                  <a:srgbClr val="2B2B2B"/>
                </a:solidFill>
                <a:latin typeface="Calibri"/>
              </a:rPr>
              <a:t> coevaluación </a:t>
            </a:r>
            <a:r>
              <a:rPr sz="1300" b="1" i="0">
                <a:solidFill>
                  <a:srgbClr val="2B2B2B"/>
                </a:solidFill>
                <a:latin typeface="Calibri"/>
              </a:rPr>
              <a:t>09/11/2026–15/11/2026</a:t>
            </a:r>
            <a:r>
              <a:rPr sz="1300" b="0" i="0">
                <a:solidFill>
                  <a:srgbClr val="2B2B2B"/>
                </a:solidFill>
                <a:latin typeface="Calibri"/>
              </a:rPr>
              <a:t> · autoevaluación </a:t>
            </a:r>
            <a:r>
              <a:rPr sz="1300" b="1" i="0">
                <a:solidFill>
                  <a:srgbClr val="2B2B2B"/>
                </a:solidFill>
                <a:latin typeface="Calibri"/>
              </a:rPr>
              <a:t>16/11/2026–22/11/2026</a:t>
            </a:r>
            <a:r>
              <a:rPr sz="1300" b="0" i="0">
                <a:solidFill>
                  <a:srgbClr val="2B2B2B"/>
                </a:solidFill>
                <a:latin typeface="Calibri"/>
              </a:rPr>
              <a:t> (cierre notas </a:t>
            </a:r>
            <a:r>
              <a:rPr sz="1300" b="1" i="0">
                <a:solidFill>
                  <a:srgbClr val="2B2B2B"/>
                </a:solidFill>
                <a:latin typeface="Calibri"/>
              </a:rPr>
              <a:t>22/11/2026</a:t>
            </a:r>
            <a:r>
              <a:rPr sz="1300" b="0" i="0">
                <a:solidFill>
                  <a:srgbClr val="2B2B2B"/>
                </a:solidFill>
                <a:latin typeface="Calibri"/>
              </a:rPr>
              <a:t>).</a:t>
            </a:r>
          </a:p>
          <a:p>
            <a:pPr>
              <a:spcAft>
                <a:spcPts val="1000"/>
              </a:spcAft>
            </a:pPr>
            <a:r>
              <a:rPr sz="1300" b="0" i="0">
                <a:solidFill>
                  <a:srgbClr val="2B2B2B"/>
                </a:solidFill>
                <a:latin typeface="Calibri"/>
              </a:rPr>
              <a:t>–   </a:t>
            </a:r>
            <a:r>
              <a:rPr sz="1300" b="1" i="0">
                <a:solidFill>
                  <a:srgbClr val="2B2B2B"/>
                </a:solidFill>
                <a:latin typeface="Calibri"/>
              </a:rPr>
              <a:t>Quién califica:</a:t>
            </a:r>
            <a:r>
              <a:rPr sz="1300" b="0" i="0">
                <a:solidFill>
                  <a:srgbClr val="2B2B2B"/>
                </a:solidFill>
                <a:latin typeface="Calibri"/>
              </a:rPr>
              <a:t> el estudiante diligencia el instrumento; el Docente habilita la ventana, verifica y registra la nota en el gradebook.</a:t>
            </a:r>
          </a:p>
          <a:p>
            <a:pPr>
              <a:spcAft>
                <a:spcPts val="1000"/>
              </a:spcAft>
            </a:pPr>
            <a:r>
              <a:rPr sz="1300" b="0" i="0">
                <a:solidFill>
                  <a:srgbClr val="2B2B2B"/>
                </a:solidFill>
                <a:latin typeface="Calibri"/>
              </a:rPr>
              <a:t>–   </a:t>
            </a:r>
            <a:r>
              <a:rPr sz="1300" b="1" i="0">
                <a:solidFill>
                  <a:srgbClr val="2B2B2B"/>
                </a:solidFill>
                <a:latin typeface="Calibri"/>
              </a:rPr>
              <a:t>Evidencia:</a:t>
            </a:r>
            <a:r>
              <a:rPr sz="1300" b="0" i="0">
                <a:solidFill>
                  <a:srgbClr val="2B2B2B"/>
                </a:solidFill>
                <a:latin typeface="Calibri"/>
              </a:rPr>
              <a:t> completar la actividad en la ventana. No sustituye el anteproyecto final (</a:t>
            </a:r>
            <a:r>
              <a:rPr sz="1300" b="1" i="0">
                <a:solidFill>
                  <a:srgbClr val="2B2B2B"/>
                </a:solidFill>
                <a:latin typeface="Calibri"/>
              </a:rPr>
              <a:t>ACA FINAL</a:t>
            </a:r>
            <a:r>
              <a:rPr sz="1300" b="0" i="0">
                <a:solidFill>
                  <a:srgbClr val="2B2B2B"/>
                </a:solidFill>
                <a:latin typeface="Calibri"/>
              </a:rPr>
              <a:t> en el aula).</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ROLES — AUTO / COEVALUACIÓN</a:t>
            </a:r>
          </a:p>
        </p:txBody>
      </p:sp>
      <p:sp>
        <p:nvSpPr>
          <p:cNvPr id="4" name="Rounded Rectangle 3"/>
          <p:cNvSpPr/>
          <p:nvPr/>
        </p:nvSpPr>
        <p:spPr>
          <a:xfrm>
            <a:off x="640080" y="1737360"/>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Estudiante: espera la habilitación en CDigital → diligencia individual → respeta plazos. Si eres de equipo, la coevaluación mira aportes reales del trabajo conjunto.</a:t>
            </a:r>
          </a:p>
        </p:txBody>
      </p:sp>
      <p:sp>
        <p:nvSpPr>
          <p:cNvPr id="6" name="Rounded Rectangle 5"/>
          <p:cNvSpPr/>
          <p:nvPr/>
        </p:nvSpPr>
        <p:spPr>
          <a:xfrm>
            <a:off x="640080" y="2935224"/>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44952"/>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Docente: configurar/habilitar actividades individuales en las ventanas oficiales; calificar/registrar antes del cierre de notas; conservar evidencia en el aula.</a:t>
            </a:r>
          </a:p>
        </p:txBody>
      </p:sp>
      <p:sp>
        <p:nvSpPr>
          <p:cNvPr id="8" name="Rounded Rectangle 7"/>
          <p:cNvSpPr/>
          <p:nvPr/>
        </p:nvSpPr>
        <p:spPr>
          <a:xfrm>
            <a:off x="640080" y="4133087"/>
            <a:ext cx="10911535" cy="969264"/>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242816"/>
            <a:ext cx="10454335" cy="749808"/>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No confundir con la «autoevaluación» institucional SIAC (calidad de programas en acreditacion.cun.edu.co): esa no es una nota del curso.</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CRONOGRAMA — VENTANAS DE ENTREGA (AFI 26ES4)</a:t>
            </a:r>
          </a:p>
        </p:txBody>
      </p:sp>
      <p:sp>
        <p:nvSpPr>
          <p:cNvPr id="4" name="TextBox 3"/>
          <p:cNvSpPr txBox="1"/>
          <p:nvPr/>
        </p:nvSpPr>
        <p:spPr>
          <a:xfrm>
            <a:off x="640080" y="1280160"/>
            <a:ext cx="10911535" cy="411480"/>
          </a:xfrm>
          <a:prstGeom prst="rect">
            <a:avLst/>
          </a:prstGeom>
          <a:noFill/>
        </p:spPr>
        <p:txBody>
          <a:bodyPr wrap="square" anchor="t" lIns="0" rIns="0" tIns="0" bIns="0">
            <a:spAutoFit/>
          </a:bodyPr>
          <a:lstStyle/>
          <a:p>
            <a:pPr algn="ctr"/>
            <a:r>
              <a:rPr sz="1500" b="0" i="0">
                <a:solidFill>
                  <a:srgbClr val="2B2B2B"/>
                </a:solidFill>
                <a:latin typeface="Calibri"/>
              </a:rPr>
              <a:t>Periodo </a:t>
            </a:r>
            <a:r>
              <a:rPr sz="1500" b="1" i="0">
                <a:solidFill>
                  <a:srgbClr val="2B2B2B"/>
                </a:solidFill>
                <a:latin typeface="Calibri"/>
              </a:rPr>
              <a:t>26ES4</a:t>
            </a:r>
            <a:r>
              <a:rPr sz="1500" b="0" i="0">
                <a:solidFill>
                  <a:srgbClr val="2B2B2B"/>
                </a:solidFill>
                <a:latin typeface="Calibri"/>
              </a:rPr>
              <a:t> · cierre y registro de notas: </a:t>
            </a:r>
            <a:r>
              <a:rPr sz="1500" b="1" i="0">
                <a:solidFill>
                  <a:srgbClr val="2B2B2B"/>
                </a:solidFill>
                <a:latin typeface="Calibri"/>
              </a:rPr>
              <a:t>22/11/2026</a:t>
            </a:r>
          </a:p>
        </p:txBody>
      </p:sp>
      <p:sp>
        <p:nvSpPr>
          <p:cNvPr id="5" name="Rectangle 4"/>
          <p:cNvSpPr/>
          <p:nvPr/>
        </p:nvSpPr>
        <p:spPr>
          <a:xfrm>
            <a:off x="640080" y="2011679"/>
            <a:ext cx="3503066" cy="658368"/>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1"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1  ·  25%</a:t>
            </a:r>
          </a:p>
        </p:txBody>
      </p:sp>
      <p:sp>
        <p:nvSpPr>
          <p:cNvPr id="7" name="Rectangle 6"/>
          <p:cNvSpPr/>
          <p:nvPr/>
        </p:nvSpPr>
        <p:spPr>
          <a:xfrm>
            <a:off x="640080"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03/08/2026</a:t>
            </a:r>
          </a:p>
        </p:txBody>
      </p:sp>
      <p:sp>
        <p:nvSpPr>
          <p:cNvPr id="9" name="Rectangle 8"/>
          <p:cNvSpPr/>
          <p:nvPr/>
        </p:nvSpPr>
        <p:spPr>
          <a:xfrm>
            <a:off x="960119"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30/08/2026</a:t>
            </a:r>
          </a:p>
        </p:txBody>
      </p:sp>
      <p:sp>
        <p:nvSpPr>
          <p:cNvPr id="11" name="Rectangle 10"/>
          <p:cNvSpPr/>
          <p:nvPr/>
        </p:nvSpPr>
        <p:spPr>
          <a:xfrm>
            <a:off x="4344314" y="2011679"/>
            <a:ext cx="3503066" cy="658368"/>
          </a:xfrm>
          <a:prstGeom prst="rect">
            <a:avLst/>
          </a:prstGeom>
          <a:solidFill>
            <a:srgbClr val="324A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17466"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2  ·  25%</a:t>
            </a:r>
          </a:p>
        </p:txBody>
      </p:sp>
      <p:sp>
        <p:nvSpPr>
          <p:cNvPr id="13" name="Rectangle 12"/>
          <p:cNvSpPr/>
          <p:nvPr/>
        </p:nvSpPr>
        <p:spPr>
          <a:xfrm>
            <a:off x="4344314"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4042"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07/09/2026</a:t>
            </a:r>
          </a:p>
        </p:txBody>
      </p:sp>
      <p:sp>
        <p:nvSpPr>
          <p:cNvPr id="15" name="Rectangle 14"/>
          <p:cNvSpPr/>
          <p:nvPr/>
        </p:nvSpPr>
        <p:spPr>
          <a:xfrm>
            <a:off x="4664354"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4042"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04/10/2026</a:t>
            </a:r>
          </a:p>
        </p:txBody>
      </p:sp>
      <p:sp>
        <p:nvSpPr>
          <p:cNvPr id="17" name="Rectangle 16"/>
          <p:cNvSpPr/>
          <p:nvPr/>
        </p:nvSpPr>
        <p:spPr>
          <a:xfrm>
            <a:off x="8048548" y="2011679"/>
            <a:ext cx="3503066" cy="658368"/>
          </a:xfrm>
          <a:prstGeom prst="rect">
            <a:avLst/>
          </a:prstGeom>
          <a:solidFill>
            <a:srgbClr val="4A7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1700" y="2084831"/>
            <a:ext cx="3356762" cy="512064"/>
          </a:xfrm>
          <a:prstGeom prst="rect">
            <a:avLst/>
          </a:prstGeom>
          <a:noFill/>
        </p:spPr>
        <p:txBody>
          <a:bodyPr wrap="square" anchor="ctr" lIns="0" rIns="0" tIns="0" bIns="0">
            <a:spAutoFit/>
          </a:bodyPr>
          <a:lstStyle/>
          <a:p>
            <a:pPr algn="ctr"/>
            <a:r>
              <a:rPr sz="1400" b="1" i="0">
                <a:solidFill>
                  <a:srgbClr val="FFFFFF"/>
                </a:solidFill>
                <a:latin typeface="Calibri"/>
              </a:rPr>
              <a:t>Corte 3  ·  50%</a:t>
            </a:r>
          </a:p>
        </p:txBody>
      </p:sp>
      <p:sp>
        <p:nvSpPr>
          <p:cNvPr id="19" name="Rectangle 18"/>
          <p:cNvSpPr/>
          <p:nvPr/>
        </p:nvSpPr>
        <p:spPr>
          <a:xfrm>
            <a:off x="8048548" y="2670048"/>
            <a:ext cx="3503066" cy="2221991"/>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8276" y="2880359"/>
            <a:ext cx="3283610" cy="822960"/>
          </a:xfrm>
          <a:prstGeom prst="rect">
            <a:avLst/>
          </a:prstGeom>
          <a:noFill/>
        </p:spPr>
        <p:txBody>
          <a:bodyPr wrap="square" anchor="t" lIns="0" rIns="0" tIns="0" bIns="0">
            <a:spAutoFit/>
          </a:bodyPr>
          <a:lstStyle/>
          <a:p>
            <a:pPr algn="ctr"/>
            <a:r>
              <a:rPr sz="1100" b="1" i="0">
                <a:solidFill>
                  <a:srgbClr val="8F989D"/>
                </a:solidFill>
                <a:latin typeface="Calibri"/>
              </a:rPr>
              <a:t>INICIO</a:t>
            </a:r>
          </a:p>
          <a:p>
            <a:pPr algn="ctr">
              <a:spcBef>
                <a:spcPts val="400"/>
              </a:spcBef>
            </a:pPr>
            <a:r>
              <a:rPr sz="2000" b="1" i="0">
                <a:solidFill>
                  <a:srgbClr val="007433"/>
                </a:solidFill>
                <a:latin typeface="Calibri"/>
              </a:rPr>
              <a:t>12/10/2026</a:t>
            </a:r>
          </a:p>
        </p:txBody>
      </p:sp>
      <p:sp>
        <p:nvSpPr>
          <p:cNvPr id="21" name="Rectangle 20"/>
          <p:cNvSpPr/>
          <p:nvPr/>
        </p:nvSpPr>
        <p:spPr>
          <a:xfrm>
            <a:off x="8368588" y="3794759"/>
            <a:ext cx="2862986" cy="27432"/>
          </a:xfrm>
          <a:prstGeom prst="rect">
            <a:avLst/>
          </a:prstGeom>
          <a:solidFill>
            <a:srgbClr val="D0D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58276" y="3977639"/>
            <a:ext cx="3283610" cy="822960"/>
          </a:xfrm>
          <a:prstGeom prst="rect">
            <a:avLst/>
          </a:prstGeom>
          <a:noFill/>
        </p:spPr>
        <p:txBody>
          <a:bodyPr wrap="square" anchor="t" lIns="0" rIns="0" tIns="0" bIns="0">
            <a:spAutoFit/>
          </a:bodyPr>
          <a:lstStyle/>
          <a:p>
            <a:pPr algn="ctr"/>
            <a:r>
              <a:rPr sz="1100" b="1" i="0">
                <a:solidFill>
                  <a:srgbClr val="8F989D"/>
                </a:solidFill>
                <a:latin typeface="Calibri"/>
              </a:rPr>
              <a:t>CIERRE</a:t>
            </a:r>
          </a:p>
          <a:p>
            <a:pPr algn="ctr">
              <a:spcBef>
                <a:spcPts val="400"/>
              </a:spcBef>
            </a:pPr>
            <a:r>
              <a:rPr sz="2000" b="1" i="0">
                <a:solidFill>
                  <a:srgbClr val="0C2340"/>
                </a:solidFill>
                <a:latin typeface="Calibri"/>
              </a:rPr>
              <a:t>22/11/2026</a:t>
            </a:r>
          </a:p>
        </p:txBody>
      </p:sp>
      <p:sp>
        <p:nvSpPr>
          <p:cNvPr id="23" name="TextBox 22"/>
          <p:cNvSpPr txBox="1"/>
          <p:nvPr/>
        </p:nvSpPr>
        <p:spPr>
          <a:xfrm>
            <a:off x="640080" y="5056631"/>
            <a:ext cx="10911535" cy="320040"/>
          </a:xfrm>
          <a:prstGeom prst="rect">
            <a:avLst/>
          </a:prstGeom>
          <a:noFill/>
        </p:spPr>
        <p:txBody>
          <a:bodyPr wrap="square" anchor="t" lIns="0" rIns="0" tIns="0" bIns="0">
            <a:spAutoFit/>
          </a:bodyPr>
          <a:lstStyle/>
          <a:p>
            <a:r>
              <a:rPr sz="1200" b="0" i="0">
                <a:solidFill>
                  <a:srgbClr val="C0392B"/>
                </a:solidFill>
                <a:latin typeface="Calibri"/>
              </a:rPr>
              <a:t>🚫 </a:t>
            </a:r>
            <a:r>
              <a:rPr sz="1200" b="1" i="0">
                <a:solidFill>
                  <a:srgbClr val="C0392B"/>
                </a:solidFill>
                <a:latin typeface="Calibri"/>
              </a:rPr>
              <a:t>Sin clase (festivos):</a:t>
            </a:r>
            <a:r>
              <a:rPr sz="1200" b="0" i="0">
                <a:solidFill>
                  <a:srgbClr val="C0392B"/>
                </a:solidFill>
                <a:latin typeface="Calibri"/>
              </a:rPr>
              <a:t> 17/08 Asunción de la Virgen  ·  12/10 Día de la Raza  ·  02/11 Todos los Santos  ·  16/11 Indep. de Cartagena</a:t>
            </a:r>
          </a:p>
        </p:txBody>
      </p:sp>
      <p:sp>
        <p:nvSpPr>
          <p:cNvPr id="24" name="Rounded Rectangle 23"/>
          <p:cNvSpPr/>
          <p:nvPr/>
        </p:nvSpPr>
        <p:spPr>
          <a:xfrm>
            <a:off x="640080" y="5404103"/>
            <a:ext cx="10911535" cy="640080"/>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513831"/>
            <a:ext cx="10545775" cy="457200"/>
          </a:xfrm>
          <a:prstGeom prst="rect">
            <a:avLst/>
          </a:prstGeom>
          <a:noFill/>
        </p:spPr>
        <p:txBody>
          <a:bodyPr wrap="square" anchor="ctr" lIns="0" rIns="0" tIns="0" bIns="0">
            <a:spAutoFit/>
          </a:bodyPr>
          <a:lstStyle/>
          <a:p>
            <a:r>
              <a:rPr sz="1200" b="0" i="0">
                <a:solidFill>
                  <a:srgbClr val="2B2B2B"/>
                </a:solidFill>
                <a:latin typeface="Calibri"/>
              </a:rPr>
              <a:t>📌 Tutorías → https://forms.gle/oZ8xCYiUo3KEWr1d9</a:t>
            </a:r>
          </a:p>
        </p:txBody>
      </p:sp>
      <p:sp>
        <p:nvSpPr>
          <p:cNvPr id="26" name="TextBox 2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AVISO IMPORTANTE</a:t>
            </a:r>
          </a:p>
        </p:txBody>
      </p:sp>
      <p:sp>
        <p:nvSpPr>
          <p:cNvPr id="4" name="Rounded Rectangle 3"/>
          <p:cNvSpPr/>
          <p:nvPr/>
        </p:nvSpPr>
        <p:spPr>
          <a:xfrm>
            <a:off x="640080" y="1737360"/>
            <a:ext cx="10911535" cy="1225296"/>
          </a:xfrm>
          <a:prstGeom prst="roundRect">
            <a:avLst/>
          </a:prstGeom>
          <a:solidFill>
            <a:srgbClr val="FB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47088"/>
            <a:ext cx="10454335" cy="1005840"/>
          </a:xfrm>
          <a:prstGeom prst="rect">
            <a:avLst/>
          </a:prstGeom>
          <a:noFill/>
        </p:spPr>
        <p:txBody>
          <a:bodyPr wrap="square" anchor="t" lIns="0" rIns="0" tIns="0" bIns="0">
            <a:spAutoFit/>
          </a:bodyPr>
          <a:lstStyle/>
          <a:p>
            <a:r>
              <a:rPr sz="1300" b="1" i="0">
                <a:solidFill>
                  <a:srgbClr val="0C2340"/>
                </a:solidFill>
                <a:latin typeface="Calibri"/>
              </a:rPr>
              <a:t>⚠️ Importante</a:t>
            </a:r>
          </a:p>
          <a:p>
            <a:pPr>
              <a:spcBef>
                <a:spcPts val="400"/>
              </a:spcBef>
            </a:pPr>
            <a:r>
              <a:rPr sz="1300" b="0" i="0">
                <a:solidFill>
                  <a:srgbClr val="2B2B2B"/>
                </a:solidFill>
                <a:latin typeface="Calibri"/>
              </a:rPr>
              <a:t>La </a:t>
            </a:r>
            <a:r>
              <a:rPr sz="1300" b="1" i="0">
                <a:solidFill>
                  <a:srgbClr val="2B2B2B"/>
                </a:solidFill>
                <a:latin typeface="Calibri"/>
              </a:rPr>
              <a:t>ACA FINAL</a:t>
            </a:r>
            <a:r>
              <a:rPr sz="1300" b="0" i="0">
                <a:solidFill>
                  <a:srgbClr val="2B2B2B"/>
                </a:solidFill>
                <a:latin typeface="Calibri"/>
              </a:rPr>
              <a:t> (42%, el anteproyecto integrado) solo tiene 2 lunes sincrónicos (19/10 y 26/10). Apóyate en tutorías adicionales acordadas en la semana con el Docente y registra cada una en el formulario.</a:t>
            </a:r>
          </a:p>
        </p:txBody>
      </p:sp>
      <p:sp>
        <p:nvSpPr>
          <p:cNvPr id="6" name="Rounded Rectangle 5"/>
          <p:cNvSpPr/>
          <p:nvPr/>
        </p:nvSpPr>
        <p:spPr>
          <a:xfrm>
            <a:off x="640080" y="3191256"/>
            <a:ext cx="10911535" cy="969264"/>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300984"/>
            <a:ext cx="10454335" cy="749808"/>
          </a:xfrm>
          <a:prstGeom prst="rect">
            <a:avLst/>
          </a:prstGeom>
          <a:noFill/>
        </p:spPr>
        <p:txBody>
          <a:bodyPr wrap="square" anchor="t" lIns="0" rIns="0" tIns="0" bIns="0">
            <a:spAutoFit/>
          </a:bodyPr>
          <a:lstStyle/>
          <a:p>
            <a:r>
              <a:rPr sz="1300" b="1" i="0">
                <a:solidFill>
                  <a:srgbClr val="0C2340"/>
                </a:solidFill>
                <a:latin typeface="Calibri"/>
              </a:rPr>
              <a:t>ℹ️ Nota institucional</a:t>
            </a:r>
          </a:p>
          <a:p>
            <a:pPr>
              <a:spcBef>
                <a:spcPts val="400"/>
              </a:spcBef>
            </a:pPr>
            <a:r>
              <a:rPr sz="1300" b="0" i="0">
                <a:solidFill>
                  <a:srgbClr val="2B2B2B"/>
                </a:solidFill>
                <a:latin typeface="Calibri"/>
              </a:rPr>
              <a:t>Las tutorías por grupo se acuerdan en la semana con el Docente (no hay atención espontánea sin cita).</a:t>
            </a:r>
          </a:p>
        </p:txBody>
      </p:sp>
      <p:sp>
        <p:nvSpPr>
          <p:cNvPr id="8" name="Rounded Rectangle 7"/>
          <p:cNvSpPr/>
          <p:nvPr/>
        </p:nvSpPr>
        <p:spPr>
          <a:xfrm>
            <a:off x="640080" y="4389120"/>
            <a:ext cx="10911535" cy="969264"/>
          </a:xfrm>
          <a:prstGeom prst="roundRect">
            <a:avLst/>
          </a:prstGeom>
          <a:solidFill>
            <a:srgbClr val="FDEC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4498848"/>
            <a:ext cx="10454335" cy="749808"/>
          </a:xfrm>
          <a:prstGeom prst="rect">
            <a:avLst/>
          </a:prstGeom>
          <a:noFill/>
        </p:spPr>
        <p:txBody>
          <a:bodyPr wrap="square" anchor="t" lIns="0" rIns="0" tIns="0" bIns="0">
            <a:spAutoFit/>
          </a:bodyPr>
          <a:lstStyle/>
          <a:p>
            <a:r>
              <a:rPr sz="1300" b="1" i="0">
                <a:solidFill>
                  <a:srgbClr val="0C2340"/>
                </a:solidFill>
                <a:latin typeface="Calibri"/>
              </a:rPr>
              <a:t>💡 Aclaración</a:t>
            </a:r>
          </a:p>
          <a:p>
            <a:pPr>
              <a:spcBef>
                <a:spcPts val="400"/>
              </a:spcBef>
            </a:pPr>
            <a:r>
              <a:rPr sz="1300" b="0" i="0">
                <a:solidFill>
                  <a:srgbClr val="2B2B2B"/>
                </a:solidFill>
                <a:latin typeface="Calibri"/>
              </a:rPr>
              <a:t>ESP329 / AFI: en Proyecto I se </a:t>
            </a:r>
            <a:r>
              <a:rPr sz="1300" b="1" i="0">
                <a:solidFill>
                  <a:srgbClr val="2B2B2B"/>
                </a:solidFill>
                <a:latin typeface="Calibri"/>
              </a:rPr>
              <a:t>diseña</a:t>
            </a:r>
            <a:r>
              <a:rPr sz="1300" b="0" i="0">
                <a:solidFill>
                  <a:srgbClr val="2B2B2B"/>
                </a:solidFill>
                <a:latin typeface="Calibri"/>
              </a:rPr>
              <a:t> la metodología (instrumentos propuestos); la aplicación y recolección son de Proyecto II.</a:t>
            </a:r>
          </a:p>
        </p:txBody>
      </p:sp>
      <p:sp>
        <p:nvSpPr>
          <p:cNvPr id="10" name="TextBox 9"/>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QUÉ SE PREPARA EN CADA CORTE (Y CÓMO SE LLAMA EN CADA SITIO)</a:t>
            </a:r>
          </a:p>
        </p:txBody>
      </p:sp>
      <p:graphicFrame>
        <p:nvGraphicFramePr>
          <p:cNvPr id="4" name="Table 3"/>
          <p:cNvGraphicFramePr>
            <a:graphicFrameLocks noGrp="1"/>
          </p:cNvGraphicFramePr>
          <p:nvPr/>
        </p:nvGraphicFramePr>
        <p:xfrm>
          <a:off x="640080" y="1691639"/>
          <a:ext cx="10911533" cy="2011680"/>
        </p:xfrm>
        <a:graphic>
          <a:graphicData uri="http://schemas.openxmlformats.org/drawingml/2006/table">
            <a:tbl>
              <a:tblPr>
                <a:tableStyleId>{2D5ABB26-0587-4C30-8999-92F81FD0307C}</a:tableStyleId>
              </a:tblPr>
              <a:tblGrid>
                <a:gridCol w="1375403"/>
                <a:gridCol w="1742177"/>
                <a:gridCol w="3117581"/>
                <a:gridCol w="4676372"/>
              </a:tblGrid>
              <a:tr h="502920">
                <a:tc>
                  <a:txBody>
                    <a:bodyPr/>
                    <a:lstStyle/>
                    <a:p>
                      <a:pPr algn="l"/>
                      <a:r>
                        <a:rPr sz="1300" b="1" i="0">
                          <a:solidFill>
                            <a:srgbClr val="FFFFFF"/>
                          </a:solidFill>
                          <a:latin typeface="Calibri"/>
                        </a:rPr>
                        <a:t>En el Syllabus ESP329</a:t>
                      </a:r>
                    </a:p>
                  </a:txBody>
                  <a:tcPr anchor="ctr" marL="109728" marR="91440" marT="36576" marB="36576">
                    <a:solidFill>
                      <a:srgbClr val="0C2340"/>
                    </a:solidFill>
                  </a:tcPr>
                </a:tc>
                <a:tc>
                  <a:txBody>
                    <a:bodyPr/>
                    <a:lstStyle/>
                    <a:p>
                      <a:pPr algn="l"/>
                      <a:r>
                        <a:rPr sz="1300" b="1" i="0">
                          <a:solidFill>
                            <a:srgbClr val="FFFFFF"/>
                          </a:solidFill>
                          <a:latin typeface="Calibri"/>
                        </a:rPr>
                        <a:t>Ítem del aula (CDigital)</a:t>
                      </a:r>
                    </a:p>
                  </a:txBody>
                  <a:tcPr anchor="ctr" marL="109728" marR="91440" marT="36576" marB="36576">
                    <a:solidFill>
                      <a:srgbClr val="0C2340"/>
                    </a:solidFill>
                  </a:tcPr>
                </a:tc>
                <a:tc>
                  <a:txBody>
                    <a:bodyPr/>
                    <a:lstStyle/>
                    <a:p>
                      <a:pPr algn="l"/>
                      <a:r>
                        <a:rPr sz="1300" b="1" i="0">
                          <a:solidFill>
                            <a:srgbClr val="FFFFFF"/>
                          </a:solidFill>
                          <a:latin typeface="Calibri"/>
                        </a:rPr>
                        <a:t>Documento en Recursos/ACAs/</a:t>
                      </a:r>
                    </a:p>
                  </a:txBody>
                  <a:tcPr anchor="ctr" marL="109728" marR="91440" marT="36576" marB="36576">
                    <a:solidFill>
                      <a:srgbClr val="0C2340"/>
                    </a:solidFill>
                  </a:tcPr>
                </a:tc>
                <a:tc>
                  <a:txBody>
                    <a:bodyPr/>
                    <a:lstStyle/>
                    <a:p>
                      <a:pPr algn="l"/>
                      <a:r>
                        <a:rPr sz="1300" b="1" i="0">
                          <a:solidFill>
                            <a:srgbClr val="FFFFFF"/>
                          </a:solidFill>
                          <a:latin typeface="Calibri"/>
                        </a:rPr>
                        <a:t>Contenido (unidades ESP329)</a:t>
                      </a:r>
                    </a:p>
                  </a:txBody>
                  <a:tcPr anchor="ctr" marL="109728" marR="91440" marT="36576" marB="36576">
                    <a:solidFill>
                      <a:srgbClr val="0C2340"/>
                    </a:solidFill>
                  </a:tcPr>
                </a:tc>
              </a:tr>
              <a:tr h="502920">
                <a:tc>
                  <a:txBody>
                    <a:bodyPr/>
                    <a:lstStyle/>
                    <a:p>
                      <a:pPr algn="l"/>
                      <a:r>
                        <a:rPr sz="1100" b="1" i="0">
                          <a:solidFill>
                            <a:srgbClr val="2B2B2B"/>
                          </a:solidFill>
                          <a:latin typeface="Calibri"/>
                        </a:rPr>
                        <a:t>ACA 1</a:t>
                      </a:r>
                    </a:p>
                  </a:txBody>
                  <a:tcPr anchor="ctr" marL="109728" marR="91440" marT="36576" marB="36576">
                    <a:solidFill>
                      <a:srgbClr val="FFFFFF"/>
                    </a:solidFill>
                  </a:tcPr>
                </a:tc>
                <a:tc>
                  <a:txBody>
                    <a:bodyPr/>
                    <a:lstStyle/>
                    <a:p>
                      <a:pPr algn="l"/>
                      <a:r>
                        <a:rPr sz="1100" b="1" i="0">
                          <a:solidFill>
                            <a:srgbClr val="2B2B2B"/>
                          </a:solidFill>
                          <a:latin typeface="Calibri"/>
                        </a:rPr>
                        <a:t>Quiz</a:t>
                      </a:r>
                      <a:r>
                        <a:rPr sz="1100" b="0" i="0">
                          <a:solidFill>
                            <a:srgbClr val="2B2B2B"/>
                          </a:solidFill>
                          <a:latin typeface="Calibri"/>
                        </a:rPr>
                        <a:t> (cuestionario · 25%)</a:t>
                      </a:r>
                    </a:p>
                  </a:txBody>
                  <a:tcPr anchor="ctr" marL="109728" marR="91440" marT="36576" marB="36576">
                    <a:solidFill>
                      <a:srgbClr val="FFFFFF"/>
                    </a:solidFill>
                  </a:tcPr>
                </a:tc>
                <a:tc>
                  <a:txBody>
                    <a:bodyPr/>
                    <a:lstStyle/>
                    <a:p>
                      <a:pPr algn="l"/>
                      <a:r>
                        <a:rPr sz="1100" b="0" i="0">
                          <a:solidFill>
                            <a:srgbClr val="2B2B2B"/>
                          </a:solidFill>
                          <a:latin typeface="Calibri"/>
                        </a:rPr>
                        <a:t>`Quiz (25%) - guia del cuestionario.docx`</a:t>
                      </a:r>
                    </a:p>
                  </a:txBody>
                  <a:tcPr anchor="ctr" marL="109728" marR="91440" marT="36576" marB="36576">
                    <a:solidFill>
                      <a:srgbClr val="FFFFFF"/>
                    </a:solidFill>
                  </a:tcPr>
                </a:tc>
                <a:tc>
                  <a:txBody>
                    <a:bodyPr/>
                    <a:lstStyle/>
                    <a:p>
                      <a:pPr algn="l"/>
                      <a:r>
                        <a:rPr sz="1100" b="0" i="0">
                          <a:solidFill>
                            <a:srgbClr val="2B2B2B"/>
                          </a:solidFill>
                          <a:latin typeface="Calibri"/>
                        </a:rPr>
                        <a:t>U2–U3 (+alcances): problema, pregunta, objetivos, justificación, alcances/limitaciones. Se comprueba en el </a:t>
                      </a:r>
                      <a:r>
                        <a:rPr sz="1100" b="1" i="0">
                          <a:solidFill>
                            <a:srgbClr val="2B2B2B"/>
                          </a:solidFill>
                          <a:latin typeface="Calibri"/>
                        </a:rPr>
                        <a:t>Quiz</a:t>
                      </a:r>
                      <a:r>
                        <a:rPr sz="1100" b="0" i="0">
                          <a:solidFill>
                            <a:srgbClr val="2B2B2B"/>
                          </a:solidFill>
                          <a:latin typeface="Calibri"/>
                        </a:rPr>
                        <a:t> del aula.</a:t>
                      </a:r>
                    </a:p>
                  </a:txBody>
                  <a:tcPr anchor="ctr" marL="109728" marR="91440" marT="36576" marB="36576">
                    <a:solidFill>
                      <a:srgbClr val="FFFFFF"/>
                    </a:solidFill>
                  </a:tcPr>
                </a:tc>
              </a:tr>
              <a:tr h="502920">
                <a:tc>
                  <a:txBody>
                    <a:bodyPr/>
                    <a:lstStyle/>
                    <a:p>
                      <a:pPr algn="l"/>
                      <a:r>
                        <a:rPr sz="1100" b="1" i="0">
                          <a:solidFill>
                            <a:srgbClr val="2B2B2B"/>
                          </a:solidFill>
                          <a:latin typeface="Calibri"/>
                        </a:rPr>
                        <a:t>ACA 2</a:t>
                      </a:r>
                    </a:p>
                  </a:txBody>
                  <a:tcPr anchor="ctr" marL="109728" marR="91440" marT="36576" marB="36576">
                    <a:solidFill>
                      <a:srgbClr val="F2F2F2"/>
                    </a:solidFill>
                  </a:tcPr>
                </a:tc>
                <a:tc>
                  <a:txBody>
                    <a:bodyPr/>
                    <a:lstStyle/>
                    <a:p>
                      <a:pPr algn="l"/>
                      <a:r>
                        <a:rPr sz="1100" b="1" i="0">
                          <a:solidFill>
                            <a:srgbClr val="2B2B2B"/>
                          </a:solidFill>
                          <a:latin typeface="Calibri"/>
                        </a:rPr>
                        <a:t>ACA 1</a:t>
                      </a:r>
                      <a:r>
                        <a:rPr sz="1100" b="0" i="0">
                          <a:solidFill>
                            <a:srgbClr val="2B2B2B"/>
                          </a:solidFill>
                          <a:latin typeface="Calibri"/>
                        </a:rPr>
                        <a:t> (tarea · 25%)</a:t>
                      </a:r>
                    </a:p>
                  </a:txBody>
                  <a:tcPr anchor="ctr" marL="109728" marR="91440" marT="36576" marB="36576">
                    <a:solidFill>
                      <a:srgbClr val="F2F2F2"/>
                    </a:solidFill>
                  </a:tcPr>
                </a:tc>
                <a:tc>
                  <a:txBody>
                    <a:bodyPr/>
                    <a:lstStyle/>
                    <a:p>
                      <a:pPr algn="l"/>
                      <a:r>
                        <a:rPr sz="1100" b="0" i="0">
                          <a:solidFill>
                            <a:srgbClr val="2B2B2B"/>
                          </a:solidFill>
                          <a:latin typeface="Calibri"/>
                        </a:rPr>
                        <a:t>`ACA 1 (25%) - Formulacion del problema y fundamentacion referencial.docx`</a:t>
                      </a:r>
                    </a:p>
                  </a:txBody>
                  <a:tcPr anchor="ctr" marL="109728" marR="91440" marT="36576" marB="36576">
                    <a:solidFill>
                      <a:srgbClr val="F2F2F2"/>
                    </a:solidFill>
                  </a:tcPr>
                </a:tc>
                <a:tc>
                  <a:txBody>
                    <a:bodyPr/>
                    <a:lstStyle/>
                    <a:p>
                      <a:pPr algn="l"/>
                      <a:r>
                        <a:rPr sz="1100" b="0" i="0">
                          <a:solidFill>
                            <a:srgbClr val="2B2B2B"/>
                          </a:solidFill>
                          <a:latin typeface="Calibri"/>
                        </a:rPr>
                        <a:t>U4: correcciones + marco referencial (antecedentes, teórico, conceptual, contextual, legal). Se </a:t>
                      </a:r>
                      <a:r>
                        <a:rPr sz="1100" b="1" i="0">
                          <a:solidFill>
                            <a:srgbClr val="2B2B2B"/>
                          </a:solidFill>
                          <a:latin typeface="Calibri"/>
                        </a:rPr>
                        <a:t>sube</a:t>
                      </a:r>
                      <a:r>
                        <a:rPr sz="1100" b="0" i="0">
                          <a:solidFill>
                            <a:srgbClr val="2B2B2B"/>
                          </a:solidFill>
                          <a:latin typeface="Calibri"/>
                        </a:rPr>
                        <a:t> como ACA 1 del aula.</a:t>
                      </a:r>
                    </a:p>
                  </a:txBody>
                  <a:tcPr anchor="ctr" marL="109728" marR="91440" marT="36576" marB="36576">
                    <a:solidFill>
                      <a:srgbClr val="F2F2F2"/>
                    </a:solidFill>
                  </a:tcPr>
                </a:tc>
              </a:tr>
              <a:tr h="502920">
                <a:tc>
                  <a:txBody>
                    <a:bodyPr/>
                    <a:lstStyle/>
                    <a:p>
                      <a:pPr algn="l"/>
                      <a:r>
                        <a:rPr sz="1100" b="1" i="0">
                          <a:solidFill>
                            <a:srgbClr val="2B2B2B"/>
                          </a:solidFill>
                          <a:latin typeface="Calibri"/>
                        </a:rPr>
                        <a:t>ACA 3</a:t>
                      </a:r>
                    </a:p>
                  </a:txBody>
                  <a:tcPr anchor="ctr" marL="109728" marR="91440" marT="36576" marB="36576">
                    <a:solidFill>
                      <a:srgbClr val="FFFFFF"/>
                    </a:solidFill>
                  </a:tcPr>
                </a:tc>
                <a:tc>
                  <a:txBody>
                    <a:bodyPr/>
                    <a:lstStyle/>
                    <a:p>
                      <a:pPr algn="l"/>
                      <a:r>
                        <a:rPr sz="1100" b="1" i="0">
                          <a:solidFill>
                            <a:srgbClr val="2B2B2B"/>
                          </a:solidFill>
                          <a:latin typeface="Calibri"/>
                        </a:rPr>
                        <a:t>ACA FINAL</a:t>
                      </a:r>
                      <a:r>
                        <a:rPr sz="1100" b="0" i="0">
                          <a:solidFill>
                            <a:srgbClr val="2B2B2B"/>
                          </a:solidFill>
                          <a:latin typeface="Calibri"/>
                        </a:rPr>
                        <a:t> (tarea · 42%)</a:t>
                      </a:r>
                    </a:p>
                  </a:txBody>
                  <a:tcPr anchor="ctr" marL="109728" marR="91440" marT="36576" marB="36576">
                    <a:solidFill>
                      <a:srgbClr val="FFFFFF"/>
                    </a:solidFill>
                  </a:tcPr>
                </a:tc>
                <a:tc>
                  <a:txBody>
                    <a:bodyPr/>
                    <a:lstStyle/>
                    <a:p>
                      <a:pPr algn="l"/>
                      <a:r>
                        <a:rPr sz="1100" b="0" i="0">
                          <a:solidFill>
                            <a:srgbClr val="2B2B2B"/>
                          </a:solidFill>
                          <a:latin typeface="Calibri"/>
                        </a:rPr>
                        <a:t>`ACA FINAL (42%) - Anteproyecto integrado.docx`</a:t>
                      </a:r>
                    </a:p>
                  </a:txBody>
                  <a:tcPr anchor="ctr" marL="109728" marR="91440" marT="36576" marB="36576">
                    <a:solidFill>
                      <a:srgbClr val="FFFFFF"/>
                    </a:solidFill>
                  </a:tcPr>
                </a:tc>
                <a:tc>
                  <a:txBody>
                    <a:bodyPr/>
                    <a:lstStyle/>
                    <a:p>
                      <a:pPr algn="l"/>
                      <a:r>
                        <a:rPr sz="1100" b="0" i="0">
                          <a:solidFill>
                            <a:srgbClr val="2B2B2B"/>
                          </a:solidFill>
                          <a:latin typeface="Calibri"/>
                        </a:rPr>
                        <a:t>U5–U7: correcciones + metodología + cronograma/presupuesto + anteproyecto FINAL integrado. Se </a:t>
                      </a:r>
                      <a:r>
                        <a:rPr sz="1100" b="1" i="0">
                          <a:solidFill>
                            <a:srgbClr val="2B2B2B"/>
                          </a:solidFill>
                          <a:latin typeface="Calibri"/>
                        </a:rPr>
                        <a:t>sube</a:t>
                      </a:r>
                      <a:r>
                        <a:rPr sz="1100" b="0" i="0">
                          <a:solidFill>
                            <a:srgbClr val="2B2B2B"/>
                          </a:solidFill>
                          <a:latin typeface="Calibri"/>
                        </a:rPr>
                        <a:t> como ACA FINAL.</a:t>
                      </a:r>
                    </a:p>
                  </a:txBody>
                  <a:tcPr anchor="ctr" marL="109728" marR="91440" marT="36576" marB="36576">
                    <a:solidFill>
                      <a:srgbClr val="FFFFFF"/>
                    </a:solidFill>
                  </a:tcPr>
                </a:tc>
              </a:tr>
            </a:tbl>
          </a:graphicData>
        </a:graphic>
      </p:graphicFrame>
      <p:sp>
        <p:nvSpPr>
          <p:cNvPr id="5" name="TextBox 4"/>
          <p:cNvSpPr txBox="1"/>
          <p:nvPr/>
        </p:nvSpPr>
        <p:spPr>
          <a:xfrm>
            <a:off x="640080" y="3840480"/>
            <a:ext cx="10911535" cy="548640"/>
          </a:xfrm>
          <a:prstGeom prst="rect">
            <a:avLst/>
          </a:prstGeom>
          <a:noFill/>
        </p:spPr>
        <p:txBody>
          <a:bodyPr wrap="square" anchor="t" lIns="0" rIns="0" tIns="0" bIns="0">
            <a:spAutoFit/>
          </a:bodyPr>
          <a:lstStyle/>
          <a:p>
            <a:r>
              <a:rPr sz="1200" b="0" i="1">
                <a:solidFill>
                  <a:srgbClr val="2B2B2B"/>
                </a:solidFill>
                <a:latin typeface="Calibri"/>
              </a:rPr>
              <a:t>Tres nombres para lo mismo: el Syllabus numera las ACAs, el aula califica </a:t>
            </a:r>
            <a:r>
              <a:rPr sz="1200" b="1" i="1">
                <a:solidFill>
                  <a:srgbClr val="2B2B2B"/>
                </a:solidFill>
                <a:latin typeface="Calibri"/>
              </a:rPr>
              <a:t>Quiz · ACA 1 · ACA FINAL</a:t>
            </a:r>
            <a:r>
              <a:rPr sz="1200" b="0" i="1">
                <a:solidFill>
                  <a:srgbClr val="2B2B2B"/>
                </a:solidFill>
                <a:latin typeface="Calibri"/>
              </a:rPr>
              <a:t> y tu carpeta titula cada documento como su ítem. Busca siempre por el nombre de la tercera columna. Equipos máx. 3 (AFI). Formato: Plantilla APA CUN – Proyecto de Grado (APA 7). Criterios: coherencia, pertinencia, rigor, fuentes, escritura, integridad y viabilidad (ESP329).</a:t>
            </a:r>
          </a:p>
        </p:txBody>
      </p:sp>
      <p:sp>
        <p:nvSpPr>
          <p:cNvPr id="6" name="TextBox 5"/>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88720"/>
          </a:xfrm>
          <a:prstGeom prst="rect">
            <a:avLst/>
          </a:prstGeom>
          <a:solidFill>
            <a:srgbClr val="0C2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0"/>
            <a:ext cx="9082735" cy="1188720"/>
          </a:xfrm>
          <a:prstGeom prst="rect">
            <a:avLst/>
          </a:prstGeom>
          <a:noFill/>
        </p:spPr>
        <p:txBody>
          <a:bodyPr wrap="square" anchor="ctr" lIns="0" rIns="0" tIns="0" bIns="0">
            <a:spAutoFit/>
          </a:bodyPr>
          <a:lstStyle/>
          <a:p>
            <a:pPr algn="ctr"/>
            <a:r>
              <a:rPr sz="2600" b="1" i="0">
                <a:solidFill>
                  <a:srgbClr val="FFFFFF"/>
                </a:solidFill>
                <a:latin typeface="Calibri"/>
              </a:rPr>
              <a:t>RECURSOS, PLANTILLAS Y ENLACES</a:t>
            </a:r>
          </a:p>
        </p:txBody>
      </p:sp>
      <p:sp>
        <p:nvSpPr>
          <p:cNvPr id="4" name="TextBox 3"/>
          <p:cNvSpPr txBox="1"/>
          <p:nvPr/>
        </p:nvSpPr>
        <p:spPr>
          <a:xfrm>
            <a:off x="640080" y="1691639"/>
            <a:ext cx="10911535" cy="4617720"/>
          </a:xfrm>
          <a:prstGeom prst="rect">
            <a:avLst/>
          </a:prstGeom>
          <a:noFill/>
        </p:spPr>
        <p:txBody>
          <a:bodyPr wrap="square" anchor="t" lIns="0" rIns="0" tIns="0" bIns="0">
            <a:spAutoFit/>
          </a:bodyPr>
          <a:lstStyle/>
          <a:p>
            <a:pPr>
              <a:spcAft>
                <a:spcPts val="1000"/>
              </a:spcAft>
            </a:pPr>
            <a:r>
              <a:rPr sz="1500" b="0" i="0">
                <a:solidFill>
                  <a:srgbClr val="2B2B2B"/>
                </a:solidFill>
                <a:latin typeface="Calibri"/>
              </a:rPr>
              <a:t>–   </a:t>
            </a:r>
            <a:r>
              <a:rPr sz="1500" b="1" i="0">
                <a:solidFill>
                  <a:srgbClr val="2B2B2B"/>
                </a:solidFill>
                <a:latin typeface="Calibri"/>
              </a:rPr>
              <a:t>Contacto del Docente:</a:t>
            </a:r>
            <a:r>
              <a:rPr sz="1500" b="0" i="0">
                <a:solidFill>
                  <a:srgbClr val="2B2B2B"/>
                </a:solidFill>
                <a:latin typeface="Calibri"/>
              </a:rPr>
              <a:t> julian_castanoe@cun.edu.co</a:t>
            </a:r>
          </a:p>
          <a:p>
            <a:pPr>
              <a:spcAft>
                <a:spcPts val="1000"/>
              </a:spcAft>
            </a:pPr>
            <a:r>
              <a:rPr sz="1500" b="0" i="0">
                <a:solidFill>
                  <a:srgbClr val="2B2B2B"/>
                </a:solidFill>
                <a:latin typeface="Calibri"/>
              </a:rPr>
              <a:t>–   </a:t>
            </a:r>
            <a:r>
              <a:rPr sz="1500" b="1" i="0">
                <a:solidFill>
                  <a:srgbClr val="2B2B2B"/>
                </a:solidFill>
                <a:latin typeface="Calibri"/>
              </a:rPr>
              <a:t>CDigital (campus del curso):</a:t>
            </a:r>
            <a:r>
              <a:rPr sz="1500" b="0" i="0">
                <a:solidFill>
                  <a:srgbClr val="2B2B2B"/>
                </a:solidFill>
                <a:latin typeface="Calibri"/>
              </a:rPr>
              <a:t> </a:t>
            </a:r>
            <a:r>
              <a:rPr sz="1500" b="1" i="0">
                <a:solidFill>
                  <a:srgbClr val="2B2B2B"/>
                </a:solidFill>
                <a:latin typeface="Calibri"/>
              </a:rPr>
              <a:t>https://cdigital.cun.edu.co/course/view.php?id=130378</a:t>
            </a:r>
          </a:p>
          <a:p>
            <a:pPr>
              <a:spcAft>
                <a:spcPts val="1000"/>
              </a:spcAft>
            </a:pPr>
            <a:r>
              <a:rPr sz="1500" b="0" i="0">
                <a:solidFill>
                  <a:srgbClr val="2B2B2B"/>
                </a:solidFill>
                <a:latin typeface="Calibri"/>
              </a:rPr>
              <a:t>–   </a:t>
            </a:r>
            <a:r>
              <a:rPr sz="1500" b="1" i="0">
                <a:solidFill>
                  <a:srgbClr val="2B2B2B"/>
                </a:solidFill>
                <a:latin typeface="Calibri"/>
              </a:rPr>
              <a:t>Registro de tutorías (obligatorio):</a:t>
            </a:r>
            <a:r>
              <a:rPr sz="1500" b="0" i="0">
                <a:solidFill>
                  <a:srgbClr val="2B2B2B"/>
                </a:solidFill>
                <a:latin typeface="Calibri"/>
              </a:rPr>
              <a:t> </a:t>
            </a:r>
            <a:r>
              <a:rPr sz="1500" b="1" i="0">
                <a:solidFill>
                  <a:srgbClr val="007433"/>
                </a:solidFill>
                <a:latin typeface="Calibri"/>
              </a:rPr>
              <a:t>https://forms.gle/oZ8xCYiUo3KEWr1d9</a:t>
            </a:r>
          </a:p>
          <a:p>
            <a:pPr>
              <a:spcAft>
                <a:spcPts val="1000"/>
              </a:spcAft>
            </a:pPr>
            <a:r>
              <a:rPr sz="1500" b="0" i="0">
                <a:solidFill>
                  <a:srgbClr val="2B2B2B"/>
                </a:solidFill>
                <a:latin typeface="Calibri"/>
              </a:rPr>
              <a:t>–   Las tutorías por grupo se acuerdan en la semana con el Docente (no hay atención espontánea sin cita).</a:t>
            </a:r>
          </a:p>
          <a:p>
            <a:pPr>
              <a:spcAft>
                <a:spcPts val="1000"/>
              </a:spcAft>
            </a:pPr>
            <a:r>
              <a:rPr sz="1500" b="0" i="0">
                <a:solidFill>
                  <a:srgbClr val="2B2B2B"/>
                </a:solidFill>
                <a:latin typeface="Calibri"/>
              </a:rPr>
              <a:t>–   </a:t>
            </a:r>
            <a:r>
              <a:rPr sz="1500" b="1" i="0">
                <a:solidFill>
                  <a:srgbClr val="2B2B2B"/>
                </a:solidFill>
                <a:latin typeface="Calibri"/>
              </a:rPr>
              <a:t>Google Meet (mismo enlace toda la serie):</a:t>
            </a:r>
            <a:r>
              <a:rPr sz="1500" b="0" i="0">
                <a:solidFill>
                  <a:srgbClr val="2B2B2B"/>
                </a:solidFill>
                <a:latin typeface="Calibri"/>
              </a:rPr>
              <a:t> </a:t>
            </a:r>
            <a:r>
              <a:rPr sz="1500" b="1" i="0">
                <a:solidFill>
                  <a:srgbClr val="2B2B2B"/>
                </a:solidFill>
                <a:latin typeface="Calibri"/>
              </a:rPr>
              <a:t>https://meet.google.com/omk-woqk-vsj</a:t>
            </a:r>
          </a:p>
          <a:p>
            <a:pPr>
              <a:spcAft>
                <a:spcPts val="1000"/>
              </a:spcAft>
            </a:pPr>
            <a:r>
              <a:rPr sz="1500" b="0" i="0">
                <a:solidFill>
                  <a:srgbClr val="2B2B2B"/>
                </a:solidFill>
                <a:latin typeface="Calibri"/>
              </a:rPr>
              <a:t>–   </a:t>
            </a:r>
            <a:r>
              <a:rPr sz="1500" b="1" i="0">
                <a:solidFill>
                  <a:srgbClr val="2B2B2B"/>
                </a:solidFill>
                <a:latin typeface="Calibri"/>
              </a:rPr>
              <a:t>Material de clases (Drive):</a:t>
            </a:r>
            <a:r>
              <a:rPr sz="1500" b="0" i="0">
                <a:solidFill>
                  <a:srgbClr val="2B2B2B"/>
                </a:solidFill>
                <a:latin typeface="Calibri"/>
              </a:rPr>
              <a:t> </a:t>
            </a:r>
            <a:r>
              <a:rPr sz="1500" b="1" i="0">
                <a:solidFill>
                  <a:srgbClr val="2B2B2B"/>
                </a:solidFill>
                <a:latin typeface="Calibri"/>
              </a:rPr>
              <a:t>[URL Material de clases — carpeta Clases/ en Drive · Proyecto I]</a:t>
            </a:r>
          </a:p>
          <a:p>
            <a:pPr>
              <a:spcAft>
                <a:spcPts val="1000"/>
              </a:spcAft>
            </a:pPr>
            <a:r>
              <a:rPr sz="1500" b="0" i="0">
                <a:solidFill>
                  <a:srgbClr val="2B2B2B"/>
                </a:solidFill>
                <a:latin typeface="Calibri"/>
              </a:rPr>
              <a:t>–   </a:t>
            </a:r>
            <a:r>
              <a:rPr sz="1500" b="1" i="0">
                <a:solidFill>
                  <a:srgbClr val="2B2B2B"/>
                </a:solidFill>
                <a:latin typeface="Calibri"/>
              </a:rPr>
              <a:t>Plantilla APA CUN – Proyecto de Grado</a:t>
            </a:r>
            <a:r>
              <a:rPr sz="1500" b="0" i="0">
                <a:solidFill>
                  <a:srgbClr val="2B2B2B"/>
                </a:solidFill>
                <a:latin typeface="Calibri"/>
              </a:rPr>
              <a:t> (viene en tu carpeta del curso): `Recursos/Plantilla_APA_CUN_Proyecto de grado.docx`.</a:t>
            </a:r>
          </a:p>
          <a:p>
            <a:pPr>
              <a:spcAft>
                <a:spcPts val="1000"/>
              </a:spcAft>
            </a:pPr>
            <a:r>
              <a:rPr sz="1500" b="0" i="0">
                <a:solidFill>
                  <a:srgbClr val="2B2B2B"/>
                </a:solidFill>
                <a:latin typeface="Calibri"/>
              </a:rPr>
              <a:t>–   </a:t>
            </a:r>
            <a:r>
              <a:rPr sz="1500" b="1" i="0">
                <a:solidFill>
                  <a:srgbClr val="2B2B2B"/>
                </a:solidFill>
                <a:latin typeface="Calibri"/>
              </a:rPr>
              <a:t>Plantilla APA CUN (en tu carpeta):</a:t>
            </a:r>
            <a:r>
              <a:rPr sz="1500" b="0" i="0">
                <a:solidFill>
                  <a:srgbClr val="2B2B2B"/>
                </a:solidFill>
                <a:latin typeface="Calibri"/>
              </a:rPr>
              <a:t> `Recursos/Plantilla_APA_CUN_Proyecto de grado.docx`</a:t>
            </a:r>
          </a:p>
          <a:p>
            <a:pPr>
              <a:spcAft>
                <a:spcPts val="1000"/>
              </a:spcAft>
            </a:pPr>
            <a:r>
              <a:rPr sz="1500" b="0" i="0">
                <a:solidFill>
                  <a:srgbClr val="2B2B2B"/>
                </a:solidFill>
                <a:latin typeface="Calibri"/>
              </a:rPr>
              <a:t>–   </a:t>
            </a:r>
            <a:r>
              <a:rPr sz="1500" b="1" i="0">
                <a:solidFill>
                  <a:srgbClr val="2B2B2B"/>
                </a:solidFill>
                <a:latin typeface="Calibri"/>
              </a:rPr>
              <a:t>Enunciados y guías:</a:t>
            </a:r>
            <a:r>
              <a:rPr sz="1500" b="0" i="0">
                <a:solidFill>
                  <a:srgbClr val="2B2B2B"/>
                </a:solidFill>
                <a:latin typeface="Calibri"/>
              </a:rPr>
              <a:t> `Clases/Recursos/ACAs/` — un documento por ítem del aula, con su nombre y su peso.</a:t>
            </a:r>
          </a:p>
          <a:p>
            <a:pPr>
              <a:spcAft>
                <a:spcPts val="1000"/>
              </a:spcAft>
            </a:pPr>
            <a:r>
              <a:rPr sz="1500" b="0" i="0">
                <a:solidFill>
                  <a:srgbClr val="2B2B2B"/>
                </a:solidFill>
                <a:latin typeface="Calibri"/>
              </a:rPr>
              <a:t>–   </a:t>
            </a:r>
            <a:r>
              <a:rPr sz="1500" b="1" i="0">
                <a:solidFill>
                  <a:srgbClr val="2B2B2B"/>
                </a:solidFill>
                <a:latin typeface="Calibri"/>
              </a:rPr>
              <a:t>Biblioteca Virtual CUN + bases:</a:t>
            </a:r>
            <a:r>
              <a:rPr sz="1500" b="0" i="0">
                <a:solidFill>
                  <a:srgbClr val="2B2B2B"/>
                </a:solidFill>
                <a:latin typeface="Calibri"/>
              </a:rPr>
              <a:t> Google Scholar, Redalyc, SciELO, Dialnet · citas: ZoteroBib / Google Docs.</a:t>
            </a:r>
          </a:p>
          <a:p>
            <a:pPr>
              <a:spcAft>
                <a:spcPts val="1000"/>
              </a:spcAft>
            </a:pPr>
            <a:r>
              <a:rPr sz="1500" b="0" i="0">
                <a:solidFill>
                  <a:srgbClr val="2B2B2B"/>
                </a:solidFill>
                <a:latin typeface="Calibri"/>
              </a:rPr>
              <a:t>–   </a:t>
            </a:r>
            <a:r>
              <a:rPr sz="1500" b="1" i="0">
                <a:solidFill>
                  <a:srgbClr val="2B2B2B"/>
                </a:solidFill>
                <a:latin typeface="Calibri"/>
              </a:rPr>
              <a:t>Syllabus fuente:</a:t>
            </a:r>
            <a:r>
              <a:rPr sz="1500" b="0" i="0">
                <a:solidFill>
                  <a:srgbClr val="2B2B2B"/>
                </a:solidFill>
                <a:latin typeface="Calibri"/>
              </a:rPr>
              <a:t> `Especializacion_En_Inteligencia_Artificial_Proyecto_I_ESP329.docx` · Entregas oficiales solo por CDigital.</a:t>
            </a:r>
          </a:p>
        </p:txBody>
      </p:sp>
      <p:sp>
        <p:nvSpPr>
          <p:cNvPr id="5" name="TextBox 4"/>
          <p:cNvSpPr txBox="1"/>
          <p:nvPr/>
        </p:nvSpPr>
        <p:spPr>
          <a:xfrm>
            <a:off x="11094415" y="6446520"/>
            <a:ext cx="548640" cy="274320"/>
          </a:xfrm>
          <a:prstGeom prst="rect">
            <a:avLst/>
          </a:prstGeom>
          <a:noFill/>
        </p:spPr>
        <p:txBody>
          <a:bodyPr wrap="square" anchor="t" lIns="0" rIns="0" tIns="0" bIns="0">
            <a:spAutoFit/>
          </a:bodyPr>
          <a:lstStyle/>
          <a:p>
            <a:pPr algn="r"/>
            <a:r>
              <a:rPr sz="1000" b="1" i="0">
                <a:solidFill>
                  <a:srgbClr val="8F989D"/>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07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cun_solo.png"/>
          <p:cNvPicPr>
            <a:picLocks noChangeAspect="1"/>
          </p:cNvPicPr>
          <p:nvPr/>
        </p:nvPicPr>
        <p:blipFill>
          <a:blip r:embed="rId2"/>
          <a:stretch>
            <a:fillRect/>
          </a:stretch>
        </p:blipFill>
        <p:spPr>
          <a:xfrm>
            <a:off x="10362895" y="5632704"/>
            <a:ext cx="1371600" cy="950976"/>
          </a:xfrm>
          <a:prstGeom prst="rect">
            <a:avLst/>
          </a:prstGeom>
        </p:spPr>
      </p:pic>
      <p:sp>
        <p:nvSpPr>
          <p:cNvPr id="4" name="TextBox 3"/>
          <p:cNvSpPr txBox="1"/>
          <p:nvPr/>
        </p:nvSpPr>
        <p:spPr>
          <a:xfrm>
            <a:off x="640080" y="1737360"/>
            <a:ext cx="10911535" cy="1097280"/>
          </a:xfrm>
          <a:prstGeom prst="rect">
            <a:avLst/>
          </a:prstGeom>
          <a:noFill/>
        </p:spPr>
        <p:txBody>
          <a:bodyPr wrap="square" anchor="ctr" lIns="0" rIns="0" tIns="0" bIns="0">
            <a:spAutoFit/>
          </a:bodyPr>
          <a:lstStyle/>
          <a:p>
            <a:pPr algn="ctr"/>
            <a:r>
              <a:rPr sz="3400" b="1" i="0">
                <a:solidFill>
                  <a:srgbClr val="0C2340"/>
                </a:solidFill>
                <a:latin typeface="Calibri"/>
              </a:rPr>
              <a:t>¡Empezamos!</a:t>
            </a:r>
          </a:p>
        </p:txBody>
      </p:sp>
      <p:sp>
        <p:nvSpPr>
          <p:cNvPr id="5" name="TextBox 4"/>
          <p:cNvSpPr txBox="1"/>
          <p:nvPr/>
        </p:nvSpPr>
        <p:spPr>
          <a:xfrm>
            <a:off x="640080" y="3017520"/>
            <a:ext cx="10911535" cy="1645920"/>
          </a:xfrm>
          <a:prstGeom prst="rect">
            <a:avLst/>
          </a:prstGeom>
          <a:noFill/>
        </p:spPr>
        <p:txBody>
          <a:bodyPr wrap="square" anchor="t" lIns="0" rIns="0" tIns="0" bIns="0">
            <a:spAutoFit/>
          </a:bodyPr>
          <a:lstStyle/>
          <a:p>
            <a:pPr algn="ctr">
              <a:spcAft>
                <a:spcPts val="600"/>
              </a:spcAft>
            </a:pPr>
            <a:r>
              <a:rPr sz="1600" b="0" i="0">
                <a:solidFill>
                  <a:srgbClr val="2B2B2B"/>
                </a:solidFill>
                <a:latin typeface="Calibri"/>
              </a:rPr>
              <a:t>Nos vemos en el primer encuentro sincrónico: </a:t>
            </a:r>
            <a:r>
              <a:rPr sz="1600" b="1" i="0">
                <a:solidFill>
                  <a:srgbClr val="2B2B2B"/>
                </a:solidFill>
                <a:latin typeface="Calibri"/>
              </a:rPr>
              <a:t>Lunes, 8:00 pm – 10:00 pm</a:t>
            </a:r>
            <a:r>
              <a:rPr sz="1600" b="0" i="0">
                <a:solidFill>
                  <a:srgbClr val="2B2B2B"/>
                </a:solidFill>
                <a:latin typeface="Calibri"/>
              </a:rPr>
              <a:t>.</a:t>
            </a:r>
          </a:p>
          <a:p>
            <a:pPr algn="ctr">
              <a:spcAft>
                <a:spcPts val="600"/>
              </a:spcAft>
            </a:pPr>
            <a:r>
              <a:rPr sz="1600" b="0" i="0">
                <a:solidFill>
                  <a:srgbClr val="2B2B2B"/>
                </a:solidFill>
                <a:latin typeface="Calibri"/>
              </a:rPr>
              <a:t>El Docente — garante metodológico de tu anteproyecto.</a:t>
            </a:r>
          </a:p>
          <a:p>
            <a:pPr algn="ctr">
              <a:spcAft>
                <a:spcPts val="600"/>
              </a:spcAft>
            </a:pPr>
            <a:r>
              <a:rPr sz="1600" b="0" i="0">
                <a:solidFill>
                  <a:srgbClr val="2B2B2B"/>
                </a:solidFill>
                <a:latin typeface="Calibri"/>
              </a:rPr>
              <a:t>Las tutorías por grupo se acuerdan en la semana con el Docente (no hay atención espontánea sin cita).</a:t>
            </a:r>
          </a:p>
          <a:p>
            <a:pPr algn="ctr">
              <a:spcAft>
                <a:spcPts val="600"/>
              </a:spcAft>
            </a:pPr>
            <a:r>
              <a:rPr sz="1600" b="0" i="0">
                <a:solidFill>
                  <a:srgbClr val="2B2B2B"/>
                </a:solidFill>
                <a:latin typeface="Calibri"/>
              </a:rPr>
              <a:t>Tutorías: regístrate siempre en https://forms.gle/oZ8xCYiUo3KEWr1d9</a:t>
            </a:r>
          </a:p>
        </p:txBody>
      </p:sp>
      <p:sp>
        <p:nvSpPr>
          <p:cNvPr id="6" name="TextBox 5"/>
          <p:cNvSpPr txBox="1"/>
          <p:nvPr/>
        </p:nvSpPr>
        <p:spPr>
          <a:xfrm>
            <a:off x="640080" y="4754880"/>
            <a:ext cx="10911535" cy="640080"/>
          </a:xfrm>
          <a:prstGeom prst="rect">
            <a:avLst/>
          </a:prstGeom>
          <a:noFill/>
        </p:spPr>
        <p:txBody>
          <a:bodyPr wrap="square" anchor="t" lIns="0" rIns="0" tIns="0" bIns="0">
            <a:spAutoFit/>
          </a:bodyPr>
          <a:lstStyle/>
          <a:p>
            <a:pPr algn="ctr"/>
            <a:r>
              <a:rPr sz="2000" b="1" i="0">
                <a:solidFill>
                  <a:srgbClr val="007433"/>
                </a:solidFill>
                <a:latin typeface="Calibri"/>
              </a:rPr>
              <a:t>PROYECTO I · ESP329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CUN</dc:creator>
  <cp:keywords/>
  <dc:description/>
  <cp:lastModifiedBy>CUN</cp:lastModifiedBy>
  <cp:revision>1</cp:revision>
  <dcterms:created xsi:type="dcterms:W3CDTF">2013-01-27T09:14:16Z</dcterms:created>
  <dcterms:modified xsi:type="dcterms:W3CDTF">2013-01-27T09:15:58Z</dcterms:modified>
  <cp:category/>
</cp:coreProperties>
</file>