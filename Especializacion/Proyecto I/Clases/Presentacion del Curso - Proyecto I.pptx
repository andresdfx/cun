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PROYECTO I</a:t>
            </a:r>
          </a:p>
          <a:p>
            <a:pPr algn="ctr">
              <a:spcBef>
                <a:spcPts val="800"/>
              </a:spcBef>
            </a:pPr>
            <a:r>
              <a:rPr sz="1600" b="0" i="0">
                <a:solidFill>
                  <a:srgbClr val="CFDDEE"/>
                </a:solidFill>
                <a:latin typeface="Calibri"/>
              </a:rPr>
              <a:t>Especialización en Inteligencia Artificial · Código ESP329</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Periodo:</a:t>
            </a:r>
            <a:r>
              <a:rPr sz="1500" b="0" i="0">
                <a:solidFill>
                  <a:srgbClr val="2B2B2B"/>
                </a:solidFill>
                <a:latin typeface="Calibri"/>
              </a:rPr>
              <a:t> </a:t>
            </a:r>
            <a:r>
              <a:rPr sz="1500" b="1" i="0">
                <a:solidFill>
                  <a:srgbClr val="2B2B2B"/>
                </a:solidFill>
                <a:latin typeface="Calibri"/>
              </a:rPr>
              <a:t>26ES4</a:t>
            </a:r>
            <a:r>
              <a:rPr sz="1500" b="0" i="0">
                <a:solidFill>
                  <a:srgbClr val="2B2B2B"/>
                </a:solidFill>
                <a:latin typeface="Calibri"/>
              </a:rPr>
              <a:t> · </a:t>
            </a:r>
            <a:r>
              <a:rPr sz="1500" b="1" i="0">
                <a:solidFill>
                  <a:srgbClr val="2B2B2B"/>
                </a:solidFill>
                <a:latin typeface="Calibri"/>
              </a:rPr>
              <a:t>10 de agosto de 2026 – 22 de noviembre de 2026</a:t>
            </a:r>
          </a:p>
          <a:p>
            <a:pPr>
              <a:spcAft>
                <a:spcPts val="800"/>
              </a:spcAft>
            </a:pPr>
            <a:r>
              <a:rPr sz="1500" b="1" i="0">
                <a:solidFill>
                  <a:srgbClr val="2B2B2B"/>
                </a:solidFill>
                <a:latin typeface="Calibri"/>
              </a:rPr>
              <a:t>Programa:</a:t>
            </a:r>
            <a:r>
              <a:rPr sz="1500" b="0" i="0">
                <a:solidFill>
                  <a:srgbClr val="2B2B2B"/>
                </a:solidFill>
                <a:latin typeface="Calibri"/>
              </a:rPr>
              <a:t> Especialización en Inteligencia Artificial</a:t>
            </a:r>
          </a:p>
          <a:p>
            <a:pPr>
              <a:spcAft>
                <a:spcPts val="800"/>
              </a:spcAft>
            </a:pPr>
            <a:r>
              <a:rPr sz="1500" b="1" i="0">
                <a:solidFill>
                  <a:srgbClr val="2B2B2B"/>
                </a:solidFill>
                <a:latin typeface="Calibri"/>
              </a:rPr>
              <a:t>Código SIAC:</a:t>
            </a:r>
            <a:r>
              <a:rPr sz="1500" b="0" i="0">
                <a:solidFill>
                  <a:srgbClr val="2B2B2B"/>
                </a:solidFill>
                <a:latin typeface="Calibri"/>
              </a:rPr>
              <a:t> ESP329 · Virtual · 2 créditos · 25% / 25% / 50% en tres cortes</a:t>
            </a:r>
          </a:p>
          <a:p>
            <a:pPr>
              <a:spcAft>
                <a:spcPts val="800"/>
              </a:spcAft>
            </a:pPr>
            <a:r>
              <a:rPr sz="1500" b="1" i="0">
                <a:solidFill>
                  <a:srgbClr val="2B2B2B"/>
                </a:solidFill>
                <a:latin typeface="Calibri"/>
              </a:rPr>
              <a:t>Fuente curricular:</a:t>
            </a:r>
            <a:r>
              <a:rPr sz="1500" b="0" i="0">
                <a:solidFill>
                  <a:srgbClr val="2B2B2B"/>
                </a:solidFill>
                <a:latin typeface="Calibri"/>
              </a:rPr>
              <a:t> Especializacion_En_Inteligencia_Artificial_Proyecto_I_ESP329.docx</a:t>
            </a:r>
          </a:p>
          <a:p>
            <a:pPr>
              <a:spcAft>
                <a:spcPts val="800"/>
              </a:spcAft>
            </a:pPr>
            <a:r>
              <a:rPr sz="1500" b="1" i="0">
                <a:solidFill>
                  <a:srgbClr val="2B2B2B"/>
                </a:solidFill>
                <a:latin typeface="Calibri"/>
              </a:rPr>
              <a:t>Modalidad:</a:t>
            </a:r>
            <a:r>
              <a:rPr sz="1500" b="0" i="0">
                <a:solidFill>
                  <a:srgbClr val="2B2B2B"/>
                </a:solidFill>
                <a:latin typeface="Calibri"/>
              </a:rPr>
              <a:t> Virtual — encuentro sincrónico semanal por Google Meet</a:t>
            </a:r>
          </a:p>
          <a:p>
            <a:pPr>
              <a:spcAft>
                <a:spcPts val="800"/>
              </a:spcAft>
            </a:pPr>
            <a:r>
              <a:rPr sz="1500" b="1" i="0">
                <a:solidFill>
                  <a:srgbClr val="2B2B2B"/>
                </a:solidFill>
                <a:latin typeface="Calibri"/>
              </a:rPr>
              <a:t>Horario confirmado:</a:t>
            </a:r>
            <a:r>
              <a:rPr sz="1500" b="0" i="0">
                <a:solidFill>
                  <a:srgbClr val="2B2B2B"/>
                </a:solidFill>
                <a:latin typeface="Calibri"/>
              </a:rPr>
              <a:t> </a:t>
            </a:r>
            <a:r>
              <a:rPr sz="1500" b="1" i="0">
                <a:solidFill>
                  <a:srgbClr val="2B2B2B"/>
                </a:solidFill>
                <a:latin typeface="Calibri"/>
              </a:rPr>
              <a:t>Lunes, 8:00 pm – 10:00 pm (2 horas)</a:t>
            </a:r>
            <a:r>
              <a:rPr sz="1500" b="0" i="0">
                <a:solidFill>
                  <a:srgbClr val="2B2B2B"/>
                </a:solidFill>
                <a:latin typeface="Calibri"/>
              </a:rPr>
              <a:t> · inicio efectivo </a:t>
            </a:r>
            <a:r>
              <a:rPr sz="1500" b="1" i="0">
                <a:solidFill>
                  <a:srgbClr val="2B2B2B"/>
                </a:solidFill>
                <a:latin typeface="Calibri"/>
              </a:rPr>
              <a:t>8:10 pm</a:t>
            </a:r>
          </a:p>
          <a:p>
            <a:pPr>
              <a:spcAft>
                <a:spcPts val="800"/>
              </a:spcAft>
            </a:pPr>
            <a:r>
              <a:rPr sz="1500" b="1" i="0">
                <a:solidFill>
                  <a:srgbClr val="2B2B2B"/>
                </a:solidFill>
                <a:latin typeface="Calibri"/>
              </a:rPr>
              <a:t>Grupo:</a:t>
            </a:r>
            <a:r>
              <a:rPr sz="1500" b="0" i="0">
                <a:solidFill>
                  <a:srgbClr val="2B2B2B"/>
                </a:solidFill>
                <a:latin typeface="Calibri"/>
              </a:rPr>
              <a:t> </a:t>
            </a:r>
            <a:r>
              <a:rPr sz="1500" b="1" i="0">
                <a:solidFill>
                  <a:srgbClr val="2B2B2B"/>
                </a:solidFill>
                <a:latin typeface="Calibri"/>
              </a:rPr>
              <a:t>54ES4</a:t>
            </a:r>
          </a:p>
          <a:p>
            <a:pPr>
              <a:spcAft>
                <a:spcPts val="800"/>
              </a:spcAft>
            </a:pPr>
            <a:r>
              <a:rPr sz="1500" b="1" i="0">
                <a:solidFill>
                  <a:srgbClr val="2B2B2B"/>
                </a:solidFill>
                <a:latin typeface="Calibri"/>
              </a:rPr>
              <a:t>Contacto del Docente:</a:t>
            </a:r>
            <a:r>
              <a:rPr sz="1500" b="0" i="0">
                <a:solidFill>
                  <a:srgbClr val="2B2B2B"/>
                </a:solidFill>
                <a:latin typeface="Calibri"/>
              </a:rPr>
              <a:t> julian_castanoe@cun.edu.co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Docente</a:t>
            </a:r>
          </a:p>
        </p:txBody>
      </p:sp>
      <p:sp>
        <p:nvSpPr>
          <p:cNvPr id="4" name="TextBox 3"/>
          <p:cNvSpPr txBox="1"/>
          <p:nvPr/>
        </p:nvSpPr>
        <p:spPr>
          <a:xfrm>
            <a:off x="2560320" y="2148840"/>
            <a:ext cx="8991295" cy="1874519"/>
          </a:xfrm>
          <a:prstGeom prst="rect">
            <a:avLst/>
          </a:prstGeom>
          <a:noFill/>
        </p:spPr>
        <p:txBody>
          <a:bodyPr wrap="square" anchor="t" lIns="0" rIns="0" tIns="0" bIns="0">
            <a:spAutoFit/>
          </a:bodyPr>
          <a:lstStyle/>
          <a:p>
            <a:pPr>
              <a:spcAft>
                <a:spcPts val="1200"/>
              </a:spcAft>
            </a:pPr>
            <a:r>
              <a:rPr sz="1800" b="0" i="0">
                <a:solidFill>
                  <a:srgbClr val="2B2B2B"/>
                </a:solidFill>
                <a:latin typeface="Calibri"/>
              </a:rPr>
              <a:t>Ingeniero de Sistemas</a:t>
            </a:r>
          </a:p>
          <a:p>
            <a:pPr>
              <a:spcAft>
                <a:spcPts val="1200"/>
              </a:spcAft>
            </a:pPr>
            <a:r>
              <a:rPr sz="1800" b="0" i="0">
                <a:solidFill>
                  <a:srgbClr val="2B2B2B"/>
                </a:solidFill>
                <a:latin typeface="Calibri"/>
              </a:rPr>
              <a:t>Candidato a MSc en Inteligencia Artificial</a:t>
            </a:r>
          </a:p>
          <a:p>
            <a:pPr>
              <a:spcAft>
                <a:spcPts val="1200"/>
              </a:spcAft>
            </a:pPr>
            <a:r>
              <a:rPr sz="1800" b="0" i="0">
                <a:solidFill>
                  <a:srgbClr val="2B2B2B"/>
                </a:solidFill>
                <a:latin typeface="Calibri"/>
              </a:rPr>
              <a:t>Líder Técnico</a:t>
            </a:r>
          </a:p>
          <a:p>
            <a:pPr>
              <a:spcAft>
                <a:spcPts val="1200"/>
              </a:spcAft>
            </a:pPr>
            <a:r>
              <a:rPr sz="1800" b="0" i="0">
                <a:solidFill>
                  <a:srgbClr val="2B2B2B"/>
                </a:solidFill>
                <a:latin typeface="Calibri"/>
              </a:rPr>
              <a:t>Speaker Tecnológico</a:t>
            </a:r>
          </a:p>
        </p:txBody>
      </p:sp>
      <p:pic>
        <p:nvPicPr>
          <p:cNvPr id="5" name="Picture 4" descr="gmail_icon.png"/>
          <p:cNvPicPr>
            <a:picLocks noChangeAspect="1"/>
          </p:cNvPicPr>
          <p:nvPr/>
        </p:nvPicPr>
        <p:blipFill>
          <a:blip r:embed="rId2"/>
          <a:stretch>
            <a:fillRect/>
          </a:stretch>
        </p:blipFill>
        <p:spPr>
          <a:xfrm>
            <a:off x="2560320" y="4160520"/>
            <a:ext cx="292608" cy="292608"/>
          </a:xfrm>
          <a:prstGeom prst="rect">
            <a:avLst/>
          </a:prstGeom>
        </p:spPr>
      </p:pic>
      <p:sp>
        <p:nvSpPr>
          <p:cNvPr id="6" name="TextBox 5"/>
          <p:cNvSpPr txBox="1"/>
          <p:nvPr/>
        </p:nvSpPr>
        <p:spPr>
          <a:xfrm>
            <a:off x="3063239" y="4142232"/>
            <a:ext cx="8488375" cy="365760"/>
          </a:xfrm>
          <a:prstGeom prst="rect">
            <a:avLst/>
          </a:prstGeom>
          <a:noFill/>
        </p:spPr>
        <p:txBody>
          <a:bodyPr wrap="square" anchor="ctr" lIns="0" rIns="0" tIns="0" bIns="0">
            <a:spAutoFit/>
          </a:bodyPr>
          <a:lstStyle/>
          <a:p>
            <a:r>
              <a:rPr sz="1600" b="1" i="0">
                <a:solidFill>
                  <a:srgbClr val="007433"/>
                </a:solidFill>
                <a:latin typeface="Calibri"/>
              </a:rPr>
              <a:t>julian_castanoe@cun.edu.co</a:t>
            </a:r>
          </a:p>
        </p:txBody>
      </p:sp>
      <p:pic>
        <p:nvPicPr>
          <p:cNvPr id="7" name="Picture 6" descr="logo_cun_solo.png"/>
          <p:cNvPicPr>
            <a:picLocks noChangeAspect="1"/>
          </p:cNvPicPr>
          <p:nvPr/>
        </p:nvPicPr>
        <p:blipFill>
          <a:blip r:embed="rId3"/>
          <a:stretch>
            <a:fillRect/>
          </a:stretch>
        </p:blipFill>
        <p:spPr>
          <a:xfrm>
            <a:off x="457200" y="5523586"/>
            <a:ext cx="1463040" cy="1014374"/>
          </a:xfrm>
          <a:prstGeom prst="rect">
            <a:avLst/>
          </a:prstGeom>
        </p:spPr>
      </p:pic>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PRESÉNTATE — ROMPEHIELOS</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Formulario de Google · encuestas y Q&amp;A en el propio Meet</a:t>
            </a:r>
          </a:p>
        </p:txBody>
      </p:sp>
      <p:sp>
        <p:nvSpPr>
          <p:cNvPr id="5" name="TextBox 4"/>
          <p:cNvSpPr txBox="1"/>
          <p:nvPr/>
        </p:nvSpPr>
        <p:spPr>
          <a:xfrm>
            <a:off x="640080" y="2011679"/>
            <a:ext cx="5852160" cy="429768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Escanea el QR o abre:</a:t>
            </a:r>
            <a:r>
              <a:rPr sz="1300" b="0" i="0">
                <a:solidFill>
                  <a:srgbClr val="2B2B2B"/>
                </a:solidFill>
                <a:latin typeface="Calibri"/>
              </a:rPr>
              <a:t> [URL Formulario Preséntate — pendiente · PROYECTO I]</a:t>
            </a:r>
          </a:p>
          <a:p>
            <a:pPr>
              <a:spcAft>
                <a:spcPts val="1000"/>
              </a:spcAft>
            </a:pPr>
            <a:r>
              <a:rPr sz="1300" b="0" i="0">
                <a:solidFill>
                  <a:srgbClr val="2B2B2B"/>
                </a:solidFill>
                <a:latin typeface="Calibri"/>
              </a:rPr>
              <a:t>–   </a:t>
            </a:r>
            <a:r>
              <a:rPr sz="1300" b="1" i="0">
                <a:solidFill>
                  <a:srgbClr val="2B2B2B"/>
                </a:solidFill>
                <a:latin typeface="Calibri"/>
              </a:rPr>
              <a:t>Qué respondes (1 min):</a:t>
            </a:r>
            <a:r>
              <a:rPr sz="1300" b="0" i="0">
                <a:solidFill>
                  <a:srgbClr val="2B2B2B"/>
                </a:solidFill>
                <a:latin typeface="Calibri"/>
              </a:rPr>
              <a:t> tu </a:t>
            </a:r>
            <a:r>
              <a:rPr sz="1300" b="1" i="0">
                <a:solidFill>
                  <a:srgbClr val="2B2B2B"/>
                </a:solidFill>
                <a:latin typeface="Calibri"/>
              </a:rPr>
              <a:t>nombre</a:t>
            </a:r>
            <a:r>
              <a:rPr sz="1300" b="0" i="0">
                <a:solidFill>
                  <a:srgbClr val="2B2B2B"/>
                </a:solidFill>
                <a:latin typeface="Calibri"/>
              </a:rPr>
              <a:t> + </a:t>
            </a:r>
            <a:r>
              <a:rPr sz="1300" b="1" i="0">
                <a:solidFill>
                  <a:srgbClr val="2B2B2B"/>
                </a:solidFill>
                <a:latin typeface="Calibri"/>
              </a:rPr>
              <a:t>expectativa del curso</a:t>
            </a:r>
            <a:r>
              <a:rPr sz="1300" b="0" i="0">
                <a:solidFill>
                  <a:srgbClr val="2B2B2B"/>
                </a:solidFill>
                <a:latin typeface="Calibri"/>
              </a:rPr>
              <a:t> + un </a:t>
            </a:r>
            <a:r>
              <a:rPr sz="1300" b="1" i="0">
                <a:solidFill>
                  <a:srgbClr val="2B2B2B"/>
                </a:solidFill>
                <a:latin typeface="Calibri"/>
              </a:rPr>
              <a:t>tema tentativo</a:t>
            </a:r>
            <a:r>
              <a:rPr sz="1300" b="0" i="0">
                <a:solidFill>
                  <a:srgbClr val="2B2B2B"/>
                </a:solidFill>
                <a:latin typeface="Calibri"/>
              </a:rPr>
              <a:t> de investigación (1 frase). Entras con tu correo </a:t>
            </a:r>
            <a:r>
              <a:rPr sz="1300" b="1" i="0">
                <a:solidFill>
                  <a:srgbClr val="2B2B2B"/>
                </a:solidFill>
                <a:latin typeface="Calibri"/>
              </a:rPr>
              <a:t>@cun.edu.co</a:t>
            </a:r>
            <a:r>
              <a:rPr sz="1300" b="0" i="0">
                <a:solidFill>
                  <a:srgbClr val="2B2B2B"/>
                </a:solidFill>
                <a:latin typeface="Calibri"/>
              </a:rPr>
              <a:t>: no hay que crear cuenta ni instalar nada.</a:t>
            </a:r>
          </a:p>
          <a:p>
            <a:pPr>
              <a:spcAft>
                <a:spcPts val="1000"/>
              </a:spcAft>
            </a:pPr>
            <a:r>
              <a:rPr sz="1300" b="0" i="0">
                <a:solidFill>
                  <a:srgbClr val="2B2B2B"/>
                </a:solidFill>
                <a:latin typeface="Calibri"/>
              </a:rPr>
              <a:t>–   </a:t>
            </a:r>
            <a:r>
              <a:rPr sz="1300" b="1" i="0">
                <a:solidFill>
                  <a:srgbClr val="2B2B2B"/>
                </a:solidFill>
                <a:latin typeface="Calibri"/>
              </a:rPr>
              <a:t>Ahora, ~3 min.</a:t>
            </a:r>
            <a:r>
              <a:rPr sz="1300" b="0" i="0">
                <a:solidFill>
                  <a:srgbClr val="2B2B2B"/>
                </a:solidFill>
                <a:latin typeface="Calibri"/>
              </a:rPr>
              <a:t> Somos 50: no alcanzamos a presentarnos uno por uno, así que el formulario nos ordena.</a:t>
            </a:r>
          </a:p>
          <a:p>
            <a:pPr>
              <a:spcAft>
                <a:spcPts val="1000"/>
              </a:spcAft>
            </a:pPr>
            <a:r>
              <a:rPr sz="1300" b="0" i="0">
                <a:solidFill>
                  <a:srgbClr val="2B2B2B"/>
                </a:solidFill>
                <a:latin typeface="Calibri"/>
              </a:rPr>
              <a:t>–   </a:t>
            </a:r>
            <a:r>
              <a:rPr sz="1300" b="1" i="0">
                <a:solidFill>
                  <a:srgbClr val="2B2B2B"/>
                </a:solidFill>
                <a:latin typeface="Calibri"/>
              </a:rPr>
              <a:t>Con eso, hoy:</a:t>
            </a:r>
            <a:r>
              <a:rPr sz="1300" b="0" i="0">
                <a:solidFill>
                  <a:srgbClr val="2B2B2B"/>
                </a:solidFill>
                <a:latin typeface="Calibri"/>
              </a:rPr>
              <a:t> el Docente lee en voz alta </a:t>
            </a:r>
            <a:r>
              <a:rPr sz="1300" b="1" i="0">
                <a:solidFill>
                  <a:srgbClr val="2B2B2B"/>
                </a:solidFill>
                <a:latin typeface="Calibri"/>
              </a:rPr>
              <a:t>5 o 6 respuestas</a:t>
            </a:r>
            <a:r>
              <a:rPr sz="1300" b="0" i="0">
                <a:solidFill>
                  <a:srgbClr val="2B2B2B"/>
                </a:solidFill>
                <a:latin typeface="Calibri"/>
              </a:rPr>
              <a:t> y proyecta el </a:t>
            </a:r>
            <a:r>
              <a:rPr sz="1300" b="1" i="0">
                <a:solidFill>
                  <a:srgbClr val="2B2B2B"/>
                </a:solidFill>
                <a:latin typeface="Calibri"/>
              </a:rPr>
              <a:t>resumen</a:t>
            </a:r>
            <a:r>
              <a:rPr sz="1300" b="0" i="0">
                <a:solidFill>
                  <a:srgbClr val="2B2B2B"/>
                </a:solidFill>
                <a:latin typeface="Calibri"/>
              </a:rPr>
              <a:t> del formulario — ahí quedan todas a la vista, no solo las leídas.</a:t>
            </a:r>
          </a:p>
          <a:p>
            <a:pPr>
              <a:spcAft>
                <a:spcPts val="1000"/>
              </a:spcAft>
            </a:pPr>
            <a:r>
              <a:rPr sz="1300" b="0" i="0">
                <a:solidFill>
                  <a:srgbClr val="2B2B2B"/>
                </a:solidFill>
                <a:latin typeface="Calibri"/>
              </a:rPr>
              <a:t>–   </a:t>
            </a:r>
            <a:r>
              <a:rPr sz="1300" b="1" i="0">
                <a:solidFill>
                  <a:srgbClr val="2B2B2B"/>
                </a:solidFill>
                <a:latin typeface="Calibri"/>
              </a:rPr>
              <a:t>En vivo:</a:t>
            </a:r>
            <a:r>
              <a:rPr sz="1300" b="0" i="0">
                <a:solidFill>
                  <a:srgbClr val="2B2B2B"/>
                </a:solidFill>
                <a:latin typeface="Calibri"/>
              </a:rPr>
              <a:t> las preguntas y las votaciones van por la </a:t>
            </a:r>
            <a:r>
              <a:rPr sz="1300" b="1" i="0">
                <a:solidFill>
                  <a:srgbClr val="2B2B2B"/>
                </a:solidFill>
                <a:latin typeface="Calibri"/>
              </a:rPr>
              <a:t>encuesta</a:t>
            </a:r>
            <a:r>
              <a:rPr sz="1300" b="0" i="0">
                <a:solidFill>
                  <a:srgbClr val="2B2B2B"/>
                </a:solidFill>
                <a:latin typeface="Calibri"/>
              </a:rPr>
              <a:t> y el </a:t>
            </a:r>
            <a:r>
              <a:rPr sz="1300" b="1" i="0">
                <a:solidFill>
                  <a:srgbClr val="2B2B2B"/>
                </a:solidFill>
                <a:latin typeface="Calibri"/>
              </a:rPr>
              <a:t>Q&amp;A</a:t>
            </a:r>
            <a:r>
              <a:rPr sz="1300" b="0" i="0">
                <a:solidFill>
                  <a:srgbClr val="2B2B2B"/>
                </a:solidFill>
                <a:latin typeface="Calibri"/>
              </a:rPr>
              <a:t> del propio Meet; no hay que abrir ninguna otra plataforma.</a:t>
            </a:r>
          </a:p>
          <a:p>
            <a:pPr>
              <a:spcAft>
                <a:spcPts val="1000"/>
              </a:spcAft>
            </a:pPr>
            <a:r>
              <a:rPr sz="1300" b="0" i="0">
                <a:solidFill>
                  <a:srgbClr val="2B2B2B"/>
                </a:solidFill>
                <a:latin typeface="Calibri"/>
              </a:rPr>
              <a:t>–   </a:t>
            </a:r>
            <a:r>
              <a:rPr sz="1300" b="1" i="0">
                <a:solidFill>
                  <a:srgbClr val="2B2B2B"/>
                </a:solidFill>
                <a:latin typeface="Calibri"/>
              </a:rPr>
              <a:t>Después:</a:t>
            </a:r>
            <a:r>
              <a:rPr sz="1300" b="0" i="0">
                <a:solidFill>
                  <a:srgbClr val="2B2B2B"/>
                </a:solidFill>
                <a:latin typeface="Calibri"/>
              </a:rPr>
              <a:t> las respuestas quedan en una hoja que el Docente usa todo el periodo (equipos, ejemplos y seguimiento).</a:t>
            </a:r>
          </a:p>
        </p:txBody>
      </p:sp>
      <p:sp>
        <p:nvSpPr>
          <p:cNvPr id="6" name="Rounded Rectangle 5"/>
          <p:cNvSpPr/>
          <p:nvPr/>
        </p:nvSpPr>
        <p:spPr>
          <a:xfrm>
            <a:off x="8332927" y="1993391"/>
            <a:ext cx="3328415" cy="38862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79815" y="2926079"/>
            <a:ext cx="2834640" cy="1463040"/>
          </a:xfrm>
          <a:prstGeom prst="rect">
            <a:avLst/>
          </a:prstGeom>
          <a:noFill/>
        </p:spPr>
        <p:txBody>
          <a:bodyPr wrap="square" anchor="ctr" lIns="0" rIns="0" tIns="0" bIns="0">
            <a:spAutoFit/>
          </a:bodyPr>
          <a:lstStyle/>
          <a:p>
            <a:pPr algn="ctr"/>
            <a:r>
              <a:rPr sz="1800" b="1" i="0">
                <a:solidFill>
                  <a:srgbClr val="0C2340"/>
                </a:solidFill>
                <a:latin typeface="Calibri"/>
              </a:rPr>
              <a:t>QR pendiente</a:t>
            </a:r>
          </a:p>
          <a:p>
            <a:pPr algn="ctr">
              <a:spcBef>
                <a:spcPts val="1000"/>
              </a:spcBef>
            </a:pPr>
            <a:r>
              <a:rPr sz="1200" b="0" i="0">
                <a:solidFill>
                  <a:srgbClr val="2B2B2B"/>
                </a:solidFill>
                <a:latin typeface="Calibri"/>
              </a:rPr>
              <a:t>Se genera cuando el formulario tenga enlace real.</a:t>
            </a:r>
          </a:p>
        </p:txBody>
      </p:sp>
      <p:sp>
        <p:nvSpPr>
          <p:cNvPr id="8" name="TextBox 7"/>
          <p:cNvSpPr txBox="1"/>
          <p:nvPr/>
        </p:nvSpPr>
        <p:spPr>
          <a:xfrm>
            <a:off x="8332927" y="5230367"/>
            <a:ext cx="3328415" cy="640080"/>
          </a:xfrm>
          <a:prstGeom prst="rect">
            <a:avLst/>
          </a:prstGeom>
          <a:noFill/>
        </p:spPr>
        <p:txBody>
          <a:bodyPr wrap="square" anchor="t" lIns="0" rIns="0" tIns="0" bIns="0">
            <a:spAutoFit/>
          </a:bodyPr>
          <a:lstStyle/>
          <a:p>
            <a:pPr algn="ctr"/>
            <a:r>
              <a:rPr sz="900" b="1" i="0">
                <a:solidFill>
                  <a:srgbClr val="007433"/>
                </a:solidFill>
                <a:latin typeface="Calibri"/>
              </a:rPr>
              <a:t>[URL Formulario Preséntate — pendiente · PROYECTO I]</a:t>
            </a:r>
          </a:p>
        </p:txBody>
      </p:sp>
      <p:sp>
        <p:nvSpPr>
          <p:cNvPr id="9" name="TextBox 8"/>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ES PROYECTO I?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Inicia la ruta de trabajo de grado: delimitar una situación problemática y convertirla en un </a:t>
            </a:r>
            <a:r>
              <a:rPr sz="1600" b="1" i="0">
                <a:solidFill>
                  <a:srgbClr val="2B2B2B"/>
                </a:solidFill>
                <a:latin typeface="Calibri"/>
              </a:rPr>
              <a:t>anteproyecto</a:t>
            </a:r>
            <a:r>
              <a:rPr sz="1600" b="0" i="0">
                <a:solidFill>
                  <a:srgbClr val="2B2B2B"/>
                </a:solidFill>
                <a:latin typeface="Calibri"/>
              </a:rPr>
              <a:t> coherente, viable y éticamente fundamentado.</a:t>
            </a:r>
          </a:p>
          <a:p>
            <a:pPr>
              <a:spcAft>
                <a:spcPts val="1000"/>
              </a:spcAft>
            </a:pPr>
            <a:r>
              <a:rPr sz="1600" b="0" i="0">
                <a:solidFill>
                  <a:srgbClr val="2B2B2B"/>
                </a:solidFill>
                <a:latin typeface="Calibri"/>
              </a:rPr>
              <a:t>–   Macrocompetencia: </a:t>
            </a:r>
            <a:r>
              <a:rPr sz="1600" b="1" i="0">
                <a:solidFill>
                  <a:srgbClr val="2B2B2B"/>
                </a:solidFill>
                <a:latin typeface="Calibri"/>
              </a:rPr>
              <a:t>formula un anteproyecto</a:t>
            </a:r>
            <a:r>
              <a:rPr sz="1600" b="0" i="0">
                <a:solidFill>
                  <a:srgbClr val="2B2B2B"/>
                </a:solidFill>
                <a:latin typeface="Calibri"/>
              </a:rPr>
              <a:t> pertinente para la especialización (problema, antecedentes, objetivos y ruta metodológica viable).</a:t>
            </a:r>
          </a:p>
          <a:p>
            <a:pPr>
              <a:spcAft>
                <a:spcPts val="1000"/>
              </a:spcAft>
            </a:pPr>
            <a:r>
              <a:rPr sz="1600" b="0" i="0">
                <a:solidFill>
                  <a:srgbClr val="2B2B2B"/>
                </a:solidFill>
                <a:latin typeface="Calibri"/>
              </a:rPr>
              <a:t>–   Producto final: </a:t>
            </a:r>
            <a:r>
              <a:rPr sz="1600" b="1" i="0">
                <a:solidFill>
                  <a:srgbClr val="2B2B2B"/>
                </a:solidFill>
                <a:latin typeface="Calibri"/>
              </a:rPr>
              <a:t>anteproyecto completo</a:t>
            </a:r>
            <a:r>
              <a:rPr sz="1600" b="0" i="0">
                <a:solidFill>
                  <a:srgbClr val="2B2B2B"/>
                </a:solidFill>
                <a:latin typeface="Calibri"/>
              </a:rPr>
              <a:t>, base para Proyecto II (o equivalente).</a:t>
            </a:r>
          </a:p>
          <a:p>
            <a:pPr lvl="1">
              <a:spcAft>
                <a:spcPts val="600"/>
              </a:spcAft>
            </a:pPr>
            <a:r>
              <a:rPr sz="1500" b="0" i="0">
                <a:solidFill>
                  <a:srgbClr val="2B2B2B"/>
                </a:solidFill>
                <a:latin typeface="Calibri"/>
              </a:rPr>
              <a:t>●   En este espacio </a:t>
            </a:r>
            <a:r>
              <a:rPr sz="1500" b="1" i="0">
                <a:solidFill>
                  <a:srgbClr val="2B2B2B"/>
                </a:solidFill>
                <a:latin typeface="Calibri"/>
              </a:rPr>
              <a:t>no se recolecta ni se aplica</a:t>
            </a:r>
            <a:r>
              <a:rPr sz="1500" b="0" i="0">
                <a:solidFill>
                  <a:srgbClr val="2B2B2B"/>
                </a:solidFill>
                <a:latin typeface="Calibri"/>
              </a:rPr>
              <a:t> trabajo de campo — eso corresponde a Proyecto II, tras el aval metodológico.</a:t>
            </a:r>
          </a:p>
          <a:p>
            <a:pPr>
              <a:spcAft>
                <a:spcPts val="1000"/>
              </a:spcAft>
            </a:pPr>
            <a:r>
              <a:rPr sz="1600" b="0" i="0">
                <a:solidFill>
                  <a:srgbClr val="2B2B2B"/>
                </a:solidFill>
                <a:latin typeface="Calibri"/>
              </a:rPr>
              <a:t>–   El Docente acompaña como </a:t>
            </a:r>
            <a:r>
              <a:rPr sz="1600" b="1" i="0">
                <a:solidFill>
                  <a:srgbClr val="2B2B2B"/>
                </a:solidFill>
                <a:latin typeface="Calibri"/>
              </a:rPr>
              <a:t>garante metodológico</a:t>
            </a:r>
            <a:r>
              <a:rPr sz="1600" b="0" i="0">
                <a:solidFill>
                  <a:srgbClr val="2B2B2B"/>
                </a:solidFill>
                <a:latin typeface="Calibri"/>
              </a:rPr>
              <a:t> (orientación, revisión y coherencia del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RESULTADOS DE APRENDIZAJE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Analiza críticamente información académica y profesional relevante.</a:t>
            </a:r>
          </a:p>
          <a:p>
            <a:pPr>
              <a:spcAft>
                <a:spcPts val="1000"/>
              </a:spcAft>
            </a:pPr>
            <a:r>
              <a:rPr sz="1600" b="0" i="0">
                <a:solidFill>
                  <a:srgbClr val="2B2B2B"/>
                </a:solidFill>
                <a:latin typeface="Calibri"/>
              </a:rPr>
              <a:t>–   Formula problemas, preguntas y objetivos investigables.</a:t>
            </a:r>
          </a:p>
          <a:p>
            <a:pPr>
              <a:spcAft>
                <a:spcPts val="1000"/>
              </a:spcAft>
            </a:pPr>
            <a:r>
              <a:rPr sz="1600" b="0" i="0">
                <a:solidFill>
                  <a:srgbClr val="2B2B2B"/>
                </a:solidFill>
                <a:latin typeface="Calibri"/>
              </a:rPr>
              <a:t>–   Sustenta las decisiones teóricas y metodológicas del anteproyecto.</a:t>
            </a:r>
          </a:p>
          <a:p>
            <a:pPr>
              <a:spcAft>
                <a:spcPts val="1000"/>
              </a:spcAft>
            </a:pPr>
            <a:r>
              <a:rPr sz="1600" b="0" i="0">
                <a:solidFill>
                  <a:srgbClr val="2B2B2B"/>
                </a:solidFill>
                <a:latin typeface="Calibri"/>
              </a:rPr>
              <a:t>–   Integra los componentes del proyecto en un documento académico coherente.</a:t>
            </a:r>
          </a:p>
          <a:p>
            <a:pPr>
              <a:spcAft>
                <a:spcPts val="1000"/>
              </a:spcAft>
            </a:pPr>
            <a:r>
              <a:rPr sz="1600" b="0" i="0">
                <a:solidFill>
                  <a:srgbClr val="2B2B2B"/>
                </a:solidFill>
                <a:latin typeface="Calibri"/>
              </a:rPr>
              <a:t>–   Aplica integridad académica, propiedad intelectual y uso responsable de fuentes e IA.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LÍNEAS DE INVESTIGACIÓN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Todo anteproyecto de la Especialización en IA se enmarca en una línea de </a:t>
            </a:r>
            <a:r>
              <a:rPr sz="1600" b="1" i="0">
                <a:solidFill>
                  <a:srgbClr val="2B2B2B"/>
                </a:solidFill>
                <a:latin typeface="Calibri"/>
              </a:rPr>
              <a:t>programa</a:t>
            </a:r>
            <a:r>
              <a:rPr sz="16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Uso y adaptación de IA para entornos productivos</a:t>
            </a:r>
          </a:p>
          <a:p>
            <a:pPr lvl="1">
              <a:spcAft>
                <a:spcPts val="600"/>
              </a:spcAft>
            </a:pPr>
            <a:r>
              <a:rPr sz="1500" b="0" i="0">
                <a:solidFill>
                  <a:srgbClr val="2B2B2B"/>
                </a:solidFill>
                <a:latin typeface="Calibri"/>
              </a:rPr>
              <a:t>●   </a:t>
            </a:r>
            <a:r>
              <a:rPr sz="1500" b="1" i="0">
                <a:solidFill>
                  <a:srgbClr val="2B2B2B"/>
                </a:solidFill>
                <a:latin typeface="Calibri"/>
              </a:rPr>
              <a:t>Implementación de IA en la educación</a:t>
            </a:r>
          </a:p>
          <a:p>
            <a:pPr>
              <a:spcAft>
                <a:spcPts val="1000"/>
              </a:spcAft>
            </a:pPr>
            <a:r>
              <a:rPr sz="1600" b="0" i="0">
                <a:solidFill>
                  <a:srgbClr val="2B2B2B"/>
                </a:solidFill>
                <a:latin typeface="Calibri"/>
              </a:rPr>
              <a:t>–   Según ESP329, los proyectos también dialogan con líneas </a:t>
            </a:r>
            <a:r>
              <a:rPr sz="1600" b="1" i="0">
                <a:solidFill>
                  <a:srgbClr val="2B2B2B"/>
                </a:solidFill>
                <a:latin typeface="Calibri"/>
              </a:rPr>
              <a:t>institucionales</a:t>
            </a:r>
            <a:r>
              <a:rPr sz="1600" b="0" i="0">
                <a:solidFill>
                  <a:srgbClr val="2B2B2B"/>
                </a:solidFill>
                <a:latin typeface="Calibri"/>
              </a:rPr>
              <a:t> (Gestión y Tecnologías · Innovación Pedagógica · Responsabilidad Social) cuando sea pertinente.</a:t>
            </a:r>
          </a:p>
          <a:p>
            <a:pPr>
              <a:spcAft>
                <a:spcPts val="1000"/>
              </a:spcAft>
            </a:pPr>
            <a:r>
              <a:rPr sz="1600" b="0" i="0">
                <a:solidFill>
                  <a:srgbClr val="2B2B2B"/>
                </a:solidFill>
                <a:latin typeface="Calibri"/>
              </a:rPr>
              <a:t>–   Si tu tema no encaja, </a:t>
            </a:r>
            <a:r>
              <a:rPr sz="1600" b="1" i="0">
                <a:solidFill>
                  <a:srgbClr val="2B2B2B"/>
                </a:solidFill>
                <a:latin typeface="Calibri"/>
              </a:rPr>
              <a:t>el Docente</a:t>
            </a:r>
            <a:r>
              <a:rPr sz="1600" b="0" i="0">
                <a:solidFill>
                  <a:srgbClr val="2B2B2B"/>
                </a:solidFill>
                <a:latin typeface="Calibri"/>
              </a:rPr>
              <a:t> te orienta a reformularlo.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ESTRUCTURA TEMÁTICA ESP329 — 7 UNIDADES</a:t>
            </a:r>
          </a:p>
        </p:txBody>
      </p:sp>
      <p:graphicFrame>
        <p:nvGraphicFramePr>
          <p:cNvPr id="4" name="Table 3"/>
          <p:cNvGraphicFramePr>
            <a:graphicFrameLocks noGrp="1"/>
          </p:cNvGraphicFramePr>
          <p:nvPr/>
        </p:nvGraphicFramePr>
        <p:xfrm>
          <a:off x="640080" y="1691639"/>
          <a:ext cx="10911533" cy="4023360"/>
        </p:xfrm>
        <a:graphic>
          <a:graphicData uri="http://schemas.openxmlformats.org/drawingml/2006/table">
            <a:tbl>
              <a:tblPr>
                <a:tableStyleId>{2D5ABB26-0587-4C30-8999-92F81FD0307C}</a:tableStyleId>
              </a:tblPr>
              <a:tblGrid>
                <a:gridCol w="600634"/>
                <a:gridCol w="4204444"/>
                <a:gridCol w="6106455"/>
              </a:tblGrid>
              <a:tr h="502920">
                <a:tc>
                  <a:txBody>
                    <a:bodyPr/>
                    <a:lstStyle/>
                    <a:p>
                      <a:pPr algn="l"/>
                      <a:r>
                        <a:rPr sz="1300" b="1" i="0">
                          <a:solidFill>
                            <a:srgbClr val="FFFFFF"/>
                          </a:solidFill>
                          <a:latin typeface="Calibri"/>
                        </a:rPr>
                        <a:t>U</a:t>
                      </a:r>
                    </a:p>
                  </a:txBody>
                  <a:tcPr anchor="ctr" marL="109728" marR="91440" marT="36576" marB="36576">
                    <a:solidFill>
                      <a:srgbClr val="0C2340"/>
                    </a:solidFill>
                  </a:tcPr>
                </a:tc>
                <a:tc>
                  <a:txBody>
                    <a:bodyPr/>
                    <a:lstStyle/>
                    <a:p>
                      <a:pPr algn="l"/>
                      <a:r>
                        <a:rPr sz="1300" b="1" i="0">
                          <a:solidFill>
                            <a:srgbClr val="FFFFFF"/>
                          </a:solidFill>
                          <a:latin typeface="Calibri"/>
                        </a:rPr>
                        <a:t>Unidad didáctica</a:t>
                      </a:r>
                    </a:p>
                  </a:txBody>
                  <a:tcPr anchor="ctr" marL="109728" marR="91440" marT="36576" marB="36576">
                    <a:solidFill>
                      <a:srgbClr val="0C2340"/>
                    </a:solidFill>
                  </a:tcPr>
                </a:tc>
                <a:tc>
                  <a:txBody>
                    <a:bodyPr/>
                    <a:lstStyle/>
                    <a:p>
                      <a:pPr algn="l"/>
                      <a:r>
                        <a:rPr sz="1300" b="1" i="0">
                          <a:solidFill>
                            <a:srgbClr val="FFFFFF"/>
                          </a:solidFill>
                          <a:latin typeface="Calibri"/>
                        </a:rPr>
                        <a:t>Producto esperado</a:t>
                      </a:r>
                    </a:p>
                  </a:txBody>
                  <a:tcPr anchor="ctr" marL="109728" marR="91440" marT="36576" marB="36576">
                    <a:solidFill>
                      <a:srgbClr val="0C2340"/>
                    </a:solidFill>
                  </a:tcPr>
                </a:tc>
              </a:tr>
              <a:tr h="502920">
                <a:tc>
                  <a:txBody>
                    <a:bodyPr/>
                    <a:lstStyle/>
                    <a:p>
                      <a:pPr algn="l"/>
                      <a:r>
                        <a:rPr sz="1100" b="0" i="0">
                          <a:solidFill>
                            <a:srgbClr val="2B2B2B"/>
                          </a:solidFill>
                          <a:latin typeface="Calibri"/>
                        </a:rPr>
                        <a:t>1</a:t>
                      </a:r>
                    </a:p>
                  </a:txBody>
                  <a:tcPr anchor="ctr" marL="109728" marR="91440" marT="36576" marB="36576">
                    <a:solidFill>
                      <a:srgbClr val="FFFFFF"/>
                    </a:solidFill>
                  </a:tcPr>
                </a:tc>
                <a:tc>
                  <a:txBody>
                    <a:bodyPr/>
                    <a:lstStyle/>
                    <a:p>
                      <a:pPr algn="l"/>
                      <a:r>
                        <a:rPr sz="1100" b="0" i="0">
                          <a:solidFill>
                            <a:srgbClr val="2B2B2B"/>
                          </a:solidFill>
                          <a:latin typeface="Calibri"/>
                        </a:rPr>
                        <a:t>Fundamentos y enfoque de investigación</a:t>
                      </a:r>
                    </a:p>
                  </a:txBody>
                  <a:tcPr anchor="ctr" marL="109728" marR="91440" marT="36576" marB="36576">
                    <a:solidFill>
                      <a:srgbClr val="FFFFFF"/>
                    </a:solidFill>
                  </a:tcPr>
                </a:tc>
                <a:tc>
                  <a:txBody>
                    <a:bodyPr/>
                    <a:lstStyle/>
                    <a:p>
                      <a:pPr algn="l"/>
                      <a:r>
                        <a:rPr sz="1100" b="0" i="0">
                          <a:solidFill>
                            <a:srgbClr val="2B2B2B"/>
                          </a:solidFill>
                          <a:latin typeface="Calibri"/>
                        </a:rPr>
                        <a:t>Enfoque y tipo de investigación justificados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2</a:t>
                      </a:r>
                    </a:p>
                  </a:txBody>
                  <a:tcPr anchor="ctr" marL="109728" marR="91440" marT="36576" marB="36576">
                    <a:solidFill>
                      <a:srgbClr val="F2F2F2"/>
                    </a:solidFill>
                  </a:tcPr>
                </a:tc>
                <a:tc>
                  <a:txBody>
                    <a:bodyPr/>
                    <a:lstStyle/>
                    <a:p>
                      <a:pPr algn="l"/>
                      <a:r>
                        <a:rPr sz="1100" b="0" i="0">
                          <a:solidFill>
                            <a:srgbClr val="2B2B2B"/>
                          </a:solidFill>
                          <a:latin typeface="Calibri"/>
                        </a:rPr>
                        <a:t>Problema y pregunta de investigación</a:t>
                      </a:r>
                    </a:p>
                  </a:txBody>
                  <a:tcPr anchor="ctr" marL="109728" marR="91440" marT="36576" marB="36576">
                    <a:solidFill>
                      <a:srgbClr val="F2F2F2"/>
                    </a:solidFill>
                  </a:tcPr>
                </a:tc>
                <a:tc>
                  <a:txBody>
                    <a:bodyPr/>
                    <a:lstStyle/>
                    <a:p>
                      <a:pPr algn="l"/>
                      <a:r>
                        <a:rPr sz="1100" b="0" i="0">
                          <a:solidFill>
                            <a:srgbClr val="2B2B2B"/>
                          </a:solidFill>
                          <a:latin typeface="Calibri"/>
                        </a:rPr>
                        <a:t>Problema delimitado y pregunta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3</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 articulados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Construcción del marco referencial</a:t>
                      </a:r>
                    </a:p>
                  </a:txBody>
                  <a:tcPr anchor="ctr" marL="109728" marR="91440" marT="36576" marB="36576">
                    <a:solidFill>
                      <a:srgbClr val="F2F2F2"/>
                    </a:solidFill>
                  </a:tcPr>
                </a:tc>
                <a:tc>
                  <a:txBody>
                    <a:bodyPr/>
                    <a:lstStyle/>
                    <a:p>
                      <a:pPr algn="l"/>
                      <a:r>
                        <a:rPr sz="1100" b="0" i="0">
                          <a:solidFill>
                            <a:srgbClr val="2B2B2B"/>
                          </a:solidFill>
                          <a:latin typeface="Calibri"/>
                        </a:rPr>
                        <a:t>Marco pertinente, actualizado y sustentado</a:t>
                      </a:r>
                    </a:p>
                  </a:txBody>
                  <a:tcPr anchor="ctr" marL="109728" marR="91440" marT="36576" marB="36576">
                    <a:solidFill>
                      <a:srgbClr val="F2F2F2"/>
                    </a:solidFill>
                  </a:tcPr>
                </a:tc>
              </a:tr>
              <a:tr h="502920">
                <a:tc>
                  <a:txBody>
                    <a:bodyPr/>
                    <a:lstStyle/>
                    <a:p>
                      <a:pPr algn="l"/>
                      <a:r>
                        <a:rPr sz="1100" b="0" i="0">
                          <a:solidFill>
                            <a:srgbClr val="2B2B2B"/>
                          </a:solidFill>
                          <a:latin typeface="Calibri"/>
                        </a:rPr>
                        <a:t>5</a:t>
                      </a:r>
                    </a:p>
                  </a:txBody>
                  <a:tcPr anchor="ctr" marL="109728" marR="91440" marT="36576" marB="36576">
                    <a:solidFill>
                      <a:srgbClr val="FFFFFF"/>
                    </a:solidFill>
                  </a:tcPr>
                </a:tc>
                <a:tc>
                  <a:txBody>
                    <a:bodyPr/>
                    <a:lstStyle/>
                    <a:p>
                      <a:pPr algn="l"/>
                      <a:r>
                        <a:rPr sz="1100" b="0" i="0">
                          <a:solidFill>
                            <a:srgbClr val="2B2B2B"/>
                          </a:solidFill>
                          <a:latin typeface="Calibri"/>
                        </a:rPr>
                        <a:t>Diseño metodológico</a:t>
                      </a:r>
                    </a:p>
                  </a:txBody>
                  <a:tcPr anchor="ctr" marL="109728" marR="91440" marT="36576" marB="36576">
                    <a:solidFill>
                      <a:srgbClr val="FFFFFF"/>
                    </a:solidFill>
                  </a:tcPr>
                </a:tc>
                <a:tc>
                  <a:txBody>
                    <a:bodyPr/>
                    <a:lstStyle/>
                    <a:p>
                      <a:pPr algn="l"/>
                      <a:r>
                        <a:rPr sz="1100" b="0" i="0">
                          <a:solidFill>
                            <a:srgbClr val="2B2B2B"/>
                          </a:solidFill>
                          <a:latin typeface="Calibri"/>
                        </a:rPr>
                        <a:t>Metodología coherente (instrumentos propuestos)</a:t>
                      </a:r>
                    </a:p>
                  </a:txBody>
                  <a:tcPr anchor="ctr" marL="109728" marR="91440" marT="36576" marB="36576">
                    <a:solidFill>
                      <a:srgbClr val="FFFFFF"/>
                    </a:solidFill>
                  </a:tcPr>
                </a:tc>
              </a:tr>
              <a:tr h="502920">
                <a:tc>
                  <a:txBody>
                    <a:bodyPr/>
                    <a:lstStyle/>
                    <a:p>
                      <a:pPr algn="l"/>
                      <a:r>
                        <a:rPr sz="1100" b="0" i="0">
                          <a:solidFill>
                            <a:srgbClr val="2B2B2B"/>
                          </a:solidFill>
                          <a:latin typeface="Calibri"/>
                        </a:rPr>
                        <a:t>6</a:t>
                      </a:r>
                    </a:p>
                  </a:txBody>
                  <a:tcPr anchor="ctr" marL="109728" marR="91440" marT="36576" marB="36576">
                    <a:solidFill>
                      <a:srgbClr val="F2F2F2"/>
                    </a:solidFill>
                  </a:tcPr>
                </a:tc>
                <a:tc>
                  <a:txBody>
                    <a:bodyPr/>
                    <a:lstStyle/>
                    <a:p>
                      <a:pPr algn="l"/>
                      <a:r>
                        <a:rPr sz="1100" b="0" i="0">
                          <a:solidFill>
                            <a:srgbClr val="2B2B2B"/>
                          </a:solidFill>
                          <a:latin typeface="Calibri"/>
                        </a:rPr>
                        <a:t>Planeación y viabilidad del proyecto</a:t>
                      </a:r>
                    </a:p>
                  </a:txBody>
                  <a:tcPr anchor="ctr" marL="109728" marR="91440" marT="36576" marB="36576">
                    <a:solidFill>
                      <a:srgbClr val="F2F2F2"/>
                    </a:solidFill>
                  </a:tcPr>
                </a:tc>
                <a:tc>
                  <a:txBody>
                    <a:bodyPr/>
                    <a:lstStyle/>
                    <a:p>
                      <a:pPr algn="l"/>
                      <a:r>
                        <a:rPr sz="1100" b="0" i="0">
                          <a:solidFill>
                            <a:srgbClr val="2B2B2B"/>
                          </a:solidFill>
                          <a:latin typeface="Calibri"/>
                        </a:rPr>
                        <a:t>Plan de trabajo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7</a:t>
                      </a:r>
                    </a:p>
                  </a:txBody>
                  <a:tcPr anchor="ctr" marL="109728" marR="91440" marT="36576" marB="36576">
                    <a:solidFill>
                      <a:srgbClr val="FFFFFF"/>
                    </a:solidFill>
                  </a:tcPr>
                </a:tc>
                <a:tc>
                  <a:txBody>
                    <a:bodyPr/>
                    <a:lstStyle/>
                    <a:p>
                      <a:pPr algn="l"/>
                      <a:r>
                        <a:rPr sz="1100" b="0" i="0">
                          <a:solidFill>
                            <a:srgbClr val="2B2B2B"/>
                          </a:solidFill>
                          <a:latin typeface="Calibri"/>
                        </a:rPr>
                        <a:t>Integración y evaluación del anteproyecto</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listo para P-II</a:t>
                      </a:r>
                    </a:p>
                  </a:txBody>
                  <a:tcPr anchor="ctr" marL="109728" marR="91440" marT="36576" marB="36576">
                    <a:solidFill>
                      <a:srgbClr val="FFFFFF"/>
                    </a:solidFill>
                  </a:tcPr>
                </a:tc>
              </a:tr>
            </a:tbl>
          </a:graphicData>
        </a:graphic>
      </p:graphicFrame>
      <p:sp>
        <p:nvSpPr>
          <p:cNvPr id="5" name="TextBox 4"/>
          <p:cNvSpPr txBox="1"/>
          <p:nvPr/>
        </p:nvSpPr>
        <p:spPr>
          <a:xfrm>
            <a:off x="640080" y="5852160"/>
            <a:ext cx="10911535" cy="548640"/>
          </a:xfrm>
          <a:prstGeom prst="rect">
            <a:avLst/>
          </a:prstGeom>
          <a:noFill/>
        </p:spPr>
        <p:txBody>
          <a:bodyPr wrap="square" anchor="t" lIns="0" rIns="0" tIns="0" bIns="0">
            <a:spAutoFit/>
          </a:bodyPr>
          <a:lstStyle/>
          <a:p>
            <a:r>
              <a:rPr sz="1200" b="0" i="1">
                <a:solidFill>
                  <a:srgbClr val="2B2B2B"/>
                </a:solidFill>
                <a:latin typeface="Calibri"/>
              </a:rPr>
              <a:t>Fuente primaria: Especializacion_En_Inteligencia_Artificial_Proyecto_I_ESP329.docx. Las sesiones semanales desarrollan estas unidades (ver calendario).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ESTRATEGIA DIDÁCTICA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Aprendizaje basado en proyectos</a:t>
            </a:r>
            <a:r>
              <a:rPr sz="1600" b="0" i="0">
                <a:solidFill>
                  <a:srgbClr val="2B2B2B"/>
                </a:solidFill>
                <a:latin typeface="Calibri"/>
              </a:rPr>
              <a:t> + acompañamiento tutorial.</a:t>
            </a:r>
          </a:p>
          <a:p>
            <a:pPr>
              <a:spcAft>
                <a:spcPts val="1000"/>
              </a:spcAft>
            </a:pPr>
            <a:r>
              <a:rPr sz="1600" b="0" i="0">
                <a:solidFill>
                  <a:srgbClr val="2B2B2B"/>
                </a:solidFill>
                <a:latin typeface="Calibri"/>
              </a:rPr>
              <a:t>–   Sesiones sincrónicas: orientaciones metodológicas, ejemplos, discusión y talleres aplicados al anteproyecto.</a:t>
            </a:r>
          </a:p>
          <a:p>
            <a:pPr>
              <a:spcAft>
                <a:spcPts val="1000"/>
              </a:spcAft>
            </a:pPr>
            <a:r>
              <a:rPr sz="1600" b="0" i="0">
                <a:solidFill>
                  <a:srgbClr val="2B2B2B"/>
                </a:solidFill>
                <a:latin typeface="Calibri"/>
              </a:rPr>
              <a:t>–   Trabajo autónomo: búsqueda/lectura crítica, escritura progresiva, revisión entre pares e incorporación de retro.</a:t>
            </a:r>
          </a:p>
          <a:p>
            <a:pPr>
              <a:spcAft>
                <a:spcPts val="1000"/>
              </a:spcAft>
            </a:pPr>
            <a:r>
              <a:rPr sz="1600" b="0" i="0">
                <a:solidFill>
                  <a:srgbClr val="2B2B2B"/>
                </a:solidFill>
                <a:latin typeface="Calibri"/>
              </a:rPr>
              <a:t>–   Los tres cortes trabajan </a:t>
            </a:r>
            <a:r>
              <a:rPr sz="1600" b="1" i="0">
                <a:solidFill>
                  <a:srgbClr val="2B2B2B"/>
                </a:solidFill>
                <a:latin typeface="Calibri"/>
              </a:rPr>
              <a:t>un mismo producto acumulativo</a:t>
            </a:r>
            <a:r>
              <a:rPr sz="1600" b="0" i="0">
                <a:solidFill>
                  <a:srgbClr val="2B2B2B"/>
                </a:solidFill>
                <a:latin typeface="Calibri"/>
              </a:rPr>
              <a:t> (no tareas aisladas): el corte 1 lo comprueba un </a:t>
            </a:r>
            <a:r>
              <a:rPr sz="1600" b="1" i="0">
                <a:solidFill>
                  <a:srgbClr val="2B2B2B"/>
                </a:solidFill>
                <a:latin typeface="Calibri"/>
              </a:rPr>
              <a:t>Quiz</a:t>
            </a:r>
            <a:r>
              <a:rPr sz="1600" b="0" i="0">
                <a:solidFill>
                  <a:srgbClr val="2B2B2B"/>
                </a:solidFill>
                <a:latin typeface="Calibri"/>
              </a:rPr>
              <a:t> en el aula y los cortes 2 y 3 se </a:t>
            </a:r>
            <a:r>
              <a:rPr sz="1600" b="1" i="0">
                <a:solidFill>
                  <a:srgbClr val="2B2B2B"/>
                </a:solidFill>
                <a:latin typeface="Calibri"/>
              </a:rPr>
              <a:t>suben</a:t>
            </a:r>
            <a:r>
              <a:rPr sz="1600" b="0" i="0">
                <a:solidFill>
                  <a:srgbClr val="2B2B2B"/>
                </a:solidFill>
                <a:latin typeface="Calibri"/>
              </a:rPr>
              <a:t> como </a:t>
            </a:r>
            <a:r>
              <a:rPr sz="1600" b="1" i="0">
                <a:solidFill>
                  <a:srgbClr val="2B2B2B"/>
                </a:solidFill>
                <a:latin typeface="Calibri"/>
              </a:rPr>
              <a:t>ACA 1</a:t>
            </a:r>
            <a:r>
              <a:rPr sz="1600" b="0" i="0">
                <a:solidFill>
                  <a:srgbClr val="2B2B2B"/>
                </a:solidFill>
                <a:latin typeface="Calibri"/>
              </a:rPr>
              <a:t> y </a:t>
            </a:r>
            <a:r>
              <a:rPr sz="1600" b="1" i="0">
                <a:solidFill>
                  <a:srgbClr val="2B2B2B"/>
                </a:solidFill>
                <a:latin typeface="Calibri"/>
              </a:rPr>
              <a:t>ACA FINAL</a:t>
            </a:r>
            <a:r>
              <a:rPr sz="1600" b="0" i="0">
                <a:solidFill>
                  <a:srgbClr val="2B2B2B"/>
                </a:solidFill>
                <a:latin typeface="Calibri"/>
              </a:rPr>
              <a:t>.</a:t>
            </a:r>
          </a:p>
          <a:p>
            <a:pPr>
              <a:spcAft>
                <a:spcPts val="1000"/>
              </a:spcAft>
            </a:pPr>
            <a:r>
              <a:rPr sz="1600" b="0" i="0">
                <a:solidFill>
                  <a:srgbClr val="2B2B2B"/>
                </a:solidFill>
                <a:latin typeface="Calibri"/>
              </a:rPr>
              <a:t>–   Mediación: encuentros sincrónicos, tutorías, recursos en </a:t>
            </a:r>
            <a:r>
              <a:rPr sz="1600" b="1" i="0">
                <a:solidFill>
                  <a:srgbClr val="2B2B2B"/>
                </a:solidFill>
                <a:latin typeface="Calibri"/>
              </a:rPr>
              <a:t>CDigital</a:t>
            </a:r>
            <a:r>
              <a:rPr sz="1600" b="0" i="0">
                <a:solidFill>
                  <a:srgbClr val="2B2B2B"/>
                </a:solidFill>
                <a:latin typeface="Calibri"/>
              </a:rPr>
              <a:t> y atención asincrónica.</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IA generativa: apoyo permitido solo con supervisión humana, verificación, declaración transparente y protección de datos.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ENCUENTRO SEMANAL (2 HORAS)</a:t>
            </a:r>
          </a:p>
        </p:txBody>
      </p:sp>
      <p:graphicFrame>
        <p:nvGraphicFramePr>
          <p:cNvPr id="4" name="Table 3"/>
          <p:cNvGraphicFramePr>
            <a:graphicFrameLocks noGrp="1"/>
          </p:cNvGraphicFramePr>
          <p:nvPr/>
        </p:nvGraphicFramePr>
        <p:xfrm>
          <a:off x="640080" y="1691639"/>
          <a:ext cx="10911534" cy="1508760"/>
        </p:xfrm>
        <a:graphic>
          <a:graphicData uri="http://schemas.openxmlformats.org/drawingml/2006/table">
            <a:tbl>
              <a:tblPr>
                <a:tableStyleId>{2D5ABB26-0587-4C30-8999-92F81FD0307C}</a:tableStyleId>
              </a:tblPr>
              <a:tblGrid>
                <a:gridCol w="3637178"/>
                <a:gridCol w="3637178"/>
                <a:gridCol w="3637178"/>
              </a:tblGrid>
              <a:tr h="502920">
                <a:tc>
                  <a:txBody>
                    <a:bodyPr/>
                    <a:lstStyle/>
                    <a:p>
                      <a:pPr algn="l"/>
                      <a:r>
                        <a:rPr sz="1300" b="1" i="0">
                          <a:solidFill>
                            <a:srgbClr val="FFFFFF"/>
                          </a:solidFill>
                          <a:latin typeface="Calibri"/>
                        </a:rPr>
                        <a:t>Bloque</a:t>
                      </a:r>
                    </a:p>
                  </a:txBody>
                  <a:tcPr anchor="ctr" marL="109728" marR="91440" marT="36576" marB="36576">
                    <a:solidFill>
                      <a:srgbClr val="0C2340"/>
                    </a:solidFill>
                  </a:tcPr>
                </a:tc>
                <a:tc>
                  <a:txBody>
                    <a:bodyPr/>
                    <a:lstStyle/>
                    <a:p>
                      <a:pPr algn="l"/>
                      <a:r>
                        <a:rPr sz="1300" b="1" i="0">
                          <a:solidFill>
                            <a:srgbClr val="FFFFFF"/>
                          </a:solidFill>
                          <a:latin typeface="Calibri"/>
                        </a:rPr>
                        <a:t>Horario</a:t>
                      </a:r>
                    </a:p>
                  </a:txBody>
                  <a:tcPr anchor="ctr" marL="109728" marR="91440" marT="36576" marB="36576">
                    <a:solidFill>
                      <a:srgbClr val="0C2340"/>
                    </a:solidFill>
                  </a:tcPr>
                </a:tc>
                <a:tc>
                  <a:txBody>
                    <a:bodyPr/>
                    <a:lstStyle/>
                    <a:p>
                      <a:pPr algn="l"/>
                      <a:r>
                        <a:rPr sz="1300" b="1" i="0">
                          <a:solidFill>
                            <a:srgbClr val="FFFFFF"/>
                          </a:solidFill>
                          <a:latin typeface="Calibri"/>
                        </a:rPr>
                        <a:t>Qué ocurre</a:t>
                      </a:r>
                    </a:p>
                  </a:txBody>
                  <a:tcPr anchor="ctr" marL="109728" marR="91440" marT="36576" marB="36576">
                    <a:solidFill>
                      <a:srgbClr val="0C2340"/>
                    </a:solidFill>
                  </a:tcPr>
                </a:tc>
              </a:tr>
              <a:tr h="502920">
                <a:tc>
                  <a:txBody>
                    <a:bodyPr/>
                    <a:lstStyle/>
                    <a:p>
                      <a:pPr algn="l"/>
                      <a:r>
                        <a:rPr sz="1200" b="0" i="0">
                          <a:solidFill>
                            <a:srgbClr val="2B2B2B"/>
                          </a:solidFill>
                          <a:latin typeface="Calibri"/>
                        </a:rPr>
                        <a:t>Contenido nuevo</a:t>
                      </a:r>
                    </a:p>
                  </a:txBody>
                  <a:tcPr anchor="ctr" marL="109728" marR="91440" marT="36576" marB="36576">
                    <a:solidFill>
                      <a:srgbClr val="FFFFFF"/>
                    </a:solidFill>
                  </a:tcPr>
                </a:tc>
                <a:tc>
                  <a:txBody>
                    <a:bodyPr/>
                    <a:lstStyle/>
                    <a:p>
                      <a:pPr algn="l"/>
                      <a:r>
                        <a:rPr sz="1200" b="0" i="0">
                          <a:solidFill>
                            <a:srgbClr val="2B2B2B"/>
                          </a:solidFill>
                          <a:latin typeface="Calibri"/>
                        </a:rPr>
                        <a:t>8:00 – 9:00 pm</a:t>
                      </a:r>
                    </a:p>
                  </a:txBody>
                  <a:tcPr anchor="ctr" marL="109728" marR="91440" marT="36576" marB="36576">
                    <a:solidFill>
                      <a:srgbClr val="FFFFFF"/>
                    </a:solidFill>
                  </a:tcPr>
                </a:tc>
                <a:tc>
                  <a:txBody>
                    <a:bodyPr/>
                    <a:lstStyle/>
                    <a:p>
                      <a:pPr algn="l"/>
                      <a:r>
                        <a:rPr sz="1200" b="0" i="0">
                          <a:solidFill>
                            <a:srgbClr val="2B2B2B"/>
                          </a:solidFill>
                          <a:latin typeface="Calibri"/>
                        </a:rPr>
                        <a:t>Orientación metodológica de la unidad, modelación, dudas.</a:t>
                      </a:r>
                    </a:p>
                  </a:txBody>
                  <a:tcPr anchor="ctr" marL="109728" marR="91440" marT="36576" marB="36576">
                    <a:solidFill>
                      <a:srgbClr val="FFFFFF"/>
                    </a:solidFill>
                  </a:tcPr>
                </a:tc>
              </a:tr>
              <a:tr h="502920">
                <a:tc>
                  <a:txBody>
                    <a:bodyPr/>
                    <a:lstStyle/>
                    <a:p>
                      <a:pPr algn="l"/>
                      <a:r>
                        <a:rPr sz="1200" b="0" i="0">
                          <a:solidFill>
                            <a:srgbClr val="2B2B2B"/>
                          </a:solidFill>
                          <a:latin typeface="Calibri"/>
                        </a:rPr>
                        <a:t>Tutoría / taller</a:t>
                      </a:r>
                    </a:p>
                  </a:txBody>
                  <a:tcPr anchor="ctr" marL="109728" marR="91440" marT="36576" marB="36576">
                    <a:solidFill>
                      <a:srgbClr val="F2F2F2"/>
                    </a:solidFill>
                  </a:tcPr>
                </a:tc>
                <a:tc>
                  <a:txBody>
                    <a:bodyPr/>
                    <a:lstStyle/>
                    <a:p>
                      <a:pPr algn="l"/>
                      <a:r>
                        <a:rPr sz="1200" b="0" i="0">
                          <a:solidFill>
                            <a:srgbClr val="2B2B2B"/>
                          </a:solidFill>
                          <a:latin typeface="Calibri"/>
                        </a:rPr>
                        <a:t>9:00 – 10:00 pm</a:t>
                      </a:r>
                    </a:p>
                  </a:txBody>
                  <a:tcPr anchor="ctr" marL="109728" marR="91440" marT="36576" marB="36576">
                    <a:solidFill>
                      <a:srgbClr val="F2F2F2"/>
                    </a:solidFill>
                  </a:tcPr>
                </a:tc>
                <a:tc>
                  <a:txBody>
                    <a:bodyPr/>
                    <a:lstStyle/>
                    <a:p>
                      <a:pPr algn="l"/>
                      <a:r>
                        <a:rPr sz="1200" b="0" i="0">
                          <a:solidFill>
                            <a:srgbClr val="2B2B2B"/>
                          </a:solidFill>
                          <a:latin typeface="Calibri"/>
                        </a:rPr>
                        <a:t>Trabajo en equipos con acompañamiento del Docente.</a:t>
                      </a:r>
                    </a:p>
                  </a:txBody>
                  <a:tcPr anchor="ctr" marL="109728" marR="91440" marT="36576" marB="36576">
                    <a:solidFill>
                      <a:srgbClr val="F2F2F2"/>
                    </a:solidFill>
                  </a:tcPr>
                </a:tc>
              </a:tr>
            </a:tbl>
          </a:graphicData>
        </a:graphic>
      </p:graphicFrame>
      <p:sp>
        <p:nvSpPr>
          <p:cNvPr id="5" name="TextBox 4"/>
          <p:cNvSpPr txBox="1"/>
          <p:nvPr/>
        </p:nvSpPr>
        <p:spPr>
          <a:xfrm>
            <a:off x="640080" y="3337560"/>
            <a:ext cx="10911535" cy="548640"/>
          </a:xfrm>
          <a:prstGeom prst="rect">
            <a:avLst/>
          </a:prstGeom>
          <a:noFill/>
        </p:spPr>
        <p:txBody>
          <a:bodyPr wrap="square" anchor="t" lIns="0" rIns="0" tIns="0" bIns="0">
            <a:spAutoFit/>
          </a:bodyPr>
          <a:lstStyle/>
          <a:p>
            <a:r>
              <a:rPr sz="1200" b="0" i="1">
                <a:solidFill>
                  <a:srgbClr val="2B2B2B"/>
                </a:solidFill>
                <a:latin typeface="Calibri"/>
              </a:rPr>
              <a:t>ESP329: 32 h acompañamiento directo + 64 h autónomo (2 créditos). Todo el encuentro se graba. Las tutorías por grupo se acuerdan en la semana con el Docente (no hay atención espontánea sin cita). Registra cada tutoría (slide siguiente).</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REGISTRO OBLIGATORIO DE TUTORÍAS</a:t>
            </a:r>
          </a:p>
        </p:txBody>
      </p:sp>
      <p:sp>
        <p:nvSpPr>
          <p:cNvPr id="4" name="Rounded Rectangle 3"/>
          <p:cNvSpPr/>
          <p:nvPr/>
        </p:nvSpPr>
        <p:spPr>
          <a:xfrm>
            <a:off x="640080" y="1783080"/>
            <a:ext cx="10911535" cy="2194560"/>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64592" cy="2194560"/>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271455" cy="640080"/>
          </a:xfrm>
          <a:prstGeom prst="rect">
            <a:avLst/>
          </a:prstGeom>
          <a:noFill/>
        </p:spPr>
        <p:txBody>
          <a:bodyPr wrap="square" anchor="t" lIns="0" rIns="0" tIns="0" bIns="0">
            <a:spAutoFit/>
          </a:bodyPr>
          <a:lstStyle/>
          <a:p>
            <a:r>
              <a:rPr sz="2000" b="1" i="0">
                <a:solidFill>
                  <a:srgbClr val="0C2340"/>
                </a:solidFill>
                <a:latin typeface="Calibri"/>
              </a:rPr>
              <a:t>En CADA tutoría (del encuentro o adicional) diligencia TU formulario:</a:t>
            </a:r>
          </a:p>
        </p:txBody>
      </p:sp>
      <p:sp>
        <p:nvSpPr>
          <p:cNvPr id="7" name="TextBox 6"/>
          <p:cNvSpPr txBox="1"/>
          <p:nvPr/>
        </p:nvSpPr>
        <p:spPr>
          <a:xfrm>
            <a:off x="1051560" y="2743200"/>
            <a:ext cx="10271455" cy="822960"/>
          </a:xfrm>
          <a:prstGeom prst="rect">
            <a:avLst/>
          </a:prstGeom>
          <a:noFill/>
        </p:spPr>
        <p:txBody>
          <a:bodyPr wrap="square" anchor="ctr" lIns="0" rIns="0" tIns="0" bIns="0">
            <a:spAutoFit/>
          </a:bodyPr>
          <a:lstStyle/>
          <a:p>
            <a:pPr algn="ctr"/>
            <a:r>
              <a:rPr sz="2200" b="1" i="0">
                <a:solidFill>
                  <a:srgbClr val="007433"/>
                </a:solidFill>
                <a:latin typeface="Calibri"/>
              </a:rPr>
              <a:t>https://forms.gle/oZ8xCYiUo3KEWr1d9</a:t>
            </a:r>
          </a:p>
        </p:txBody>
      </p:sp>
      <p:sp>
        <p:nvSpPr>
          <p:cNvPr id="8" name="TextBox 7"/>
          <p:cNvSpPr txBox="1"/>
          <p:nvPr/>
        </p:nvSpPr>
        <p:spPr>
          <a:xfrm>
            <a:off x="640080" y="4206240"/>
            <a:ext cx="10911535" cy="457200"/>
          </a:xfrm>
          <a:prstGeom prst="rect">
            <a:avLst/>
          </a:prstGeom>
          <a:noFill/>
        </p:spPr>
        <p:txBody>
          <a:bodyPr wrap="square" anchor="t" lIns="0" rIns="0" tIns="0" bIns="0">
            <a:spAutoFit/>
          </a:bodyPr>
          <a:lstStyle/>
          <a:p>
            <a:r>
              <a:rPr sz="1400" b="0" i="0">
                <a:solidFill>
                  <a:srgbClr val="2B2B2B"/>
                </a:solidFill>
                <a:latin typeface="Calibri"/>
              </a:rPr>
              <a:t>Las tutorías por grupo se acuerdan en la semana con el Docente (no hay atención espontánea sin cita).</a:t>
            </a:r>
          </a:p>
        </p:txBody>
      </p:sp>
      <p:sp>
        <p:nvSpPr>
          <p:cNvPr id="9" name="TextBox 8"/>
          <p:cNvSpPr txBox="1"/>
          <p:nvPr/>
        </p:nvSpPr>
        <p:spPr>
          <a:xfrm>
            <a:off x="640080" y="4709159"/>
            <a:ext cx="10911535" cy="457200"/>
          </a:xfrm>
          <a:prstGeom prst="rect">
            <a:avLst/>
          </a:prstGeom>
          <a:noFill/>
        </p:spPr>
        <p:txBody>
          <a:bodyPr wrap="square" anchor="t" lIns="0" rIns="0" tIns="0" bIns="0">
            <a:spAutoFit/>
          </a:bodyPr>
          <a:lstStyle/>
          <a:p>
            <a:r>
              <a:rPr sz="1400" b="0" i="0">
                <a:solidFill>
                  <a:srgbClr val="2B2B2B"/>
                </a:solidFill>
                <a:latin typeface="Calibri"/>
              </a:rPr>
              <a:t>⚠️ Sin este registro, tu asistencia a tutorías puede no quedar acreditada.</a:t>
            </a:r>
          </a:p>
        </p:txBody>
      </p:sp>
      <p:sp>
        <p:nvSpPr>
          <p:cNvPr id="10" name="TextBox 9"/>
          <p:cNvSpPr txBox="1"/>
          <p:nvPr/>
        </p:nvSpPr>
        <p:spPr>
          <a:xfrm>
            <a:off x="640080" y="5212079"/>
            <a:ext cx="10911535" cy="457200"/>
          </a:xfrm>
          <a:prstGeom prst="rect">
            <a:avLst/>
          </a:prstGeom>
          <a:noFill/>
        </p:spPr>
        <p:txBody>
          <a:bodyPr wrap="square" anchor="t" lIns="0" rIns="0" tIns="0" bIns="0">
            <a:spAutoFit/>
          </a:bodyPr>
          <a:lstStyle/>
          <a:p>
            <a:r>
              <a:rPr sz="1400" b="0" i="0">
                <a:solidFill>
                  <a:srgbClr val="2B2B2B"/>
                </a:solidFill>
                <a:latin typeface="Calibri"/>
              </a:rPr>
              <a:t>Formulario del ESTUDIANTE (distinto del registro del Docente). Ambos son obligatorios.</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CONTENIDO</a:t>
            </a:r>
          </a:p>
        </p:txBody>
      </p:sp>
      <p:sp>
        <p:nvSpPr>
          <p:cNvPr id="4" name="TextBox 3"/>
          <p:cNvSpPr txBox="1"/>
          <p:nvPr/>
        </p:nvSpPr>
        <p:spPr>
          <a:xfrm>
            <a:off x="640080"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1</a:t>
            </a:r>
            <a:r>
              <a:rPr sz="1200" b="0" i="0">
                <a:solidFill>
                  <a:srgbClr val="2B2B2B"/>
                </a:solidFill>
                <a:latin typeface="Calibri"/>
              </a:rPr>
              <a:t> — Presentación del curso · docente · estudiantes · ACAs.</a:t>
            </a:r>
          </a:p>
          <a:p>
            <a:pPr>
              <a:spcAft>
                <a:spcPts val="600"/>
              </a:spcAft>
            </a:pPr>
            <a:r>
              <a:rPr sz="1200" b="0" i="0">
                <a:solidFill>
                  <a:srgbClr val="2B2B2B"/>
                </a:solidFill>
                <a:latin typeface="Calibri"/>
              </a:rPr>
              <a:t>–   </a:t>
            </a:r>
            <a:r>
              <a:rPr sz="1200" b="1" i="0">
                <a:solidFill>
                  <a:srgbClr val="2B2B2B"/>
                </a:solidFill>
                <a:latin typeface="Calibri"/>
              </a:rPr>
              <a:t>Sesión 2</a:t>
            </a:r>
            <a:r>
              <a:rPr sz="1200" b="0" i="0">
                <a:solidFill>
                  <a:srgbClr val="2B2B2B"/>
                </a:solidFill>
                <a:latin typeface="Calibri"/>
              </a:rPr>
              <a:t> — Problema y pregunta de investigación.</a:t>
            </a:r>
          </a:p>
          <a:p>
            <a:pPr>
              <a:spcAft>
                <a:spcPts val="600"/>
              </a:spcAft>
            </a:pPr>
            <a:r>
              <a:rPr sz="1200" b="0" i="0">
                <a:solidFill>
                  <a:srgbClr val="2B2B2B"/>
                </a:solidFill>
                <a:latin typeface="Calibri"/>
              </a:rPr>
              <a:t>–   </a:t>
            </a:r>
            <a:r>
              <a:rPr sz="1200" b="1" i="0">
                <a:solidFill>
                  <a:srgbClr val="2B2B2B"/>
                </a:solidFill>
                <a:latin typeface="Calibri"/>
              </a:rPr>
              <a:t>Sesión 3</a:t>
            </a:r>
            <a:r>
              <a:rPr sz="1200" b="0" i="0">
                <a:solidFill>
                  <a:srgbClr val="2B2B2B"/>
                </a:solidFill>
                <a:latin typeface="Calibri"/>
              </a:rPr>
              <a:t> — Objetivos, justificación, alcances y limitaciones.</a:t>
            </a:r>
          </a:p>
          <a:p>
            <a:pPr>
              <a:spcAft>
                <a:spcPts val="600"/>
              </a:spcAft>
            </a:pPr>
            <a:r>
              <a:rPr sz="1200" b="0" i="0">
                <a:solidFill>
                  <a:srgbClr val="2B2B2B"/>
                </a:solidFill>
                <a:latin typeface="Calibri"/>
              </a:rPr>
              <a:t>–   </a:t>
            </a:r>
            <a:r>
              <a:rPr sz="1200" b="1" i="0">
                <a:solidFill>
                  <a:srgbClr val="2B2B2B"/>
                </a:solidFill>
                <a:latin typeface="Calibri"/>
              </a:rPr>
              <a:t>Sesión 4</a:t>
            </a:r>
            <a:r>
              <a:rPr sz="1200" b="0" i="0">
                <a:solidFill>
                  <a:srgbClr val="2B2B2B"/>
                </a:solidFill>
                <a:latin typeface="Calibri"/>
              </a:rPr>
              <a:t> — Retroalimentación del Quiz · Antecedentes de investigación.</a:t>
            </a:r>
          </a:p>
          <a:p>
            <a:pPr>
              <a:spcAft>
                <a:spcPts val="600"/>
              </a:spcAft>
            </a:pPr>
            <a:r>
              <a:rPr sz="1200" b="0" i="0">
                <a:solidFill>
                  <a:srgbClr val="2B2B2B"/>
                </a:solidFill>
                <a:latin typeface="Calibri"/>
              </a:rPr>
              <a:t>–   </a:t>
            </a:r>
            <a:r>
              <a:rPr sz="1200" b="1" i="0">
                <a:solidFill>
                  <a:srgbClr val="2B2B2B"/>
                </a:solidFill>
                <a:latin typeface="Calibri"/>
              </a:rPr>
              <a:t>Sesión 5</a:t>
            </a:r>
            <a:r>
              <a:rPr sz="1200" b="0" i="0">
                <a:solidFill>
                  <a:srgbClr val="2B2B2B"/>
                </a:solidFill>
                <a:latin typeface="Calibri"/>
              </a:rPr>
              <a:t> — Marco teórico.</a:t>
            </a:r>
          </a:p>
          <a:p>
            <a:pPr>
              <a:spcAft>
                <a:spcPts val="600"/>
              </a:spcAft>
            </a:pPr>
            <a:r>
              <a:rPr sz="1200" b="0" i="0">
                <a:solidFill>
                  <a:srgbClr val="2B2B2B"/>
                </a:solidFill>
                <a:latin typeface="Calibri"/>
              </a:rPr>
              <a:t>–   </a:t>
            </a:r>
            <a:r>
              <a:rPr sz="1200" b="1" i="0">
                <a:solidFill>
                  <a:srgbClr val="2B2B2B"/>
                </a:solidFill>
                <a:latin typeface="Calibri"/>
              </a:rPr>
              <a:t>Sesión 6</a:t>
            </a:r>
            <a:r>
              <a:rPr sz="1200" b="0" i="0">
                <a:solidFill>
                  <a:srgbClr val="2B2B2B"/>
                </a:solidFill>
                <a:latin typeface="Calibri"/>
              </a:rPr>
              <a:t> — Marco conceptual y marco contextual.</a:t>
            </a:r>
          </a:p>
        </p:txBody>
      </p:sp>
      <p:sp>
        <p:nvSpPr>
          <p:cNvPr id="5" name="TextBox 4"/>
          <p:cNvSpPr txBox="1"/>
          <p:nvPr/>
        </p:nvSpPr>
        <p:spPr>
          <a:xfrm>
            <a:off x="6210147"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7</a:t>
            </a:r>
            <a:r>
              <a:rPr sz="1200" b="0" i="0">
                <a:solidFill>
                  <a:srgbClr val="2B2B2B"/>
                </a:solidFill>
                <a:latin typeface="Calibri"/>
              </a:rPr>
              <a:t> — Marco legal · citación APA 7.</a:t>
            </a:r>
          </a:p>
          <a:p>
            <a:pPr>
              <a:spcAft>
                <a:spcPts val="600"/>
              </a:spcAft>
            </a:pPr>
            <a:r>
              <a:rPr sz="1200" b="0" i="0">
                <a:solidFill>
                  <a:srgbClr val="2B2B2B"/>
                </a:solidFill>
                <a:latin typeface="Calibri"/>
              </a:rPr>
              <a:t>–   </a:t>
            </a:r>
            <a:r>
              <a:rPr sz="1200" b="1" i="0">
                <a:solidFill>
                  <a:srgbClr val="2B2B2B"/>
                </a:solidFill>
                <a:latin typeface="Calibri"/>
              </a:rPr>
              <a:t>Sesión 8</a:t>
            </a:r>
            <a:r>
              <a:rPr sz="1200" b="0" i="0">
                <a:solidFill>
                  <a:srgbClr val="2B2B2B"/>
                </a:solidFill>
                <a:latin typeface="Calibri"/>
              </a:rPr>
              <a:t> — Diseño metodológico: paradigma, enfoque y alcance.</a:t>
            </a:r>
          </a:p>
          <a:p>
            <a:pPr>
              <a:spcAft>
                <a:spcPts val="600"/>
              </a:spcAft>
            </a:pPr>
            <a:r>
              <a:rPr sz="1200" b="0" i="0">
                <a:solidFill>
                  <a:srgbClr val="2B2B2B"/>
                </a:solidFill>
                <a:latin typeface="Calibri"/>
              </a:rPr>
              <a:t>–   </a:t>
            </a:r>
            <a:r>
              <a:rPr sz="1200" b="1" i="0">
                <a:solidFill>
                  <a:srgbClr val="2B2B2B"/>
                </a:solidFill>
                <a:latin typeface="Calibri"/>
              </a:rPr>
              <a:t>Sesión 9</a:t>
            </a:r>
            <a:r>
              <a:rPr sz="1200" b="0" i="0">
                <a:solidFill>
                  <a:srgbClr val="2B2B2B"/>
                </a:solidFill>
                <a:latin typeface="Calibri"/>
              </a:rPr>
              <a:t> — Devolución de la ACA 1 · población, muestra e instrumentos propuestos.</a:t>
            </a:r>
          </a:p>
          <a:p>
            <a:pPr>
              <a:spcAft>
                <a:spcPts val="600"/>
              </a:spcAft>
            </a:pPr>
            <a:r>
              <a:rPr sz="1200" b="0" i="0">
                <a:solidFill>
                  <a:srgbClr val="2B2B2B"/>
                </a:solidFill>
                <a:latin typeface="Calibri"/>
              </a:rPr>
              <a:t>–   </a:t>
            </a:r>
            <a:r>
              <a:rPr sz="1200" b="1" i="0">
                <a:solidFill>
                  <a:srgbClr val="2B2B2B"/>
                </a:solidFill>
                <a:latin typeface="Calibri"/>
              </a:rPr>
              <a:t>Sesión 10</a:t>
            </a:r>
            <a:r>
              <a:rPr sz="1200" b="0" i="0">
                <a:solidFill>
                  <a:srgbClr val="2B2B2B"/>
                </a:solidFill>
                <a:latin typeface="Calibri"/>
              </a:rPr>
              <a:t> — Planeación, viabilidad e integración del anteproyecto.</a:t>
            </a:r>
          </a:p>
          <a:p>
            <a:pPr>
              <a:spcAft>
                <a:spcPts val="600"/>
              </a:spcAft>
            </a:pPr>
            <a:r>
              <a:rPr sz="1200" b="0" i="0">
                <a:solidFill>
                  <a:srgbClr val="2B2B2B"/>
                </a:solidFill>
                <a:latin typeface="Calibri"/>
              </a:rPr>
              <a:t>–   </a:t>
            </a:r>
            <a:r>
              <a:rPr sz="1200" b="1" i="0">
                <a:solidFill>
                  <a:srgbClr val="2B2B2B"/>
                </a:solidFill>
                <a:latin typeface="Calibri"/>
              </a:rPr>
              <a:t>Sesión 11</a:t>
            </a:r>
            <a:r>
              <a:rPr sz="1200" b="0" i="0">
                <a:solidFill>
                  <a:srgbClr val="2B2B2B"/>
                </a:solidFill>
                <a:latin typeface="Calibri"/>
              </a:rPr>
              <a:t> — Integración y evaluación · coevaluación y autoevaluación.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EVALUACIÓN — LOS TRES CORTES EN EL AULA (ESP329 / Art. 41)</a:t>
            </a:r>
          </a:p>
        </p:txBody>
      </p:sp>
      <p:graphicFrame>
        <p:nvGraphicFramePr>
          <p:cNvPr id="4" name="Table 3"/>
          <p:cNvGraphicFramePr>
            <a:graphicFrameLocks noGrp="1"/>
          </p:cNvGraphicFramePr>
          <p:nvPr/>
        </p:nvGraphicFramePr>
        <p:xfrm>
          <a:off x="640080" y="1691639"/>
          <a:ext cx="10911533" cy="3017520"/>
        </p:xfrm>
        <a:graphic>
          <a:graphicData uri="http://schemas.openxmlformats.org/drawingml/2006/table">
            <a:tbl>
              <a:tblPr>
                <a:tableStyleId>{2D5ABB26-0587-4C30-8999-92F81FD0307C}</a:tableStyleId>
              </a:tblPr>
              <a:tblGrid>
                <a:gridCol w="1925565"/>
                <a:gridCol w="1283710"/>
                <a:gridCol w="1375403"/>
                <a:gridCol w="916935"/>
                <a:gridCol w="5409920"/>
              </a:tblGrid>
              <a:tr h="502920">
                <a:tc>
                  <a:txBody>
                    <a:bodyPr/>
                    <a:lstStyle/>
                    <a:p>
                      <a:pPr algn="l"/>
                      <a:r>
                        <a:rPr sz="1300" b="1" i="0">
                          <a:solidFill>
                            <a:srgbClr val="FFFFFF"/>
                          </a:solidFill>
                          <a:latin typeface="Calibri"/>
                        </a:rPr>
                        <a:t>Ítem en CDigital</a:t>
                      </a:r>
                    </a:p>
                  </a:txBody>
                  <a:tcPr anchor="ctr" marL="109728" marR="91440" marT="36576" marB="36576">
                    <a:solidFill>
                      <a:srgbClr val="0C2340"/>
                    </a:solidFill>
                  </a:tcPr>
                </a:tc>
                <a:tc>
                  <a:txBody>
                    <a:bodyPr/>
                    <a:lstStyle/>
                    <a:p>
                      <a:pPr algn="l"/>
                      <a:r>
                        <a:rPr sz="1300" b="1" i="0">
                          <a:solidFill>
                            <a:srgbClr val="FFFFFF"/>
                          </a:solidFill>
                          <a:latin typeface="Calibri"/>
                        </a:rPr>
                        <a:t>Tipo</a:t>
                      </a:r>
                    </a:p>
                  </a:txBody>
                  <a:tcPr anchor="ctr" marL="109728" marR="91440" marT="36576" marB="36576">
                    <a:solidFill>
                      <a:srgbClr val="0C2340"/>
                    </a:solidFill>
                  </a:tcPr>
                </a:tc>
                <a:tc>
                  <a:txBody>
                    <a:bodyPr/>
                    <a:lstStyle/>
                    <a:p>
                      <a:pPr algn="l"/>
                      <a:r>
                        <a:rPr sz="1300" b="1" i="0">
                          <a:solidFill>
                            <a:srgbClr val="FFFFFF"/>
                          </a:solidFill>
                          <a:latin typeface="Calibri"/>
                        </a:rPr>
                        <a:t>Corte (peso)</a:t>
                      </a:r>
                    </a:p>
                  </a:txBody>
                  <a:tcPr anchor="ctr" marL="109728" marR="91440" marT="36576" marB="36576">
                    <a:solidFill>
                      <a:srgbClr val="0C2340"/>
                    </a:solidFill>
                  </a:tcPr>
                </a:tc>
                <a:tc>
                  <a:txBody>
                    <a:bodyPr/>
                    <a:lstStyle/>
                    <a:p>
                      <a:pPr algn="l"/>
                      <a:r>
                        <a:rPr sz="1300" b="1" i="0">
                          <a:solidFill>
                            <a:srgbClr val="FFFFFF"/>
                          </a:solidFill>
                          <a:latin typeface="Calibri"/>
                        </a:rPr>
                        <a:t>Peso</a:t>
                      </a:r>
                    </a:p>
                  </a:txBody>
                  <a:tcPr anchor="ctr" marL="109728" marR="91440" marT="36576" marB="36576">
                    <a:solidFill>
                      <a:srgbClr val="0C2340"/>
                    </a:solidFill>
                  </a:tcPr>
                </a:tc>
                <a:tc>
                  <a:txBody>
                    <a:bodyPr/>
                    <a:lstStyle/>
                    <a:p>
                      <a:pPr algn="l"/>
                      <a:r>
                        <a:rPr sz="1300" b="1" i="0">
                          <a:solidFill>
                            <a:srgbClr val="FFFFFF"/>
                          </a:solidFill>
                          <a:latin typeface="Calibri"/>
                        </a:rPr>
                        <a:t>Qué valora</a:t>
                      </a:r>
                    </a:p>
                  </a:txBody>
                  <a:tcPr anchor="ctr" marL="109728" marR="91440" marT="36576" marB="36576">
                    <a:solidFill>
                      <a:srgbClr val="0C2340"/>
                    </a:solidFill>
                  </a:tcPr>
                </a:tc>
              </a:tr>
              <a:tr h="502920">
                <a:tc>
                  <a:txBody>
                    <a:bodyPr/>
                    <a:lstStyle/>
                    <a:p>
                      <a:pPr algn="l"/>
                      <a:r>
                        <a:rPr sz="1100" b="1" i="0">
                          <a:solidFill>
                            <a:srgbClr val="2B2B2B"/>
                          </a:solidFill>
                          <a:latin typeface="Calibri"/>
                        </a:rPr>
                        <a:t>Quiz</a:t>
                      </a:r>
                    </a:p>
                  </a:txBody>
                  <a:tcPr anchor="ctr" marL="109728" marR="91440" marT="36576" marB="36576">
                    <a:solidFill>
                      <a:srgbClr val="FFFFFF"/>
                    </a:solidFill>
                  </a:tcPr>
                </a:tc>
                <a:tc>
                  <a:txBody>
                    <a:bodyPr/>
                    <a:lstStyle/>
                    <a:p>
                      <a:pPr algn="l"/>
                      <a:r>
                        <a:rPr sz="1100" b="0" i="0">
                          <a:solidFill>
                            <a:srgbClr val="2B2B2B"/>
                          </a:solidFill>
                          <a:latin typeface="Calibri"/>
                        </a:rPr>
                        <a:t>Cuestionario</a:t>
                      </a:r>
                    </a:p>
                  </a:txBody>
                  <a:tcPr anchor="ctr" marL="109728" marR="91440" marT="36576" marB="36576">
                    <a:solidFill>
                      <a:srgbClr val="FFFFFF"/>
                    </a:solidFill>
                  </a:tcPr>
                </a:tc>
                <a:tc>
                  <a:txBody>
                    <a:bodyPr/>
                    <a:lstStyle/>
                    <a:p>
                      <a:pPr algn="l"/>
                      <a:r>
                        <a:rPr sz="1100" b="0" i="0">
                          <a:solidFill>
                            <a:srgbClr val="2B2B2B"/>
                          </a:solidFill>
                          <a:latin typeface="Calibri"/>
                        </a:rPr>
                        <a:t>1 (25%)</a:t>
                      </a:r>
                    </a:p>
                  </a:txBody>
                  <a:tcPr anchor="ctr" marL="109728" marR="91440" marT="36576" marB="36576">
                    <a:solidFill>
                      <a:srgbClr val="FFFFFF"/>
                    </a:solidFill>
                  </a:tcPr>
                </a:tc>
                <a:tc>
                  <a:txBody>
                    <a:bodyPr/>
                    <a:lstStyle/>
                    <a:p>
                      <a:pPr algn="l"/>
                      <a:r>
                        <a:rPr sz="1100" b="1" i="0">
                          <a:solidFill>
                            <a:srgbClr val="2B2B2B"/>
                          </a:solidFill>
                          <a:latin typeface="Calibri"/>
                        </a:rPr>
                        <a:t>25%</a:t>
                      </a:r>
                    </a:p>
                  </a:txBody>
                  <a:tcPr anchor="ctr" marL="109728" marR="91440" marT="36576" marB="36576">
                    <a:solidFill>
                      <a:srgbClr val="FFFFFF"/>
                    </a:solidFill>
                  </a:tcPr>
                </a:tc>
                <a:tc>
                  <a:txBody>
                    <a:bodyPr/>
                    <a:lstStyle/>
                    <a:p>
                      <a:pPr algn="l"/>
                      <a:r>
                        <a:rPr sz="1100" b="0" i="0">
                          <a:solidFill>
                            <a:srgbClr val="2B2B2B"/>
                          </a:solidFill>
                          <a:latin typeface="Calibri"/>
                        </a:rPr>
                        <a:t>Comprobación individual en CDigital de las sesiones 02–03: problema, pregunta, objetivos y justificación. Guía escrita: `Quiz (25%)`.</a:t>
                      </a:r>
                    </a:p>
                  </a:txBody>
                  <a:tcPr anchor="ctr" marL="109728" marR="91440" marT="36576" marB="36576">
                    <a:solidFill>
                      <a:srgbClr val="FFFFFF"/>
                    </a:solidFill>
                  </a:tcPr>
                </a:tc>
              </a:tr>
              <a:tr h="502920">
                <a:tc>
                  <a:txBody>
                    <a:bodyPr/>
                    <a:lstStyle/>
                    <a:p>
                      <a:pPr algn="l"/>
                      <a:r>
                        <a:rPr sz="1100" b="1" i="0">
                          <a:solidFill>
                            <a:srgbClr val="2B2B2B"/>
                          </a:solidFill>
                          <a:latin typeface="Calibri"/>
                        </a:rPr>
                        <a:t>ACA 1</a:t>
                      </a:r>
                    </a:p>
                  </a:txBody>
                  <a:tcPr anchor="ctr" marL="109728" marR="91440" marT="36576" marB="36576">
                    <a:solidFill>
                      <a:srgbClr val="F2F2F2"/>
                    </a:solidFill>
                  </a:tcPr>
                </a:tc>
                <a:tc>
                  <a:txBody>
                    <a:bodyPr/>
                    <a:lstStyle/>
                    <a:p>
                      <a:pPr algn="l"/>
                      <a:r>
                        <a:rPr sz="1100" b="0" i="0">
                          <a:solidFill>
                            <a:srgbClr val="2B2B2B"/>
                          </a:solidFill>
                          <a:latin typeface="Calibri"/>
                        </a:rPr>
                        <a:t>Tarea</a:t>
                      </a:r>
                    </a:p>
                  </a:txBody>
                  <a:tcPr anchor="ctr" marL="109728" marR="91440" marT="36576" marB="36576">
                    <a:solidFill>
                      <a:srgbClr val="F2F2F2"/>
                    </a:solidFill>
                  </a:tcPr>
                </a:tc>
                <a:tc>
                  <a:txBody>
                    <a:bodyPr/>
                    <a:lstStyle/>
                    <a:p>
                      <a:pPr algn="l"/>
                      <a:r>
                        <a:rPr sz="1100" b="0" i="0">
                          <a:solidFill>
                            <a:srgbClr val="2B2B2B"/>
                          </a:solidFill>
                          <a:latin typeface="Calibri"/>
                        </a:rPr>
                        <a:t>2 (25%)</a:t>
                      </a:r>
                    </a:p>
                  </a:txBody>
                  <a:tcPr anchor="ctr" marL="109728" marR="91440" marT="36576" marB="36576">
                    <a:solidFill>
                      <a:srgbClr val="F2F2F2"/>
                    </a:solidFill>
                  </a:tcPr>
                </a:tc>
                <a:tc>
                  <a:txBody>
                    <a:bodyPr/>
                    <a:lstStyle/>
                    <a:p>
                      <a:pPr algn="l"/>
                      <a:r>
                        <a:rPr sz="1100" b="1" i="0">
                          <a:solidFill>
                            <a:srgbClr val="2B2B2B"/>
                          </a:solidFill>
                          <a:latin typeface="Calibri"/>
                        </a:rPr>
                        <a:t>25%</a:t>
                      </a:r>
                    </a:p>
                  </a:txBody>
                  <a:tcPr anchor="ctr" marL="109728" marR="91440" marT="36576" marB="36576">
                    <a:solidFill>
                      <a:srgbClr val="F2F2F2"/>
                    </a:solidFill>
                  </a:tcPr>
                </a:tc>
                <a:tc>
                  <a:txBody>
                    <a:bodyPr/>
                    <a:lstStyle/>
                    <a:p>
                      <a:pPr algn="l"/>
                      <a:r>
                        <a:rPr sz="1100" b="0" i="0">
                          <a:solidFill>
                            <a:srgbClr val="2B2B2B"/>
                          </a:solidFill>
                          <a:latin typeface="Calibri"/>
                        </a:rPr>
                        <a:t>Documento del equipo: correcciones + marco referencial — antecedentes, teórico, conceptual, contextual y legal. Enunciado: `ACA 1 (25%)`.</a:t>
                      </a:r>
                    </a:p>
                  </a:txBody>
                  <a:tcPr anchor="ctr" marL="109728" marR="91440" marT="36576" marB="36576">
                    <a:solidFill>
                      <a:srgbClr val="F2F2F2"/>
                    </a:solidFill>
                  </a:tcPr>
                </a:tc>
              </a:tr>
              <a:tr h="502920">
                <a:tc>
                  <a:txBody>
                    <a:bodyPr/>
                    <a:lstStyle/>
                    <a:p>
                      <a:pPr algn="l"/>
                      <a:r>
                        <a:rPr sz="1100" b="1" i="0">
                          <a:solidFill>
                            <a:srgbClr val="2B2B2B"/>
                          </a:solidFill>
                          <a:latin typeface="Calibri"/>
                        </a:rPr>
                        <a:t>ACA FINAL</a:t>
                      </a:r>
                    </a:p>
                  </a:txBody>
                  <a:tcPr anchor="ctr" marL="109728" marR="91440" marT="36576" marB="36576">
                    <a:solidFill>
                      <a:srgbClr val="FFFFFF"/>
                    </a:solidFill>
                  </a:tcPr>
                </a:tc>
                <a:tc>
                  <a:txBody>
                    <a:bodyPr/>
                    <a:lstStyle/>
                    <a:p>
                      <a:pPr algn="l"/>
                      <a:r>
                        <a:rPr sz="1100" b="0" i="0">
                          <a:solidFill>
                            <a:srgbClr val="2B2B2B"/>
                          </a:solidFill>
                          <a:latin typeface="Calibri"/>
                        </a:rPr>
                        <a:t>Tarea</a:t>
                      </a:r>
                    </a:p>
                  </a:txBody>
                  <a:tcPr anchor="ctr" marL="109728" marR="91440" marT="36576" marB="36576">
                    <a:solidFill>
                      <a:srgbClr val="FFFFFF"/>
                    </a:solidFill>
                  </a:tcPr>
                </a:tc>
                <a:tc>
                  <a:txBody>
                    <a:bodyPr/>
                    <a:lstStyle/>
                    <a:p>
                      <a:pPr algn="l"/>
                      <a:r>
                        <a:rPr sz="1100" b="0" i="0">
                          <a:solidFill>
                            <a:srgbClr val="2B2B2B"/>
                          </a:solidFill>
                          <a:latin typeface="Calibri"/>
                        </a:rPr>
                        <a:t>3 (50%)</a:t>
                      </a:r>
                    </a:p>
                  </a:txBody>
                  <a:tcPr anchor="ctr" marL="109728" marR="91440" marT="36576" marB="36576">
                    <a:solidFill>
                      <a:srgbClr val="FFFFFF"/>
                    </a:solidFill>
                  </a:tcPr>
                </a:tc>
                <a:tc>
                  <a:txBody>
                    <a:bodyPr/>
                    <a:lstStyle/>
                    <a:p>
                      <a:pPr algn="l"/>
                      <a:r>
                        <a:rPr sz="1100" b="1" i="0">
                          <a:solidFill>
                            <a:srgbClr val="2B2B2B"/>
                          </a:solidFill>
                          <a:latin typeface="Calibri"/>
                        </a:rPr>
                        <a:t>42%</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e integrado: metodología, instrumentos propuestos, cronograma, presupuesto y viabilidad. Enunciado: `ACA FINAL (42%)`.</a:t>
                      </a:r>
                    </a:p>
                  </a:txBody>
                  <a:tcPr anchor="ctr" marL="109728" marR="91440" marT="36576" marB="36576">
                    <a:solidFill>
                      <a:srgbClr val="FFFFFF"/>
                    </a:solidFill>
                  </a:tcPr>
                </a:tc>
              </a:tr>
              <a:tr h="502920">
                <a:tc>
                  <a:txBody>
                    <a:bodyPr/>
                    <a:lstStyle/>
                    <a:p>
                      <a:pPr algn="l"/>
                      <a:r>
                        <a:rPr sz="1100" b="1" i="0">
                          <a:solidFill>
                            <a:srgbClr val="2B2B2B"/>
                          </a:solidFill>
                          <a:latin typeface="Calibri"/>
                        </a:rPr>
                        <a:t>Autoevaluación</a:t>
                      </a:r>
                    </a:p>
                  </a:txBody>
                  <a:tcPr anchor="ctr" marL="109728" marR="91440" marT="36576" marB="36576">
                    <a:solidFill>
                      <a:srgbClr val="F2F2F2"/>
                    </a:solidFill>
                  </a:tcPr>
                </a:tc>
                <a:tc>
                  <a:txBody>
                    <a:bodyPr/>
                    <a:lstStyle/>
                    <a:p>
                      <a:pPr algn="l"/>
                      <a:r>
                        <a:rPr sz="1100" b="0" i="0">
                          <a:solidFill>
                            <a:srgbClr val="2B2B2B"/>
                          </a:solidFill>
                          <a:latin typeface="Calibri"/>
                        </a:rPr>
                        <a:t>Cuestionario</a:t>
                      </a:r>
                    </a:p>
                  </a:txBody>
                  <a:tcPr anchor="ctr" marL="109728" marR="91440" marT="36576" marB="36576">
                    <a:solidFill>
                      <a:srgbClr val="F2F2F2"/>
                    </a:solidFill>
                  </a:tcPr>
                </a:tc>
                <a:tc>
                  <a:txBody>
                    <a:bodyPr/>
                    <a:lstStyle/>
                    <a:p>
                      <a:pPr algn="l"/>
                      <a:r>
                        <a:rPr sz="1100" b="0" i="0">
                          <a:solidFill>
                            <a:srgbClr val="2B2B2B"/>
                          </a:solidFill>
                          <a:latin typeface="Calibri"/>
                        </a:rPr>
                        <a:t>3 (50%)</a:t>
                      </a:r>
                    </a:p>
                  </a:txBody>
                  <a:tcPr anchor="ctr" marL="109728" marR="91440" marT="36576" marB="36576">
                    <a:solidFill>
                      <a:srgbClr val="F2F2F2"/>
                    </a:solidFill>
                  </a:tcPr>
                </a:tc>
                <a:tc>
                  <a:txBody>
                    <a:bodyPr/>
                    <a:lstStyle/>
                    <a:p>
                      <a:pPr algn="l"/>
                      <a:r>
                        <a:rPr sz="1100" b="1"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Tu valoración de tu propio proceso y de tu aporte al equipo (individual). Instructivo: `Autoevaluacion individual (4%)`.</a:t>
                      </a:r>
                    </a:p>
                  </a:txBody>
                  <a:tcPr anchor="ctr" marL="109728" marR="91440" marT="36576" marB="36576">
                    <a:solidFill>
                      <a:srgbClr val="F2F2F2"/>
                    </a:solidFill>
                  </a:tcPr>
                </a:tc>
              </a:tr>
              <a:tr h="502920">
                <a:tc>
                  <a:txBody>
                    <a:bodyPr/>
                    <a:lstStyle/>
                    <a:p>
                      <a:pPr algn="l"/>
                      <a:r>
                        <a:rPr sz="1100" b="1" i="0">
                          <a:solidFill>
                            <a:srgbClr val="2B2B2B"/>
                          </a:solidFill>
                          <a:latin typeface="Calibri"/>
                        </a:rPr>
                        <a:t>Coevaluación</a:t>
                      </a:r>
                    </a:p>
                  </a:txBody>
                  <a:tcPr anchor="ctr" marL="109728" marR="91440" marT="36576" marB="36576">
                    <a:solidFill>
                      <a:srgbClr val="FFFFFF"/>
                    </a:solidFill>
                  </a:tcPr>
                </a:tc>
                <a:tc>
                  <a:txBody>
                    <a:bodyPr/>
                    <a:lstStyle/>
                    <a:p>
                      <a:pPr algn="l"/>
                      <a:r>
                        <a:rPr sz="1100" b="0" i="0">
                          <a:solidFill>
                            <a:srgbClr val="2B2B2B"/>
                          </a:solidFill>
                          <a:latin typeface="Calibri"/>
                        </a:rPr>
                        <a:t>Foro</a:t>
                      </a:r>
                    </a:p>
                  </a:txBody>
                  <a:tcPr anchor="ctr" marL="109728" marR="91440" marT="36576" marB="36576">
                    <a:solidFill>
                      <a:srgbClr val="FFFFFF"/>
                    </a:solidFill>
                  </a:tcPr>
                </a:tc>
                <a:tc>
                  <a:txBody>
                    <a:bodyPr/>
                    <a:lstStyle/>
                    <a:p>
                      <a:pPr algn="l"/>
                      <a:r>
                        <a:rPr sz="1100" b="0" i="0">
                          <a:solidFill>
                            <a:srgbClr val="2B2B2B"/>
                          </a:solidFill>
                          <a:latin typeface="Calibri"/>
                        </a:rPr>
                        <a:t>3 (50%)</a:t>
                      </a:r>
                    </a:p>
                  </a:txBody>
                  <a:tcPr anchor="ctr" marL="109728" marR="91440" marT="36576" marB="36576">
                    <a:solidFill>
                      <a:srgbClr val="FFFFFF"/>
                    </a:solidFill>
                  </a:tcPr>
                </a:tc>
                <a:tc>
                  <a:txBody>
                    <a:bodyPr/>
                    <a:lstStyle/>
                    <a:p>
                      <a:pPr algn="l"/>
                      <a:r>
                        <a:rPr sz="1100" b="1" i="0">
                          <a:solidFill>
                            <a:srgbClr val="2B2B2B"/>
                          </a:solidFill>
                          <a:latin typeface="Calibri"/>
                        </a:rPr>
                        <a:t>4%</a:t>
                      </a:r>
                    </a:p>
                  </a:txBody>
                  <a:tcPr anchor="ctr" marL="109728" marR="91440" marT="36576" marB="36576">
                    <a:solidFill>
                      <a:srgbClr val="FFFFFF"/>
                    </a:solidFill>
                  </a:tcPr>
                </a:tc>
                <a:tc>
                  <a:txBody>
                    <a:bodyPr/>
                    <a:lstStyle/>
                    <a:p>
                      <a:pPr algn="l"/>
                      <a:r>
                        <a:rPr sz="1100" b="0" i="0">
                          <a:solidFill>
                            <a:srgbClr val="2B2B2B"/>
                          </a:solidFill>
                          <a:latin typeface="Calibri"/>
                        </a:rPr>
                        <a:t>Valoración de los aportes de tus pares del equipo: se participa en el foro. Instructivo: `Coevaluacion individual (4%)`.</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Estructura, tipo de actividad y pesos = </a:t>
            </a:r>
            <a:r>
              <a:rPr sz="1200" b="1" i="1">
                <a:solidFill>
                  <a:srgbClr val="2B2B2B"/>
                </a:solidFill>
                <a:latin typeface="Calibri"/>
              </a:rPr>
              <a:t>libro de calificaciones del aula</a:t>
            </a:r>
            <a:r>
              <a:rPr sz="1200" b="0" i="1">
                <a:solidFill>
                  <a:srgbClr val="2B2B2B"/>
                </a:solidFill>
                <a:latin typeface="Calibri"/>
              </a:rPr>
              <a:t>; suman </a:t>
            </a:r>
            <a:r>
              <a:rPr sz="1200" b="1" i="1">
                <a:solidFill>
                  <a:srgbClr val="2B2B2B"/>
                </a:solidFill>
                <a:latin typeface="Calibri"/>
              </a:rPr>
              <a:t>100%</a:t>
            </a:r>
            <a:r>
              <a:rPr sz="1200" b="0" i="1">
                <a:solidFill>
                  <a:srgbClr val="2B2B2B"/>
                </a:solidFill>
                <a:latin typeface="Calibri"/>
              </a:rPr>
              <a:t>. ESP329 declara nota única: el aula la compone en </a:t>
            </a:r>
            <a:r>
              <a:rPr sz="1200" b="1" i="1">
                <a:solidFill>
                  <a:srgbClr val="2B2B2B"/>
                </a:solidFill>
                <a:latin typeface="Calibri"/>
              </a:rPr>
              <a:t>tres cortes (25% / 25% / 50%)</a:t>
            </a:r>
            <a:r>
              <a:rPr sz="1200" b="0" i="1">
                <a:solidFill>
                  <a:srgbClr val="2B2B2B"/>
                </a:solidFill>
                <a:latin typeface="Calibri"/>
              </a:rPr>
              <a:t>. Producto único y acumulativo: si el anteproyecto final evidencia correcciones y resultados, el Docente puede ajustar favorablemente los avances previos, con trazabilidad en CDigital.</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Y COEVALUACIÓN — CÓMO FUNCIONAN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En Proyecto I pesan 4% + 4%</a:t>
            </a:r>
            <a:r>
              <a:rPr sz="1300" b="0" i="0">
                <a:solidFill>
                  <a:srgbClr val="2B2B2B"/>
                </a:solidFill>
                <a:latin typeface="Calibri"/>
              </a:rPr>
              <a:t> (ESP329 · Art. 41 · cronograma AFI), dentro del tercer corte. Existen también en los demás cursos del Docente, con otro peso: lo que cambia es el porcentaje, no el instrumento.</a:t>
            </a:r>
          </a:p>
          <a:p>
            <a:pPr>
              <a:spcAft>
                <a:spcPts val="1000"/>
              </a:spcAft>
            </a:pPr>
            <a:r>
              <a:rPr sz="1300" b="0" i="0">
                <a:solidFill>
                  <a:srgbClr val="2B2B2B"/>
                </a:solidFill>
                <a:latin typeface="Calibri"/>
              </a:rPr>
              <a:t>–   </a:t>
            </a:r>
            <a:r>
              <a:rPr sz="1300" b="1" i="0">
                <a:solidFill>
                  <a:srgbClr val="2B2B2B"/>
                </a:solidFill>
                <a:latin typeface="Calibri"/>
              </a:rPr>
              <a:t>Autoevaluación (4%):</a:t>
            </a:r>
            <a:r>
              <a:rPr sz="1300" b="0" i="0">
                <a:solidFill>
                  <a:srgbClr val="2B2B2B"/>
                </a:solidFill>
                <a:latin typeface="Calibri"/>
              </a:rPr>
              <a:t> tú valoras tu proceso, aportes al equipo y logro del anteproyecto. Individual y honesta. En el aula es un </a:t>
            </a:r>
            <a:r>
              <a:rPr sz="1300" b="1" i="0">
                <a:solidFill>
                  <a:srgbClr val="2B2B2B"/>
                </a:solidFill>
                <a:latin typeface="Calibri"/>
              </a:rPr>
              <a:t>cuestionario</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Coevaluación (4%):</a:t>
            </a:r>
            <a:r>
              <a:rPr sz="1300" b="0" i="0">
                <a:solidFill>
                  <a:srgbClr val="2B2B2B"/>
                </a:solidFill>
                <a:latin typeface="Calibri"/>
              </a:rPr>
              <a:t> valoras el trabajo colaborativo / aportes de pares de tu equipo (respeto + criterio académico). En el aula es un </a:t>
            </a:r>
            <a:r>
              <a:rPr sz="1300" b="1" i="0">
                <a:solidFill>
                  <a:srgbClr val="2B2B2B"/>
                </a:solidFill>
                <a:latin typeface="Calibri"/>
              </a:rPr>
              <a:t>foro</a:t>
            </a:r>
            <a:r>
              <a:rPr sz="1300" b="0" i="0">
                <a:solidFill>
                  <a:srgbClr val="2B2B2B"/>
                </a:solidFill>
                <a:latin typeface="Calibri"/>
              </a:rPr>
              <a:t>: se participa, no se sube archivo.</a:t>
            </a:r>
          </a:p>
          <a:p>
            <a:pPr>
              <a:spcAft>
                <a:spcPts val="1000"/>
              </a:spcAft>
            </a:pPr>
            <a:r>
              <a:rPr sz="1300" b="0" i="0">
                <a:solidFill>
                  <a:srgbClr val="2B2B2B"/>
                </a:solidFill>
                <a:latin typeface="Calibri"/>
              </a:rPr>
              <a:t>–   </a:t>
            </a:r>
            <a:r>
              <a:rPr sz="1300" b="1" i="0">
                <a:solidFill>
                  <a:srgbClr val="2B2B2B"/>
                </a:solidFill>
                <a:latin typeface="Calibri"/>
              </a:rPr>
              <a:t>Dónde:</a:t>
            </a:r>
            <a:r>
              <a:rPr sz="1300" b="0" i="0">
                <a:solidFill>
                  <a:srgbClr val="2B2B2B"/>
                </a:solidFill>
                <a:latin typeface="Calibri"/>
              </a:rPr>
              <a:t> actividades individuales en </a:t>
            </a:r>
            <a:r>
              <a:rPr sz="1300" b="1" i="0">
                <a:solidFill>
                  <a:srgbClr val="2B2B2B"/>
                </a:solidFill>
                <a:latin typeface="Calibri"/>
              </a:rPr>
              <a:t>CDigital</a:t>
            </a:r>
            <a:r>
              <a:rPr sz="1300" b="0" i="0">
                <a:solidFill>
                  <a:srgbClr val="2B2B2B"/>
                </a:solidFill>
                <a:latin typeface="Calibri"/>
              </a:rPr>
              <a:t>. Instructivos en tu carpeta: `Recursos/ACAs/`.</a:t>
            </a:r>
          </a:p>
          <a:p>
            <a:pPr>
              <a:spcAft>
                <a:spcPts val="1000"/>
              </a:spcAft>
            </a:pPr>
            <a:r>
              <a:rPr sz="1300" b="0" i="0">
                <a:solidFill>
                  <a:srgbClr val="2B2B2B"/>
                </a:solidFill>
                <a:latin typeface="Calibri"/>
              </a:rPr>
              <a:t>–   </a:t>
            </a:r>
            <a:r>
              <a:rPr sz="1300" b="1" i="0">
                <a:solidFill>
                  <a:srgbClr val="2B2B2B"/>
                </a:solidFill>
                <a:latin typeface="Calibri"/>
              </a:rPr>
              <a:t>Cuándo (26ES4):</a:t>
            </a:r>
            <a:r>
              <a:rPr sz="1300" b="0" i="0">
                <a:solidFill>
                  <a:srgbClr val="2B2B2B"/>
                </a:solidFill>
                <a:latin typeface="Calibri"/>
              </a:rPr>
              <a:t> coevaluación </a:t>
            </a:r>
            <a:r>
              <a:rPr sz="1300" b="1" i="0">
                <a:solidFill>
                  <a:srgbClr val="2B2B2B"/>
                </a:solidFill>
                <a:latin typeface="Calibri"/>
              </a:rPr>
              <a:t>09/11/2026–15/11/2026</a:t>
            </a:r>
            <a:r>
              <a:rPr sz="1300" b="0" i="0">
                <a:solidFill>
                  <a:srgbClr val="2B2B2B"/>
                </a:solidFill>
                <a:latin typeface="Calibri"/>
              </a:rPr>
              <a:t> · autoevaluación </a:t>
            </a:r>
            <a:r>
              <a:rPr sz="1300" b="1" i="0">
                <a:solidFill>
                  <a:srgbClr val="2B2B2B"/>
                </a:solidFill>
                <a:latin typeface="Calibri"/>
              </a:rPr>
              <a:t>16/11/2026–22/11/2026</a:t>
            </a:r>
            <a:r>
              <a:rPr sz="1300" b="0" i="0">
                <a:solidFill>
                  <a:srgbClr val="2B2B2B"/>
                </a:solidFill>
                <a:latin typeface="Calibri"/>
              </a:rPr>
              <a:t> (cierre notas </a:t>
            </a:r>
            <a:r>
              <a:rPr sz="1300" b="1" i="0">
                <a:solidFill>
                  <a:srgbClr val="2B2B2B"/>
                </a:solidFill>
                <a:latin typeface="Calibri"/>
              </a:rPr>
              <a:t>22/11/2026</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Quién califica:</a:t>
            </a:r>
            <a:r>
              <a:rPr sz="1300" b="0" i="0">
                <a:solidFill>
                  <a:srgbClr val="2B2B2B"/>
                </a:solidFill>
                <a:latin typeface="Calibri"/>
              </a:rPr>
              <a:t> el estudiante diligencia el instrumento; el Docente habilita la ventana, verifica y registra la nota en el gradebook.</a:t>
            </a:r>
          </a:p>
          <a:p>
            <a:pPr>
              <a:spcAft>
                <a:spcPts val="1000"/>
              </a:spcAft>
            </a:pPr>
            <a:r>
              <a:rPr sz="1300" b="0" i="0">
                <a:solidFill>
                  <a:srgbClr val="2B2B2B"/>
                </a:solidFill>
                <a:latin typeface="Calibri"/>
              </a:rPr>
              <a:t>–   </a:t>
            </a:r>
            <a:r>
              <a:rPr sz="1300" b="1" i="0">
                <a:solidFill>
                  <a:srgbClr val="2B2B2B"/>
                </a:solidFill>
                <a:latin typeface="Calibri"/>
              </a:rPr>
              <a:t>Evidencia:</a:t>
            </a:r>
            <a:r>
              <a:rPr sz="1300" b="0" i="0">
                <a:solidFill>
                  <a:srgbClr val="2B2B2B"/>
                </a:solidFill>
                <a:latin typeface="Calibri"/>
              </a:rPr>
              <a:t> completar la actividad en la ventana. No sustituye el anteproyecto final (</a:t>
            </a:r>
            <a:r>
              <a:rPr sz="1300" b="1" i="0">
                <a:solidFill>
                  <a:srgbClr val="2B2B2B"/>
                </a:solidFill>
                <a:latin typeface="Calibri"/>
              </a:rPr>
              <a:t>ACA FINAL</a:t>
            </a:r>
            <a:r>
              <a:rPr sz="1300" b="0" i="0">
                <a:solidFill>
                  <a:srgbClr val="2B2B2B"/>
                </a:solidFill>
                <a:latin typeface="Calibri"/>
              </a:rPr>
              <a:t> en el aula).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ROLES — AUTO / COEVALUACIÓN</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Estudiante: espera la habilitación en CDigital → diligencia individual → respeta plazos. Si eres de equipo, la coevaluación mira aportes reales del trabajo conjunto.</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Docente: configurar/habilitar actividades individuales en las ventanas oficiales; calificar/registrar antes del cierre de notas; conservar evidencia en el aula.</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No confundir con la «autoevaluación» institucional SIAC (calidad de programas en acreditacion.cun.edu.co): esa no es una nota del curso.</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CRONOGRAMA — VENTANAS DE ENTREGA (AFI 26ES4)</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Periodo </a:t>
            </a:r>
            <a:r>
              <a:rPr sz="1500" b="1" i="0">
                <a:solidFill>
                  <a:srgbClr val="2B2B2B"/>
                </a:solidFill>
                <a:latin typeface="Calibri"/>
              </a:rPr>
              <a:t>26ES4</a:t>
            </a:r>
            <a:r>
              <a:rPr sz="1500" b="0" i="0">
                <a:solidFill>
                  <a:srgbClr val="2B2B2B"/>
                </a:solidFill>
                <a:latin typeface="Calibri"/>
              </a:rPr>
              <a:t> · cierre y registro de notas: </a:t>
            </a:r>
            <a:r>
              <a:rPr sz="1500" b="1" i="0">
                <a:solidFill>
                  <a:srgbClr val="2B2B2B"/>
                </a:solidFill>
                <a:latin typeface="Calibri"/>
              </a:rPr>
              <a:t>22/11/2026</a:t>
            </a:r>
          </a:p>
        </p:txBody>
      </p:sp>
      <p:sp>
        <p:nvSpPr>
          <p:cNvPr id="5" name="Rectangle 4"/>
          <p:cNvSpPr/>
          <p:nvPr/>
        </p:nvSpPr>
        <p:spPr>
          <a:xfrm>
            <a:off x="640080" y="2011679"/>
            <a:ext cx="3503066" cy="658368"/>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1  ·  25%</a:t>
            </a:r>
          </a:p>
        </p:txBody>
      </p:sp>
      <p:sp>
        <p:nvSpPr>
          <p:cNvPr id="7" name="Rectangle 6"/>
          <p:cNvSpPr/>
          <p:nvPr/>
        </p:nvSpPr>
        <p:spPr>
          <a:xfrm>
            <a:off x="640080"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03/08/2026</a:t>
            </a:r>
          </a:p>
        </p:txBody>
      </p:sp>
      <p:sp>
        <p:nvSpPr>
          <p:cNvPr id="9" name="Rectangle 8"/>
          <p:cNvSpPr/>
          <p:nvPr/>
        </p:nvSpPr>
        <p:spPr>
          <a:xfrm>
            <a:off x="960119"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30/08/2026</a:t>
            </a:r>
          </a:p>
        </p:txBody>
      </p:sp>
      <p:sp>
        <p:nvSpPr>
          <p:cNvPr id="11" name="Rectangle 10"/>
          <p:cNvSpPr/>
          <p:nvPr/>
        </p:nvSpPr>
        <p:spPr>
          <a:xfrm>
            <a:off x="4344314" y="2011679"/>
            <a:ext cx="3503066" cy="658368"/>
          </a:xfrm>
          <a:prstGeom prst="rect">
            <a:avLst/>
          </a:prstGeom>
          <a:solidFill>
            <a:srgbClr val="324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17466"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2  ·  25%</a:t>
            </a:r>
          </a:p>
        </p:txBody>
      </p:sp>
      <p:sp>
        <p:nvSpPr>
          <p:cNvPr id="13" name="Rectangle 12"/>
          <p:cNvSpPr/>
          <p:nvPr/>
        </p:nvSpPr>
        <p:spPr>
          <a:xfrm>
            <a:off x="4344314"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4042"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07/09/2026</a:t>
            </a:r>
          </a:p>
        </p:txBody>
      </p:sp>
      <p:sp>
        <p:nvSpPr>
          <p:cNvPr id="15" name="Rectangle 14"/>
          <p:cNvSpPr/>
          <p:nvPr/>
        </p:nvSpPr>
        <p:spPr>
          <a:xfrm>
            <a:off x="4664354"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4042"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04/10/2026</a:t>
            </a:r>
          </a:p>
        </p:txBody>
      </p:sp>
      <p:sp>
        <p:nvSpPr>
          <p:cNvPr id="17" name="Rectangle 16"/>
          <p:cNvSpPr/>
          <p:nvPr/>
        </p:nvSpPr>
        <p:spPr>
          <a:xfrm>
            <a:off x="8048548" y="2011679"/>
            <a:ext cx="3503066" cy="658368"/>
          </a:xfrm>
          <a:prstGeom prst="rect">
            <a:avLst/>
          </a:prstGeom>
          <a:solidFill>
            <a:srgbClr val="4A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1700"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3  ·  50%</a:t>
            </a:r>
          </a:p>
        </p:txBody>
      </p:sp>
      <p:sp>
        <p:nvSpPr>
          <p:cNvPr id="19" name="Rectangle 18"/>
          <p:cNvSpPr/>
          <p:nvPr/>
        </p:nvSpPr>
        <p:spPr>
          <a:xfrm>
            <a:off x="8048548"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8276"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12/10/2026</a:t>
            </a:r>
          </a:p>
        </p:txBody>
      </p:sp>
      <p:sp>
        <p:nvSpPr>
          <p:cNvPr id="21" name="Rectangle 20"/>
          <p:cNvSpPr/>
          <p:nvPr/>
        </p:nvSpPr>
        <p:spPr>
          <a:xfrm>
            <a:off x="8368588"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8276"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22/11/2026</a:t>
            </a:r>
          </a:p>
        </p:txBody>
      </p:sp>
      <p:sp>
        <p:nvSpPr>
          <p:cNvPr id="23" name="TextBox 22"/>
          <p:cNvSpPr txBox="1"/>
          <p:nvPr/>
        </p:nvSpPr>
        <p:spPr>
          <a:xfrm>
            <a:off x="640080" y="5056631"/>
            <a:ext cx="10911535" cy="320040"/>
          </a:xfrm>
          <a:prstGeom prst="rect">
            <a:avLst/>
          </a:prstGeom>
          <a:noFill/>
        </p:spPr>
        <p:txBody>
          <a:bodyPr wrap="square" anchor="t" lIns="0" rIns="0" tIns="0" bIns="0">
            <a:spAutoFit/>
          </a:bodyPr>
          <a:lstStyle/>
          <a:p>
            <a:r>
              <a:rPr sz="1200" b="0" i="0">
                <a:solidFill>
                  <a:srgbClr val="C0392B"/>
                </a:solidFill>
                <a:latin typeface="Calibri"/>
              </a:rPr>
              <a:t>🚫 </a:t>
            </a:r>
            <a:r>
              <a:rPr sz="1200" b="1" i="0">
                <a:solidFill>
                  <a:srgbClr val="C0392B"/>
                </a:solidFill>
                <a:latin typeface="Calibri"/>
              </a:rPr>
              <a:t>Sin clase (festivos):</a:t>
            </a:r>
            <a:r>
              <a:rPr sz="1200" b="0" i="0">
                <a:solidFill>
                  <a:srgbClr val="C0392B"/>
                </a:solidFill>
                <a:latin typeface="Calibri"/>
              </a:rPr>
              <a:t> 17/08 Asunción de la Virgen  ·  12/10 Día de la Raza  ·  02/11 Todos los Santos  ·  16/11 Indep. de Cartagena</a:t>
            </a:r>
          </a:p>
        </p:txBody>
      </p:sp>
      <p:sp>
        <p:nvSpPr>
          <p:cNvPr id="24" name="Rounded Rectangle 23"/>
          <p:cNvSpPr/>
          <p:nvPr/>
        </p:nvSpPr>
        <p:spPr>
          <a:xfrm>
            <a:off x="640080" y="5404103"/>
            <a:ext cx="10911535" cy="640080"/>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513831"/>
            <a:ext cx="10545775" cy="457200"/>
          </a:xfrm>
          <a:prstGeom prst="rect">
            <a:avLst/>
          </a:prstGeom>
          <a:noFill/>
        </p:spPr>
        <p:txBody>
          <a:bodyPr wrap="square" anchor="ctr" lIns="0" rIns="0" tIns="0" bIns="0">
            <a:spAutoFit/>
          </a:bodyPr>
          <a:lstStyle/>
          <a:p>
            <a:r>
              <a:rPr sz="1200" b="0" i="0">
                <a:solidFill>
                  <a:srgbClr val="2B2B2B"/>
                </a:solidFill>
                <a:latin typeface="Calibri"/>
              </a:rPr>
              <a:t>📌 Tutorías → https://forms.gle/oZ8xCYiUo3KEWr1d9</a:t>
            </a:r>
          </a:p>
        </p:txBody>
      </p:sp>
      <p:sp>
        <p:nvSpPr>
          <p:cNvPr id="26" name="TextBox 2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AVISO IMPORTANTE</a:t>
            </a:r>
          </a:p>
        </p:txBody>
      </p:sp>
      <p:sp>
        <p:nvSpPr>
          <p:cNvPr id="4" name="Rounded Rectangle 3"/>
          <p:cNvSpPr/>
          <p:nvPr/>
        </p:nvSpPr>
        <p:spPr>
          <a:xfrm>
            <a:off x="640080" y="1737360"/>
            <a:ext cx="10911535" cy="1225296"/>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1005840"/>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La </a:t>
            </a:r>
            <a:r>
              <a:rPr sz="1300" b="1" i="0">
                <a:solidFill>
                  <a:srgbClr val="2B2B2B"/>
                </a:solidFill>
                <a:latin typeface="Calibri"/>
              </a:rPr>
              <a:t>ACA FINAL</a:t>
            </a:r>
            <a:r>
              <a:rPr sz="1300" b="0" i="0">
                <a:solidFill>
                  <a:srgbClr val="2B2B2B"/>
                </a:solidFill>
                <a:latin typeface="Calibri"/>
              </a:rPr>
              <a:t> (42%, el anteproyecto integrado) solo tiene 2 lunes sincrónicos (19/10 y 26/10). Apóyate en tutorías adicionales acordadas en la semana con el Docente y registra cada una en el formulario.</a:t>
            </a:r>
          </a:p>
        </p:txBody>
      </p:sp>
      <p:sp>
        <p:nvSpPr>
          <p:cNvPr id="6" name="Rounded Rectangle 5"/>
          <p:cNvSpPr/>
          <p:nvPr/>
        </p:nvSpPr>
        <p:spPr>
          <a:xfrm>
            <a:off x="640080" y="3191256"/>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300984"/>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Las tutorías por grupo se acuerdan en la semana con el Docente (no hay atención espontánea sin cita).</a:t>
            </a:r>
          </a:p>
        </p:txBody>
      </p:sp>
      <p:sp>
        <p:nvSpPr>
          <p:cNvPr id="8" name="Rounded Rectangle 7"/>
          <p:cNvSpPr/>
          <p:nvPr/>
        </p:nvSpPr>
        <p:spPr>
          <a:xfrm>
            <a:off x="640080" y="4389120"/>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498848"/>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ESP329 / AFI: en Proyecto I se </a:t>
            </a:r>
            <a:r>
              <a:rPr sz="1300" b="1" i="0">
                <a:solidFill>
                  <a:srgbClr val="2B2B2B"/>
                </a:solidFill>
                <a:latin typeface="Calibri"/>
              </a:rPr>
              <a:t>diseña</a:t>
            </a:r>
            <a:r>
              <a:rPr sz="1300" b="0" i="0">
                <a:solidFill>
                  <a:srgbClr val="2B2B2B"/>
                </a:solidFill>
                <a:latin typeface="Calibri"/>
              </a:rPr>
              <a:t> la metodología (instrumentos propuestos); la aplicación y recolección son de Proyecto II.</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SE PREPARA EN CADA CORTE (Y CÓMO SE LLAMA EN CADA SITIO)</a:t>
            </a:r>
          </a:p>
        </p:txBody>
      </p:sp>
      <p:graphicFrame>
        <p:nvGraphicFramePr>
          <p:cNvPr id="4" name="Table 3"/>
          <p:cNvGraphicFramePr>
            <a:graphicFrameLocks noGrp="1"/>
          </p:cNvGraphicFramePr>
          <p:nvPr/>
        </p:nvGraphicFramePr>
        <p:xfrm>
          <a:off x="640080" y="1691639"/>
          <a:ext cx="10911533" cy="2011680"/>
        </p:xfrm>
        <a:graphic>
          <a:graphicData uri="http://schemas.openxmlformats.org/drawingml/2006/table">
            <a:tbl>
              <a:tblPr>
                <a:tableStyleId>{2D5ABB26-0587-4C30-8999-92F81FD0307C}</a:tableStyleId>
              </a:tblPr>
              <a:tblGrid>
                <a:gridCol w="1375403"/>
                <a:gridCol w="1742177"/>
                <a:gridCol w="3117581"/>
                <a:gridCol w="4676372"/>
              </a:tblGrid>
              <a:tr h="502920">
                <a:tc>
                  <a:txBody>
                    <a:bodyPr/>
                    <a:lstStyle/>
                    <a:p>
                      <a:pPr algn="l"/>
                      <a:r>
                        <a:rPr sz="1300" b="1" i="0">
                          <a:solidFill>
                            <a:srgbClr val="FFFFFF"/>
                          </a:solidFill>
                          <a:latin typeface="Calibri"/>
                        </a:rPr>
                        <a:t>En el Syllabus ESP329</a:t>
                      </a:r>
                    </a:p>
                  </a:txBody>
                  <a:tcPr anchor="ctr" marL="109728" marR="91440" marT="36576" marB="36576">
                    <a:solidFill>
                      <a:srgbClr val="0C2340"/>
                    </a:solidFill>
                  </a:tcPr>
                </a:tc>
                <a:tc>
                  <a:txBody>
                    <a:bodyPr/>
                    <a:lstStyle/>
                    <a:p>
                      <a:pPr algn="l"/>
                      <a:r>
                        <a:rPr sz="1300" b="1" i="0">
                          <a:solidFill>
                            <a:srgbClr val="FFFFFF"/>
                          </a:solidFill>
                          <a:latin typeface="Calibri"/>
                        </a:rPr>
                        <a:t>Ítem del aula (CDigital)</a:t>
                      </a:r>
                    </a:p>
                  </a:txBody>
                  <a:tcPr anchor="ctr" marL="109728" marR="91440" marT="36576" marB="36576">
                    <a:solidFill>
                      <a:srgbClr val="0C2340"/>
                    </a:solidFill>
                  </a:tcPr>
                </a:tc>
                <a:tc>
                  <a:txBody>
                    <a:bodyPr/>
                    <a:lstStyle/>
                    <a:p>
                      <a:pPr algn="l"/>
                      <a:r>
                        <a:rPr sz="1300" b="1" i="0">
                          <a:solidFill>
                            <a:srgbClr val="FFFFFF"/>
                          </a:solidFill>
                          <a:latin typeface="Calibri"/>
                        </a:rPr>
                        <a:t>Documento en Recursos/ACAs/</a:t>
                      </a:r>
                    </a:p>
                  </a:txBody>
                  <a:tcPr anchor="ctr" marL="109728" marR="91440" marT="36576" marB="36576">
                    <a:solidFill>
                      <a:srgbClr val="0C2340"/>
                    </a:solidFill>
                  </a:tcPr>
                </a:tc>
                <a:tc>
                  <a:txBody>
                    <a:bodyPr/>
                    <a:lstStyle/>
                    <a:p>
                      <a:pPr algn="l"/>
                      <a:r>
                        <a:rPr sz="1300" b="1" i="0">
                          <a:solidFill>
                            <a:srgbClr val="FFFFFF"/>
                          </a:solidFill>
                          <a:latin typeface="Calibri"/>
                        </a:rPr>
                        <a:t>Contenido (unidades ESP329)</a:t>
                      </a:r>
                    </a:p>
                  </a:txBody>
                  <a:tcPr anchor="ctr" marL="109728" marR="91440" marT="36576" marB="36576">
                    <a:solidFill>
                      <a:srgbClr val="0C2340"/>
                    </a:solidFill>
                  </a:tcPr>
                </a:tc>
              </a:tr>
              <a:tr h="502920">
                <a:tc>
                  <a:txBody>
                    <a:bodyPr/>
                    <a:lstStyle/>
                    <a:p>
                      <a:pPr algn="l"/>
                      <a:r>
                        <a:rPr sz="1100" b="1" i="0">
                          <a:solidFill>
                            <a:srgbClr val="2B2B2B"/>
                          </a:solidFill>
                          <a:latin typeface="Calibri"/>
                        </a:rPr>
                        <a:t>ACA 1</a:t>
                      </a:r>
                    </a:p>
                  </a:txBody>
                  <a:tcPr anchor="ctr" marL="109728" marR="91440" marT="36576" marB="36576">
                    <a:solidFill>
                      <a:srgbClr val="FFFFFF"/>
                    </a:solidFill>
                  </a:tcPr>
                </a:tc>
                <a:tc>
                  <a:txBody>
                    <a:bodyPr/>
                    <a:lstStyle/>
                    <a:p>
                      <a:pPr algn="l"/>
                      <a:r>
                        <a:rPr sz="1100" b="1" i="0">
                          <a:solidFill>
                            <a:srgbClr val="2B2B2B"/>
                          </a:solidFill>
                          <a:latin typeface="Calibri"/>
                        </a:rPr>
                        <a:t>Quiz</a:t>
                      </a:r>
                      <a:r>
                        <a:rPr sz="1100" b="0" i="0">
                          <a:solidFill>
                            <a:srgbClr val="2B2B2B"/>
                          </a:solidFill>
                          <a:latin typeface="Calibri"/>
                        </a:rPr>
                        <a:t> (cuestionario · 25%)</a:t>
                      </a:r>
                    </a:p>
                  </a:txBody>
                  <a:tcPr anchor="ctr" marL="109728" marR="91440" marT="36576" marB="36576">
                    <a:solidFill>
                      <a:srgbClr val="FFFFFF"/>
                    </a:solidFill>
                  </a:tcPr>
                </a:tc>
                <a:tc>
                  <a:txBody>
                    <a:bodyPr/>
                    <a:lstStyle/>
                    <a:p>
                      <a:pPr algn="l"/>
                      <a:r>
                        <a:rPr sz="1100" b="0" i="0">
                          <a:solidFill>
                            <a:srgbClr val="2B2B2B"/>
                          </a:solidFill>
                          <a:latin typeface="Calibri"/>
                        </a:rPr>
                        <a:t>`Quiz (25%) - guia del cuestionario.docx`</a:t>
                      </a:r>
                    </a:p>
                  </a:txBody>
                  <a:tcPr anchor="ctr" marL="109728" marR="91440" marT="36576" marB="36576">
                    <a:solidFill>
                      <a:srgbClr val="FFFFFF"/>
                    </a:solidFill>
                  </a:tcPr>
                </a:tc>
                <a:tc>
                  <a:txBody>
                    <a:bodyPr/>
                    <a:lstStyle/>
                    <a:p>
                      <a:pPr algn="l"/>
                      <a:r>
                        <a:rPr sz="1100" b="0" i="0">
                          <a:solidFill>
                            <a:srgbClr val="2B2B2B"/>
                          </a:solidFill>
                          <a:latin typeface="Calibri"/>
                        </a:rPr>
                        <a:t>U2–U3 (+alcances): problema, pregunta, objetivos, justificación, alcances/limitaciones. Se comprueba en el </a:t>
                      </a:r>
                      <a:r>
                        <a:rPr sz="1100" b="1" i="0">
                          <a:solidFill>
                            <a:srgbClr val="2B2B2B"/>
                          </a:solidFill>
                          <a:latin typeface="Calibri"/>
                        </a:rPr>
                        <a:t>Quiz</a:t>
                      </a:r>
                      <a:r>
                        <a:rPr sz="1100" b="0" i="0">
                          <a:solidFill>
                            <a:srgbClr val="2B2B2B"/>
                          </a:solidFill>
                          <a:latin typeface="Calibri"/>
                        </a:rPr>
                        <a:t> del aula.</a:t>
                      </a:r>
                    </a:p>
                  </a:txBody>
                  <a:tcPr anchor="ctr" marL="109728" marR="91440" marT="36576" marB="36576">
                    <a:solidFill>
                      <a:srgbClr val="FFFFFF"/>
                    </a:solidFill>
                  </a:tcPr>
                </a:tc>
              </a:tr>
              <a:tr h="502920">
                <a:tc>
                  <a:txBody>
                    <a:bodyPr/>
                    <a:lstStyle/>
                    <a:p>
                      <a:pPr algn="l"/>
                      <a:r>
                        <a:rPr sz="1100" b="1" i="0">
                          <a:solidFill>
                            <a:srgbClr val="2B2B2B"/>
                          </a:solidFill>
                          <a:latin typeface="Calibri"/>
                        </a:rPr>
                        <a:t>ACA 2</a:t>
                      </a:r>
                    </a:p>
                  </a:txBody>
                  <a:tcPr anchor="ctr" marL="109728" marR="91440" marT="36576" marB="36576">
                    <a:solidFill>
                      <a:srgbClr val="F2F2F2"/>
                    </a:solidFill>
                  </a:tcPr>
                </a:tc>
                <a:tc>
                  <a:txBody>
                    <a:bodyPr/>
                    <a:lstStyle/>
                    <a:p>
                      <a:pPr algn="l"/>
                      <a:r>
                        <a:rPr sz="1100" b="1" i="0">
                          <a:solidFill>
                            <a:srgbClr val="2B2B2B"/>
                          </a:solidFill>
                          <a:latin typeface="Calibri"/>
                        </a:rPr>
                        <a:t>ACA 1</a:t>
                      </a:r>
                      <a:r>
                        <a:rPr sz="1100" b="0" i="0">
                          <a:solidFill>
                            <a:srgbClr val="2B2B2B"/>
                          </a:solidFill>
                          <a:latin typeface="Calibri"/>
                        </a:rPr>
                        <a:t> (tarea · 25%)</a:t>
                      </a:r>
                    </a:p>
                  </a:txBody>
                  <a:tcPr anchor="ctr" marL="109728" marR="91440" marT="36576" marB="36576">
                    <a:solidFill>
                      <a:srgbClr val="F2F2F2"/>
                    </a:solidFill>
                  </a:tcPr>
                </a:tc>
                <a:tc>
                  <a:txBody>
                    <a:bodyPr/>
                    <a:lstStyle/>
                    <a:p>
                      <a:pPr algn="l"/>
                      <a:r>
                        <a:rPr sz="1100" b="0" i="0">
                          <a:solidFill>
                            <a:srgbClr val="2B2B2B"/>
                          </a:solidFill>
                          <a:latin typeface="Calibri"/>
                        </a:rPr>
                        <a:t>`ACA 1 (25%) - Formulacion del problema y fundamentacion referencial.docx`</a:t>
                      </a:r>
                    </a:p>
                  </a:txBody>
                  <a:tcPr anchor="ctr" marL="109728" marR="91440" marT="36576" marB="36576">
                    <a:solidFill>
                      <a:srgbClr val="F2F2F2"/>
                    </a:solidFill>
                  </a:tcPr>
                </a:tc>
                <a:tc>
                  <a:txBody>
                    <a:bodyPr/>
                    <a:lstStyle/>
                    <a:p>
                      <a:pPr algn="l"/>
                      <a:r>
                        <a:rPr sz="1100" b="0" i="0">
                          <a:solidFill>
                            <a:srgbClr val="2B2B2B"/>
                          </a:solidFill>
                          <a:latin typeface="Calibri"/>
                        </a:rPr>
                        <a:t>U4: correcciones + marco referencial (antecedentes, teórico, conceptual, contextual, legal). Se </a:t>
                      </a:r>
                      <a:r>
                        <a:rPr sz="1100" b="1" i="0">
                          <a:solidFill>
                            <a:srgbClr val="2B2B2B"/>
                          </a:solidFill>
                          <a:latin typeface="Calibri"/>
                        </a:rPr>
                        <a:t>sube</a:t>
                      </a:r>
                      <a:r>
                        <a:rPr sz="1100" b="0" i="0">
                          <a:solidFill>
                            <a:srgbClr val="2B2B2B"/>
                          </a:solidFill>
                          <a:latin typeface="Calibri"/>
                        </a:rPr>
                        <a:t> como ACA 1 del aula.</a:t>
                      </a:r>
                    </a:p>
                  </a:txBody>
                  <a:tcPr anchor="ctr" marL="109728" marR="91440" marT="36576" marB="36576">
                    <a:solidFill>
                      <a:srgbClr val="F2F2F2"/>
                    </a:solidFill>
                  </a:tcPr>
                </a:tc>
              </a:tr>
              <a:tr h="502920">
                <a:tc>
                  <a:txBody>
                    <a:bodyPr/>
                    <a:lstStyle/>
                    <a:p>
                      <a:pPr algn="l"/>
                      <a:r>
                        <a:rPr sz="1100" b="1" i="0">
                          <a:solidFill>
                            <a:srgbClr val="2B2B2B"/>
                          </a:solidFill>
                          <a:latin typeface="Calibri"/>
                        </a:rPr>
                        <a:t>ACA 3</a:t>
                      </a:r>
                    </a:p>
                  </a:txBody>
                  <a:tcPr anchor="ctr" marL="109728" marR="91440" marT="36576" marB="36576">
                    <a:solidFill>
                      <a:srgbClr val="FFFFFF"/>
                    </a:solidFill>
                  </a:tcPr>
                </a:tc>
                <a:tc>
                  <a:txBody>
                    <a:bodyPr/>
                    <a:lstStyle/>
                    <a:p>
                      <a:pPr algn="l"/>
                      <a:r>
                        <a:rPr sz="1100" b="1" i="0">
                          <a:solidFill>
                            <a:srgbClr val="2B2B2B"/>
                          </a:solidFill>
                          <a:latin typeface="Calibri"/>
                        </a:rPr>
                        <a:t>ACA FINAL</a:t>
                      </a:r>
                      <a:r>
                        <a:rPr sz="1100" b="0" i="0">
                          <a:solidFill>
                            <a:srgbClr val="2B2B2B"/>
                          </a:solidFill>
                          <a:latin typeface="Calibri"/>
                        </a:rPr>
                        <a:t> (tarea · 42%)</a:t>
                      </a:r>
                    </a:p>
                  </a:txBody>
                  <a:tcPr anchor="ctr" marL="109728" marR="91440" marT="36576" marB="36576">
                    <a:solidFill>
                      <a:srgbClr val="FFFFFF"/>
                    </a:solidFill>
                  </a:tcPr>
                </a:tc>
                <a:tc>
                  <a:txBody>
                    <a:bodyPr/>
                    <a:lstStyle/>
                    <a:p>
                      <a:pPr algn="l"/>
                      <a:r>
                        <a:rPr sz="1100" b="0" i="0">
                          <a:solidFill>
                            <a:srgbClr val="2B2B2B"/>
                          </a:solidFill>
                          <a:latin typeface="Calibri"/>
                        </a:rPr>
                        <a:t>`ACA FINAL (42%) - Anteproyecto integrado.docx`</a:t>
                      </a:r>
                    </a:p>
                  </a:txBody>
                  <a:tcPr anchor="ctr" marL="109728" marR="91440" marT="36576" marB="36576">
                    <a:solidFill>
                      <a:srgbClr val="FFFFFF"/>
                    </a:solidFill>
                  </a:tcPr>
                </a:tc>
                <a:tc>
                  <a:txBody>
                    <a:bodyPr/>
                    <a:lstStyle/>
                    <a:p>
                      <a:pPr algn="l"/>
                      <a:r>
                        <a:rPr sz="1100" b="0" i="0">
                          <a:solidFill>
                            <a:srgbClr val="2B2B2B"/>
                          </a:solidFill>
                          <a:latin typeface="Calibri"/>
                        </a:rPr>
                        <a:t>U5–U7: correcciones + metodología + cronograma/presupuesto + anteproyecto FINAL integrado. Se </a:t>
                      </a:r>
                      <a:r>
                        <a:rPr sz="1100" b="1" i="0">
                          <a:solidFill>
                            <a:srgbClr val="2B2B2B"/>
                          </a:solidFill>
                          <a:latin typeface="Calibri"/>
                        </a:rPr>
                        <a:t>sube</a:t>
                      </a:r>
                      <a:r>
                        <a:rPr sz="1100" b="0" i="0">
                          <a:solidFill>
                            <a:srgbClr val="2B2B2B"/>
                          </a:solidFill>
                          <a:latin typeface="Calibri"/>
                        </a:rPr>
                        <a:t> como ACA FINAL.</a:t>
                      </a:r>
                    </a:p>
                  </a:txBody>
                  <a:tcPr anchor="ctr" marL="109728" marR="91440" marT="36576" marB="36576">
                    <a:solidFill>
                      <a:srgbClr val="FFFFFF"/>
                    </a:solidFill>
                  </a:tcPr>
                </a:tc>
              </a:tr>
            </a:tbl>
          </a:graphicData>
        </a:graphic>
      </p:graphicFrame>
      <p:sp>
        <p:nvSpPr>
          <p:cNvPr id="5" name="TextBox 4"/>
          <p:cNvSpPr txBox="1"/>
          <p:nvPr/>
        </p:nvSpPr>
        <p:spPr>
          <a:xfrm>
            <a:off x="640080" y="3840480"/>
            <a:ext cx="10911535" cy="548640"/>
          </a:xfrm>
          <a:prstGeom prst="rect">
            <a:avLst/>
          </a:prstGeom>
          <a:noFill/>
        </p:spPr>
        <p:txBody>
          <a:bodyPr wrap="square" anchor="t" lIns="0" rIns="0" tIns="0" bIns="0">
            <a:spAutoFit/>
          </a:bodyPr>
          <a:lstStyle/>
          <a:p>
            <a:r>
              <a:rPr sz="1200" b="0" i="1">
                <a:solidFill>
                  <a:srgbClr val="2B2B2B"/>
                </a:solidFill>
                <a:latin typeface="Calibri"/>
              </a:rPr>
              <a:t>Tres nombres para lo mismo: el Syllabus numera las ACAs, el aula califica </a:t>
            </a:r>
            <a:r>
              <a:rPr sz="1200" b="1" i="1">
                <a:solidFill>
                  <a:srgbClr val="2B2B2B"/>
                </a:solidFill>
                <a:latin typeface="Calibri"/>
              </a:rPr>
              <a:t>Quiz · ACA 1 · ACA FINAL</a:t>
            </a:r>
            <a:r>
              <a:rPr sz="1200" b="0" i="1">
                <a:solidFill>
                  <a:srgbClr val="2B2B2B"/>
                </a:solidFill>
                <a:latin typeface="Calibri"/>
              </a:rPr>
              <a:t> y tu carpeta titula cada documento como su ítem. Busca siempre por el nombre de la tercera columna. Equipos máx. 3 (AFI). Formato: Plantilla APA CUN – Proyecto de Grado (APA 7). Criterios: coherencia, pertinencia, rigor, fuentes, escritura, integridad y viabilidad (ESP329).</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RECURSOS, PLANTILLAS Y ENLACES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500" b="0" i="0">
                <a:solidFill>
                  <a:srgbClr val="2B2B2B"/>
                </a:solidFill>
                <a:latin typeface="Calibri"/>
              </a:rPr>
              <a:t>–   </a:t>
            </a:r>
            <a:r>
              <a:rPr sz="1500" b="1" i="0">
                <a:solidFill>
                  <a:srgbClr val="2B2B2B"/>
                </a:solidFill>
                <a:latin typeface="Calibri"/>
              </a:rPr>
              <a:t>Contacto del Docente:</a:t>
            </a:r>
            <a:r>
              <a:rPr sz="1500" b="0" i="0">
                <a:solidFill>
                  <a:srgbClr val="2B2B2B"/>
                </a:solidFill>
                <a:latin typeface="Calibri"/>
              </a:rPr>
              <a:t> julian_castanoe@cun.edu.co</a:t>
            </a:r>
          </a:p>
          <a:p>
            <a:pPr>
              <a:spcAft>
                <a:spcPts val="1000"/>
              </a:spcAft>
            </a:pPr>
            <a:r>
              <a:rPr sz="1500" b="0" i="0">
                <a:solidFill>
                  <a:srgbClr val="2B2B2B"/>
                </a:solidFill>
                <a:latin typeface="Calibri"/>
              </a:rPr>
              <a:t>–   </a:t>
            </a:r>
            <a:r>
              <a:rPr sz="1500" b="1" i="0">
                <a:solidFill>
                  <a:srgbClr val="2B2B2B"/>
                </a:solidFill>
                <a:latin typeface="Calibri"/>
              </a:rPr>
              <a:t>CDigital (campus del curso):</a:t>
            </a:r>
            <a:r>
              <a:rPr sz="1500" b="0" i="0">
                <a:solidFill>
                  <a:srgbClr val="2B2B2B"/>
                </a:solidFill>
                <a:latin typeface="Calibri"/>
              </a:rPr>
              <a:t> </a:t>
            </a:r>
            <a:r>
              <a:rPr sz="1500" b="1" i="0">
                <a:solidFill>
                  <a:srgbClr val="2B2B2B"/>
                </a:solidFill>
                <a:latin typeface="Calibri"/>
              </a:rPr>
              <a:t>https://cdigital.cun.edu.co/course/view.php?id=130378</a:t>
            </a:r>
          </a:p>
          <a:p>
            <a:pPr>
              <a:spcAft>
                <a:spcPts val="1000"/>
              </a:spcAft>
            </a:pPr>
            <a:r>
              <a:rPr sz="1500" b="0" i="0">
                <a:solidFill>
                  <a:srgbClr val="2B2B2B"/>
                </a:solidFill>
                <a:latin typeface="Calibri"/>
              </a:rPr>
              <a:t>–   </a:t>
            </a:r>
            <a:r>
              <a:rPr sz="1500" b="1" i="0">
                <a:solidFill>
                  <a:srgbClr val="2B2B2B"/>
                </a:solidFill>
                <a:latin typeface="Calibri"/>
              </a:rPr>
              <a:t>Registro de tutorías (obligatorio):</a:t>
            </a:r>
            <a:r>
              <a:rPr sz="1500" b="0" i="0">
                <a:solidFill>
                  <a:srgbClr val="2B2B2B"/>
                </a:solidFill>
                <a:latin typeface="Calibri"/>
              </a:rPr>
              <a:t> </a:t>
            </a:r>
            <a:r>
              <a:rPr sz="1500" b="1" i="0">
                <a:solidFill>
                  <a:srgbClr val="007433"/>
                </a:solidFill>
                <a:latin typeface="Calibri"/>
              </a:rPr>
              <a:t>https://forms.gle/oZ8xCYiUo3KEWr1d9</a:t>
            </a:r>
          </a:p>
          <a:p>
            <a:pPr>
              <a:spcAft>
                <a:spcPts val="1000"/>
              </a:spcAft>
            </a:pPr>
            <a:r>
              <a:rPr sz="1500" b="0" i="0">
                <a:solidFill>
                  <a:srgbClr val="2B2B2B"/>
                </a:solidFill>
                <a:latin typeface="Calibri"/>
              </a:rPr>
              <a:t>–   Las tutorías por grupo se acuerdan en la semana con el Docente (no hay atención espontánea sin cita).</a:t>
            </a:r>
          </a:p>
          <a:p>
            <a:pPr>
              <a:spcAft>
                <a:spcPts val="1000"/>
              </a:spcAft>
            </a:pPr>
            <a:r>
              <a:rPr sz="1500" b="0" i="0">
                <a:solidFill>
                  <a:srgbClr val="2B2B2B"/>
                </a:solidFill>
                <a:latin typeface="Calibri"/>
              </a:rPr>
              <a:t>–   </a:t>
            </a:r>
            <a:r>
              <a:rPr sz="1500" b="1" i="0">
                <a:solidFill>
                  <a:srgbClr val="2B2B2B"/>
                </a:solidFill>
                <a:latin typeface="Calibri"/>
              </a:rPr>
              <a:t>Google Meet (mismo enlace toda la serie):</a:t>
            </a:r>
            <a:r>
              <a:rPr sz="1500" b="0" i="0">
                <a:solidFill>
                  <a:srgbClr val="2B2B2B"/>
                </a:solidFill>
                <a:latin typeface="Calibri"/>
              </a:rPr>
              <a:t> </a:t>
            </a:r>
            <a:r>
              <a:rPr sz="1500" b="1" i="0">
                <a:solidFill>
                  <a:srgbClr val="2B2B2B"/>
                </a:solidFill>
                <a:latin typeface="Calibri"/>
              </a:rPr>
              <a:t>https://meet.google.com/omk-woqk-vsj</a:t>
            </a:r>
          </a:p>
          <a:p>
            <a:pPr>
              <a:spcAft>
                <a:spcPts val="1000"/>
              </a:spcAft>
            </a:pPr>
            <a:r>
              <a:rPr sz="1500" b="0" i="0">
                <a:solidFill>
                  <a:srgbClr val="2B2B2B"/>
                </a:solidFill>
                <a:latin typeface="Calibri"/>
              </a:rPr>
              <a:t>–   </a:t>
            </a:r>
            <a:r>
              <a:rPr sz="1500" b="1" i="0">
                <a:solidFill>
                  <a:srgbClr val="2B2B2B"/>
                </a:solidFill>
                <a:latin typeface="Calibri"/>
              </a:rPr>
              <a:t>Material de clases (Drive):</a:t>
            </a:r>
            <a:r>
              <a:rPr sz="1500" b="0" i="0">
                <a:solidFill>
                  <a:srgbClr val="2B2B2B"/>
                </a:solidFill>
                <a:latin typeface="Calibri"/>
              </a:rPr>
              <a:t> </a:t>
            </a:r>
            <a:r>
              <a:rPr sz="1500" b="1" i="0">
                <a:solidFill>
                  <a:srgbClr val="2B2B2B"/>
                </a:solidFill>
                <a:latin typeface="Calibri"/>
              </a:rPr>
              <a:t>[URL Material de clases — carpeta Clases/ en Drive · Proyecto I]</a:t>
            </a:r>
          </a:p>
          <a:p>
            <a:pPr>
              <a:spcAft>
                <a:spcPts val="1000"/>
              </a:spcAft>
            </a:pPr>
            <a:r>
              <a:rPr sz="1500" b="0" i="0">
                <a:solidFill>
                  <a:srgbClr val="2B2B2B"/>
                </a:solidFill>
                <a:latin typeface="Calibri"/>
              </a:rPr>
              <a:t>–   </a:t>
            </a:r>
            <a:r>
              <a:rPr sz="1500" b="1" i="0">
                <a:solidFill>
                  <a:srgbClr val="2B2B2B"/>
                </a:solidFill>
                <a:latin typeface="Calibri"/>
              </a:rPr>
              <a:t>Plantilla APA CUN – Proyecto de Grado</a:t>
            </a:r>
            <a:r>
              <a:rPr sz="1500" b="0" i="0">
                <a:solidFill>
                  <a:srgbClr val="2B2B2B"/>
                </a:solidFill>
                <a:latin typeface="Calibri"/>
              </a:rPr>
              <a:t> (viene en tu carpeta del curso): `Recursos/Plantilla_APA_CUN_Proyecto de grado.docx`.</a:t>
            </a:r>
          </a:p>
          <a:p>
            <a:pPr>
              <a:spcAft>
                <a:spcPts val="1000"/>
              </a:spcAft>
            </a:pPr>
            <a:r>
              <a:rPr sz="1500" b="0" i="0">
                <a:solidFill>
                  <a:srgbClr val="2B2B2B"/>
                </a:solidFill>
                <a:latin typeface="Calibri"/>
              </a:rPr>
              <a:t>–   </a:t>
            </a:r>
            <a:r>
              <a:rPr sz="1500" b="1" i="0">
                <a:solidFill>
                  <a:srgbClr val="2B2B2B"/>
                </a:solidFill>
                <a:latin typeface="Calibri"/>
              </a:rPr>
              <a:t>Plantilla APA CUN (en tu carpeta):</a:t>
            </a:r>
            <a:r>
              <a:rPr sz="1500" b="0" i="0">
                <a:solidFill>
                  <a:srgbClr val="2B2B2B"/>
                </a:solidFill>
                <a:latin typeface="Calibri"/>
              </a:rPr>
              <a:t> `Recursos/Plantilla_APA_CUN_Proyecto de grado.docx`</a:t>
            </a:r>
          </a:p>
          <a:p>
            <a:pPr>
              <a:spcAft>
                <a:spcPts val="1000"/>
              </a:spcAft>
            </a:pPr>
            <a:r>
              <a:rPr sz="1500" b="0" i="0">
                <a:solidFill>
                  <a:srgbClr val="2B2B2B"/>
                </a:solidFill>
                <a:latin typeface="Calibri"/>
              </a:rPr>
              <a:t>–   </a:t>
            </a:r>
            <a:r>
              <a:rPr sz="1500" b="1" i="0">
                <a:solidFill>
                  <a:srgbClr val="2B2B2B"/>
                </a:solidFill>
                <a:latin typeface="Calibri"/>
              </a:rPr>
              <a:t>Enunciados y guías:</a:t>
            </a:r>
            <a:r>
              <a:rPr sz="1500" b="0" i="0">
                <a:solidFill>
                  <a:srgbClr val="2B2B2B"/>
                </a:solidFill>
                <a:latin typeface="Calibri"/>
              </a:rPr>
              <a:t> `Clases/Recursos/ACAs/` — un documento por ítem del aula, con su nombre y su peso.</a:t>
            </a:r>
          </a:p>
          <a:p>
            <a:pPr>
              <a:spcAft>
                <a:spcPts val="1000"/>
              </a:spcAft>
            </a:pPr>
            <a:r>
              <a:rPr sz="1500" b="0" i="0">
                <a:solidFill>
                  <a:srgbClr val="2B2B2B"/>
                </a:solidFill>
                <a:latin typeface="Calibri"/>
              </a:rPr>
              <a:t>–   </a:t>
            </a:r>
            <a:r>
              <a:rPr sz="1500" b="1" i="0">
                <a:solidFill>
                  <a:srgbClr val="2B2B2B"/>
                </a:solidFill>
                <a:latin typeface="Calibri"/>
              </a:rPr>
              <a:t>Biblioteca Virtual CUN + bases:</a:t>
            </a:r>
            <a:r>
              <a:rPr sz="1500" b="0" i="0">
                <a:solidFill>
                  <a:srgbClr val="2B2B2B"/>
                </a:solidFill>
                <a:latin typeface="Calibri"/>
              </a:rPr>
              <a:t> Google Scholar, Redalyc, SciELO, Dialnet · citas: ZoteroBib / Google Docs.</a:t>
            </a:r>
          </a:p>
          <a:p>
            <a:pPr>
              <a:spcAft>
                <a:spcPts val="1000"/>
              </a:spcAft>
            </a:pPr>
            <a:r>
              <a:rPr sz="1500" b="0" i="0">
                <a:solidFill>
                  <a:srgbClr val="2B2B2B"/>
                </a:solidFill>
                <a:latin typeface="Calibri"/>
              </a:rPr>
              <a:t>–   </a:t>
            </a:r>
            <a:r>
              <a:rPr sz="1500" b="1" i="0">
                <a:solidFill>
                  <a:srgbClr val="2B2B2B"/>
                </a:solidFill>
                <a:latin typeface="Calibri"/>
              </a:rPr>
              <a:t>Syllabus fuente:</a:t>
            </a:r>
            <a:r>
              <a:rPr sz="1500" b="0" i="0">
                <a:solidFill>
                  <a:srgbClr val="2B2B2B"/>
                </a:solidFill>
                <a:latin typeface="Calibri"/>
              </a:rPr>
              <a:t> `Especializacion_En_Inteligencia_Artificial_Proyecto_I_ESP329.docx` · Entregas oficiales solo por CDigital.</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¡Empezamos!</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Nos vemos en el primer encuentro sincrónico: </a:t>
            </a:r>
            <a:r>
              <a:rPr sz="1600" b="1" i="0">
                <a:solidFill>
                  <a:srgbClr val="2B2B2B"/>
                </a:solidFill>
                <a:latin typeface="Calibri"/>
              </a:rPr>
              <a:t>Lunes, 8:00 pm – 10:00 pm</a:t>
            </a:r>
            <a:r>
              <a:rPr sz="1600" b="0" i="0">
                <a:solidFill>
                  <a:srgbClr val="2B2B2B"/>
                </a:solidFill>
                <a:latin typeface="Calibri"/>
              </a:rPr>
              <a:t>.</a:t>
            </a:r>
          </a:p>
          <a:p>
            <a:pPr algn="ctr">
              <a:spcAft>
                <a:spcPts val="600"/>
              </a:spcAft>
            </a:pPr>
            <a:r>
              <a:rPr sz="1600" b="0" i="0">
                <a:solidFill>
                  <a:srgbClr val="2B2B2B"/>
                </a:solidFill>
                <a:latin typeface="Calibri"/>
              </a:rPr>
              <a:t>El Docente — garante metodológico de tu anteproyecto.</a:t>
            </a:r>
          </a:p>
          <a:p>
            <a:pPr algn="ctr">
              <a:spcAft>
                <a:spcPts val="600"/>
              </a:spcAft>
            </a:pPr>
            <a:r>
              <a:rPr sz="1600" b="0" i="0">
                <a:solidFill>
                  <a:srgbClr val="2B2B2B"/>
                </a:solidFill>
                <a:latin typeface="Calibri"/>
              </a:rPr>
              <a:t>Las tutorías por grupo se acuerdan en la semana con el Docente (no hay atención espontánea sin cita).</a:t>
            </a:r>
          </a:p>
          <a:p>
            <a:pPr algn="ctr">
              <a:spcAft>
                <a:spcPts val="600"/>
              </a:spcAft>
            </a:pPr>
            <a:r>
              <a:rPr sz="1600" b="0" i="0">
                <a:solidFill>
                  <a:srgbClr val="2B2B2B"/>
                </a:solidFill>
                <a:latin typeface="Calibri"/>
              </a:rPr>
              <a:t>Tutorías: regístrate siempre en https://forms.gle/oZ8xCYiUo3KEWr1d9</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PROYECTO I · ESP329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