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25% / 25% / 50% en tres cortes</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r>
              <a:rPr sz="1500" b="0" i="0">
                <a:solidFill>
                  <a:srgbClr val="2B2B2B"/>
                </a:solidFill>
                <a:latin typeface="Calibri"/>
              </a:rPr>
              <a:t> · inicio efectivo </a:t>
            </a:r>
            <a:r>
              <a:rPr sz="1500" b="1" i="0">
                <a:solidFill>
                  <a:srgbClr val="2B2B2B"/>
                </a:solidFill>
                <a:latin typeface="Calibri"/>
              </a:rPr>
              <a:t>8:10 pm</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Tablero colaborativo (Padlet)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400" b="0" i="0">
                <a:solidFill>
                  <a:srgbClr val="2B2B2B"/>
                </a:solidFill>
                <a:latin typeface="Calibri"/>
              </a:rPr>
              <a:t>–   </a:t>
            </a:r>
            <a:r>
              <a:rPr sz="1400" b="1" i="0">
                <a:solidFill>
                  <a:srgbClr val="2B2B2B"/>
                </a:solidFill>
                <a:latin typeface="Calibri"/>
              </a:rPr>
              <a:t>Escanea o abre:</a:t>
            </a:r>
            <a:r>
              <a:rPr sz="1400" b="0" i="0">
                <a:solidFill>
                  <a:srgbClr val="2B2B2B"/>
                </a:solidFill>
                <a:latin typeface="Calibri"/>
              </a:rPr>
              <a:t> https://padlet.com/andres_dfx/cun-wruz81hmf9k06gd7</a:t>
            </a:r>
          </a:p>
          <a:p>
            <a:pPr>
              <a:spcAft>
                <a:spcPts val="1000"/>
              </a:spcAft>
            </a:pPr>
            <a:r>
              <a:rPr sz="1400" b="0" i="0">
                <a:solidFill>
                  <a:srgbClr val="2B2B2B"/>
                </a:solidFill>
                <a:latin typeface="Calibri"/>
              </a:rPr>
              <a:t>–   Post-it: </a:t>
            </a:r>
            <a:r>
              <a:rPr sz="1400" b="1" i="0">
                <a:solidFill>
                  <a:srgbClr val="2B2B2B"/>
                </a:solidFill>
                <a:latin typeface="Calibri"/>
              </a:rPr>
              <a:t>nombre</a:t>
            </a:r>
            <a:r>
              <a:rPr sz="1400" b="0" i="0">
                <a:solidFill>
                  <a:srgbClr val="2B2B2B"/>
                </a:solidFill>
                <a:latin typeface="Calibri"/>
              </a:rPr>
              <a:t> + </a:t>
            </a:r>
            <a:r>
              <a:rPr sz="1400" b="1" i="0">
                <a:solidFill>
                  <a:srgbClr val="2B2B2B"/>
                </a:solidFill>
                <a:latin typeface="Calibri"/>
              </a:rPr>
              <a:t>expectativa del curso</a:t>
            </a:r>
            <a:r>
              <a:rPr sz="1400" b="0" i="0">
                <a:solidFill>
                  <a:srgbClr val="2B2B2B"/>
                </a:solidFill>
                <a:latin typeface="Calibri"/>
              </a:rPr>
              <a:t> + </a:t>
            </a:r>
            <a:r>
              <a:rPr sz="1400" b="1" i="0">
                <a:solidFill>
                  <a:srgbClr val="2B2B2B"/>
                </a:solidFill>
                <a:latin typeface="Calibri"/>
              </a:rPr>
              <a:t>tema tentativo</a:t>
            </a:r>
            <a:r>
              <a:rPr sz="1400" b="0" i="0">
                <a:solidFill>
                  <a:srgbClr val="2B2B2B"/>
                </a:solidFill>
                <a:latin typeface="Calibri"/>
              </a:rPr>
              <a:t> de investigación (1 frase).</a:t>
            </a:r>
          </a:p>
          <a:p>
            <a:pPr>
              <a:spcAft>
                <a:spcPts val="1000"/>
              </a:spcAft>
            </a:pPr>
            <a:r>
              <a:rPr sz="1400" b="0" i="0">
                <a:solidFill>
                  <a:srgbClr val="2B2B2B"/>
                </a:solidFill>
                <a:latin typeface="Calibri"/>
              </a:rPr>
              <a:t>–   Tablero oficial: </a:t>
            </a:r>
            <a:r>
              <a:rPr sz="1400" b="1" i="0">
                <a:solidFill>
                  <a:srgbClr val="2B2B2B"/>
                </a:solidFill>
                <a:latin typeface="Calibri"/>
              </a:rPr>
              <a:t>Padlet</a:t>
            </a:r>
            <a:r>
              <a:rPr sz="1400" b="0" i="0">
                <a:solidFill>
                  <a:srgbClr val="2B2B2B"/>
                </a:solidFill>
                <a:latin typeface="Calibri"/>
              </a:rPr>
              <a:t> (mismo enlace en los 5 cursos).</a:t>
            </a:r>
          </a:p>
          <a:p>
            <a:pPr>
              <a:spcAft>
                <a:spcPts val="1000"/>
              </a:spcAft>
            </a:pPr>
            <a:r>
              <a:rPr sz="1400" b="0" i="0">
                <a:solidFill>
                  <a:srgbClr val="2B2B2B"/>
                </a:solidFill>
                <a:latin typeface="Calibri"/>
              </a:rPr>
              <a:t>–   Ahora (~7 min). Leemos juntos 3–4 notas (sin juzgar).</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presentacion_estudiantes.png"/>
          <p:cNvPicPr>
            <a:picLocks noChangeAspect="1"/>
          </p:cNvPicPr>
          <p:nvPr/>
        </p:nvPicPr>
        <p:blipFill>
          <a:blip r:embed="rId2"/>
          <a:stretch>
            <a:fillRect/>
          </a:stretch>
        </p:blipFill>
        <p:spPr>
          <a:xfrm>
            <a:off x="8442655" y="2103120"/>
            <a:ext cx="3108960" cy="3108960"/>
          </a:xfrm>
          <a:prstGeom prst="rect">
            <a:avLst/>
          </a:prstGeom>
        </p:spPr>
      </p:pic>
      <p:sp>
        <p:nvSpPr>
          <p:cNvPr id="8" name="TextBox 7"/>
          <p:cNvSpPr txBox="1"/>
          <p:nvPr/>
        </p:nvSpPr>
        <p:spPr>
          <a:xfrm>
            <a:off x="8332927" y="5230367"/>
            <a:ext cx="3328415" cy="256032"/>
          </a:xfrm>
          <a:prstGeom prst="rect">
            <a:avLst/>
          </a:prstGeom>
          <a:noFill/>
        </p:spPr>
        <p:txBody>
          <a:bodyPr wrap="square" anchor="t" lIns="0" rIns="0" tIns="0" bIns="0">
            <a:spAutoFit/>
          </a:bodyPr>
          <a:lstStyle/>
          <a:p>
            <a:pPr algn="ctr"/>
            <a:r>
              <a:rPr sz="1200" b="1" i="0">
                <a:solidFill>
                  <a:srgbClr val="0C2340"/>
                </a:solidFill>
                <a:latin typeface="Calibri"/>
              </a:rPr>
              <a:t>Escanea o abre</a:t>
            </a:r>
          </a:p>
        </p:txBody>
      </p:sp>
      <p:sp>
        <p:nvSpPr>
          <p:cNvPr id="9" name="TextBox 8"/>
          <p:cNvSpPr txBox="1"/>
          <p:nvPr/>
        </p:nvSpPr>
        <p:spPr>
          <a:xfrm>
            <a:off x="8332927" y="5468112"/>
            <a:ext cx="3328415" cy="411480"/>
          </a:xfrm>
          <a:prstGeom prst="rect">
            <a:avLst/>
          </a:prstGeom>
          <a:noFill/>
        </p:spPr>
        <p:txBody>
          <a:bodyPr wrap="square" anchor="t" lIns="0" rIns="0" tIns="0" bIns="0">
            <a:spAutoFit/>
          </a:bodyPr>
          <a:lstStyle/>
          <a:p>
            <a:pPr algn="ctr"/>
            <a:r>
              <a:rPr sz="900" b="1" i="0">
                <a:solidFill>
                  <a:srgbClr val="007433"/>
                </a:solidFill>
                <a:latin typeface="Calibri"/>
              </a:rPr>
              <a:t>https://padlet.com/andres_dfx/cun-wruz81hmf9k06gd7</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Los tres cortes trabajan </a:t>
            </a:r>
            <a:r>
              <a:rPr sz="1600" b="1" i="0">
                <a:solidFill>
                  <a:srgbClr val="2B2B2B"/>
                </a:solidFill>
                <a:latin typeface="Calibri"/>
              </a:rPr>
              <a:t>un mismo producto acumulativo</a:t>
            </a:r>
            <a:r>
              <a:rPr sz="1600" b="0" i="0">
                <a:solidFill>
                  <a:srgbClr val="2B2B2B"/>
                </a:solidFill>
                <a:latin typeface="Calibri"/>
              </a:rPr>
              <a:t> (no tareas aisladas): el corte 1 lo comprueba un </a:t>
            </a:r>
            <a:r>
              <a:rPr sz="1600" b="1" i="0">
                <a:solidFill>
                  <a:srgbClr val="2B2B2B"/>
                </a:solidFill>
                <a:latin typeface="Calibri"/>
              </a:rPr>
              <a:t>Quiz</a:t>
            </a:r>
            <a:r>
              <a:rPr sz="1600" b="0" i="0">
                <a:solidFill>
                  <a:srgbClr val="2B2B2B"/>
                </a:solidFill>
                <a:latin typeface="Calibri"/>
              </a:rPr>
              <a:t> en el aula y los cortes 2 y 3 se </a:t>
            </a:r>
            <a:r>
              <a:rPr sz="1600" b="1" i="0">
                <a:solidFill>
                  <a:srgbClr val="2B2B2B"/>
                </a:solidFill>
                <a:latin typeface="Calibri"/>
              </a:rPr>
              <a:t>suben</a:t>
            </a:r>
            <a:r>
              <a:rPr sz="1600" b="0" i="0">
                <a:solidFill>
                  <a:srgbClr val="2B2B2B"/>
                </a:solidFill>
                <a:latin typeface="Calibri"/>
              </a:rPr>
              <a:t> como </a:t>
            </a:r>
            <a:r>
              <a:rPr sz="1600" b="1" i="0">
                <a:solidFill>
                  <a:srgbClr val="2B2B2B"/>
                </a:solidFill>
                <a:latin typeface="Calibri"/>
              </a:rPr>
              <a:t>ACA 1</a:t>
            </a:r>
            <a:r>
              <a:rPr sz="1600" b="0" i="0">
                <a:solidFill>
                  <a:srgbClr val="2B2B2B"/>
                </a:solidFill>
                <a:latin typeface="Calibri"/>
              </a:rPr>
              <a:t> y </a:t>
            </a:r>
            <a:r>
              <a:rPr sz="1600" b="1" i="0">
                <a:solidFill>
                  <a:srgbClr val="2B2B2B"/>
                </a:solidFill>
                <a:latin typeface="Calibri"/>
              </a:rPr>
              <a:t>ACA FINAL</a:t>
            </a:r>
            <a:r>
              <a:rPr sz="1600" b="0" i="0">
                <a:solidFill>
                  <a:srgbClr val="2B2B2B"/>
                </a:solidFill>
                <a:latin typeface="Calibri"/>
              </a:rPr>
              <a:t>.</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del Quiz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Devolución de la ACA 1 · población, muestra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LOS TRES CORTES EN EL AULA (ESP329 / Art. 41)</a:t>
            </a:r>
          </a:p>
        </p:txBody>
      </p:sp>
      <p:graphicFrame>
        <p:nvGraphicFramePr>
          <p:cNvPr id="4" name="Table 3"/>
          <p:cNvGraphicFramePr>
            <a:graphicFrameLocks noGrp="1"/>
          </p:cNvGraphicFramePr>
          <p:nvPr/>
        </p:nvGraphicFramePr>
        <p:xfrm>
          <a:off x="640080" y="1691639"/>
          <a:ext cx="10911533" cy="3017520"/>
        </p:xfrm>
        <a:graphic>
          <a:graphicData uri="http://schemas.openxmlformats.org/drawingml/2006/table">
            <a:tbl>
              <a:tblPr>
                <a:tableStyleId>{2D5ABB26-0587-4C30-8999-92F81FD0307C}</a:tableStyleId>
              </a:tblPr>
              <a:tblGrid>
                <a:gridCol w="1925565"/>
                <a:gridCol w="1283710"/>
                <a:gridCol w="1375403"/>
                <a:gridCol w="916935"/>
                <a:gridCol w="5409920"/>
              </a:tblGrid>
              <a:tr h="502920">
                <a:tc>
                  <a:txBody>
                    <a:bodyPr/>
                    <a:lstStyle/>
                    <a:p>
                      <a:pPr algn="l"/>
                      <a:r>
                        <a:rPr sz="1300" b="1" i="0">
                          <a:solidFill>
                            <a:srgbClr val="FFFFFF"/>
                          </a:solidFill>
                          <a:latin typeface="Calibri"/>
                        </a:rPr>
                        <a:t>Ítem en CDigital</a:t>
                      </a:r>
                    </a:p>
                  </a:txBody>
                  <a:tcPr anchor="ctr" marL="109728" marR="91440" marT="36576" marB="36576">
                    <a:solidFill>
                      <a:srgbClr val="0C2340"/>
                    </a:solidFill>
                  </a:tcPr>
                </a:tc>
                <a:tc>
                  <a:txBody>
                    <a:bodyPr/>
                    <a:lstStyle/>
                    <a:p>
                      <a:pPr algn="l"/>
                      <a:r>
                        <a:rPr sz="1300" b="1" i="0">
                          <a:solidFill>
                            <a:srgbClr val="FFFFFF"/>
                          </a:solidFill>
                          <a:latin typeface="Calibri"/>
                        </a:rPr>
                        <a:t>Tipo</a:t>
                      </a:r>
                    </a:p>
                  </a:txBody>
                  <a:tcPr anchor="ctr" marL="109728" marR="91440" marT="36576" marB="36576">
                    <a:solidFill>
                      <a:srgbClr val="0C2340"/>
                    </a:solidFill>
                  </a:tcPr>
                </a:tc>
                <a:tc>
                  <a:txBody>
                    <a:bodyPr/>
                    <a:lstStyle/>
                    <a:p>
                      <a:pPr algn="l"/>
                      <a:r>
                        <a:rPr sz="1300" b="1" i="0">
                          <a:solidFill>
                            <a:srgbClr val="FFFFFF"/>
                          </a:solidFill>
                          <a:latin typeface="Calibri"/>
                        </a:rPr>
                        <a:t>Corte (peso)</a:t>
                      </a:r>
                    </a:p>
                  </a:txBody>
                  <a:tcPr anchor="ctr" marL="109728" marR="91440" marT="36576" marB="36576">
                    <a:solidFill>
                      <a:srgbClr val="0C2340"/>
                    </a:solidFill>
                  </a:tcPr>
                </a:tc>
                <a:tc>
                  <a:txBody>
                    <a:bodyPr/>
                    <a:lstStyle/>
                    <a:p>
                      <a:pPr algn="l"/>
                      <a:r>
                        <a:rPr sz="1300" b="1" i="0">
                          <a:solidFill>
                            <a:srgbClr val="FFFFFF"/>
                          </a:solidFill>
                          <a:latin typeface="Calibri"/>
                        </a:rPr>
                        <a:t>Peso</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100" b="1" i="0">
                          <a:solidFill>
                            <a:srgbClr val="2B2B2B"/>
                          </a:solidFill>
                          <a:latin typeface="Calibri"/>
                        </a:rPr>
                        <a:t>Quiz</a:t>
                      </a:r>
                    </a:p>
                  </a:txBody>
                  <a:tcPr anchor="ctr" marL="109728" marR="91440" marT="36576" marB="36576">
                    <a:solidFill>
                      <a:srgbClr val="FFFFFF"/>
                    </a:solidFill>
                  </a:tcPr>
                </a:tc>
                <a:tc>
                  <a:txBody>
                    <a:bodyPr/>
                    <a:lstStyle/>
                    <a:p>
                      <a:pPr algn="l"/>
                      <a:r>
                        <a:rPr sz="1100" b="0" i="0">
                          <a:solidFill>
                            <a:srgbClr val="2B2B2B"/>
                          </a:solidFill>
                          <a:latin typeface="Calibri"/>
                        </a:rPr>
                        <a:t>Cuestionario</a:t>
                      </a:r>
                    </a:p>
                  </a:txBody>
                  <a:tcPr anchor="ctr" marL="109728" marR="91440" marT="36576" marB="36576">
                    <a:solidFill>
                      <a:srgbClr val="FFFFFF"/>
                    </a:solidFill>
                  </a:tcPr>
                </a:tc>
                <a:tc>
                  <a:txBody>
                    <a:bodyPr/>
                    <a:lstStyle/>
                    <a:p>
                      <a:pPr algn="l"/>
                      <a:r>
                        <a:rPr sz="1100" b="0" i="0">
                          <a:solidFill>
                            <a:srgbClr val="2B2B2B"/>
                          </a:solidFill>
                          <a:latin typeface="Calibri"/>
                        </a:rPr>
                        <a:t>1 (25%)</a:t>
                      </a:r>
                    </a:p>
                  </a:txBody>
                  <a:tcPr anchor="ctr" marL="109728" marR="91440" marT="36576" marB="36576">
                    <a:solidFill>
                      <a:srgbClr val="FFFFFF"/>
                    </a:solidFill>
                  </a:tcPr>
                </a:tc>
                <a:tc>
                  <a:txBody>
                    <a:bodyPr/>
                    <a:lstStyle/>
                    <a:p>
                      <a:pPr algn="l"/>
                      <a:r>
                        <a:rPr sz="1100" b="1" i="0">
                          <a:solidFill>
                            <a:srgbClr val="2B2B2B"/>
                          </a:solidFill>
                          <a:latin typeface="Calibri"/>
                        </a:rPr>
                        <a:t>25%</a:t>
                      </a:r>
                    </a:p>
                  </a:txBody>
                  <a:tcPr anchor="ctr" marL="109728" marR="91440" marT="36576" marB="36576">
                    <a:solidFill>
                      <a:srgbClr val="FFFFFF"/>
                    </a:solidFill>
                  </a:tcPr>
                </a:tc>
                <a:tc>
                  <a:txBody>
                    <a:bodyPr/>
                    <a:lstStyle/>
                    <a:p>
                      <a:pPr algn="l"/>
                      <a:r>
                        <a:rPr sz="1100" b="0" i="0">
                          <a:solidFill>
                            <a:srgbClr val="2B2B2B"/>
                          </a:solidFill>
                          <a:latin typeface="Calibri"/>
                        </a:rPr>
                        <a:t>Comprobación individual en CDigital de las sesiones 02–03: problema, pregunta, objetivos y justificación. Guía escrita: `Quiz (25%)`.</a:t>
                      </a:r>
                    </a:p>
                  </a:txBody>
                  <a:tcPr anchor="ctr" marL="109728" marR="91440" marT="36576" marB="36576">
                    <a:solidFill>
                      <a:srgbClr val="FFFFFF"/>
                    </a:solidFill>
                  </a:tcPr>
                </a:tc>
              </a:tr>
              <a:tr h="502920">
                <a:tc>
                  <a:txBody>
                    <a:bodyPr/>
                    <a:lstStyle/>
                    <a:p>
                      <a:pPr algn="l"/>
                      <a:r>
                        <a:rPr sz="1100" b="1" i="0">
                          <a:solidFill>
                            <a:srgbClr val="2B2B2B"/>
                          </a:solidFill>
                          <a:latin typeface="Calibri"/>
                        </a:rPr>
                        <a:t>ACA 1</a:t>
                      </a:r>
                    </a:p>
                  </a:txBody>
                  <a:tcPr anchor="ctr" marL="109728" marR="91440" marT="36576" marB="36576">
                    <a:solidFill>
                      <a:srgbClr val="F2F2F2"/>
                    </a:solidFill>
                  </a:tcPr>
                </a:tc>
                <a:tc>
                  <a:txBody>
                    <a:bodyPr/>
                    <a:lstStyle/>
                    <a:p>
                      <a:pPr algn="l"/>
                      <a:r>
                        <a:rPr sz="1100" b="0" i="0">
                          <a:solidFill>
                            <a:srgbClr val="2B2B2B"/>
                          </a:solidFill>
                          <a:latin typeface="Calibri"/>
                        </a:rPr>
                        <a:t>Tarea</a:t>
                      </a:r>
                    </a:p>
                  </a:txBody>
                  <a:tcPr anchor="ctr" marL="109728" marR="91440" marT="36576" marB="36576">
                    <a:solidFill>
                      <a:srgbClr val="F2F2F2"/>
                    </a:solidFill>
                  </a:tcPr>
                </a:tc>
                <a:tc>
                  <a:txBody>
                    <a:bodyPr/>
                    <a:lstStyle/>
                    <a:p>
                      <a:pPr algn="l"/>
                      <a:r>
                        <a:rPr sz="1100" b="0" i="0">
                          <a:solidFill>
                            <a:srgbClr val="2B2B2B"/>
                          </a:solidFill>
                          <a:latin typeface="Calibri"/>
                        </a:rPr>
                        <a:t>2 (25%)</a:t>
                      </a:r>
                    </a:p>
                  </a:txBody>
                  <a:tcPr anchor="ctr" marL="109728" marR="91440" marT="36576" marB="36576">
                    <a:solidFill>
                      <a:srgbClr val="F2F2F2"/>
                    </a:solidFill>
                  </a:tcPr>
                </a:tc>
                <a:tc>
                  <a:txBody>
                    <a:bodyPr/>
                    <a:lstStyle/>
                    <a:p>
                      <a:pPr algn="l"/>
                      <a:r>
                        <a:rPr sz="1100" b="1" i="0">
                          <a:solidFill>
                            <a:srgbClr val="2B2B2B"/>
                          </a:solidFill>
                          <a:latin typeface="Calibri"/>
                        </a:rPr>
                        <a:t>25%</a:t>
                      </a:r>
                    </a:p>
                  </a:txBody>
                  <a:tcPr anchor="ctr" marL="109728" marR="91440" marT="36576" marB="36576">
                    <a:solidFill>
                      <a:srgbClr val="F2F2F2"/>
                    </a:solidFill>
                  </a:tcPr>
                </a:tc>
                <a:tc>
                  <a:txBody>
                    <a:bodyPr/>
                    <a:lstStyle/>
                    <a:p>
                      <a:pPr algn="l"/>
                      <a:r>
                        <a:rPr sz="1100" b="0" i="0">
                          <a:solidFill>
                            <a:srgbClr val="2B2B2B"/>
                          </a:solidFill>
                          <a:latin typeface="Calibri"/>
                        </a:rPr>
                        <a:t>Documento del equipo: correcciones + marco referencial — antecedentes, teórico, conceptual, contextual y legal. Enunciado: `ACA 1 (25%)`.</a:t>
                      </a:r>
                    </a:p>
                  </a:txBody>
                  <a:tcPr anchor="ctr" marL="109728" marR="91440" marT="36576" marB="36576">
                    <a:solidFill>
                      <a:srgbClr val="F2F2F2"/>
                    </a:solidFill>
                  </a:tcPr>
                </a:tc>
              </a:tr>
              <a:tr h="502920">
                <a:tc>
                  <a:txBody>
                    <a:bodyPr/>
                    <a:lstStyle/>
                    <a:p>
                      <a:pPr algn="l"/>
                      <a:r>
                        <a:rPr sz="1100" b="1" i="0">
                          <a:solidFill>
                            <a:srgbClr val="2B2B2B"/>
                          </a:solidFill>
                          <a:latin typeface="Calibri"/>
                        </a:rPr>
                        <a:t>ACA FINAL</a:t>
                      </a:r>
                    </a:p>
                  </a:txBody>
                  <a:tcPr anchor="ctr" marL="109728" marR="91440" marT="36576" marB="36576">
                    <a:solidFill>
                      <a:srgbClr val="FFFFFF"/>
                    </a:solidFill>
                  </a:tcPr>
                </a:tc>
                <a:tc>
                  <a:txBody>
                    <a:bodyPr/>
                    <a:lstStyle/>
                    <a:p>
                      <a:pPr algn="l"/>
                      <a:r>
                        <a:rPr sz="1100" b="0" i="0">
                          <a:solidFill>
                            <a:srgbClr val="2B2B2B"/>
                          </a:solidFill>
                          <a:latin typeface="Calibri"/>
                        </a:rPr>
                        <a:t>Tarea</a:t>
                      </a:r>
                    </a:p>
                  </a:txBody>
                  <a:tcPr anchor="ctr" marL="109728" marR="91440" marT="36576" marB="36576">
                    <a:solidFill>
                      <a:srgbClr val="FFFFFF"/>
                    </a:solidFill>
                  </a:tcPr>
                </a:tc>
                <a:tc>
                  <a:txBody>
                    <a:bodyPr/>
                    <a:lstStyle/>
                    <a:p>
                      <a:pPr algn="l"/>
                      <a:r>
                        <a:rPr sz="1100" b="0" i="0">
                          <a:solidFill>
                            <a:srgbClr val="2B2B2B"/>
                          </a:solidFill>
                          <a:latin typeface="Calibri"/>
                        </a:rPr>
                        <a:t>3 (50%)</a:t>
                      </a:r>
                    </a:p>
                  </a:txBody>
                  <a:tcPr anchor="ctr" marL="109728" marR="91440" marT="36576" marB="36576">
                    <a:solidFill>
                      <a:srgbClr val="FFFFFF"/>
                    </a:solidFill>
                  </a:tcPr>
                </a:tc>
                <a:tc>
                  <a:txBody>
                    <a:bodyPr/>
                    <a:lstStyle/>
                    <a:p>
                      <a:pPr algn="l"/>
                      <a:r>
                        <a:rPr sz="1100" b="1" i="0">
                          <a:solidFill>
                            <a:srgbClr val="2B2B2B"/>
                          </a:solidFill>
                          <a:latin typeface="Calibri"/>
                        </a:rPr>
                        <a:t>42%</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e integrado: metodología, instrumentos propuestos, cronograma, presupuesto y viabilidad. Enunciado: `ACA FINAL (42%)`.</a:t>
                      </a:r>
                    </a:p>
                  </a:txBody>
                  <a:tcPr anchor="ctr" marL="109728" marR="91440" marT="36576" marB="36576">
                    <a:solidFill>
                      <a:srgbClr val="FFFFFF"/>
                    </a:solidFill>
                  </a:tcPr>
                </a:tc>
              </a:tr>
              <a:tr h="502920">
                <a:tc>
                  <a:txBody>
                    <a:bodyPr/>
                    <a:lstStyle/>
                    <a:p>
                      <a:pPr algn="l"/>
                      <a:r>
                        <a:rPr sz="1100" b="1" i="0">
                          <a:solidFill>
                            <a:srgbClr val="2B2B2B"/>
                          </a:solidFill>
                          <a:latin typeface="Calibri"/>
                        </a:rPr>
                        <a:t>Autoevaluación</a:t>
                      </a:r>
                    </a:p>
                  </a:txBody>
                  <a:tcPr anchor="ctr" marL="109728" marR="91440" marT="36576" marB="36576">
                    <a:solidFill>
                      <a:srgbClr val="F2F2F2"/>
                    </a:solidFill>
                  </a:tcPr>
                </a:tc>
                <a:tc>
                  <a:txBody>
                    <a:bodyPr/>
                    <a:lstStyle/>
                    <a:p>
                      <a:pPr algn="l"/>
                      <a:r>
                        <a:rPr sz="1100" b="0" i="0">
                          <a:solidFill>
                            <a:srgbClr val="2B2B2B"/>
                          </a:solidFill>
                          <a:latin typeface="Calibri"/>
                        </a:rPr>
                        <a:t>Cuestionario</a:t>
                      </a:r>
                    </a:p>
                  </a:txBody>
                  <a:tcPr anchor="ctr" marL="109728" marR="91440" marT="36576" marB="36576">
                    <a:solidFill>
                      <a:srgbClr val="F2F2F2"/>
                    </a:solidFill>
                  </a:tcPr>
                </a:tc>
                <a:tc>
                  <a:txBody>
                    <a:bodyPr/>
                    <a:lstStyle/>
                    <a:p>
                      <a:pPr algn="l"/>
                      <a:r>
                        <a:rPr sz="1100" b="0" i="0">
                          <a:solidFill>
                            <a:srgbClr val="2B2B2B"/>
                          </a:solidFill>
                          <a:latin typeface="Calibri"/>
                        </a:rPr>
                        <a:t>3 (50%)</a:t>
                      </a:r>
                    </a:p>
                  </a:txBody>
                  <a:tcPr anchor="ctr" marL="109728" marR="91440" marT="36576" marB="36576">
                    <a:solidFill>
                      <a:srgbClr val="F2F2F2"/>
                    </a:solidFill>
                  </a:tcPr>
                </a:tc>
                <a:tc>
                  <a:txBody>
                    <a:bodyPr/>
                    <a:lstStyle/>
                    <a:p>
                      <a:pPr algn="l"/>
                      <a:r>
                        <a:rPr sz="1100" b="1"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Tu valoración de tu propio proceso y de tu aporte al equipo (individual). Instructivo: `Autoevaluacion individual (4%)`.</a:t>
                      </a:r>
                    </a:p>
                  </a:txBody>
                  <a:tcPr anchor="ctr" marL="109728" marR="91440" marT="36576" marB="36576">
                    <a:solidFill>
                      <a:srgbClr val="F2F2F2"/>
                    </a:solidFill>
                  </a:tcPr>
                </a:tc>
              </a:tr>
              <a:tr h="502920">
                <a:tc>
                  <a:txBody>
                    <a:bodyPr/>
                    <a:lstStyle/>
                    <a:p>
                      <a:pPr algn="l"/>
                      <a:r>
                        <a:rPr sz="1100" b="1" i="0">
                          <a:solidFill>
                            <a:srgbClr val="2B2B2B"/>
                          </a:solidFill>
                          <a:latin typeface="Calibri"/>
                        </a:rPr>
                        <a:t>Coevaluación</a:t>
                      </a:r>
                    </a:p>
                  </a:txBody>
                  <a:tcPr anchor="ctr" marL="109728" marR="91440" marT="36576" marB="36576">
                    <a:solidFill>
                      <a:srgbClr val="FFFFFF"/>
                    </a:solidFill>
                  </a:tcPr>
                </a:tc>
                <a:tc>
                  <a:txBody>
                    <a:bodyPr/>
                    <a:lstStyle/>
                    <a:p>
                      <a:pPr algn="l"/>
                      <a:r>
                        <a:rPr sz="1100" b="0" i="0">
                          <a:solidFill>
                            <a:srgbClr val="2B2B2B"/>
                          </a:solidFill>
                          <a:latin typeface="Calibri"/>
                        </a:rPr>
                        <a:t>Foro</a:t>
                      </a:r>
                    </a:p>
                  </a:txBody>
                  <a:tcPr anchor="ctr" marL="109728" marR="91440" marT="36576" marB="36576">
                    <a:solidFill>
                      <a:srgbClr val="FFFFFF"/>
                    </a:solidFill>
                  </a:tcPr>
                </a:tc>
                <a:tc>
                  <a:txBody>
                    <a:bodyPr/>
                    <a:lstStyle/>
                    <a:p>
                      <a:pPr algn="l"/>
                      <a:r>
                        <a:rPr sz="1100" b="0" i="0">
                          <a:solidFill>
                            <a:srgbClr val="2B2B2B"/>
                          </a:solidFill>
                          <a:latin typeface="Calibri"/>
                        </a:rPr>
                        <a:t>3 (50%)</a:t>
                      </a:r>
                    </a:p>
                  </a:txBody>
                  <a:tcPr anchor="ctr" marL="109728" marR="91440" marT="36576" marB="36576">
                    <a:solidFill>
                      <a:srgbClr val="FFFFFF"/>
                    </a:solidFill>
                  </a:tcPr>
                </a:tc>
                <a:tc>
                  <a:txBody>
                    <a:bodyPr/>
                    <a:lstStyle/>
                    <a:p>
                      <a:pPr algn="l"/>
                      <a:r>
                        <a:rPr sz="1100" b="1" i="0">
                          <a:solidFill>
                            <a:srgbClr val="2B2B2B"/>
                          </a:solidFill>
                          <a:latin typeface="Calibri"/>
                        </a:rPr>
                        <a:t>4%</a:t>
                      </a:r>
                    </a:p>
                  </a:txBody>
                  <a:tcPr anchor="ctr" marL="109728" marR="91440" marT="36576" marB="36576">
                    <a:solidFill>
                      <a:srgbClr val="FFFFFF"/>
                    </a:solidFill>
                  </a:tcPr>
                </a:tc>
                <a:tc>
                  <a:txBody>
                    <a:bodyPr/>
                    <a:lstStyle/>
                    <a:p>
                      <a:pPr algn="l"/>
                      <a:r>
                        <a:rPr sz="1100" b="0" i="0">
                          <a:solidFill>
                            <a:srgbClr val="2B2B2B"/>
                          </a:solidFill>
                          <a:latin typeface="Calibri"/>
                        </a:rPr>
                        <a:t>Valoración de los aportes de tus pares del equipo: se participa en el foro. Instructivo: `Coevaluacion individual (4%)`.</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Estructura, tipo de actividad y pesos = </a:t>
            </a:r>
            <a:r>
              <a:rPr sz="1200" b="1" i="1">
                <a:solidFill>
                  <a:srgbClr val="2B2B2B"/>
                </a:solidFill>
                <a:latin typeface="Calibri"/>
              </a:rPr>
              <a:t>libro de calificaciones del aula</a:t>
            </a:r>
            <a:r>
              <a:rPr sz="1200" b="0" i="1">
                <a:solidFill>
                  <a:srgbClr val="2B2B2B"/>
                </a:solidFill>
                <a:latin typeface="Calibri"/>
              </a:rPr>
              <a:t>; suman </a:t>
            </a:r>
            <a:r>
              <a:rPr sz="1200" b="1" i="1">
                <a:solidFill>
                  <a:srgbClr val="2B2B2B"/>
                </a:solidFill>
                <a:latin typeface="Calibri"/>
              </a:rPr>
              <a:t>100%</a:t>
            </a:r>
            <a:r>
              <a:rPr sz="1200" b="0" i="1">
                <a:solidFill>
                  <a:srgbClr val="2B2B2B"/>
                </a:solidFill>
                <a:latin typeface="Calibri"/>
              </a:rPr>
              <a:t>. ESP329 declara nota única: el aula la compone en </a:t>
            </a:r>
            <a:r>
              <a:rPr sz="1200" b="1" i="1">
                <a:solidFill>
                  <a:srgbClr val="2B2B2B"/>
                </a:solidFill>
                <a:latin typeface="Calibri"/>
              </a:rPr>
              <a:t>tres cortes (25% / 25% / 50%)</a:t>
            </a:r>
            <a:r>
              <a:rPr sz="1200" b="0" i="1">
                <a:solidFill>
                  <a:srgbClr val="2B2B2B"/>
                </a:solidFill>
                <a:latin typeface="Calibri"/>
              </a:rPr>
              <a:t>. Producto único y acumulativo: si el anteproyecto final evidencia correcciones y resultados, el Docente puede ajustar favorablemente los avances previos, con trazabilidad en CDigital.</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En Proyecto I pesan 4% + 4%</a:t>
            </a:r>
            <a:r>
              <a:rPr sz="1300" b="0" i="0">
                <a:solidFill>
                  <a:srgbClr val="2B2B2B"/>
                </a:solidFill>
                <a:latin typeface="Calibri"/>
              </a:rPr>
              <a:t> (ESP329 · Art. 41 · cronograma AFI), dentro del tercer corte. Existen también en los demás cursos del Docente, con otro peso: lo que cambia es el porcentaje, no el instrumento.</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 En el aula es un </a:t>
            </a:r>
            <a:r>
              <a:rPr sz="1300" b="1" i="0">
                <a:solidFill>
                  <a:srgbClr val="2B2B2B"/>
                </a:solidFill>
                <a:latin typeface="Calibri"/>
              </a:rPr>
              <a:t>cuestionario</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 En el aula es un </a:t>
            </a:r>
            <a:r>
              <a:rPr sz="1300" b="1" i="0">
                <a:solidFill>
                  <a:srgbClr val="2B2B2B"/>
                </a:solidFill>
                <a:latin typeface="Calibri"/>
              </a:rPr>
              <a:t>foro</a:t>
            </a:r>
            <a:r>
              <a:rPr sz="1300" b="0" i="0">
                <a:solidFill>
                  <a:srgbClr val="2B2B2B"/>
                </a:solidFill>
                <a:latin typeface="Calibri"/>
              </a:rPr>
              <a:t>: se participa, no se sube archivo.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actividades individuales en </a:t>
            </a:r>
            <a:r>
              <a:rPr sz="1300" b="1" i="0">
                <a:solidFill>
                  <a:srgbClr val="2B2B2B"/>
                </a:solidFill>
                <a:latin typeface="Calibri"/>
              </a:rPr>
              <a:t>CDigital</a:t>
            </a:r>
            <a:r>
              <a:rPr sz="1300" b="0" i="0">
                <a:solidFill>
                  <a:srgbClr val="2B2B2B"/>
                </a:solidFill>
                <a:latin typeface="Calibri"/>
              </a:rPr>
              <a:t>. Instructivos en tu carpeta: `Recursos/ACAs/`.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09/11/2026–15/11/2026</a:t>
            </a:r>
            <a:r>
              <a:rPr sz="1300" b="0" i="0">
                <a:solidFill>
                  <a:srgbClr val="2B2B2B"/>
                </a:solidFill>
                <a:latin typeface="Calibri"/>
              </a:rPr>
              <a:t> · autoevaluación </a:t>
            </a:r>
            <a:r>
              <a:rPr sz="1300" b="1" i="0">
                <a:solidFill>
                  <a:srgbClr val="2B2B2B"/>
                </a:solidFill>
                <a:latin typeface="Calibri"/>
              </a:rPr>
              <a:t>16/11/2026–22/11/2026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el anteproyecto final (</a:t>
            </a:r>
            <a:r>
              <a:rPr sz="1300" b="1" i="0">
                <a:solidFill>
                  <a:srgbClr val="2B2B2B"/>
                </a:solidFill>
                <a:latin typeface="Calibri"/>
              </a:rPr>
              <a:t>ACA FINAL</a:t>
            </a:r>
            <a:r>
              <a:rPr sz="1300" b="0" i="0">
                <a:solidFill>
                  <a:srgbClr val="2B2B2B"/>
                </a:solidFill>
                <a:latin typeface="Calibri"/>
              </a:rPr>
              <a:t> en el aula).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3503066"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1  ·  25%</a:t>
            </a:r>
          </a:p>
        </p:txBody>
      </p:sp>
      <p:sp>
        <p:nvSpPr>
          <p:cNvPr id="7" name="Rectangle 6"/>
          <p:cNvSpPr/>
          <p:nvPr/>
        </p:nvSpPr>
        <p:spPr>
          <a:xfrm>
            <a:off x="640080"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4344314" y="2011679"/>
            <a:ext cx="3503066"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17466"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2  ·  25%</a:t>
            </a:r>
          </a:p>
        </p:txBody>
      </p:sp>
      <p:sp>
        <p:nvSpPr>
          <p:cNvPr id="13" name="Rectangle 12"/>
          <p:cNvSpPr/>
          <p:nvPr/>
        </p:nvSpPr>
        <p:spPr>
          <a:xfrm>
            <a:off x="4344314"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4042"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4664354"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4042"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8048548" y="2011679"/>
            <a:ext cx="3503066"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1700"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3  ·  50%</a:t>
            </a:r>
          </a:p>
        </p:txBody>
      </p:sp>
      <p:sp>
        <p:nvSpPr>
          <p:cNvPr id="19" name="Rectangle 18"/>
          <p:cNvSpPr/>
          <p:nvPr/>
        </p:nvSpPr>
        <p:spPr>
          <a:xfrm>
            <a:off x="8048548"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8276"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8368588"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8276"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3" name="TextBox 22"/>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24" name="Rounded Rectangle 23"/>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26" name="TextBox 2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1225296"/>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1005840"/>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La </a:t>
            </a:r>
            <a:r>
              <a:rPr sz="1300" b="1" i="0">
                <a:solidFill>
                  <a:srgbClr val="2B2B2B"/>
                </a:solidFill>
                <a:latin typeface="Calibri"/>
              </a:rPr>
              <a:t>ACA FINAL</a:t>
            </a:r>
            <a:r>
              <a:rPr sz="1300" b="0" i="0">
                <a:solidFill>
                  <a:srgbClr val="2B2B2B"/>
                </a:solidFill>
                <a:latin typeface="Calibri"/>
              </a:rPr>
              <a:t> (42%, el anteproyecto integrado) solo tiene 2 lunes sincrónicos (19/10 y 26/10). Apóyate en tutorías adicionales acordadas en la semana con el Docente y registra cada una en el formulario.</a:t>
            </a:r>
          </a:p>
        </p:txBody>
      </p:sp>
      <p:sp>
        <p:nvSpPr>
          <p:cNvPr id="6" name="Rounded Rectangle 5"/>
          <p:cNvSpPr/>
          <p:nvPr/>
        </p:nvSpPr>
        <p:spPr>
          <a:xfrm>
            <a:off x="640080" y="3191256"/>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300984"/>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389120"/>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498848"/>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SE PREPARA EN CADA CORTE (Y CÓMO SE LLAMA EN CADA SITIO)</a:t>
            </a:r>
          </a:p>
        </p:txBody>
      </p:sp>
      <p:graphicFrame>
        <p:nvGraphicFramePr>
          <p:cNvPr id="4" name="Table 3"/>
          <p:cNvGraphicFramePr>
            <a:graphicFrameLocks noGrp="1"/>
          </p:cNvGraphicFramePr>
          <p:nvPr/>
        </p:nvGraphicFramePr>
        <p:xfrm>
          <a:off x="640080" y="1691639"/>
          <a:ext cx="10911533" cy="2011680"/>
        </p:xfrm>
        <a:graphic>
          <a:graphicData uri="http://schemas.openxmlformats.org/drawingml/2006/table">
            <a:tbl>
              <a:tblPr>
                <a:tableStyleId>{2D5ABB26-0587-4C30-8999-92F81FD0307C}</a:tableStyleId>
              </a:tblPr>
              <a:tblGrid>
                <a:gridCol w="1375403"/>
                <a:gridCol w="1742177"/>
                <a:gridCol w="3117581"/>
                <a:gridCol w="4676372"/>
              </a:tblGrid>
              <a:tr h="502920">
                <a:tc>
                  <a:txBody>
                    <a:bodyPr/>
                    <a:lstStyle/>
                    <a:p>
                      <a:pPr algn="l"/>
                      <a:r>
                        <a:rPr sz="1300" b="1" i="0">
                          <a:solidFill>
                            <a:srgbClr val="FFFFFF"/>
                          </a:solidFill>
                          <a:latin typeface="Calibri"/>
                        </a:rPr>
                        <a:t>En el Syllabus ESP329</a:t>
                      </a:r>
                    </a:p>
                  </a:txBody>
                  <a:tcPr anchor="ctr" marL="109728" marR="91440" marT="36576" marB="36576">
                    <a:solidFill>
                      <a:srgbClr val="0C2340"/>
                    </a:solidFill>
                  </a:tcPr>
                </a:tc>
                <a:tc>
                  <a:txBody>
                    <a:bodyPr/>
                    <a:lstStyle/>
                    <a:p>
                      <a:pPr algn="l"/>
                      <a:r>
                        <a:rPr sz="1300" b="1" i="0">
                          <a:solidFill>
                            <a:srgbClr val="FFFFFF"/>
                          </a:solidFill>
                          <a:latin typeface="Calibri"/>
                        </a:rPr>
                        <a:t>Ítem del aula (CDigital)</a:t>
                      </a:r>
                    </a:p>
                  </a:txBody>
                  <a:tcPr anchor="ctr" marL="109728" marR="91440" marT="36576" marB="36576">
                    <a:solidFill>
                      <a:srgbClr val="0C2340"/>
                    </a:solidFill>
                  </a:tcPr>
                </a:tc>
                <a:tc>
                  <a:txBody>
                    <a:bodyPr/>
                    <a:lstStyle/>
                    <a:p>
                      <a:pPr algn="l"/>
                      <a:r>
                        <a:rPr sz="1300" b="1" i="0">
                          <a:solidFill>
                            <a:srgbClr val="FFFFFF"/>
                          </a:solidFill>
                          <a:latin typeface="Calibri"/>
                        </a:rPr>
                        <a:t>Documento en Recursos/ACAs/</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100" b="1" i="0">
                          <a:solidFill>
                            <a:srgbClr val="2B2B2B"/>
                          </a:solidFill>
                          <a:latin typeface="Calibri"/>
                        </a:rPr>
                        <a:t>ACA 1</a:t>
                      </a:r>
                    </a:p>
                  </a:txBody>
                  <a:tcPr anchor="ctr" marL="109728" marR="91440" marT="36576" marB="36576">
                    <a:solidFill>
                      <a:srgbClr val="FFFFFF"/>
                    </a:solidFill>
                  </a:tcPr>
                </a:tc>
                <a:tc>
                  <a:txBody>
                    <a:bodyPr/>
                    <a:lstStyle/>
                    <a:p>
                      <a:pPr algn="l"/>
                      <a:r>
                        <a:rPr sz="1100" b="1" i="0">
                          <a:solidFill>
                            <a:srgbClr val="2B2B2B"/>
                          </a:solidFill>
                          <a:latin typeface="Calibri"/>
                        </a:rPr>
                        <a:t>Quiz</a:t>
                      </a:r>
                      <a:r>
                        <a:rPr sz="1100" b="0" i="0">
                          <a:solidFill>
                            <a:srgbClr val="2B2B2B"/>
                          </a:solidFill>
                          <a:latin typeface="Calibri"/>
                        </a:rPr>
                        <a:t> (cuestionario · 25%)</a:t>
                      </a:r>
                    </a:p>
                  </a:txBody>
                  <a:tcPr anchor="ctr" marL="109728" marR="91440" marT="36576" marB="36576">
                    <a:solidFill>
                      <a:srgbClr val="FFFFFF"/>
                    </a:solidFill>
                  </a:tcPr>
                </a:tc>
                <a:tc>
                  <a:txBody>
                    <a:bodyPr/>
                    <a:lstStyle/>
                    <a:p>
                      <a:pPr algn="l"/>
                      <a:r>
                        <a:rPr sz="1100" b="0" i="0">
                          <a:solidFill>
                            <a:srgbClr val="2B2B2B"/>
                          </a:solidFill>
                          <a:latin typeface="Calibri"/>
                        </a:rPr>
                        <a:t>`Quiz (25%) - guia del cuestionario.docx`</a:t>
                      </a:r>
                    </a:p>
                  </a:txBody>
                  <a:tcPr anchor="ctr" marL="109728" marR="91440" marT="36576" marB="36576">
                    <a:solidFill>
                      <a:srgbClr val="FFFFFF"/>
                    </a:solidFill>
                  </a:tcPr>
                </a:tc>
                <a:tc>
                  <a:txBody>
                    <a:bodyPr/>
                    <a:lstStyle/>
                    <a:p>
                      <a:pPr algn="l"/>
                      <a:r>
                        <a:rPr sz="1100" b="0" i="0">
                          <a:solidFill>
                            <a:srgbClr val="2B2B2B"/>
                          </a:solidFill>
                          <a:latin typeface="Calibri"/>
                        </a:rPr>
                        <a:t>U2–U3 (+alcances): problema, pregunta, objetivos, justificación, alcances/limitaciones. Se comprueba en el </a:t>
                      </a:r>
                      <a:r>
                        <a:rPr sz="1100" b="1" i="0">
                          <a:solidFill>
                            <a:srgbClr val="2B2B2B"/>
                          </a:solidFill>
                          <a:latin typeface="Calibri"/>
                        </a:rPr>
                        <a:t>Quiz</a:t>
                      </a:r>
                      <a:r>
                        <a:rPr sz="1100" b="0" i="0">
                          <a:solidFill>
                            <a:srgbClr val="2B2B2B"/>
                          </a:solidFill>
                          <a:latin typeface="Calibri"/>
                        </a:rPr>
                        <a:t> del aula.</a:t>
                      </a:r>
                    </a:p>
                  </a:txBody>
                  <a:tcPr anchor="ctr" marL="109728" marR="91440" marT="36576" marB="36576">
                    <a:solidFill>
                      <a:srgbClr val="FFFFFF"/>
                    </a:solidFill>
                  </a:tcPr>
                </a:tc>
              </a:tr>
              <a:tr h="502920">
                <a:tc>
                  <a:txBody>
                    <a:bodyPr/>
                    <a:lstStyle/>
                    <a:p>
                      <a:pPr algn="l"/>
                      <a:r>
                        <a:rPr sz="1100" b="1" i="0">
                          <a:solidFill>
                            <a:srgbClr val="2B2B2B"/>
                          </a:solidFill>
                          <a:latin typeface="Calibri"/>
                        </a:rPr>
                        <a:t>ACA 2</a:t>
                      </a:r>
                    </a:p>
                  </a:txBody>
                  <a:tcPr anchor="ctr" marL="109728" marR="91440" marT="36576" marB="36576">
                    <a:solidFill>
                      <a:srgbClr val="F2F2F2"/>
                    </a:solidFill>
                  </a:tcPr>
                </a:tc>
                <a:tc>
                  <a:txBody>
                    <a:bodyPr/>
                    <a:lstStyle/>
                    <a:p>
                      <a:pPr algn="l"/>
                      <a:r>
                        <a:rPr sz="1100" b="1" i="0">
                          <a:solidFill>
                            <a:srgbClr val="2B2B2B"/>
                          </a:solidFill>
                          <a:latin typeface="Calibri"/>
                        </a:rPr>
                        <a:t>ACA 1</a:t>
                      </a:r>
                      <a:r>
                        <a:rPr sz="1100" b="0" i="0">
                          <a:solidFill>
                            <a:srgbClr val="2B2B2B"/>
                          </a:solidFill>
                          <a:latin typeface="Calibri"/>
                        </a:rPr>
                        <a:t> (tarea · 25%)</a:t>
                      </a:r>
                    </a:p>
                  </a:txBody>
                  <a:tcPr anchor="ctr" marL="109728" marR="91440" marT="36576" marB="36576">
                    <a:solidFill>
                      <a:srgbClr val="F2F2F2"/>
                    </a:solidFill>
                  </a:tcPr>
                </a:tc>
                <a:tc>
                  <a:txBody>
                    <a:bodyPr/>
                    <a:lstStyle/>
                    <a:p>
                      <a:pPr algn="l"/>
                      <a:r>
                        <a:rPr sz="1100" b="0" i="0">
                          <a:solidFill>
                            <a:srgbClr val="2B2B2B"/>
                          </a:solidFill>
                          <a:latin typeface="Calibri"/>
                        </a:rPr>
                        <a:t>`ACA 1 (25%) - Formulacion del problema y fundamentacion referencial.docx`</a:t>
                      </a:r>
                    </a:p>
                  </a:txBody>
                  <a:tcPr anchor="ctr" marL="109728" marR="91440" marT="36576" marB="36576">
                    <a:solidFill>
                      <a:srgbClr val="F2F2F2"/>
                    </a:solidFill>
                  </a:tcPr>
                </a:tc>
                <a:tc>
                  <a:txBody>
                    <a:bodyPr/>
                    <a:lstStyle/>
                    <a:p>
                      <a:pPr algn="l"/>
                      <a:r>
                        <a:rPr sz="1100" b="0" i="0">
                          <a:solidFill>
                            <a:srgbClr val="2B2B2B"/>
                          </a:solidFill>
                          <a:latin typeface="Calibri"/>
                        </a:rPr>
                        <a:t>U4: correcciones + marco referencial (antecedentes, teórico, conceptual, contextual, legal). Se </a:t>
                      </a:r>
                      <a:r>
                        <a:rPr sz="1100" b="1" i="0">
                          <a:solidFill>
                            <a:srgbClr val="2B2B2B"/>
                          </a:solidFill>
                          <a:latin typeface="Calibri"/>
                        </a:rPr>
                        <a:t>sube</a:t>
                      </a:r>
                      <a:r>
                        <a:rPr sz="1100" b="0" i="0">
                          <a:solidFill>
                            <a:srgbClr val="2B2B2B"/>
                          </a:solidFill>
                          <a:latin typeface="Calibri"/>
                        </a:rPr>
                        <a:t> como ACA 1 del aula.</a:t>
                      </a:r>
                    </a:p>
                  </a:txBody>
                  <a:tcPr anchor="ctr" marL="109728" marR="91440" marT="36576" marB="36576">
                    <a:solidFill>
                      <a:srgbClr val="F2F2F2"/>
                    </a:solidFill>
                  </a:tcPr>
                </a:tc>
              </a:tr>
              <a:tr h="502920">
                <a:tc>
                  <a:txBody>
                    <a:bodyPr/>
                    <a:lstStyle/>
                    <a:p>
                      <a:pPr algn="l"/>
                      <a:r>
                        <a:rPr sz="1100" b="1" i="0">
                          <a:solidFill>
                            <a:srgbClr val="2B2B2B"/>
                          </a:solidFill>
                          <a:latin typeface="Calibri"/>
                        </a:rPr>
                        <a:t>ACA 3</a:t>
                      </a:r>
                    </a:p>
                  </a:txBody>
                  <a:tcPr anchor="ctr" marL="109728" marR="91440" marT="36576" marB="36576">
                    <a:solidFill>
                      <a:srgbClr val="FFFFFF"/>
                    </a:solidFill>
                  </a:tcPr>
                </a:tc>
                <a:tc>
                  <a:txBody>
                    <a:bodyPr/>
                    <a:lstStyle/>
                    <a:p>
                      <a:pPr algn="l"/>
                      <a:r>
                        <a:rPr sz="1100" b="1" i="0">
                          <a:solidFill>
                            <a:srgbClr val="2B2B2B"/>
                          </a:solidFill>
                          <a:latin typeface="Calibri"/>
                        </a:rPr>
                        <a:t>ACA FINAL</a:t>
                      </a:r>
                      <a:r>
                        <a:rPr sz="1100" b="0" i="0">
                          <a:solidFill>
                            <a:srgbClr val="2B2B2B"/>
                          </a:solidFill>
                          <a:latin typeface="Calibri"/>
                        </a:rPr>
                        <a:t> (tarea · 42%)</a:t>
                      </a:r>
                    </a:p>
                  </a:txBody>
                  <a:tcPr anchor="ctr" marL="109728" marR="91440" marT="36576" marB="36576">
                    <a:solidFill>
                      <a:srgbClr val="FFFFFF"/>
                    </a:solidFill>
                  </a:tcPr>
                </a:tc>
                <a:tc>
                  <a:txBody>
                    <a:bodyPr/>
                    <a:lstStyle/>
                    <a:p>
                      <a:pPr algn="l"/>
                      <a:r>
                        <a:rPr sz="1100" b="0" i="0">
                          <a:solidFill>
                            <a:srgbClr val="2B2B2B"/>
                          </a:solidFill>
                          <a:latin typeface="Calibri"/>
                        </a:rPr>
                        <a:t>`ACA FINAL (42%) - Anteproyecto integrado.docx`</a:t>
                      </a:r>
                    </a:p>
                  </a:txBody>
                  <a:tcPr anchor="ctr" marL="109728" marR="91440" marT="36576" marB="36576">
                    <a:solidFill>
                      <a:srgbClr val="FFFFFF"/>
                    </a:solidFill>
                  </a:tcPr>
                </a:tc>
                <a:tc>
                  <a:txBody>
                    <a:bodyPr/>
                    <a:lstStyle/>
                    <a:p>
                      <a:pPr algn="l"/>
                      <a:r>
                        <a:rPr sz="1100" b="0" i="0">
                          <a:solidFill>
                            <a:srgbClr val="2B2B2B"/>
                          </a:solidFill>
                          <a:latin typeface="Calibri"/>
                        </a:rPr>
                        <a:t>U5–U7: correcciones + metodología + cronograma/presupuesto + anteproyecto FINAL integrado. Se </a:t>
                      </a:r>
                      <a:r>
                        <a:rPr sz="1100" b="1" i="0">
                          <a:solidFill>
                            <a:srgbClr val="2B2B2B"/>
                          </a:solidFill>
                          <a:latin typeface="Calibri"/>
                        </a:rPr>
                        <a:t>sube</a:t>
                      </a:r>
                      <a:r>
                        <a:rPr sz="1100" b="0" i="0">
                          <a:solidFill>
                            <a:srgbClr val="2B2B2B"/>
                          </a:solidFill>
                          <a:latin typeface="Calibri"/>
                        </a:rPr>
                        <a:t> como ACA FINAL.</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Tres nombres para lo mismo: el Syllabus numera las ACAs, el aula califica </a:t>
            </a:r>
            <a:r>
              <a:rPr sz="1200" b="1" i="1">
                <a:solidFill>
                  <a:srgbClr val="2B2B2B"/>
                </a:solidFill>
                <a:latin typeface="Calibri"/>
              </a:rPr>
              <a:t>Quiz · ACA 1 · ACA FINAL</a:t>
            </a:r>
            <a:r>
              <a:rPr sz="1200" b="0" i="1">
                <a:solidFill>
                  <a:srgbClr val="2B2B2B"/>
                </a:solidFill>
                <a:latin typeface="Calibri"/>
              </a:rPr>
              <a:t> y tu carpeta titula cada documento como su ítem. Busca siempre por el nombre de la tercera columna. Equipos máx. 3 (AFI). Formato: Plantilla APA CUN – Proyecto de Grado (APA 7). Criterios: coherencia, pertinencia, rigor, fuentes, escritura, integridad y viabilidad (ESP329).</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Contacto del Docente:</a:t>
            </a:r>
            <a:r>
              <a:rPr sz="1600" b="0" i="0">
                <a:solidFill>
                  <a:srgbClr val="2B2B2B"/>
                </a:solidFill>
                <a:latin typeface="Calibri"/>
              </a:rPr>
              <a:t> julian_castanoe@cun.edu.co</a:t>
            </a:r>
          </a:p>
          <a:p>
            <a:pPr>
              <a:spcAft>
                <a:spcPts val="1000"/>
              </a:spcAft>
            </a:pPr>
            <a:r>
              <a:rPr sz="1600" b="0" i="0">
                <a:solidFill>
                  <a:srgbClr val="2B2B2B"/>
                </a:solidFill>
                <a:latin typeface="Calibri"/>
              </a:rPr>
              <a:t>–   </a:t>
            </a:r>
            <a:r>
              <a:rPr sz="1600" b="1" i="0">
                <a:solidFill>
                  <a:srgbClr val="2B2B2B"/>
                </a:solidFill>
                <a:latin typeface="Calibri"/>
              </a:rPr>
              <a:t>CDigital (campus del curso):</a:t>
            </a:r>
            <a:r>
              <a:rPr sz="1600" b="0" i="0">
                <a:solidFill>
                  <a:srgbClr val="2B2B2B"/>
                </a:solidFill>
                <a:latin typeface="Calibri"/>
              </a:rPr>
              <a:t> </a:t>
            </a:r>
            <a:r>
              <a:rPr sz="1600" b="1" i="0">
                <a:solidFill>
                  <a:srgbClr val="2B2B2B"/>
                </a:solidFill>
                <a:latin typeface="Calibri"/>
              </a:rPr>
              <a:t>https://cdigital.cun.edu.co/course/view.php?id=130378</a:t>
            </a:r>
          </a:p>
          <a:p>
            <a:pPr>
              <a:spcAft>
                <a:spcPts val="1000"/>
              </a:spcAft>
            </a:pPr>
            <a:r>
              <a:rPr sz="1600" b="0" i="0">
                <a:solidFill>
                  <a:srgbClr val="2B2B2B"/>
                </a:solidFill>
                <a:latin typeface="Calibri"/>
              </a:rPr>
              <a:t>–   </a:t>
            </a:r>
            <a:r>
              <a:rPr sz="1600" b="1" i="0">
                <a:solidFill>
                  <a:srgbClr val="2B2B2B"/>
                </a:solidFill>
                <a:latin typeface="Calibri"/>
              </a:rPr>
              <a:t>Registro de tutorías (obligatorio):</a:t>
            </a:r>
            <a:r>
              <a:rPr sz="1600" b="0" i="0">
                <a:solidFill>
                  <a:srgbClr val="2B2B2B"/>
                </a:solidFill>
                <a:latin typeface="Calibri"/>
              </a:rPr>
              <a:t> </a:t>
            </a:r>
            <a:r>
              <a:rPr sz="1600" b="1" i="0">
                <a:solidFill>
                  <a:srgbClr val="007433"/>
                </a:solidFill>
                <a:latin typeface="Calibri"/>
              </a:rPr>
              <a:t>https://forms.gle/oZ8xCYiUo3KEWr1d9</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a:t>
            </a:r>
            <a:r>
              <a:rPr sz="1600" b="1" i="0">
                <a:solidFill>
                  <a:srgbClr val="2B2B2B"/>
                </a:solidFill>
                <a:latin typeface="Calibri"/>
              </a:rPr>
              <a:t>Google Meet (mismo enlace toda la serie):</a:t>
            </a:r>
            <a:r>
              <a:rPr sz="1600" b="0" i="0">
                <a:solidFill>
                  <a:srgbClr val="2B2B2B"/>
                </a:solidFill>
                <a:latin typeface="Calibri"/>
              </a:rPr>
              <a:t> </a:t>
            </a:r>
            <a:r>
              <a:rPr sz="1600" b="1" i="0">
                <a:solidFill>
                  <a:srgbClr val="2B2B2B"/>
                </a:solidFill>
                <a:latin typeface="Calibri"/>
              </a:rPr>
              <a:t>https://meet.google.com/omk-woqk-vsj</a:t>
            </a:r>
          </a:p>
          <a:p>
            <a:pPr>
              <a:spcAft>
                <a:spcPts val="1000"/>
              </a:spcAft>
            </a:pPr>
            <a:r>
              <a:rPr sz="1600" b="0" i="0">
                <a:solidFill>
                  <a:srgbClr val="2B2B2B"/>
                </a:solidFill>
                <a:latin typeface="Calibri"/>
              </a:rPr>
              <a:t>–   </a:t>
            </a:r>
            <a:r>
              <a:rPr sz="1600" b="1" i="0">
                <a:solidFill>
                  <a:srgbClr val="2B2B2B"/>
                </a:solidFill>
                <a:latin typeface="Calibri"/>
              </a:rPr>
              <a:t>Plantilla APA CUN – Proyecto de Grado</a:t>
            </a:r>
            <a:r>
              <a:rPr sz="1600" b="0" i="0">
                <a:solidFill>
                  <a:srgbClr val="2B2B2B"/>
                </a:solidFill>
                <a:latin typeface="Calibri"/>
              </a:rPr>
              <a:t> (viene en tu carpeta del curso):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Plantilla APA CUN (en tu carpeta):</a:t>
            </a:r>
            <a:r>
              <a:rPr sz="1600" b="0" i="0">
                <a:solidFill>
                  <a:srgbClr val="2B2B2B"/>
                </a:solidFill>
                <a:latin typeface="Calibri"/>
              </a:rPr>
              <a:t> `Recursos/Plantilla_APA_CUN_Proyecto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Enunciados y guías:</a:t>
            </a:r>
            <a:r>
              <a:rPr sz="1600" b="0" i="0">
                <a:solidFill>
                  <a:srgbClr val="2B2B2B"/>
                </a:solidFill>
                <a:latin typeface="Calibri"/>
              </a:rPr>
              <a:t> `Clases/Recursos/ACAs/` — un documento por ítem del aula, con su nombre y su peso.</a:t>
            </a:r>
          </a:p>
          <a:p>
            <a:pPr>
              <a:spcAft>
                <a:spcPts val="1000"/>
              </a:spcAft>
            </a:pPr>
            <a:r>
              <a:rPr sz="1600" b="0" i="0">
                <a:solidFill>
                  <a:srgbClr val="2B2B2B"/>
                </a:solidFill>
                <a:latin typeface="Calibri"/>
              </a:rPr>
              <a:t>–   </a:t>
            </a:r>
            <a:r>
              <a:rPr sz="1600" b="1" i="0">
                <a:solidFill>
                  <a:srgbClr val="2B2B2B"/>
                </a:solidFill>
                <a:latin typeface="Calibri"/>
              </a:rPr>
              <a:t>Biblioteca Virtual CUN + bases:</a:t>
            </a:r>
            <a:r>
              <a:rPr sz="1600" b="0" i="0">
                <a:solidFill>
                  <a:srgbClr val="2B2B2B"/>
                </a:solidFill>
                <a:latin typeface="Calibri"/>
              </a:rPr>
              <a:t> Google Scholar, Redalyc, SciELO, Dialnet · citas: ZoteroBib / Google Docs.</a:t>
            </a:r>
          </a:p>
          <a:p>
            <a:pPr>
              <a:spcAft>
                <a:spcPts val="1000"/>
              </a:spcAft>
            </a:pPr>
            <a:r>
              <a:rPr sz="1600" b="0" i="0">
                <a:solidFill>
                  <a:srgbClr val="2B2B2B"/>
                </a:solidFill>
                <a:latin typeface="Calibri"/>
              </a:rPr>
              <a:t>–   </a:t>
            </a:r>
            <a:r>
              <a:rPr sz="1600" b="1" i="0">
                <a:solidFill>
                  <a:srgbClr val="2B2B2B"/>
                </a:solidFill>
                <a:latin typeface="Calibri"/>
              </a:rPr>
              <a:t>Syllabus fuente:</a:t>
            </a:r>
            <a:r>
              <a:rPr sz="16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