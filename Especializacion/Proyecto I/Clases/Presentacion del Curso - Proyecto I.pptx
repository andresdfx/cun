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Nota única</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ACA 1, 2 y 3 son </a:t>
            </a:r>
            <a:r>
              <a:rPr sz="1600" b="1" i="0">
                <a:solidFill>
                  <a:srgbClr val="2B2B2B"/>
                </a:solidFill>
                <a:latin typeface="Calibri"/>
              </a:rPr>
              <a:t>avances acumulativos del mismo producto</a:t>
            </a:r>
            <a:r>
              <a:rPr sz="1600" b="0" i="0">
                <a:solidFill>
                  <a:srgbClr val="2B2B2B"/>
                </a:solidFill>
                <a:latin typeface="Calibri"/>
              </a:rPr>
              <a:t> (no tareas aisladas).</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NOTA ÚNICA (ESP329 / Art. 41)</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3203386"/>
                <a:gridCol w="1001058"/>
                <a:gridCol w="6707090"/>
              </a:tblGrid>
              <a:tr h="502920">
                <a:tc>
                  <a:txBody>
                    <a:bodyPr/>
                    <a:lstStyle/>
                    <a:p>
                      <a:pPr algn="l"/>
                      <a:r>
                        <a:rPr sz="1300" b="1" i="0">
                          <a:solidFill>
                            <a:srgbClr val="FFFFFF"/>
                          </a:solidFill>
                          <a:latin typeface="Calibri"/>
                        </a:rPr>
                        <a:t>Componente</a:t>
                      </a:r>
                    </a:p>
                  </a:txBody>
                  <a:tcPr anchor="ctr" marL="109728" marR="91440" marT="36576" marB="36576">
                    <a:solidFill>
                      <a:srgbClr val="0C2340"/>
                    </a:solidFill>
                  </a:tcPr>
                </a:tc>
                <a:tc>
                  <a:txBody>
                    <a:bodyPr/>
                    <a:lstStyle/>
                    <a:p>
                      <a:pPr algn="l"/>
                      <a:r>
                        <a:rPr sz="1300" b="1" i="0">
                          <a:solidFill>
                            <a:srgbClr val="FFFFFF"/>
                          </a:solidFill>
                          <a:latin typeface="Calibri"/>
                        </a:rPr>
                        <a:t>%</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a:t>
                      </a:r>
                    </a:p>
                  </a:txBody>
                  <a:tcPr anchor="ctr" marL="109728" marR="91440" marT="36576" marB="36576">
                    <a:solidFill>
                      <a:srgbClr val="FFFFFF"/>
                    </a:solidFill>
                  </a:tcPr>
                </a:tc>
                <a:tc>
                  <a:txBody>
                    <a:bodyPr/>
                    <a:lstStyle/>
                    <a:p>
                      <a:pPr algn="l"/>
                      <a:r>
                        <a:rPr sz="1200" b="0" i="0">
                          <a:solidFill>
                            <a:srgbClr val="2B2B2B"/>
                          </a:solidFill>
                          <a:latin typeface="Calibri"/>
                        </a:rPr>
                        <a:t>25%</a:t>
                      </a:r>
                    </a:p>
                  </a:txBody>
                  <a:tcPr anchor="ctr" marL="109728" marR="91440" marT="36576" marB="36576">
                    <a:solidFill>
                      <a:srgbClr val="FFFFFF"/>
                    </a:solidFill>
                  </a:tcPr>
                </a:tc>
                <a:tc>
                  <a:txBody>
                    <a:bodyPr/>
                    <a:lstStyle/>
                    <a:p>
                      <a:pPr algn="l"/>
                      <a:r>
                        <a:rPr sz="1200" b="0" i="0">
                          <a:solidFill>
                            <a:srgbClr val="2B2B2B"/>
                          </a:solidFill>
                          <a:latin typeface="Calibri"/>
                        </a:rPr>
                        <a:t>Avance: problema, pregunta, objetivos, justificación…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a:t>
                      </a:r>
                    </a:p>
                  </a:txBody>
                  <a:tcPr anchor="ctr" marL="109728" marR="91440" marT="36576" marB="36576">
                    <a:solidFill>
                      <a:srgbClr val="F2F2F2"/>
                    </a:solidFill>
                  </a:tcPr>
                </a:tc>
                <a:tc>
                  <a:txBody>
                    <a:bodyPr/>
                    <a:lstStyle/>
                    <a:p>
                      <a:pPr algn="l"/>
                      <a:r>
                        <a:rPr sz="1200" b="0" i="0">
                          <a:solidFill>
                            <a:srgbClr val="2B2B2B"/>
                          </a:solidFill>
                          <a:latin typeface="Calibri"/>
                        </a:rPr>
                        <a:t>25%</a:t>
                      </a:r>
                    </a:p>
                  </a:txBody>
                  <a:tcPr anchor="ctr" marL="109728" marR="91440" marT="36576" marB="36576">
                    <a:solidFill>
                      <a:srgbClr val="F2F2F2"/>
                    </a:solidFill>
                  </a:tcPr>
                </a:tc>
                <a:tc>
                  <a:txBody>
                    <a:bodyPr/>
                    <a:lstStyle/>
                    <a:p>
                      <a:pPr algn="l"/>
                      <a:r>
                        <a:rPr sz="1200" b="0" i="0">
                          <a:solidFill>
                            <a:srgbClr val="2B2B2B"/>
                          </a:solidFill>
                          <a:latin typeface="Calibri"/>
                        </a:rPr>
                        <a:t>Avance: marco referencial (antecedentes, teórico, etc.)</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(anteproyecto)</a:t>
                      </a:r>
                    </a:p>
                  </a:txBody>
                  <a:tcPr anchor="ctr" marL="109728" marR="91440" marT="36576" marB="36576">
                    <a:solidFill>
                      <a:srgbClr val="FFFFFF"/>
                    </a:solidFill>
                  </a:tcPr>
                </a:tc>
                <a:tc>
                  <a:txBody>
                    <a:bodyPr/>
                    <a:lstStyle/>
                    <a:p>
                      <a:pPr algn="l"/>
                      <a:r>
                        <a:rPr sz="1200" b="0" i="0">
                          <a:solidFill>
                            <a:srgbClr val="2B2B2B"/>
                          </a:solidFill>
                          <a:latin typeface="Calibri"/>
                        </a:rPr>
                        <a:t>42%</a:t>
                      </a:r>
                    </a:p>
                  </a:txBody>
                  <a:tcPr anchor="ctr" marL="109728" marR="91440" marT="36576" marB="36576">
                    <a:solidFill>
                      <a:srgbClr val="FFFFFF"/>
                    </a:solidFill>
                  </a:tcPr>
                </a:tc>
                <a:tc>
                  <a:txBody>
                    <a:bodyPr/>
                    <a:lstStyle/>
                    <a:p>
                      <a:pPr algn="l"/>
                      <a:r>
                        <a:rPr sz="1200" b="0" i="0">
                          <a:solidFill>
                            <a:srgbClr val="2B2B2B"/>
                          </a:solidFill>
                          <a:latin typeface="Calibri"/>
                        </a:rPr>
                        <a:t>Producto consolidado + metodología + planeación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Autoevaluación</a:t>
                      </a:r>
                    </a:p>
                  </a:txBody>
                  <a:tcPr anchor="ctr" marL="109728" marR="91440" marT="36576" marB="36576">
                    <a:solidFill>
                      <a:srgbClr val="F2F2F2"/>
                    </a:solidFill>
                  </a:tcPr>
                </a:tc>
                <a:tc>
                  <a:txBody>
                    <a:bodyPr/>
                    <a:lstStyle/>
                    <a:p>
                      <a:pPr algn="l"/>
                      <a:r>
                        <a:rPr sz="1200" b="0" i="0">
                          <a:solidFill>
                            <a:srgbClr val="2B2B2B"/>
                          </a:solidFill>
                          <a:latin typeface="Calibri"/>
                        </a:rPr>
                        <a:t>4%</a:t>
                      </a:r>
                    </a:p>
                  </a:txBody>
                  <a:tcPr anchor="ctr" marL="109728" marR="91440" marT="36576" marB="36576">
                    <a:solidFill>
                      <a:srgbClr val="F2F2F2"/>
                    </a:solidFill>
                  </a:tcPr>
                </a:tc>
                <a:tc>
                  <a:txBody>
                    <a:bodyPr/>
                    <a:lstStyle/>
                    <a:p>
                      <a:pPr algn="l"/>
                      <a:r>
                        <a:rPr sz="1200" b="0" i="0">
                          <a:solidFill>
                            <a:srgbClr val="2B2B2B"/>
                          </a:solidFill>
                          <a:latin typeface="Calibri"/>
                        </a:rPr>
                        <a:t>Individual (cierre)</a:t>
                      </a:r>
                    </a:p>
                  </a:txBody>
                  <a:tcPr anchor="ctr" marL="109728" marR="91440" marT="36576" marB="36576">
                    <a:solidFill>
                      <a:srgbClr val="F2F2F2"/>
                    </a:solidFill>
                  </a:tcPr>
                </a:tc>
              </a:tr>
              <a:tr h="502920">
                <a:tc>
                  <a:txBody>
                    <a:bodyPr/>
                    <a:lstStyle/>
                    <a:p>
                      <a:pPr algn="l"/>
                      <a:r>
                        <a:rPr sz="1200" b="0" i="0">
                          <a:solidFill>
                            <a:srgbClr val="2B2B2B"/>
                          </a:solidFill>
                          <a:latin typeface="Calibri"/>
                        </a:rPr>
                        <a:t>Coevaluación</a:t>
                      </a:r>
                    </a:p>
                  </a:txBody>
                  <a:tcPr anchor="ctr" marL="109728" marR="91440" marT="36576" marB="36576">
                    <a:solidFill>
                      <a:srgbClr val="FFFFFF"/>
                    </a:solidFill>
                  </a:tcPr>
                </a:tc>
                <a:tc>
                  <a:txBody>
                    <a:bodyPr/>
                    <a:lstStyle/>
                    <a:p>
                      <a:pPr algn="l"/>
                      <a:r>
                        <a:rPr sz="1200" b="0" i="0">
                          <a:solidFill>
                            <a:srgbClr val="2B2B2B"/>
                          </a:solidFill>
                          <a:latin typeface="Calibri"/>
                        </a:rPr>
                        <a:t>4%</a:t>
                      </a:r>
                    </a:p>
                  </a:txBody>
                  <a:tcPr anchor="ctr" marL="109728" marR="91440" marT="36576" marB="36576">
                    <a:solidFill>
                      <a:srgbClr val="FFFFFF"/>
                    </a:solidFill>
                  </a:tcPr>
                </a:tc>
                <a:tc>
                  <a:txBody>
                    <a:bodyPr/>
                    <a:lstStyle/>
                    <a:p>
                      <a:pPr algn="l"/>
                      <a:r>
                        <a:rPr sz="1200" b="0" i="0">
                          <a:solidFill>
                            <a:srgbClr val="2B2B2B"/>
                          </a:solidFill>
                          <a:latin typeface="Calibri"/>
                        </a:rPr>
                        <a:t>Individual (cierre)</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Seguimiento formativo de un producto único y acumulativo. Si ACA 3 evidencia correcciones y resultados, el docente puede ajustar favorablemente ACA 1/2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Aplican solo en Proyecto I</a:t>
            </a:r>
            <a:r>
              <a:rPr sz="1300" b="0" i="0">
                <a:solidFill>
                  <a:srgbClr val="2B2B2B"/>
                </a:solidFill>
                <a:latin typeface="Calibri"/>
              </a:rPr>
              <a:t> (ESP329 · Art. 41 · cronograma AFI). </a:t>
            </a:r>
            <a:r>
              <a:rPr sz="1300" b="1" i="0">
                <a:solidFill>
                  <a:srgbClr val="2B2B2B"/>
                </a:solidFill>
                <a:latin typeface="Calibri"/>
              </a:rPr>
              <a:t>No</a:t>
            </a:r>
            <a:r>
              <a:rPr sz="1300" b="0" i="0">
                <a:solidFill>
                  <a:srgbClr val="2B2B2B"/>
                </a:solidFill>
                <a:latin typeface="Calibri"/>
              </a:rPr>
              <a:t> en Proyecto II ni en pregrado Art. 52.</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 individual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ACA 3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2577007"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1  ·  25%</a:t>
            </a:r>
          </a:p>
        </p:txBody>
      </p:sp>
      <p:sp>
        <p:nvSpPr>
          <p:cNvPr id="7" name="Rectangle 6"/>
          <p:cNvSpPr/>
          <p:nvPr/>
        </p:nvSpPr>
        <p:spPr>
          <a:xfrm>
            <a:off x="640080"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3418255" y="2011679"/>
            <a:ext cx="2577007"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1407"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2  ·  25%</a:t>
            </a:r>
          </a:p>
        </p:txBody>
      </p:sp>
      <p:sp>
        <p:nvSpPr>
          <p:cNvPr id="13" name="Rectangle 12"/>
          <p:cNvSpPr/>
          <p:nvPr/>
        </p:nvSpPr>
        <p:spPr>
          <a:xfrm>
            <a:off x="3418255"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7983"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3738295"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983"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6196431" y="2011679"/>
            <a:ext cx="2577007"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3  ·  42%</a:t>
            </a:r>
          </a:p>
        </p:txBody>
      </p:sp>
      <p:sp>
        <p:nvSpPr>
          <p:cNvPr id="19" name="Rectangle 18"/>
          <p:cNvSpPr/>
          <p:nvPr/>
        </p:nvSpPr>
        <p:spPr>
          <a:xfrm>
            <a:off x="6196431"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6516471"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6159"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08/11/2026</a:t>
            </a:r>
          </a:p>
        </p:txBody>
      </p:sp>
      <p:sp>
        <p:nvSpPr>
          <p:cNvPr id="23" name="Rectangle 22"/>
          <p:cNvSpPr/>
          <p:nvPr/>
        </p:nvSpPr>
        <p:spPr>
          <a:xfrm>
            <a:off x="8974607" y="2011679"/>
            <a:ext cx="2577007" cy="65836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Coev. + Autoev.  ·  8%</a:t>
            </a:r>
          </a:p>
        </p:txBody>
      </p:sp>
      <p:sp>
        <p:nvSpPr>
          <p:cNvPr id="25" name="Rectangle 24"/>
          <p:cNvSpPr/>
          <p:nvPr/>
        </p:nvSpPr>
        <p:spPr>
          <a:xfrm>
            <a:off x="8974607"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84335"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09/11/2026</a:t>
            </a:r>
          </a:p>
        </p:txBody>
      </p:sp>
      <p:sp>
        <p:nvSpPr>
          <p:cNvPr id="27" name="Rectangle 26"/>
          <p:cNvSpPr/>
          <p:nvPr/>
        </p:nvSpPr>
        <p:spPr>
          <a:xfrm>
            <a:off x="9294647"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4335"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9" name="TextBox 28"/>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30" name="Rounded Rectangle 29"/>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32" name="TextBox 31"/>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ACA 3 (42%) solo tiene 2 lunes sincrónicos (19/10 y 26/10). Apóyate en tutorías adicionales acordadas en la semana con el Docente y registra cada una en el formulario.</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ENTREGA CADA EQUIPO EN CADA ACA</a:t>
            </a:r>
          </a:p>
        </p:txBody>
      </p:sp>
      <p:graphicFrame>
        <p:nvGraphicFramePr>
          <p:cNvPr id="4" name="Table 3"/>
          <p:cNvGraphicFramePr>
            <a:graphicFrameLocks noGrp="1"/>
          </p:cNvGraphicFramePr>
          <p:nvPr/>
        </p:nvGraphicFramePr>
        <p:xfrm>
          <a:off x="640080" y="1691639"/>
          <a:ext cx="10911534" cy="2011680"/>
        </p:xfrm>
        <a:graphic>
          <a:graphicData uri="http://schemas.openxmlformats.org/drawingml/2006/table">
            <a:tbl>
              <a:tblPr>
                <a:tableStyleId>{2D5ABB26-0587-4C30-8999-92F81FD0307C}</a:tableStyleId>
              </a:tblPr>
              <a:tblGrid>
                <a:gridCol w="5455767"/>
                <a:gridCol w="5455767"/>
              </a:tblGrid>
              <a:tr h="502920">
                <a:tc>
                  <a:txBody>
                    <a:bodyPr/>
                    <a:lstStyle/>
                    <a:p>
                      <a:pPr algn="l"/>
                      <a:r>
                        <a:rPr sz="1300" b="1" i="0">
                          <a:solidFill>
                            <a:srgbClr val="FFFFFF"/>
                          </a:solidFill>
                          <a:latin typeface="Calibri"/>
                        </a:rPr>
                        <a:t>ACA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 (25%)</a:t>
                      </a:r>
                    </a:p>
                  </a:txBody>
                  <a:tcPr anchor="ctr" marL="109728" marR="91440" marT="36576" marB="36576">
                    <a:solidFill>
                      <a:srgbClr val="FFFFFF"/>
                    </a:solidFill>
                  </a:tcPr>
                </a:tc>
                <a:tc>
                  <a:txBody>
                    <a:bodyPr/>
                    <a:lstStyle/>
                    <a:p>
                      <a:pPr algn="l"/>
                      <a:r>
                        <a:rPr sz="1200" b="0" i="0">
                          <a:solidFill>
                            <a:srgbClr val="2B2B2B"/>
                          </a:solidFill>
                          <a:latin typeface="Calibri"/>
                        </a:rPr>
                        <a:t>U2–U3 (+alcances): problema, pregunta, objetivos, justificación, alcances/limitaciones.</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 (25%)</a:t>
                      </a:r>
                    </a:p>
                  </a:txBody>
                  <a:tcPr anchor="ctr" marL="109728" marR="91440" marT="36576" marB="36576">
                    <a:solidFill>
                      <a:srgbClr val="F2F2F2"/>
                    </a:solidFill>
                  </a:tcPr>
                </a:tc>
                <a:tc>
                  <a:txBody>
                    <a:bodyPr/>
                    <a:lstStyle/>
                    <a:p>
                      <a:pPr algn="l"/>
                      <a:r>
                        <a:rPr sz="1200" b="0" i="0">
                          <a:solidFill>
                            <a:srgbClr val="2B2B2B"/>
                          </a:solidFill>
                          <a:latin typeface="Calibri"/>
                        </a:rPr>
                        <a:t>U4: correcciones ACA1 + marco referencial (antecedentes, teórico, conceptual, contextual, legal).</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(42%)</a:t>
                      </a:r>
                    </a:p>
                  </a:txBody>
                  <a:tcPr anchor="ctr" marL="109728" marR="91440" marT="36576" marB="36576">
                    <a:solidFill>
                      <a:srgbClr val="FFFFFF"/>
                    </a:solidFill>
                  </a:tcPr>
                </a:tc>
                <a:tc>
                  <a:txBody>
                    <a:bodyPr/>
                    <a:lstStyle/>
                    <a:p>
                      <a:pPr algn="l"/>
                      <a:r>
                        <a:rPr sz="1200" b="0" i="0">
                          <a:solidFill>
                            <a:srgbClr val="2B2B2B"/>
                          </a:solidFill>
                          <a:latin typeface="Calibri"/>
                        </a:rPr>
                        <a:t>U5–U7: correcciones + metodología + cronograma/presupuesto + anteproyecto FINAL integrado.</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[URL Meet — mismo enlace toda la serie · Proyecto I]</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(viene en tu carpeta del curso):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Plantilla APA CUN (en tu carpeta):</a:t>
            </a:r>
            <a:r>
              <a:rPr sz="1600" b="0" i="0">
                <a:solidFill>
                  <a:srgbClr val="2B2B2B"/>
                </a:solidFill>
                <a:latin typeface="Calibri"/>
              </a:rPr>
              <a:t>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