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292608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2926080"/>
            <a:ext cx="12191695" cy="73152"/>
          </a:xfrm>
          <a:prstGeom prst="rect">
            <a:avLst/>
          </a:prstGeom>
          <a:solidFill>
            <a:srgbClr val="007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logo_cun_solo.png"/>
          <p:cNvPicPr>
            <a:picLocks noChangeAspect="1"/>
          </p:cNvPicPr>
          <p:nvPr/>
        </p:nvPicPr>
        <p:blipFill>
          <a:blip r:embed="rId2"/>
          <a:stretch>
            <a:fillRect/>
          </a:stretch>
        </p:blipFill>
        <p:spPr>
          <a:xfrm>
            <a:off x="457200" y="274320"/>
            <a:ext cx="1325880" cy="919277"/>
          </a:xfrm>
          <a:prstGeom prst="rect">
            <a:avLst/>
          </a:prstGeom>
        </p:spPr>
      </p:pic>
      <p:sp>
        <p:nvSpPr>
          <p:cNvPr id="5" name="TextBox 4"/>
          <p:cNvSpPr txBox="1"/>
          <p:nvPr/>
        </p:nvSpPr>
        <p:spPr>
          <a:xfrm>
            <a:off x="640080" y="1303324"/>
            <a:ext cx="10911535" cy="1476451"/>
          </a:xfrm>
          <a:prstGeom prst="rect">
            <a:avLst/>
          </a:prstGeom>
          <a:noFill/>
        </p:spPr>
        <p:txBody>
          <a:bodyPr wrap="square" anchor="ctr" lIns="0" rIns="0" tIns="0" bIns="0">
            <a:spAutoFit/>
          </a:bodyPr>
          <a:lstStyle/>
          <a:p>
            <a:pPr algn="ctr"/>
            <a:r>
              <a:rPr sz="3400" b="1" i="0">
                <a:solidFill>
                  <a:srgbClr val="FFFFFF"/>
                </a:solidFill>
                <a:latin typeface="Calibri"/>
              </a:rPr>
              <a:t>PROYECTO I</a:t>
            </a:r>
          </a:p>
          <a:p>
            <a:pPr algn="ctr">
              <a:spcBef>
                <a:spcPts val="800"/>
              </a:spcBef>
            </a:pPr>
            <a:r>
              <a:rPr sz="1600" b="0" i="0">
                <a:solidFill>
                  <a:srgbClr val="CFDDEE"/>
                </a:solidFill>
                <a:latin typeface="Calibri"/>
              </a:rPr>
              <a:t>Especialización en Inteligencia Artificial · Código ESP329</a:t>
            </a:r>
          </a:p>
        </p:txBody>
      </p:sp>
      <p:sp>
        <p:nvSpPr>
          <p:cNvPr id="6" name="TextBox 5"/>
          <p:cNvSpPr txBox="1"/>
          <p:nvPr/>
        </p:nvSpPr>
        <p:spPr>
          <a:xfrm>
            <a:off x="640080" y="3337560"/>
            <a:ext cx="10911535" cy="2651760"/>
          </a:xfrm>
          <a:prstGeom prst="rect">
            <a:avLst/>
          </a:prstGeom>
          <a:noFill/>
        </p:spPr>
        <p:txBody>
          <a:bodyPr wrap="square" anchor="t" lIns="0" rIns="0" tIns="0" bIns="0">
            <a:spAutoFit/>
          </a:bodyPr>
          <a:lstStyle/>
          <a:p>
            <a:pPr>
              <a:spcAft>
                <a:spcPts val="800"/>
              </a:spcAft>
            </a:pPr>
            <a:r>
              <a:rPr sz="1500" b="1" i="0">
                <a:solidFill>
                  <a:srgbClr val="2B2B2B"/>
                </a:solidFill>
                <a:latin typeface="Calibri"/>
              </a:rPr>
              <a:t>Periodo:</a:t>
            </a:r>
            <a:r>
              <a:rPr sz="1500" b="0" i="0">
                <a:solidFill>
                  <a:srgbClr val="2B2B2B"/>
                </a:solidFill>
                <a:latin typeface="Calibri"/>
              </a:rPr>
              <a:t> </a:t>
            </a:r>
            <a:r>
              <a:rPr sz="1500" b="1" i="0">
                <a:solidFill>
                  <a:srgbClr val="2B2B2B"/>
                </a:solidFill>
                <a:latin typeface="Calibri"/>
              </a:rPr>
              <a:t>26ES4</a:t>
            </a:r>
            <a:r>
              <a:rPr sz="1500" b="0" i="0">
                <a:solidFill>
                  <a:srgbClr val="2B2B2B"/>
                </a:solidFill>
                <a:latin typeface="Calibri"/>
              </a:rPr>
              <a:t> · </a:t>
            </a:r>
            <a:r>
              <a:rPr sz="1500" b="1" i="0">
                <a:solidFill>
                  <a:srgbClr val="2B2B2B"/>
                </a:solidFill>
                <a:latin typeface="Calibri"/>
              </a:rPr>
              <a:t>10 de agosto de 2026 – 22 de noviembre de 2026</a:t>
            </a:r>
          </a:p>
          <a:p>
            <a:pPr>
              <a:spcAft>
                <a:spcPts val="800"/>
              </a:spcAft>
            </a:pPr>
            <a:r>
              <a:rPr sz="1500" b="1" i="0">
                <a:solidFill>
                  <a:srgbClr val="2B2B2B"/>
                </a:solidFill>
                <a:latin typeface="Calibri"/>
              </a:rPr>
              <a:t>Programa:</a:t>
            </a:r>
            <a:r>
              <a:rPr sz="1500" b="0" i="0">
                <a:solidFill>
                  <a:srgbClr val="2B2B2B"/>
                </a:solidFill>
                <a:latin typeface="Calibri"/>
              </a:rPr>
              <a:t> Especialización en Inteligencia Artificial</a:t>
            </a:r>
          </a:p>
          <a:p>
            <a:pPr>
              <a:spcAft>
                <a:spcPts val="800"/>
              </a:spcAft>
            </a:pPr>
            <a:r>
              <a:rPr sz="1500" b="1" i="0">
                <a:solidFill>
                  <a:srgbClr val="2B2B2B"/>
                </a:solidFill>
                <a:latin typeface="Calibri"/>
              </a:rPr>
              <a:t>Código SIAC:</a:t>
            </a:r>
            <a:r>
              <a:rPr sz="1500" b="0" i="0">
                <a:solidFill>
                  <a:srgbClr val="2B2B2B"/>
                </a:solidFill>
                <a:latin typeface="Calibri"/>
              </a:rPr>
              <a:t> ESP329 · Virtual · 2 créditos · Nota única</a:t>
            </a:r>
          </a:p>
          <a:p>
            <a:pPr>
              <a:spcAft>
                <a:spcPts val="800"/>
              </a:spcAft>
            </a:pPr>
            <a:r>
              <a:rPr sz="1500" b="1" i="0">
                <a:solidFill>
                  <a:srgbClr val="2B2B2B"/>
                </a:solidFill>
                <a:latin typeface="Calibri"/>
              </a:rPr>
              <a:t>Fuente curricular:</a:t>
            </a:r>
            <a:r>
              <a:rPr sz="1500" b="0" i="0">
                <a:solidFill>
                  <a:srgbClr val="2B2B2B"/>
                </a:solidFill>
                <a:latin typeface="Calibri"/>
              </a:rPr>
              <a:t> Especializacion_En_Inteligencia_Artificial_Proyecto_I_ESP329.docx</a:t>
            </a:r>
          </a:p>
          <a:p>
            <a:pPr>
              <a:spcAft>
                <a:spcPts val="800"/>
              </a:spcAft>
            </a:pPr>
            <a:r>
              <a:rPr sz="1500" b="1" i="0">
                <a:solidFill>
                  <a:srgbClr val="2B2B2B"/>
                </a:solidFill>
                <a:latin typeface="Calibri"/>
              </a:rPr>
              <a:t>Modalidad:</a:t>
            </a:r>
            <a:r>
              <a:rPr sz="1500" b="0" i="0">
                <a:solidFill>
                  <a:srgbClr val="2B2B2B"/>
                </a:solidFill>
                <a:latin typeface="Calibri"/>
              </a:rPr>
              <a:t> Virtual — encuentro sincrónico semanal por Google Meet</a:t>
            </a:r>
          </a:p>
          <a:p>
            <a:pPr>
              <a:spcAft>
                <a:spcPts val="800"/>
              </a:spcAft>
            </a:pPr>
            <a:r>
              <a:rPr sz="1500" b="1" i="0">
                <a:solidFill>
                  <a:srgbClr val="2B2B2B"/>
                </a:solidFill>
                <a:latin typeface="Calibri"/>
              </a:rPr>
              <a:t>Horario confirmado:</a:t>
            </a:r>
            <a:r>
              <a:rPr sz="1500" b="0" i="0">
                <a:solidFill>
                  <a:srgbClr val="2B2B2B"/>
                </a:solidFill>
                <a:latin typeface="Calibri"/>
              </a:rPr>
              <a:t> </a:t>
            </a:r>
            <a:r>
              <a:rPr sz="1500" b="1" i="0">
                <a:solidFill>
                  <a:srgbClr val="2B2B2B"/>
                </a:solidFill>
                <a:latin typeface="Calibri"/>
              </a:rPr>
              <a:t>Lunes, 8:00 pm – 10:00 pm (2 horas)</a:t>
            </a:r>
          </a:p>
          <a:p>
            <a:pPr>
              <a:spcAft>
                <a:spcPts val="800"/>
              </a:spcAft>
            </a:pPr>
            <a:r>
              <a:rPr sz="1500" b="1" i="0">
                <a:solidFill>
                  <a:srgbClr val="2B2B2B"/>
                </a:solidFill>
                <a:latin typeface="Calibri"/>
              </a:rPr>
              <a:t>Grupo:</a:t>
            </a:r>
            <a:r>
              <a:rPr sz="1500" b="0" i="0">
                <a:solidFill>
                  <a:srgbClr val="2B2B2B"/>
                </a:solidFill>
                <a:latin typeface="Calibri"/>
              </a:rPr>
              <a:t> </a:t>
            </a:r>
            <a:r>
              <a:rPr sz="1500" b="1" i="0">
                <a:solidFill>
                  <a:srgbClr val="2B2B2B"/>
                </a:solidFill>
                <a:latin typeface="Calibri"/>
              </a:rPr>
              <a:t>54ES4</a:t>
            </a:r>
          </a:p>
          <a:p>
            <a:pPr>
              <a:spcAft>
                <a:spcPts val="800"/>
              </a:spcAft>
            </a:pPr>
            <a:r>
              <a:rPr sz="1500" b="1" i="0">
                <a:solidFill>
                  <a:srgbClr val="2B2B2B"/>
                </a:solidFill>
                <a:latin typeface="Calibri"/>
              </a:rPr>
              <a:t>Contacto del Docente:</a:t>
            </a:r>
            <a:r>
              <a:rPr sz="1500" b="0" i="0">
                <a:solidFill>
                  <a:srgbClr val="2B2B2B"/>
                </a:solidFill>
                <a:latin typeface="Calibri"/>
              </a:rPr>
              <a:t> julian_castanoe@cun.edu.co</a:t>
            </a:r>
          </a:p>
        </p:txBody>
      </p:sp>
      <p:sp>
        <p:nvSpPr>
          <p:cNvPr id="7" name="TextBox 6"/>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Docente</a:t>
            </a:r>
          </a:p>
        </p:txBody>
      </p:sp>
      <p:sp>
        <p:nvSpPr>
          <p:cNvPr id="4" name="TextBox 3"/>
          <p:cNvSpPr txBox="1"/>
          <p:nvPr/>
        </p:nvSpPr>
        <p:spPr>
          <a:xfrm>
            <a:off x="2560320" y="2148840"/>
            <a:ext cx="8991295" cy="1874519"/>
          </a:xfrm>
          <a:prstGeom prst="rect">
            <a:avLst/>
          </a:prstGeom>
          <a:noFill/>
        </p:spPr>
        <p:txBody>
          <a:bodyPr wrap="square" anchor="t" lIns="0" rIns="0" tIns="0" bIns="0">
            <a:spAutoFit/>
          </a:bodyPr>
          <a:lstStyle/>
          <a:p>
            <a:pPr>
              <a:spcAft>
                <a:spcPts val="1200"/>
              </a:spcAft>
            </a:pPr>
            <a:r>
              <a:rPr sz="1800" b="0" i="0">
                <a:solidFill>
                  <a:srgbClr val="2B2B2B"/>
                </a:solidFill>
                <a:latin typeface="Calibri"/>
              </a:rPr>
              <a:t>Ingeniero de Sistemas</a:t>
            </a:r>
          </a:p>
          <a:p>
            <a:pPr>
              <a:spcAft>
                <a:spcPts val="1200"/>
              </a:spcAft>
            </a:pPr>
            <a:r>
              <a:rPr sz="1800" b="0" i="0">
                <a:solidFill>
                  <a:srgbClr val="2B2B2B"/>
                </a:solidFill>
                <a:latin typeface="Calibri"/>
              </a:rPr>
              <a:t>Candidato a MSc en Inteligencia Artificial</a:t>
            </a:r>
          </a:p>
          <a:p>
            <a:pPr>
              <a:spcAft>
                <a:spcPts val="1200"/>
              </a:spcAft>
            </a:pPr>
            <a:r>
              <a:rPr sz="1800" b="0" i="0">
                <a:solidFill>
                  <a:srgbClr val="2B2B2B"/>
                </a:solidFill>
                <a:latin typeface="Calibri"/>
              </a:rPr>
              <a:t>Líder Técnico</a:t>
            </a:r>
          </a:p>
          <a:p>
            <a:pPr>
              <a:spcAft>
                <a:spcPts val="1200"/>
              </a:spcAft>
            </a:pPr>
            <a:r>
              <a:rPr sz="1800" b="0" i="0">
                <a:solidFill>
                  <a:srgbClr val="2B2B2B"/>
                </a:solidFill>
                <a:latin typeface="Calibri"/>
              </a:rPr>
              <a:t>Speaker Tecnológico</a:t>
            </a:r>
          </a:p>
        </p:txBody>
      </p:sp>
      <p:pic>
        <p:nvPicPr>
          <p:cNvPr id="5" name="Picture 4" descr="gmail_icon.png"/>
          <p:cNvPicPr>
            <a:picLocks noChangeAspect="1"/>
          </p:cNvPicPr>
          <p:nvPr/>
        </p:nvPicPr>
        <p:blipFill>
          <a:blip r:embed="rId2"/>
          <a:stretch>
            <a:fillRect/>
          </a:stretch>
        </p:blipFill>
        <p:spPr>
          <a:xfrm>
            <a:off x="2560320" y="4160520"/>
            <a:ext cx="292608" cy="292608"/>
          </a:xfrm>
          <a:prstGeom prst="rect">
            <a:avLst/>
          </a:prstGeom>
        </p:spPr>
      </p:pic>
      <p:sp>
        <p:nvSpPr>
          <p:cNvPr id="6" name="TextBox 5"/>
          <p:cNvSpPr txBox="1"/>
          <p:nvPr/>
        </p:nvSpPr>
        <p:spPr>
          <a:xfrm>
            <a:off x="3063239" y="4142232"/>
            <a:ext cx="8488375" cy="365760"/>
          </a:xfrm>
          <a:prstGeom prst="rect">
            <a:avLst/>
          </a:prstGeom>
          <a:noFill/>
        </p:spPr>
        <p:txBody>
          <a:bodyPr wrap="square" anchor="ctr" lIns="0" rIns="0" tIns="0" bIns="0">
            <a:spAutoFit/>
          </a:bodyPr>
          <a:lstStyle/>
          <a:p>
            <a:r>
              <a:rPr sz="1600" b="1" i="0">
                <a:solidFill>
                  <a:srgbClr val="007433"/>
                </a:solidFill>
                <a:latin typeface="Calibri"/>
              </a:rPr>
              <a:t>julian_castanoe@cun.edu.co</a:t>
            </a:r>
          </a:p>
        </p:txBody>
      </p:sp>
      <p:pic>
        <p:nvPicPr>
          <p:cNvPr id="7" name="Picture 6" descr="logo_cun_solo.png"/>
          <p:cNvPicPr>
            <a:picLocks noChangeAspect="1"/>
          </p:cNvPicPr>
          <p:nvPr/>
        </p:nvPicPr>
        <p:blipFill>
          <a:blip r:embed="rId3"/>
          <a:stretch>
            <a:fillRect/>
          </a:stretch>
        </p:blipFill>
        <p:spPr>
          <a:xfrm>
            <a:off x="457200" y="5523586"/>
            <a:ext cx="1463040" cy="1014374"/>
          </a:xfrm>
          <a:prstGeom prst="rect">
            <a:avLst/>
          </a:prstGeom>
        </p:spPr>
      </p:pic>
      <p:sp>
        <p:nvSpPr>
          <p:cNvPr id="8" name="TextBox 7"/>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9" name="TextBox 8"/>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PRESÉNTATE — ROMPEHIELOS</a:t>
            </a:r>
          </a:p>
        </p:txBody>
      </p:sp>
      <p:sp>
        <p:nvSpPr>
          <p:cNvPr id="4" name="TextBox 3"/>
          <p:cNvSpPr txBox="1"/>
          <p:nvPr/>
        </p:nvSpPr>
        <p:spPr>
          <a:xfrm>
            <a:off x="640080" y="1280160"/>
            <a:ext cx="10911535" cy="411480"/>
          </a:xfrm>
          <a:prstGeom prst="rect">
            <a:avLst/>
          </a:prstGeom>
          <a:noFill/>
        </p:spPr>
        <p:txBody>
          <a:bodyPr wrap="square" anchor="t" lIns="0" rIns="0" tIns="0" bIns="0">
            <a:spAutoFit/>
          </a:bodyPr>
          <a:lstStyle/>
          <a:p>
            <a:pPr algn="ctr"/>
            <a:r>
              <a:rPr sz="1500" b="0" i="0">
                <a:solidFill>
                  <a:srgbClr val="2B2B2B"/>
                </a:solidFill>
                <a:latin typeface="Calibri"/>
              </a:rPr>
              <a:t>Tablero colaborativo (Padlet)</a:t>
            </a:r>
          </a:p>
        </p:txBody>
      </p:sp>
      <p:sp>
        <p:nvSpPr>
          <p:cNvPr id="5" name="TextBox 4"/>
          <p:cNvSpPr txBox="1"/>
          <p:nvPr/>
        </p:nvSpPr>
        <p:spPr>
          <a:xfrm>
            <a:off x="640080" y="2011679"/>
            <a:ext cx="5852160" cy="4297680"/>
          </a:xfrm>
          <a:prstGeom prst="rect">
            <a:avLst/>
          </a:prstGeom>
          <a:noFill/>
        </p:spPr>
        <p:txBody>
          <a:bodyPr wrap="square" anchor="t" lIns="0" rIns="0" tIns="0" bIns="0">
            <a:spAutoFit/>
          </a:bodyPr>
          <a:lstStyle/>
          <a:p>
            <a:pPr>
              <a:spcAft>
                <a:spcPts val="1000"/>
              </a:spcAft>
            </a:pPr>
            <a:r>
              <a:rPr sz="1400" b="0" i="0">
                <a:solidFill>
                  <a:srgbClr val="2B2B2B"/>
                </a:solidFill>
                <a:latin typeface="Calibri"/>
              </a:rPr>
              <a:t>–   </a:t>
            </a:r>
            <a:r>
              <a:rPr sz="1400" b="1" i="0">
                <a:solidFill>
                  <a:srgbClr val="2B2B2B"/>
                </a:solidFill>
                <a:latin typeface="Calibri"/>
              </a:rPr>
              <a:t>Escanea o abre:</a:t>
            </a:r>
            <a:r>
              <a:rPr sz="1400" b="0" i="0">
                <a:solidFill>
                  <a:srgbClr val="2B2B2B"/>
                </a:solidFill>
                <a:latin typeface="Calibri"/>
              </a:rPr>
              <a:t> https://padlet.com/andres_dfx/cun-wruz81hmf9k06gd7</a:t>
            </a:r>
          </a:p>
          <a:p>
            <a:pPr>
              <a:spcAft>
                <a:spcPts val="1000"/>
              </a:spcAft>
            </a:pPr>
            <a:r>
              <a:rPr sz="1400" b="0" i="0">
                <a:solidFill>
                  <a:srgbClr val="2B2B2B"/>
                </a:solidFill>
                <a:latin typeface="Calibri"/>
              </a:rPr>
              <a:t>–   Post-it: </a:t>
            </a:r>
            <a:r>
              <a:rPr sz="1400" b="1" i="0">
                <a:solidFill>
                  <a:srgbClr val="2B2B2B"/>
                </a:solidFill>
                <a:latin typeface="Calibri"/>
              </a:rPr>
              <a:t>nombre</a:t>
            </a:r>
            <a:r>
              <a:rPr sz="1400" b="0" i="0">
                <a:solidFill>
                  <a:srgbClr val="2B2B2B"/>
                </a:solidFill>
                <a:latin typeface="Calibri"/>
              </a:rPr>
              <a:t> + </a:t>
            </a:r>
            <a:r>
              <a:rPr sz="1400" b="1" i="0">
                <a:solidFill>
                  <a:srgbClr val="2B2B2B"/>
                </a:solidFill>
                <a:latin typeface="Calibri"/>
              </a:rPr>
              <a:t>expectativa del curso</a:t>
            </a:r>
            <a:r>
              <a:rPr sz="1400" b="0" i="0">
                <a:solidFill>
                  <a:srgbClr val="2B2B2B"/>
                </a:solidFill>
                <a:latin typeface="Calibri"/>
              </a:rPr>
              <a:t> + </a:t>
            </a:r>
            <a:r>
              <a:rPr sz="1400" b="1" i="0">
                <a:solidFill>
                  <a:srgbClr val="2B2B2B"/>
                </a:solidFill>
                <a:latin typeface="Calibri"/>
              </a:rPr>
              <a:t>tema tentativo</a:t>
            </a:r>
            <a:r>
              <a:rPr sz="1400" b="0" i="0">
                <a:solidFill>
                  <a:srgbClr val="2B2B2B"/>
                </a:solidFill>
                <a:latin typeface="Calibri"/>
              </a:rPr>
              <a:t> de investigación (1 frase).</a:t>
            </a:r>
          </a:p>
          <a:p>
            <a:pPr>
              <a:spcAft>
                <a:spcPts val="1000"/>
              </a:spcAft>
            </a:pPr>
            <a:r>
              <a:rPr sz="1400" b="0" i="0">
                <a:solidFill>
                  <a:srgbClr val="2B2B2B"/>
                </a:solidFill>
                <a:latin typeface="Calibri"/>
              </a:rPr>
              <a:t>–   Tablero oficial: </a:t>
            </a:r>
            <a:r>
              <a:rPr sz="1400" b="1" i="0">
                <a:solidFill>
                  <a:srgbClr val="2B2B2B"/>
                </a:solidFill>
                <a:latin typeface="Calibri"/>
              </a:rPr>
              <a:t>Padlet</a:t>
            </a:r>
            <a:r>
              <a:rPr sz="1400" b="0" i="0">
                <a:solidFill>
                  <a:srgbClr val="2B2B2B"/>
                </a:solidFill>
                <a:latin typeface="Calibri"/>
              </a:rPr>
              <a:t> (mismo enlace en los 5 cursos).</a:t>
            </a:r>
          </a:p>
          <a:p>
            <a:pPr>
              <a:spcAft>
                <a:spcPts val="1000"/>
              </a:spcAft>
            </a:pPr>
            <a:r>
              <a:rPr sz="1400" b="0" i="0">
                <a:solidFill>
                  <a:srgbClr val="2B2B2B"/>
                </a:solidFill>
                <a:latin typeface="Calibri"/>
              </a:rPr>
              <a:t>–   Ahora (~7 min). Leemos juntos 3–4 notas (sin juzgar).</a:t>
            </a:r>
          </a:p>
        </p:txBody>
      </p:sp>
      <p:sp>
        <p:nvSpPr>
          <p:cNvPr id="6" name="Rounded Rectangle 5"/>
          <p:cNvSpPr/>
          <p:nvPr/>
        </p:nvSpPr>
        <p:spPr>
          <a:xfrm>
            <a:off x="8332927" y="1993391"/>
            <a:ext cx="3328415" cy="3886200"/>
          </a:xfrm>
          <a:prstGeom prst="round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qr_presentacion_estudiantes.png"/>
          <p:cNvPicPr>
            <a:picLocks noChangeAspect="1"/>
          </p:cNvPicPr>
          <p:nvPr/>
        </p:nvPicPr>
        <p:blipFill>
          <a:blip r:embed="rId2"/>
          <a:stretch>
            <a:fillRect/>
          </a:stretch>
        </p:blipFill>
        <p:spPr>
          <a:xfrm>
            <a:off x="8442655" y="2103120"/>
            <a:ext cx="3108960" cy="3108960"/>
          </a:xfrm>
          <a:prstGeom prst="rect">
            <a:avLst/>
          </a:prstGeom>
        </p:spPr>
      </p:pic>
      <p:sp>
        <p:nvSpPr>
          <p:cNvPr id="8" name="TextBox 7"/>
          <p:cNvSpPr txBox="1"/>
          <p:nvPr/>
        </p:nvSpPr>
        <p:spPr>
          <a:xfrm>
            <a:off x="8332927" y="5230367"/>
            <a:ext cx="3328415" cy="256032"/>
          </a:xfrm>
          <a:prstGeom prst="rect">
            <a:avLst/>
          </a:prstGeom>
          <a:noFill/>
        </p:spPr>
        <p:txBody>
          <a:bodyPr wrap="square" anchor="t" lIns="0" rIns="0" tIns="0" bIns="0">
            <a:spAutoFit/>
          </a:bodyPr>
          <a:lstStyle/>
          <a:p>
            <a:pPr algn="ctr"/>
            <a:r>
              <a:rPr sz="1200" b="1" i="0">
                <a:solidFill>
                  <a:srgbClr val="0C2340"/>
                </a:solidFill>
                <a:latin typeface="Calibri"/>
              </a:rPr>
              <a:t>Escanea o abre</a:t>
            </a:r>
          </a:p>
        </p:txBody>
      </p:sp>
      <p:sp>
        <p:nvSpPr>
          <p:cNvPr id="9" name="TextBox 8"/>
          <p:cNvSpPr txBox="1"/>
          <p:nvPr/>
        </p:nvSpPr>
        <p:spPr>
          <a:xfrm>
            <a:off x="8332927" y="5468112"/>
            <a:ext cx="3328415" cy="411480"/>
          </a:xfrm>
          <a:prstGeom prst="rect">
            <a:avLst/>
          </a:prstGeom>
          <a:noFill/>
        </p:spPr>
        <p:txBody>
          <a:bodyPr wrap="square" anchor="t" lIns="0" rIns="0" tIns="0" bIns="0">
            <a:spAutoFit/>
          </a:bodyPr>
          <a:lstStyle/>
          <a:p>
            <a:pPr algn="ctr"/>
            <a:r>
              <a:rPr sz="900" b="1" i="0">
                <a:solidFill>
                  <a:srgbClr val="007433"/>
                </a:solidFill>
                <a:latin typeface="Calibri"/>
              </a:rPr>
              <a:t>https://padlet.com/andres_dfx/cun-wruz81hmf9k06gd7</a:t>
            </a:r>
          </a:p>
        </p:txBody>
      </p:sp>
      <p:sp>
        <p:nvSpPr>
          <p:cNvPr id="10" name="TextBox 9"/>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11" name="TextBox 10"/>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¿QUÉ ES PROYECTO I? (ESP329)</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Inicia la ruta de trabajo de grado: delimitar una situación problemática y convertirla en un </a:t>
            </a:r>
            <a:r>
              <a:rPr sz="1600" b="1" i="0">
                <a:solidFill>
                  <a:srgbClr val="2B2B2B"/>
                </a:solidFill>
                <a:latin typeface="Calibri"/>
              </a:rPr>
              <a:t>anteproyecto</a:t>
            </a:r>
            <a:r>
              <a:rPr sz="1600" b="0" i="0">
                <a:solidFill>
                  <a:srgbClr val="2B2B2B"/>
                </a:solidFill>
                <a:latin typeface="Calibri"/>
              </a:rPr>
              <a:t> coherente, viable y éticamente fundamentado.</a:t>
            </a:r>
          </a:p>
          <a:p>
            <a:pPr>
              <a:spcAft>
                <a:spcPts val="1000"/>
              </a:spcAft>
            </a:pPr>
            <a:r>
              <a:rPr sz="1600" b="0" i="0">
                <a:solidFill>
                  <a:srgbClr val="2B2B2B"/>
                </a:solidFill>
                <a:latin typeface="Calibri"/>
              </a:rPr>
              <a:t>–   Macrocompetencia: </a:t>
            </a:r>
            <a:r>
              <a:rPr sz="1600" b="1" i="0">
                <a:solidFill>
                  <a:srgbClr val="2B2B2B"/>
                </a:solidFill>
                <a:latin typeface="Calibri"/>
              </a:rPr>
              <a:t>formula un anteproyecto</a:t>
            </a:r>
            <a:r>
              <a:rPr sz="1600" b="0" i="0">
                <a:solidFill>
                  <a:srgbClr val="2B2B2B"/>
                </a:solidFill>
                <a:latin typeface="Calibri"/>
              </a:rPr>
              <a:t> pertinente para la especialización (problema, antecedentes, objetivos y ruta metodológica viable).</a:t>
            </a:r>
          </a:p>
          <a:p>
            <a:pPr>
              <a:spcAft>
                <a:spcPts val="1000"/>
              </a:spcAft>
            </a:pPr>
            <a:r>
              <a:rPr sz="1600" b="0" i="0">
                <a:solidFill>
                  <a:srgbClr val="2B2B2B"/>
                </a:solidFill>
                <a:latin typeface="Calibri"/>
              </a:rPr>
              <a:t>–   Producto final: </a:t>
            </a:r>
            <a:r>
              <a:rPr sz="1600" b="1" i="0">
                <a:solidFill>
                  <a:srgbClr val="2B2B2B"/>
                </a:solidFill>
                <a:latin typeface="Calibri"/>
              </a:rPr>
              <a:t>anteproyecto completo</a:t>
            </a:r>
            <a:r>
              <a:rPr sz="1600" b="0" i="0">
                <a:solidFill>
                  <a:srgbClr val="2B2B2B"/>
                </a:solidFill>
                <a:latin typeface="Calibri"/>
              </a:rPr>
              <a:t>, base para Proyecto II (o equivalente).</a:t>
            </a:r>
          </a:p>
          <a:p>
            <a:pPr lvl="1">
              <a:spcAft>
                <a:spcPts val="600"/>
              </a:spcAft>
            </a:pPr>
            <a:r>
              <a:rPr sz="1500" b="0" i="0">
                <a:solidFill>
                  <a:srgbClr val="2B2B2B"/>
                </a:solidFill>
                <a:latin typeface="Calibri"/>
              </a:rPr>
              <a:t>●   En este espacio </a:t>
            </a:r>
            <a:r>
              <a:rPr sz="1500" b="1" i="0">
                <a:solidFill>
                  <a:srgbClr val="2B2B2B"/>
                </a:solidFill>
                <a:latin typeface="Calibri"/>
              </a:rPr>
              <a:t>no se recolecta ni se aplica</a:t>
            </a:r>
            <a:r>
              <a:rPr sz="1500" b="0" i="0">
                <a:solidFill>
                  <a:srgbClr val="2B2B2B"/>
                </a:solidFill>
                <a:latin typeface="Calibri"/>
              </a:rPr>
              <a:t> trabajo de campo — eso corresponde a Proyecto II, tras el aval metodológico.</a:t>
            </a:r>
          </a:p>
          <a:p>
            <a:pPr>
              <a:spcAft>
                <a:spcPts val="1000"/>
              </a:spcAft>
            </a:pPr>
            <a:r>
              <a:rPr sz="1600" b="0" i="0">
                <a:solidFill>
                  <a:srgbClr val="2B2B2B"/>
                </a:solidFill>
                <a:latin typeface="Calibri"/>
              </a:rPr>
              <a:t>–   El Docente acompaña como </a:t>
            </a:r>
            <a:r>
              <a:rPr sz="1600" b="1" i="0">
                <a:solidFill>
                  <a:srgbClr val="2B2B2B"/>
                </a:solidFill>
                <a:latin typeface="Calibri"/>
              </a:rPr>
              <a:t>garante metodológico</a:t>
            </a:r>
            <a:r>
              <a:rPr sz="1600" b="0" i="0">
                <a:solidFill>
                  <a:srgbClr val="2B2B2B"/>
                </a:solidFill>
                <a:latin typeface="Calibri"/>
              </a:rPr>
              <a:t> (orientación, revisión y coherencia del anteproyecto).</a:t>
            </a:r>
          </a:p>
        </p:txBody>
      </p:sp>
      <p:sp>
        <p:nvSpPr>
          <p:cNvPr id="5" name="TextBox 4"/>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RESULTADOS DE APRENDIZAJE (ESP329)</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Analiza críticamente información académica y profesional relevante.</a:t>
            </a:r>
          </a:p>
          <a:p>
            <a:pPr>
              <a:spcAft>
                <a:spcPts val="1000"/>
              </a:spcAft>
            </a:pPr>
            <a:r>
              <a:rPr sz="1600" b="0" i="0">
                <a:solidFill>
                  <a:srgbClr val="2B2B2B"/>
                </a:solidFill>
                <a:latin typeface="Calibri"/>
              </a:rPr>
              <a:t>–   Formula problemas, preguntas y objetivos investigables.</a:t>
            </a:r>
          </a:p>
          <a:p>
            <a:pPr>
              <a:spcAft>
                <a:spcPts val="1000"/>
              </a:spcAft>
            </a:pPr>
            <a:r>
              <a:rPr sz="1600" b="0" i="0">
                <a:solidFill>
                  <a:srgbClr val="2B2B2B"/>
                </a:solidFill>
                <a:latin typeface="Calibri"/>
              </a:rPr>
              <a:t>–   Sustenta las decisiones teóricas y metodológicas del anteproyecto.</a:t>
            </a:r>
          </a:p>
          <a:p>
            <a:pPr>
              <a:spcAft>
                <a:spcPts val="1000"/>
              </a:spcAft>
            </a:pPr>
            <a:r>
              <a:rPr sz="1600" b="0" i="0">
                <a:solidFill>
                  <a:srgbClr val="2B2B2B"/>
                </a:solidFill>
                <a:latin typeface="Calibri"/>
              </a:rPr>
              <a:t>–   Integra los componentes del proyecto en un documento académico coherente.</a:t>
            </a:r>
          </a:p>
          <a:p>
            <a:pPr>
              <a:spcAft>
                <a:spcPts val="1000"/>
              </a:spcAft>
            </a:pPr>
            <a:r>
              <a:rPr sz="1600" b="0" i="0">
                <a:solidFill>
                  <a:srgbClr val="2B2B2B"/>
                </a:solidFill>
                <a:latin typeface="Calibri"/>
              </a:rPr>
              <a:t>–   Aplica integridad académica, propiedad intelectual y uso responsable de fuentes e IA.</a:t>
            </a:r>
          </a:p>
        </p:txBody>
      </p:sp>
      <p:sp>
        <p:nvSpPr>
          <p:cNvPr id="5" name="TextBox 4"/>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LÍNEAS DE INVESTIGACIÓN</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Todo anteproyecto de la Especialización en IA se enmarca en una línea de </a:t>
            </a:r>
            <a:r>
              <a:rPr sz="1600" b="1" i="0">
                <a:solidFill>
                  <a:srgbClr val="2B2B2B"/>
                </a:solidFill>
                <a:latin typeface="Calibri"/>
              </a:rPr>
              <a:t>programa</a:t>
            </a:r>
            <a:r>
              <a:rPr sz="1600" b="0" i="0">
                <a:solidFill>
                  <a:srgbClr val="2B2B2B"/>
                </a:solidFill>
                <a:latin typeface="Calibri"/>
              </a:rPr>
              <a:t>:</a:t>
            </a:r>
          </a:p>
          <a:p>
            <a:pPr lvl="1">
              <a:spcAft>
                <a:spcPts val="600"/>
              </a:spcAft>
            </a:pPr>
            <a:r>
              <a:rPr sz="1500" b="0" i="0">
                <a:solidFill>
                  <a:srgbClr val="2B2B2B"/>
                </a:solidFill>
                <a:latin typeface="Calibri"/>
              </a:rPr>
              <a:t>●   </a:t>
            </a:r>
            <a:r>
              <a:rPr sz="1500" b="1" i="0">
                <a:solidFill>
                  <a:srgbClr val="2B2B2B"/>
                </a:solidFill>
                <a:latin typeface="Calibri"/>
              </a:rPr>
              <a:t>Uso y adaptación de IA para entornos productivos</a:t>
            </a:r>
          </a:p>
          <a:p>
            <a:pPr lvl="1">
              <a:spcAft>
                <a:spcPts val="600"/>
              </a:spcAft>
            </a:pPr>
            <a:r>
              <a:rPr sz="1500" b="0" i="0">
                <a:solidFill>
                  <a:srgbClr val="2B2B2B"/>
                </a:solidFill>
                <a:latin typeface="Calibri"/>
              </a:rPr>
              <a:t>●   </a:t>
            </a:r>
            <a:r>
              <a:rPr sz="1500" b="1" i="0">
                <a:solidFill>
                  <a:srgbClr val="2B2B2B"/>
                </a:solidFill>
                <a:latin typeface="Calibri"/>
              </a:rPr>
              <a:t>Implementación de IA en la educación</a:t>
            </a:r>
          </a:p>
          <a:p>
            <a:pPr>
              <a:spcAft>
                <a:spcPts val="1000"/>
              </a:spcAft>
            </a:pPr>
            <a:r>
              <a:rPr sz="1600" b="0" i="0">
                <a:solidFill>
                  <a:srgbClr val="2B2B2B"/>
                </a:solidFill>
                <a:latin typeface="Calibri"/>
              </a:rPr>
              <a:t>–   Según ESP329, los proyectos también dialogan con líneas </a:t>
            </a:r>
            <a:r>
              <a:rPr sz="1600" b="1" i="0">
                <a:solidFill>
                  <a:srgbClr val="2B2B2B"/>
                </a:solidFill>
                <a:latin typeface="Calibri"/>
              </a:rPr>
              <a:t>institucionales</a:t>
            </a:r>
            <a:r>
              <a:rPr sz="1600" b="0" i="0">
                <a:solidFill>
                  <a:srgbClr val="2B2B2B"/>
                </a:solidFill>
                <a:latin typeface="Calibri"/>
              </a:rPr>
              <a:t> (Gestión y Tecnologías · Innovación Pedagógica · Responsabilidad Social) cuando sea pertinente.</a:t>
            </a:r>
          </a:p>
          <a:p>
            <a:pPr>
              <a:spcAft>
                <a:spcPts val="1000"/>
              </a:spcAft>
            </a:pPr>
            <a:r>
              <a:rPr sz="1600" b="0" i="0">
                <a:solidFill>
                  <a:srgbClr val="2B2B2B"/>
                </a:solidFill>
                <a:latin typeface="Calibri"/>
              </a:rPr>
              <a:t>–   Si tu tema no encaja, </a:t>
            </a:r>
            <a:r>
              <a:rPr sz="1600" b="1" i="0">
                <a:solidFill>
                  <a:srgbClr val="2B2B2B"/>
                </a:solidFill>
                <a:latin typeface="Calibri"/>
              </a:rPr>
              <a:t>el Docente</a:t>
            </a:r>
            <a:r>
              <a:rPr sz="1600" b="0" i="0">
                <a:solidFill>
                  <a:srgbClr val="2B2B2B"/>
                </a:solidFill>
                <a:latin typeface="Calibri"/>
              </a:rPr>
              <a:t> te orienta a reformularlo.</a:t>
            </a:r>
          </a:p>
        </p:txBody>
      </p:sp>
      <p:sp>
        <p:nvSpPr>
          <p:cNvPr id="5" name="TextBox 4"/>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ESTRUCTURA TEMÁTICA ESP329 — 7 UNIDADES</a:t>
            </a:r>
          </a:p>
        </p:txBody>
      </p:sp>
      <p:graphicFrame>
        <p:nvGraphicFramePr>
          <p:cNvPr id="4" name="Table 3"/>
          <p:cNvGraphicFramePr>
            <a:graphicFrameLocks noGrp="1"/>
          </p:cNvGraphicFramePr>
          <p:nvPr/>
        </p:nvGraphicFramePr>
        <p:xfrm>
          <a:off x="640080" y="1691639"/>
          <a:ext cx="10911533" cy="4023360"/>
        </p:xfrm>
        <a:graphic>
          <a:graphicData uri="http://schemas.openxmlformats.org/drawingml/2006/table">
            <a:tbl>
              <a:tblPr>
                <a:tableStyleId>{2D5ABB26-0587-4C30-8999-92F81FD0307C}</a:tableStyleId>
              </a:tblPr>
              <a:tblGrid>
                <a:gridCol w="600634"/>
                <a:gridCol w="4204444"/>
                <a:gridCol w="6106455"/>
              </a:tblGrid>
              <a:tr h="502920">
                <a:tc>
                  <a:txBody>
                    <a:bodyPr/>
                    <a:lstStyle/>
                    <a:p>
                      <a:pPr algn="l"/>
                      <a:r>
                        <a:rPr sz="1300" b="1" i="0">
                          <a:solidFill>
                            <a:srgbClr val="FFFFFF"/>
                          </a:solidFill>
                          <a:latin typeface="Calibri"/>
                        </a:rPr>
                        <a:t>U</a:t>
                      </a:r>
                    </a:p>
                  </a:txBody>
                  <a:tcPr anchor="ctr" marL="109728" marR="91440" marT="36576" marB="36576">
                    <a:solidFill>
                      <a:srgbClr val="0C2340"/>
                    </a:solidFill>
                  </a:tcPr>
                </a:tc>
                <a:tc>
                  <a:txBody>
                    <a:bodyPr/>
                    <a:lstStyle/>
                    <a:p>
                      <a:pPr algn="l"/>
                      <a:r>
                        <a:rPr sz="1300" b="1" i="0">
                          <a:solidFill>
                            <a:srgbClr val="FFFFFF"/>
                          </a:solidFill>
                          <a:latin typeface="Calibri"/>
                        </a:rPr>
                        <a:t>Unidad didáctica</a:t>
                      </a:r>
                    </a:p>
                  </a:txBody>
                  <a:tcPr anchor="ctr" marL="109728" marR="91440" marT="36576" marB="36576">
                    <a:solidFill>
                      <a:srgbClr val="0C2340"/>
                    </a:solidFill>
                  </a:tcPr>
                </a:tc>
                <a:tc>
                  <a:txBody>
                    <a:bodyPr/>
                    <a:lstStyle/>
                    <a:p>
                      <a:pPr algn="l"/>
                      <a:r>
                        <a:rPr sz="1300" b="1" i="0">
                          <a:solidFill>
                            <a:srgbClr val="FFFFFF"/>
                          </a:solidFill>
                          <a:latin typeface="Calibri"/>
                        </a:rPr>
                        <a:t>Producto esperado</a:t>
                      </a:r>
                    </a:p>
                  </a:txBody>
                  <a:tcPr anchor="ctr" marL="109728" marR="91440" marT="36576" marB="36576">
                    <a:solidFill>
                      <a:srgbClr val="0C2340"/>
                    </a:solidFill>
                  </a:tcPr>
                </a:tc>
              </a:tr>
              <a:tr h="502920">
                <a:tc>
                  <a:txBody>
                    <a:bodyPr/>
                    <a:lstStyle/>
                    <a:p>
                      <a:pPr algn="l"/>
                      <a:r>
                        <a:rPr sz="1100" b="0" i="0">
                          <a:solidFill>
                            <a:srgbClr val="2B2B2B"/>
                          </a:solidFill>
                          <a:latin typeface="Calibri"/>
                        </a:rPr>
                        <a:t>1</a:t>
                      </a:r>
                    </a:p>
                  </a:txBody>
                  <a:tcPr anchor="ctr" marL="109728" marR="91440" marT="36576" marB="36576">
                    <a:solidFill>
                      <a:srgbClr val="FFFFFF"/>
                    </a:solidFill>
                  </a:tcPr>
                </a:tc>
                <a:tc>
                  <a:txBody>
                    <a:bodyPr/>
                    <a:lstStyle/>
                    <a:p>
                      <a:pPr algn="l"/>
                      <a:r>
                        <a:rPr sz="1100" b="0" i="0">
                          <a:solidFill>
                            <a:srgbClr val="2B2B2B"/>
                          </a:solidFill>
                          <a:latin typeface="Calibri"/>
                        </a:rPr>
                        <a:t>Fundamentos y enfoque de investigación</a:t>
                      </a:r>
                    </a:p>
                  </a:txBody>
                  <a:tcPr anchor="ctr" marL="109728" marR="91440" marT="36576" marB="36576">
                    <a:solidFill>
                      <a:srgbClr val="FFFFFF"/>
                    </a:solidFill>
                  </a:tcPr>
                </a:tc>
                <a:tc>
                  <a:txBody>
                    <a:bodyPr/>
                    <a:lstStyle/>
                    <a:p>
                      <a:pPr algn="l"/>
                      <a:r>
                        <a:rPr sz="1100" b="0" i="0">
                          <a:solidFill>
                            <a:srgbClr val="2B2B2B"/>
                          </a:solidFill>
                          <a:latin typeface="Calibri"/>
                        </a:rPr>
                        <a:t>Enfoque y tipo de investigación justificados</a:t>
                      </a:r>
                    </a:p>
                  </a:txBody>
                  <a:tcPr anchor="ctr" marL="109728" marR="91440" marT="36576" marB="36576">
                    <a:solidFill>
                      <a:srgbClr val="FFFFFF"/>
                    </a:solidFill>
                  </a:tcPr>
                </a:tc>
              </a:tr>
              <a:tr h="502920">
                <a:tc>
                  <a:txBody>
                    <a:bodyPr/>
                    <a:lstStyle/>
                    <a:p>
                      <a:pPr algn="l"/>
                      <a:r>
                        <a:rPr sz="1100" b="0" i="0">
                          <a:solidFill>
                            <a:srgbClr val="2B2B2B"/>
                          </a:solidFill>
                          <a:latin typeface="Calibri"/>
                        </a:rPr>
                        <a:t>2</a:t>
                      </a:r>
                    </a:p>
                  </a:txBody>
                  <a:tcPr anchor="ctr" marL="109728" marR="91440" marT="36576" marB="36576">
                    <a:solidFill>
                      <a:srgbClr val="F2F2F2"/>
                    </a:solidFill>
                  </a:tcPr>
                </a:tc>
                <a:tc>
                  <a:txBody>
                    <a:bodyPr/>
                    <a:lstStyle/>
                    <a:p>
                      <a:pPr algn="l"/>
                      <a:r>
                        <a:rPr sz="1100" b="0" i="0">
                          <a:solidFill>
                            <a:srgbClr val="2B2B2B"/>
                          </a:solidFill>
                          <a:latin typeface="Calibri"/>
                        </a:rPr>
                        <a:t>Problema y pregunta de investigación</a:t>
                      </a:r>
                    </a:p>
                  </a:txBody>
                  <a:tcPr anchor="ctr" marL="109728" marR="91440" marT="36576" marB="36576">
                    <a:solidFill>
                      <a:srgbClr val="F2F2F2"/>
                    </a:solidFill>
                  </a:tcPr>
                </a:tc>
                <a:tc>
                  <a:txBody>
                    <a:bodyPr/>
                    <a:lstStyle/>
                    <a:p>
                      <a:pPr algn="l"/>
                      <a:r>
                        <a:rPr sz="1100" b="0" i="0">
                          <a:solidFill>
                            <a:srgbClr val="2B2B2B"/>
                          </a:solidFill>
                          <a:latin typeface="Calibri"/>
                        </a:rPr>
                        <a:t>Problema delimitado y pregunta viable</a:t>
                      </a:r>
                    </a:p>
                  </a:txBody>
                  <a:tcPr anchor="ctr" marL="109728" marR="91440" marT="36576" marB="36576">
                    <a:solidFill>
                      <a:srgbClr val="F2F2F2"/>
                    </a:solidFill>
                  </a:tcPr>
                </a:tc>
              </a:tr>
              <a:tr h="502920">
                <a:tc>
                  <a:txBody>
                    <a:bodyPr/>
                    <a:lstStyle/>
                    <a:p>
                      <a:pPr algn="l"/>
                      <a:r>
                        <a:rPr sz="1100" b="0" i="0">
                          <a:solidFill>
                            <a:srgbClr val="2B2B2B"/>
                          </a:solidFill>
                          <a:latin typeface="Calibri"/>
                        </a:rPr>
                        <a:t>3</a:t>
                      </a:r>
                    </a:p>
                  </a:txBody>
                  <a:tcPr anchor="ctr" marL="109728" marR="91440" marT="36576" marB="36576">
                    <a:solidFill>
                      <a:srgbClr val="FFFFFF"/>
                    </a:solidFill>
                  </a:tcPr>
                </a:tc>
                <a:tc>
                  <a:txBody>
                    <a:bodyPr/>
                    <a:lstStyle/>
                    <a:p>
                      <a:pPr algn="l"/>
                      <a:r>
                        <a:rPr sz="1100" b="0" i="0">
                          <a:solidFill>
                            <a:srgbClr val="2B2B2B"/>
                          </a:solidFill>
                          <a:latin typeface="Calibri"/>
                        </a:rPr>
                        <a:t>Objetivos y justificación</a:t>
                      </a:r>
                    </a:p>
                  </a:txBody>
                  <a:tcPr anchor="ctr" marL="109728" marR="91440" marT="36576" marB="36576">
                    <a:solidFill>
                      <a:srgbClr val="FFFFFF"/>
                    </a:solidFill>
                  </a:tcPr>
                </a:tc>
                <a:tc>
                  <a:txBody>
                    <a:bodyPr/>
                    <a:lstStyle/>
                    <a:p>
                      <a:pPr algn="l"/>
                      <a:r>
                        <a:rPr sz="1100" b="0" i="0">
                          <a:solidFill>
                            <a:srgbClr val="2B2B2B"/>
                          </a:solidFill>
                          <a:latin typeface="Calibri"/>
                        </a:rPr>
                        <a:t>Objetivos y justificación articulados</a:t>
                      </a:r>
                    </a:p>
                  </a:txBody>
                  <a:tcPr anchor="ctr" marL="109728" marR="91440" marT="36576" marB="36576">
                    <a:solidFill>
                      <a:srgbClr val="FFFFFF"/>
                    </a:solidFill>
                  </a:tcPr>
                </a:tc>
              </a:tr>
              <a:tr h="502920">
                <a:tc>
                  <a:txBody>
                    <a:bodyPr/>
                    <a:lstStyle/>
                    <a:p>
                      <a:pPr algn="l"/>
                      <a:r>
                        <a:rPr sz="1100" b="0" i="0">
                          <a:solidFill>
                            <a:srgbClr val="2B2B2B"/>
                          </a:solidFill>
                          <a:latin typeface="Calibri"/>
                        </a:rPr>
                        <a:t>4</a:t>
                      </a:r>
                    </a:p>
                  </a:txBody>
                  <a:tcPr anchor="ctr" marL="109728" marR="91440" marT="36576" marB="36576">
                    <a:solidFill>
                      <a:srgbClr val="F2F2F2"/>
                    </a:solidFill>
                  </a:tcPr>
                </a:tc>
                <a:tc>
                  <a:txBody>
                    <a:bodyPr/>
                    <a:lstStyle/>
                    <a:p>
                      <a:pPr algn="l"/>
                      <a:r>
                        <a:rPr sz="1100" b="0" i="0">
                          <a:solidFill>
                            <a:srgbClr val="2B2B2B"/>
                          </a:solidFill>
                          <a:latin typeface="Calibri"/>
                        </a:rPr>
                        <a:t>Construcción del marco referencial</a:t>
                      </a:r>
                    </a:p>
                  </a:txBody>
                  <a:tcPr anchor="ctr" marL="109728" marR="91440" marT="36576" marB="36576">
                    <a:solidFill>
                      <a:srgbClr val="F2F2F2"/>
                    </a:solidFill>
                  </a:tcPr>
                </a:tc>
                <a:tc>
                  <a:txBody>
                    <a:bodyPr/>
                    <a:lstStyle/>
                    <a:p>
                      <a:pPr algn="l"/>
                      <a:r>
                        <a:rPr sz="1100" b="0" i="0">
                          <a:solidFill>
                            <a:srgbClr val="2B2B2B"/>
                          </a:solidFill>
                          <a:latin typeface="Calibri"/>
                        </a:rPr>
                        <a:t>Marco pertinente, actualizado y sustentado</a:t>
                      </a:r>
                    </a:p>
                  </a:txBody>
                  <a:tcPr anchor="ctr" marL="109728" marR="91440" marT="36576" marB="36576">
                    <a:solidFill>
                      <a:srgbClr val="F2F2F2"/>
                    </a:solidFill>
                  </a:tcPr>
                </a:tc>
              </a:tr>
              <a:tr h="502920">
                <a:tc>
                  <a:txBody>
                    <a:bodyPr/>
                    <a:lstStyle/>
                    <a:p>
                      <a:pPr algn="l"/>
                      <a:r>
                        <a:rPr sz="1100" b="0" i="0">
                          <a:solidFill>
                            <a:srgbClr val="2B2B2B"/>
                          </a:solidFill>
                          <a:latin typeface="Calibri"/>
                        </a:rPr>
                        <a:t>5</a:t>
                      </a:r>
                    </a:p>
                  </a:txBody>
                  <a:tcPr anchor="ctr" marL="109728" marR="91440" marT="36576" marB="36576">
                    <a:solidFill>
                      <a:srgbClr val="FFFFFF"/>
                    </a:solidFill>
                  </a:tcPr>
                </a:tc>
                <a:tc>
                  <a:txBody>
                    <a:bodyPr/>
                    <a:lstStyle/>
                    <a:p>
                      <a:pPr algn="l"/>
                      <a:r>
                        <a:rPr sz="1100" b="0" i="0">
                          <a:solidFill>
                            <a:srgbClr val="2B2B2B"/>
                          </a:solidFill>
                          <a:latin typeface="Calibri"/>
                        </a:rPr>
                        <a:t>Diseño metodológico</a:t>
                      </a:r>
                    </a:p>
                  </a:txBody>
                  <a:tcPr anchor="ctr" marL="109728" marR="91440" marT="36576" marB="36576">
                    <a:solidFill>
                      <a:srgbClr val="FFFFFF"/>
                    </a:solidFill>
                  </a:tcPr>
                </a:tc>
                <a:tc>
                  <a:txBody>
                    <a:bodyPr/>
                    <a:lstStyle/>
                    <a:p>
                      <a:pPr algn="l"/>
                      <a:r>
                        <a:rPr sz="1100" b="0" i="0">
                          <a:solidFill>
                            <a:srgbClr val="2B2B2B"/>
                          </a:solidFill>
                          <a:latin typeface="Calibri"/>
                        </a:rPr>
                        <a:t>Metodología coherente (instrumentos propuestos)</a:t>
                      </a:r>
                    </a:p>
                  </a:txBody>
                  <a:tcPr anchor="ctr" marL="109728" marR="91440" marT="36576" marB="36576">
                    <a:solidFill>
                      <a:srgbClr val="FFFFFF"/>
                    </a:solidFill>
                  </a:tcPr>
                </a:tc>
              </a:tr>
              <a:tr h="502920">
                <a:tc>
                  <a:txBody>
                    <a:bodyPr/>
                    <a:lstStyle/>
                    <a:p>
                      <a:pPr algn="l"/>
                      <a:r>
                        <a:rPr sz="1100" b="0" i="0">
                          <a:solidFill>
                            <a:srgbClr val="2B2B2B"/>
                          </a:solidFill>
                          <a:latin typeface="Calibri"/>
                        </a:rPr>
                        <a:t>6</a:t>
                      </a:r>
                    </a:p>
                  </a:txBody>
                  <a:tcPr anchor="ctr" marL="109728" marR="91440" marT="36576" marB="36576">
                    <a:solidFill>
                      <a:srgbClr val="F2F2F2"/>
                    </a:solidFill>
                  </a:tcPr>
                </a:tc>
                <a:tc>
                  <a:txBody>
                    <a:bodyPr/>
                    <a:lstStyle/>
                    <a:p>
                      <a:pPr algn="l"/>
                      <a:r>
                        <a:rPr sz="1100" b="0" i="0">
                          <a:solidFill>
                            <a:srgbClr val="2B2B2B"/>
                          </a:solidFill>
                          <a:latin typeface="Calibri"/>
                        </a:rPr>
                        <a:t>Planeación y viabilidad del proyecto</a:t>
                      </a:r>
                    </a:p>
                  </a:txBody>
                  <a:tcPr anchor="ctr" marL="109728" marR="91440" marT="36576" marB="36576">
                    <a:solidFill>
                      <a:srgbClr val="F2F2F2"/>
                    </a:solidFill>
                  </a:tcPr>
                </a:tc>
                <a:tc>
                  <a:txBody>
                    <a:bodyPr/>
                    <a:lstStyle/>
                    <a:p>
                      <a:pPr algn="l"/>
                      <a:r>
                        <a:rPr sz="1100" b="0" i="0">
                          <a:solidFill>
                            <a:srgbClr val="2B2B2B"/>
                          </a:solidFill>
                          <a:latin typeface="Calibri"/>
                        </a:rPr>
                        <a:t>Plan de trabajo viable</a:t>
                      </a:r>
                    </a:p>
                  </a:txBody>
                  <a:tcPr anchor="ctr" marL="109728" marR="91440" marT="36576" marB="36576">
                    <a:solidFill>
                      <a:srgbClr val="F2F2F2"/>
                    </a:solidFill>
                  </a:tcPr>
                </a:tc>
              </a:tr>
              <a:tr h="502920">
                <a:tc>
                  <a:txBody>
                    <a:bodyPr/>
                    <a:lstStyle/>
                    <a:p>
                      <a:pPr algn="l"/>
                      <a:r>
                        <a:rPr sz="1100" b="0" i="0">
                          <a:solidFill>
                            <a:srgbClr val="2B2B2B"/>
                          </a:solidFill>
                          <a:latin typeface="Calibri"/>
                        </a:rPr>
                        <a:t>7</a:t>
                      </a:r>
                    </a:p>
                  </a:txBody>
                  <a:tcPr anchor="ctr" marL="109728" marR="91440" marT="36576" marB="36576">
                    <a:solidFill>
                      <a:srgbClr val="FFFFFF"/>
                    </a:solidFill>
                  </a:tcPr>
                </a:tc>
                <a:tc>
                  <a:txBody>
                    <a:bodyPr/>
                    <a:lstStyle/>
                    <a:p>
                      <a:pPr algn="l"/>
                      <a:r>
                        <a:rPr sz="1100" b="0" i="0">
                          <a:solidFill>
                            <a:srgbClr val="2B2B2B"/>
                          </a:solidFill>
                          <a:latin typeface="Calibri"/>
                        </a:rPr>
                        <a:t>Integración y evaluación del anteproyecto</a:t>
                      </a:r>
                    </a:p>
                  </a:txBody>
                  <a:tcPr anchor="ctr" marL="109728" marR="91440" marT="36576" marB="36576">
                    <a:solidFill>
                      <a:srgbClr val="FFFFFF"/>
                    </a:solidFill>
                  </a:tcPr>
                </a:tc>
                <a:tc>
                  <a:txBody>
                    <a:bodyPr/>
                    <a:lstStyle/>
                    <a:p>
                      <a:pPr algn="l"/>
                      <a:r>
                        <a:rPr sz="1100" b="0" i="0">
                          <a:solidFill>
                            <a:srgbClr val="2B2B2B"/>
                          </a:solidFill>
                          <a:latin typeface="Calibri"/>
                        </a:rPr>
                        <a:t>Anteproyecto completo listo para P-II</a:t>
                      </a:r>
                    </a:p>
                  </a:txBody>
                  <a:tcPr anchor="ctr" marL="109728" marR="91440" marT="36576" marB="36576">
                    <a:solidFill>
                      <a:srgbClr val="FFFFFF"/>
                    </a:solidFill>
                  </a:tcPr>
                </a:tc>
              </a:tr>
            </a:tbl>
          </a:graphicData>
        </a:graphic>
      </p:graphicFrame>
      <p:sp>
        <p:nvSpPr>
          <p:cNvPr id="5" name="TextBox 4"/>
          <p:cNvSpPr txBox="1"/>
          <p:nvPr/>
        </p:nvSpPr>
        <p:spPr>
          <a:xfrm>
            <a:off x="640080" y="5852160"/>
            <a:ext cx="10911535" cy="548640"/>
          </a:xfrm>
          <a:prstGeom prst="rect">
            <a:avLst/>
          </a:prstGeom>
          <a:noFill/>
        </p:spPr>
        <p:txBody>
          <a:bodyPr wrap="square" anchor="t" lIns="0" rIns="0" tIns="0" bIns="0">
            <a:spAutoFit/>
          </a:bodyPr>
          <a:lstStyle/>
          <a:p>
            <a:r>
              <a:rPr sz="1200" b="0" i="1">
                <a:solidFill>
                  <a:srgbClr val="2B2B2B"/>
                </a:solidFill>
                <a:latin typeface="Calibri"/>
              </a:rPr>
              <a:t>Fuente primaria: Especializacion_En_Inteligencia_Artificial_Proyecto_I_ESP329.docx. Las sesiones semanales desarrollan estas unidades (ver calendario).</a:t>
            </a:r>
          </a:p>
        </p:txBody>
      </p:sp>
      <p:sp>
        <p:nvSpPr>
          <p:cNvPr id="6" name="TextBox 5"/>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7" name="TextBox 6"/>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ESTRATEGIA DIDÁCTICA (ESP329)</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Aprendizaje basado en proyectos</a:t>
            </a:r>
            <a:r>
              <a:rPr sz="1600" b="0" i="0">
                <a:solidFill>
                  <a:srgbClr val="2B2B2B"/>
                </a:solidFill>
                <a:latin typeface="Calibri"/>
              </a:rPr>
              <a:t> + acompañamiento tutorial.</a:t>
            </a:r>
          </a:p>
          <a:p>
            <a:pPr>
              <a:spcAft>
                <a:spcPts val="1000"/>
              </a:spcAft>
            </a:pPr>
            <a:r>
              <a:rPr sz="1600" b="0" i="0">
                <a:solidFill>
                  <a:srgbClr val="2B2B2B"/>
                </a:solidFill>
                <a:latin typeface="Calibri"/>
              </a:rPr>
              <a:t>–   Sesiones sincrónicas: orientaciones metodológicas, ejemplos, discusión y talleres aplicados al anteproyecto.</a:t>
            </a:r>
          </a:p>
          <a:p>
            <a:pPr>
              <a:spcAft>
                <a:spcPts val="1000"/>
              </a:spcAft>
            </a:pPr>
            <a:r>
              <a:rPr sz="1600" b="0" i="0">
                <a:solidFill>
                  <a:srgbClr val="2B2B2B"/>
                </a:solidFill>
                <a:latin typeface="Calibri"/>
              </a:rPr>
              <a:t>–   Trabajo autónomo: búsqueda/lectura crítica, escritura progresiva, revisión entre pares e incorporación de retro.</a:t>
            </a:r>
          </a:p>
          <a:p>
            <a:pPr>
              <a:spcAft>
                <a:spcPts val="1000"/>
              </a:spcAft>
            </a:pPr>
            <a:r>
              <a:rPr sz="1600" b="0" i="0">
                <a:solidFill>
                  <a:srgbClr val="2B2B2B"/>
                </a:solidFill>
                <a:latin typeface="Calibri"/>
              </a:rPr>
              <a:t>–   ACA 1, 2 y 3 son </a:t>
            </a:r>
            <a:r>
              <a:rPr sz="1600" b="1" i="0">
                <a:solidFill>
                  <a:srgbClr val="2B2B2B"/>
                </a:solidFill>
                <a:latin typeface="Calibri"/>
              </a:rPr>
              <a:t>avances acumulativos del mismo producto</a:t>
            </a:r>
            <a:r>
              <a:rPr sz="1600" b="0" i="0">
                <a:solidFill>
                  <a:srgbClr val="2B2B2B"/>
                </a:solidFill>
                <a:latin typeface="Calibri"/>
              </a:rPr>
              <a:t> (no tareas aisladas).</a:t>
            </a:r>
          </a:p>
          <a:p>
            <a:pPr>
              <a:spcAft>
                <a:spcPts val="1000"/>
              </a:spcAft>
            </a:pPr>
            <a:r>
              <a:rPr sz="1600" b="0" i="0">
                <a:solidFill>
                  <a:srgbClr val="2B2B2B"/>
                </a:solidFill>
                <a:latin typeface="Calibri"/>
              </a:rPr>
              <a:t>–   Mediación: encuentros sincrónicos, tutorías, recursos en </a:t>
            </a:r>
            <a:r>
              <a:rPr sz="1600" b="1" i="0">
                <a:solidFill>
                  <a:srgbClr val="2B2B2B"/>
                </a:solidFill>
                <a:latin typeface="Calibri"/>
              </a:rPr>
              <a:t>CDigital</a:t>
            </a:r>
            <a:r>
              <a:rPr sz="1600" b="0" i="0">
                <a:solidFill>
                  <a:srgbClr val="2B2B2B"/>
                </a:solidFill>
                <a:latin typeface="Calibri"/>
              </a:rPr>
              <a:t> y atención asincrónica.</a:t>
            </a:r>
          </a:p>
          <a:p>
            <a:pPr>
              <a:spcAft>
                <a:spcPts val="1000"/>
              </a:spcAft>
            </a:pPr>
            <a:r>
              <a:rPr sz="1600" b="0" i="0">
                <a:solidFill>
                  <a:srgbClr val="2B2B2B"/>
                </a:solidFill>
                <a:latin typeface="Calibri"/>
              </a:rPr>
              <a:t>–   Las tutorías por grupo se acuerdan en la semana con el Docente (no hay atención espontánea sin cita).</a:t>
            </a:r>
          </a:p>
          <a:p>
            <a:pPr>
              <a:spcAft>
                <a:spcPts val="1000"/>
              </a:spcAft>
            </a:pPr>
            <a:r>
              <a:rPr sz="1600" b="0" i="0">
                <a:solidFill>
                  <a:srgbClr val="2B2B2B"/>
                </a:solidFill>
                <a:latin typeface="Calibri"/>
              </a:rPr>
              <a:t>–   IA generativa: apoyo permitido solo con supervisión humana, verificación, declaración transparente y protección de datos.</a:t>
            </a:r>
          </a:p>
        </p:txBody>
      </p:sp>
      <p:sp>
        <p:nvSpPr>
          <p:cNvPr id="5" name="TextBox 4"/>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ENCUENTRO SEMANAL (2 HORAS)</a:t>
            </a:r>
          </a:p>
        </p:txBody>
      </p:sp>
      <p:graphicFrame>
        <p:nvGraphicFramePr>
          <p:cNvPr id="4" name="Table 3"/>
          <p:cNvGraphicFramePr>
            <a:graphicFrameLocks noGrp="1"/>
          </p:cNvGraphicFramePr>
          <p:nvPr/>
        </p:nvGraphicFramePr>
        <p:xfrm>
          <a:off x="640080" y="1691639"/>
          <a:ext cx="10911534" cy="1508760"/>
        </p:xfrm>
        <a:graphic>
          <a:graphicData uri="http://schemas.openxmlformats.org/drawingml/2006/table">
            <a:tbl>
              <a:tblPr>
                <a:tableStyleId>{2D5ABB26-0587-4C30-8999-92F81FD0307C}</a:tableStyleId>
              </a:tblPr>
              <a:tblGrid>
                <a:gridCol w="3637178"/>
                <a:gridCol w="3637178"/>
                <a:gridCol w="3637178"/>
              </a:tblGrid>
              <a:tr h="502920">
                <a:tc>
                  <a:txBody>
                    <a:bodyPr/>
                    <a:lstStyle/>
                    <a:p>
                      <a:pPr algn="l"/>
                      <a:r>
                        <a:rPr sz="1300" b="1" i="0">
                          <a:solidFill>
                            <a:srgbClr val="FFFFFF"/>
                          </a:solidFill>
                          <a:latin typeface="Calibri"/>
                        </a:rPr>
                        <a:t>Bloque</a:t>
                      </a:r>
                    </a:p>
                  </a:txBody>
                  <a:tcPr anchor="ctr" marL="109728" marR="91440" marT="36576" marB="36576">
                    <a:solidFill>
                      <a:srgbClr val="0C2340"/>
                    </a:solidFill>
                  </a:tcPr>
                </a:tc>
                <a:tc>
                  <a:txBody>
                    <a:bodyPr/>
                    <a:lstStyle/>
                    <a:p>
                      <a:pPr algn="l"/>
                      <a:r>
                        <a:rPr sz="1300" b="1" i="0">
                          <a:solidFill>
                            <a:srgbClr val="FFFFFF"/>
                          </a:solidFill>
                          <a:latin typeface="Calibri"/>
                        </a:rPr>
                        <a:t>Horario</a:t>
                      </a:r>
                    </a:p>
                  </a:txBody>
                  <a:tcPr anchor="ctr" marL="109728" marR="91440" marT="36576" marB="36576">
                    <a:solidFill>
                      <a:srgbClr val="0C2340"/>
                    </a:solidFill>
                  </a:tcPr>
                </a:tc>
                <a:tc>
                  <a:txBody>
                    <a:bodyPr/>
                    <a:lstStyle/>
                    <a:p>
                      <a:pPr algn="l"/>
                      <a:r>
                        <a:rPr sz="1300" b="1" i="0">
                          <a:solidFill>
                            <a:srgbClr val="FFFFFF"/>
                          </a:solidFill>
                          <a:latin typeface="Calibri"/>
                        </a:rPr>
                        <a:t>Qué ocurre</a:t>
                      </a:r>
                    </a:p>
                  </a:txBody>
                  <a:tcPr anchor="ctr" marL="109728" marR="91440" marT="36576" marB="36576">
                    <a:solidFill>
                      <a:srgbClr val="0C2340"/>
                    </a:solidFill>
                  </a:tcPr>
                </a:tc>
              </a:tr>
              <a:tr h="502920">
                <a:tc>
                  <a:txBody>
                    <a:bodyPr/>
                    <a:lstStyle/>
                    <a:p>
                      <a:pPr algn="l"/>
                      <a:r>
                        <a:rPr sz="1200" b="0" i="0">
                          <a:solidFill>
                            <a:srgbClr val="2B2B2B"/>
                          </a:solidFill>
                          <a:latin typeface="Calibri"/>
                        </a:rPr>
                        <a:t>Contenido nuevo</a:t>
                      </a:r>
                    </a:p>
                  </a:txBody>
                  <a:tcPr anchor="ctr" marL="109728" marR="91440" marT="36576" marB="36576">
                    <a:solidFill>
                      <a:srgbClr val="FFFFFF"/>
                    </a:solidFill>
                  </a:tcPr>
                </a:tc>
                <a:tc>
                  <a:txBody>
                    <a:bodyPr/>
                    <a:lstStyle/>
                    <a:p>
                      <a:pPr algn="l"/>
                      <a:r>
                        <a:rPr sz="1200" b="0" i="0">
                          <a:solidFill>
                            <a:srgbClr val="2B2B2B"/>
                          </a:solidFill>
                          <a:latin typeface="Calibri"/>
                        </a:rPr>
                        <a:t>8:00 – 9:00 pm</a:t>
                      </a:r>
                    </a:p>
                  </a:txBody>
                  <a:tcPr anchor="ctr" marL="109728" marR="91440" marT="36576" marB="36576">
                    <a:solidFill>
                      <a:srgbClr val="FFFFFF"/>
                    </a:solidFill>
                  </a:tcPr>
                </a:tc>
                <a:tc>
                  <a:txBody>
                    <a:bodyPr/>
                    <a:lstStyle/>
                    <a:p>
                      <a:pPr algn="l"/>
                      <a:r>
                        <a:rPr sz="1200" b="0" i="0">
                          <a:solidFill>
                            <a:srgbClr val="2B2B2B"/>
                          </a:solidFill>
                          <a:latin typeface="Calibri"/>
                        </a:rPr>
                        <a:t>Orientación metodológica de la unidad, modelación, dudas.</a:t>
                      </a:r>
                    </a:p>
                  </a:txBody>
                  <a:tcPr anchor="ctr" marL="109728" marR="91440" marT="36576" marB="36576">
                    <a:solidFill>
                      <a:srgbClr val="FFFFFF"/>
                    </a:solidFill>
                  </a:tcPr>
                </a:tc>
              </a:tr>
              <a:tr h="502920">
                <a:tc>
                  <a:txBody>
                    <a:bodyPr/>
                    <a:lstStyle/>
                    <a:p>
                      <a:pPr algn="l"/>
                      <a:r>
                        <a:rPr sz="1200" b="0" i="0">
                          <a:solidFill>
                            <a:srgbClr val="2B2B2B"/>
                          </a:solidFill>
                          <a:latin typeface="Calibri"/>
                        </a:rPr>
                        <a:t>Tutoría / taller</a:t>
                      </a:r>
                    </a:p>
                  </a:txBody>
                  <a:tcPr anchor="ctr" marL="109728" marR="91440" marT="36576" marB="36576">
                    <a:solidFill>
                      <a:srgbClr val="F2F2F2"/>
                    </a:solidFill>
                  </a:tcPr>
                </a:tc>
                <a:tc>
                  <a:txBody>
                    <a:bodyPr/>
                    <a:lstStyle/>
                    <a:p>
                      <a:pPr algn="l"/>
                      <a:r>
                        <a:rPr sz="1200" b="0" i="0">
                          <a:solidFill>
                            <a:srgbClr val="2B2B2B"/>
                          </a:solidFill>
                          <a:latin typeface="Calibri"/>
                        </a:rPr>
                        <a:t>9:00 – 10:00 pm</a:t>
                      </a:r>
                    </a:p>
                  </a:txBody>
                  <a:tcPr anchor="ctr" marL="109728" marR="91440" marT="36576" marB="36576">
                    <a:solidFill>
                      <a:srgbClr val="F2F2F2"/>
                    </a:solidFill>
                  </a:tcPr>
                </a:tc>
                <a:tc>
                  <a:txBody>
                    <a:bodyPr/>
                    <a:lstStyle/>
                    <a:p>
                      <a:pPr algn="l"/>
                      <a:r>
                        <a:rPr sz="1200" b="0" i="0">
                          <a:solidFill>
                            <a:srgbClr val="2B2B2B"/>
                          </a:solidFill>
                          <a:latin typeface="Calibri"/>
                        </a:rPr>
                        <a:t>Trabajo en equipos con acompañamiento del Docente.</a:t>
                      </a:r>
                    </a:p>
                  </a:txBody>
                  <a:tcPr anchor="ctr" marL="109728" marR="91440" marT="36576" marB="36576">
                    <a:solidFill>
                      <a:srgbClr val="F2F2F2"/>
                    </a:solidFill>
                  </a:tcPr>
                </a:tc>
              </a:tr>
            </a:tbl>
          </a:graphicData>
        </a:graphic>
      </p:graphicFrame>
      <p:sp>
        <p:nvSpPr>
          <p:cNvPr id="5" name="TextBox 4"/>
          <p:cNvSpPr txBox="1"/>
          <p:nvPr/>
        </p:nvSpPr>
        <p:spPr>
          <a:xfrm>
            <a:off x="640080" y="3337560"/>
            <a:ext cx="10911535" cy="548640"/>
          </a:xfrm>
          <a:prstGeom prst="rect">
            <a:avLst/>
          </a:prstGeom>
          <a:noFill/>
        </p:spPr>
        <p:txBody>
          <a:bodyPr wrap="square" anchor="t" lIns="0" rIns="0" tIns="0" bIns="0">
            <a:spAutoFit/>
          </a:bodyPr>
          <a:lstStyle/>
          <a:p>
            <a:r>
              <a:rPr sz="1200" b="0" i="1">
                <a:solidFill>
                  <a:srgbClr val="2B2B2B"/>
                </a:solidFill>
                <a:latin typeface="Calibri"/>
              </a:rPr>
              <a:t>ESP329: 32 h acompañamiento directo + 64 h autónomo (2 créditos). Todo el encuentro se graba. Las tutorías por grupo se acuerdan en la semana con el Docente (no hay atención espontánea sin cita). Registra cada tutoría (slide siguiente).</a:t>
            </a:r>
          </a:p>
        </p:txBody>
      </p:sp>
      <p:sp>
        <p:nvSpPr>
          <p:cNvPr id="6" name="TextBox 5"/>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7" name="TextBox 6"/>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REGISTRO OBLIGATORIO DE TUTORÍAS</a:t>
            </a:r>
          </a:p>
        </p:txBody>
      </p:sp>
      <p:sp>
        <p:nvSpPr>
          <p:cNvPr id="4" name="Rounded Rectangle 3"/>
          <p:cNvSpPr/>
          <p:nvPr/>
        </p:nvSpPr>
        <p:spPr>
          <a:xfrm>
            <a:off x="640080" y="1783080"/>
            <a:ext cx="10911535" cy="2194560"/>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40080" y="1783080"/>
            <a:ext cx="164592" cy="2194560"/>
          </a:xfrm>
          <a:prstGeom prst="rect">
            <a:avLst/>
          </a:prstGeom>
          <a:solidFill>
            <a:srgbClr val="007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051560" y="2011680"/>
            <a:ext cx="10271455" cy="640080"/>
          </a:xfrm>
          <a:prstGeom prst="rect">
            <a:avLst/>
          </a:prstGeom>
          <a:noFill/>
        </p:spPr>
        <p:txBody>
          <a:bodyPr wrap="square" anchor="t" lIns="0" rIns="0" tIns="0" bIns="0">
            <a:spAutoFit/>
          </a:bodyPr>
          <a:lstStyle/>
          <a:p>
            <a:r>
              <a:rPr sz="2000" b="1" i="0">
                <a:solidFill>
                  <a:srgbClr val="0C2340"/>
                </a:solidFill>
                <a:latin typeface="Calibri"/>
              </a:rPr>
              <a:t>En CADA tutoría (del encuentro o adicional) diligencia TU formulario:</a:t>
            </a:r>
          </a:p>
        </p:txBody>
      </p:sp>
      <p:sp>
        <p:nvSpPr>
          <p:cNvPr id="7" name="TextBox 6"/>
          <p:cNvSpPr txBox="1"/>
          <p:nvPr/>
        </p:nvSpPr>
        <p:spPr>
          <a:xfrm>
            <a:off x="1051560" y="2743200"/>
            <a:ext cx="10271455" cy="822960"/>
          </a:xfrm>
          <a:prstGeom prst="rect">
            <a:avLst/>
          </a:prstGeom>
          <a:noFill/>
        </p:spPr>
        <p:txBody>
          <a:bodyPr wrap="square" anchor="ctr" lIns="0" rIns="0" tIns="0" bIns="0">
            <a:spAutoFit/>
          </a:bodyPr>
          <a:lstStyle/>
          <a:p>
            <a:pPr algn="ctr"/>
            <a:r>
              <a:rPr sz="2200" b="1" i="0">
                <a:solidFill>
                  <a:srgbClr val="007433"/>
                </a:solidFill>
                <a:latin typeface="Calibri"/>
              </a:rPr>
              <a:t>https://forms.gle/oZ8xCYiUo3KEWr1d9</a:t>
            </a:r>
          </a:p>
        </p:txBody>
      </p:sp>
      <p:sp>
        <p:nvSpPr>
          <p:cNvPr id="8" name="TextBox 7"/>
          <p:cNvSpPr txBox="1"/>
          <p:nvPr/>
        </p:nvSpPr>
        <p:spPr>
          <a:xfrm>
            <a:off x="640080" y="4206240"/>
            <a:ext cx="10911535" cy="457200"/>
          </a:xfrm>
          <a:prstGeom prst="rect">
            <a:avLst/>
          </a:prstGeom>
          <a:noFill/>
        </p:spPr>
        <p:txBody>
          <a:bodyPr wrap="square" anchor="t" lIns="0" rIns="0" tIns="0" bIns="0">
            <a:spAutoFit/>
          </a:bodyPr>
          <a:lstStyle/>
          <a:p>
            <a:r>
              <a:rPr sz="1400" b="0" i="0">
                <a:solidFill>
                  <a:srgbClr val="2B2B2B"/>
                </a:solidFill>
                <a:latin typeface="Calibri"/>
              </a:rPr>
              <a:t>Las tutorías por grupo se acuerdan en la semana con el Docente (no hay atención espontánea sin cita).</a:t>
            </a:r>
          </a:p>
        </p:txBody>
      </p:sp>
      <p:sp>
        <p:nvSpPr>
          <p:cNvPr id="9" name="TextBox 8"/>
          <p:cNvSpPr txBox="1"/>
          <p:nvPr/>
        </p:nvSpPr>
        <p:spPr>
          <a:xfrm>
            <a:off x="640080" y="4709159"/>
            <a:ext cx="10911535" cy="457200"/>
          </a:xfrm>
          <a:prstGeom prst="rect">
            <a:avLst/>
          </a:prstGeom>
          <a:noFill/>
        </p:spPr>
        <p:txBody>
          <a:bodyPr wrap="square" anchor="t" lIns="0" rIns="0" tIns="0" bIns="0">
            <a:spAutoFit/>
          </a:bodyPr>
          <a:lstStyle/>
          <a:p>
            <a:r>
              <a:rPr sz="1400" b="0" i="0">
                <a:solidFill>
                  <a:srgbClr val="2B2B2B"/>
                </a:solidFill>
                <a:latin typeface="Calibri"/>
              </a:rPr>
              <a:t>⚠️ Sin este registro, tu asistencia a tutorías puede no quedar acreditada.</a:t>
            </a:r>
          </a:p>
        </p:txBody>
      </p:sp>
      <p:sp>
        <p:nvSpPr>
          <p:cNvPr id="10" name="TextBox 9"/>
          <p:cNvSpPr txBox="1"/>
          <p:nvPr/>
        </p:nvSpPr>
        <p:spPr>
          <a:xfrm>
            <a:off x="640080" y="5212079"/>
            <a:ext cx="10911535" cy="457200"/>
          </a:xfrm>
          <a:prstGeom prst="rect">
            <a:avLst/>
          </a:prstGeom>
          <a:noFill/>
        </p:spPr>
        <p:txBody>
          <a:bodyPr wrap="square" anchor="t" lIns="0" rIns="0" tIns="0" bIns="0">
            <a:spAutoFit/>
          </a:bodyPr>
          <a:lstStyle/>
          <a:p>
            <a:r>
              <a:rPr sz="1400" b="0" i="0">
                <a:solidFill>
                  <a:srgbClr val="2B2B2B"/>
                </a:solidFill>
                <a:latin typeface="Calibri"/>
              </a:rPr>
              <a:t>Formulario del ESTUDIANTE (distinto del registro del Docente). Ambos son obligatorios.</a:t>
            </a:r>
          </a:p>
        </p:txBody>
      </p:sp>
      <p:sp>
        <p:nvSpPr>
          <p:cNvPr id="11" name="TextBox 10"/>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12" name="TextBox 11"/>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CONTENIDO</a:t>
            </a:r>
          </a:p>
        </p:txBody>
      </p:sp>
      <p:sp>
        <p:nvSpPr>
          <p:cNvPr id="4" name="TextBox 3"/>
          <p:cNvSpPr txBox="1"/>
          <p:nvPr/>
        </p:nvSpPr>
        <p:spPr>
          <a:xfrm>
            <a:off x="640080" y="1627632"/>
            <a:ext cx="5341467" cy="4727448"/>
          </a:xfrm>
          <a:prstGeom prst="rect">
            <a:avLst/>
          </a:prstGeom>
          <a:noFill/>
        </p:spPr>
        <p:txBody>
          <a:bodyPr wrap="square" anchor="t" lIns="0" rIns="0" tIns="0" bIns="0">
            <a:spAutoFit/>
          </a:bodyPr>
          <a:lstStyle/>
          <a:p>
            <a:pPr>
              <a:spcAft>
                <a:spcPts val="600"/>
              </a:spcAft>
            </a:pPr>
            <a:r>
              <a:rPr sz="1200" b="0" i="0">
                <a:solidFill>
                  <a:srgbClr val="2B2B2B"/>
                </a:solidFill>
                <a:latin typeface="Calibri"/>
              </a:rPr>
              <a:t>–   </a:t>
            </a:r>
            <a:r>
              <a:rPr sz="1200" b="1" i="0">
                <a:solidFill>
                  <a:srgbClr val="2B2B2B"/>
                </a:solidFill>
                <a:latin typeface="Calibri"/>
              </a:rPr>
              <a:t>Sesión 1</a:t>
            </a:r>
            <a:r>
              <a:rPr sz="1200" b="0" i="0">
                <a:solidFill>
                  <a:srgbClr val="2B2B2B"/>
                </a:solidFill>
                <a:latin typeface="Calibri"/>
              </a:rPr>
              <a:t> — Presentación del curso · docente · estudiantes · ACAs.</a:t>
            </a:r>
          </a:p>
          <a:p>
            <a:pPr>
              <a:spcAft>
                <a:spcPts val="600"/>
              </a:spcAft>
            </a:pPr>
            <a:r>
              <a:rPr sz="1200" b="0" i="0">
                <a:solidFill>
                  <a:srgbClr val="2B2B2B"/>
                </a:solidFill>
                <a:latin typeface="Calibri"/>
              </a:rPr>
              <a:t>–   </a:t>
            </a:r>
            <a:r>
              <a:rPr sz="1200" b="1" i="0">
                <a:solidFill>
                  <a:srgbClr val="2B2B2B"/>
                </a:solidFill>
                <a:latin typeface="Calibri"/>
              </a:rPr>
              <a:t>Sesión 2</a:t>
            </a:r>
            <a:r>
              <a:rPr sz="1200" b="0" i="0">
                <a:solidFill>
                  <a:srgbClr val="2B2B2B"/>
                </a:solidFill>
                <a:latin typeface="Calibri"/>
              </a:rPr>
              <a:t> — Problema y pregunta de investigación.</a:t>
            </a:r>
          </a:p>
          <a:p>
            <a:pPr>
              <a:spcAft>
                <a:spcPts val="600"/>
              </a:spcAft>
            </a:pPr>
            <a:r>
              <a:rPr sz="1200" b="0" i="0">
                <a:solidFill>
                  <a:srgbClr val="2B2B2B"/>
                </a:solidFill>
                <a:latin typeface="Calibri"/>
              </a:rPr>
              <a:t>–   </a:t>
            </a:r>
            <a:r>
              <a:rPr sz="1200" b="1" i="0">
                <a:solidFill>
                  <a:srgbClr val="2B2B2B"/>
                </a:solidFill>
                <a:latin typeface="Calibri"/>
              </a:rPr>
              <a:t>Sesión 3</a:t>
            </a:r>
            <a:r>
              <a:rPr sz="1200" b="0" i="0">
                <a:solidFill>
                  <a:srgbClr val="2B2B2B"/>
                </a:solidFill>
                <a:latin typeface="Calibri"/>
              </a:rPr>
              <a:t> — Objetivos, justificación, alcances y limitaciones.</a:t>
            </a:r>
          </a:p>
          <a:p>
            <a:pPr>
              <a:spcAft>
                <a:spcPts val="600"/>
              </a:spcAft>
            </a:pPr>
            <a:r>
              <a:rPr sz="1200" b="0" i="0">
                <a:solidFill>
                  <a:srgbClr val="2B2B2B"/>
                </a:solidFill>
                <a:latin typeface="Calibri"/>
              </a:rPr>
              <a:t>–   </a:t>
            </a:r>
            <a:r>
              <a:rPr sz="1200" b="1" i="0">
                <a:solidFill>
                  <a:srgbClr val="2B2B2B"/>
                </a:solidFill>
                <a:latin typeface="Calibri"/>
              </a:rPr>
              <a:t>Sesión 4</a:t>
            </a:r>
            <a:r>
              <a:rPr sz="1200" b="0" i="0">
                <a:solidFill>
                  <a:srgbClr val="2B2B2B"/>
                </a:solidFill>
                <a:latin typeface="Calibri"/>
              </a:rPr>
              <a:t> — Retroalimentación ACA1 · Antecedentes de investigación.</a:t>
            </a:r>
          </a:p>
          <a:p>
            <a:pPr>
              <a:spcAft>
                <a:spcPts val="600"/>
              </a:spcAft>
            </a:pPr>
            <a:r>
              <a:rPr sz="1200" b="0" i="0">
                <a:solidFill>
                  <a:srgbClr val="2B2B2B"/>
                </a:solidFill>
                <a:latin typeface="Calibri"/>
              </a:rPr>
              <a:t>–   </a:t>
            </a:r>
            <a:r>
              <a:rPr sz="1200" b="1" i="0">
                <a:solidFill>
                  <a:srgbClr val="2B2B2B"/>
                </a:solidFill>
                <a:latin typeface="Calibri"/>
              </a:rPr>
              <a:t>Sesión 5</a:t>
            </a:r>
            <a:r>
              <a:rPr sz="1200" b="0" i="0">
                <a:solidFill>
                  <a:srgbClr val="2B2B2B"/>
                </a:solidFill>
                <a:latin typeface="Calibri"/>
              </a:rPr>
              <a:t> — Marco teórico.</a:t>
            </a:r>
          </a:p>
          <a:p>
            <a:pPr>
              <a:spcAft>
                <a:spcPts val="600"/>
              </a:spcAft>
            </a:pPr>
            <a:r>
              <a:rPr sz="1200" b="0" i="0">
                <a:solidFill>
                  <a:srgbClr val="2B2B2B"/>
                </a:solidFill>
                <a:latin typeface="Calibri"/>
              </a:rPr>
              <a:t>–   </a:t>
            </a:r>
            <a:r>
              <a:rPr sz="1200" b="1" i="0">
                <a:solidFill>
                  <a:srgbClr val="2B2B2B"/>
                </a:solidFill>
                <a:latin typeface="Calibri"/>
              </a:rPr>
              <a:t>Sesión 6</a:t>
            </a:r>
            <a:r>
              <a:rPr sz="1200" b="0" i="0">
                <a:solidFill>
                  <a:srgbClr val="2B2B2B"/>
                </a:solidFill>
                <a:latin typeface="Calibri"/>
              </a:rPr>
              <a:t> — Marco conceptual y marco contextual.</a:t>
            </a:r>
          </a:p>
        </p:txBody>
      </p:sp>
      <p:sp>
        <p:nvSpPr>
          <p:cNvPr id="5" name="TextBox 4"/>
          <p:cNvSpPr txBox="1"/>
          <p:nvPr/>
        </p:nvSpPr>
        <p:spPr>
          <a:xfrm>
            <a:off x="6210147" y="1627632"/>
            <a:ext cx="5341467" cy="4727448"/>
          </a:xfrm>
          <a:prstGeom prst="rect">
            <a:avLst/>
          </a:prstGeom>
          <a:noFill/>
        </p:spPr>
        <p:txBody>
          <a:bodyPr wrap="square" anchor="t" lIns="0" rIns="0" tIns="0" bIns="0">
            <a:spAutoFit/>
          </a:bodyPr>
          <a:lstStyle/>
          <a:p>
            <a:pPr>
              <a:spcAft>
                <a:spcPts val="600"/>
              </a:spcAft>
            </a:pPr>
            <a:r>
              <a:rPr sz="1200" b="0" i="0">
                <a:solidFill>
                  <a:srgbClr val="2B2B2B"/>
                </a:solidFill>
                <a:latin typeface="Calibri"/>
              </a:rPr>
              <a:t>–   </a:t>
            </a:r>
            <a:r>
              <a:rPr sz="1200" b="1" i="0">
                <a:solidFill>
                  <a:srgbClr val="2B2B2B"/>
                </a:solidFill>
                <a:latin typeface="Calibri"/>
              </a:rPr>
              <a:t>Sesión 7</a:t>
            </a:r>
            <a:r>
              <a:rPr sz="1200" b="0" i="0">
                <a:solidFill>
                  <a:srgbClr val="2B2B2B"/>
                </a:solidFill>
                <a:latin typeface="Calibri"/>
              </a:rPr>
              <a:t> — Marco legal · citación APA 7.</a:t>
            </a:r>
          </a:p>
          <a:p>
            <a:pPr>
              <a:spcAft>
                <a:spcPts val="600"/>
              </a:spcAft>
            </a:pPr>
            <a:r>
              <a:rPr sz="1200" b="0" i="0">
                <a:solidFill>
                  <a:srgbClr val="2B2B2B"/>
                </a:solidFill>
                <a:latin typeface="Calibri"/>
              </a:rPr>
              <a:t>–   </a:t>
            </a:r>
            <a:r>
              <a:rPr sz="1200" b="1" i="0">
                <a:solidFill>
                  <a:srgbClr val="2B2B2B"/>
                </a:solidFill>
                <a:latin typeface="Calibri"/>
              </a:rPr>
              <a:t>Sesión 8</a:t>
            </a:r>
            <a:r>
              <a:rPr sz="1200" b="0" i="0">
                <a:solidFill>
                  <a:srgbClr val="2B2B2B"/>
                </a:solidFill>
                <a:latin typeface="Calibri"/>
              </a:rPr>
              <a:t> — Diseño metodológico: paradigma, enfoque y alcance.</a:t>
            </a:r>
          </a:p>
          <a:p>
            <a:pPr>
              <a:spcAft>
                <a:spcPts val="600"/>
              </a:spcAft>
            </a:pPr>
            <a:r>
              <a:rPr sz="1200" b="0" i="0">
                <a:solidFill>
                  <a:srgbClr val="2B2B2B"/>
                </a:solidFill>
                <a:latin typeface="Calibri"/>
              </a:rPr>
              <a:t>–   </a:t>
            </a:r>
            <a:r>
              <a:rPr sz="1200" b="1" i="0">
                <a:solidFill>
                  <a:srgbClr val="2B2B2B"/>
                </a:solidFill>
                <a:latin typeface="Calibri"/>
              </a:rPr>
              <a:t>Sesión 9</a:t>
            </a:r>
            <a:r>
              <a:rPr sz="1200" b="0" i="0">
                <a:solidFill>
                  <a:srgbClr val="2B2B2B"/>
                </a:solidFill>
                <a:latin typeface="Calibri"/>
              </a:rPr>
              <a:t> — Población/muestra, técnicas e instrumentos (propuestos).</a:t>
            </a:r>
          </a:p>
          <a:p>
            <a:pPr>
              <a:spcAft>
                <a:spcPts val="600"/>
              </a:spcAft>
            </a:pPr>
            <a:r>
              <a:rPr sz="1200" b="0" i="0">
                <a:solidFill>
                  <a:srgbClr val="2B2B2B"/>
                </a:solidFill>
                <a:latin typeface="Calibri"/>
              </a:rPr>
              <a:t>–   </a:t>
            </a:r>
            <a:r>
              <a:rPr sz="1200" b="1" i="0">
                <a:solidFill>
                  <a:srgbClr val="2B2B2B"/>
                </a:solidFill>
                <a:latin typeface="Calibri"/>
              </a:rPr>
              <a:t>Sesión 10</a:t>
            </a:r>
            <a:r>
              <a:rPr sz="1200" b="0" i="0">
                <a:solidFill>
                  <a:srgbClr val="2B2B2B"/>
                </a:solidFill>
                <a:latin typeface="Calibri"/>
              </a:rPr>
              <a:t> — Planeación, viabilidad e integración del anteproyecto.</a:t>
            </a:r>
          </a:p>
          <a:p>
            <a:pPr>
              <a:spcAft>
                <a:spcPts val="600"/>
              </a:spcAft>
            </a:pPr>
            <a:r>
              <a:rPr sz="1200" b="0" i="0">
                <a:solidFill>
                  <a:srgbClr val="2B2B2B"/>
                </a:solidFill>
                <a:latin typeface="Calibri"/>
              </a:rPr>
              <a:t>–   </a:t>
            </a:r>
            <a:r>
              <a:rPr sz="1200" b="1" i="0">
                <a:solidFill>
                  <a:srgbClr val="2B2B2B"/>
                </a:solidFill>
                <a:latin typeface="Calibri"/>
              </a:rPr>
              <a:t>Sesión 11</a:t>
            </a:r>
            <a:r>
              <a:rPr sz="1200" b="0" i="0">
                <a:solidFill>
                  <a:srgbClr val="2B2B2B"/>
                </a:solidFill>
                <a:latin typeface="Calibri"/>
              </a:rPr>
              <a:t> — Integración y evaluación · coevaluación y autoevaluación.</a:t>
            </a:r>
          </a:p>
        </p:txBody>
      </p:sp>
      <p:sp>
        <p:nvSpPr>
          <p:cNvPr id="6" name="TextBox 5"/>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7" name="TextBox 6"/>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EVALUACIÓN — NOTA ÚNICA (ESP329 / Art. 41)</a:t>
            </a:r>
          </a:p>
        </p:txBody>
      </p:sp>
      <p:graphicFrame>
        <p:nvGraphicFramePr>
          <p:cNvPr id="4" name="Table 3"/>
          <p:cNvGraphicFramePr>
            <a:graphicFrameLocks noGrp="1"/>
          </p:cNvGraphicFramePr>
          <p:nvPr/>
        </p:nvGraphicFramePr>
        <p:xfrm>
          <a:off x="640080" y="1691639"/>
          <a:ext cx="10911534" cy="3017520"/>
        </p:xfrm>
        <a:graphic>
          <a:graphicData uri="http://schemas.openxmlformats.org/drawingml/2006/table">
            <a:tbl>
              <a:tblPr>
                <a:tableStyleId>{2D5ABB26-0587-4C30-8999-92F81FD0307C}</a:tableStyleId>
              </a:tblPr>
              <a:tblGrid>
                <a:gridCol w="3203386"/>
                <a:gridCol w="1001058"/>
                <a:gridCol w="6707090"/>
              </a:tblGrid>
              <a:tr h="502920">
                <a:tc>
                  <a:txBody>
                    <a:bodyPr/>
                    <a:lstStyle/>
                    <a:p>
                      <a:pPr algn="l"/>
                      <a:r>
                        <a:rPr sz="1300" b="1" i="0">
                          <a:solidFill>
                            <a:srgbClr val="FFFFFF"/>
                          </a:solidFill>
                          <a:latin typeface="Calibri"/>
                        </a:rPr>
                        <a:t>Componente</a:t>
                      </a:r>
                    </a:p>
                  </a:txBody>
                  <a:tcPr anchor="ctr" marL="109728" marR="91440" marT="36576" marB="36576">
                    <a:solidFill>
                      <a:srgbClr val="0C2340"/>
                    </a:solidFill>
                  </a:tcPr>
                </a:tc>
                <a:tc>
                  <a:txBody>
                    <a:bodyPr/>
                    <a:lstStyle/>
                    <a:p>
                      <a:pPr algn="l"/>
                      <a:r>
                        <a:rPr sz="1300" b="1" i="0">
                          <a:solidFill>
                            <a:srgbClr val="FFFFFF"/>
                          </a:solidFill>
                          <a:latin typeface="Calibri"/>
                        </a:rPr>
                        <a:t>%</a:t>
                      </a:r>
                    </a:p>
                  </a:txBody>
                  <a:tcPr anchor="ctr" marL="109728" marR="91440" marT="36576" marB="36576">
                    <a:solidFill>
                      <a:srgbClr val="0C2340"/>
                    </a:solidFill>
                  </a:tcPr>
                </a:tc>
                <a:tc>
                  <a:txBody>
                    <a:bodyPr/>
                    <a:lstStyle/>
                    <a:p>
                      <a:pPr algn="l"/>
                      <a:r>
                        <a:rPr sz="1300" b="1" i="0">
                          <a:solidFill>
                            <a:srgbClr val="FFFFFF"/>
                          </a:solidFill>
                          <a:latin typeface="Calibri"/>
                        </a:rPr>
                        <a:t>Qué valora</a:t>
                      </a:r>
                    </a:p>
                  </a:txBody>
                  <a:tcPr anchor="ctr" marL="109728" marR="91440" marT="36576" marB="36576">
                    <a:solidFill>
                      <a:srgbClr val="0C2340"/>
                    </a:solidFill>
                  </a:tcPr>
                </a:tc>
              </a:tr>
              <a:tr h="502920">
                <a:tc>
                  <a:txBody>
                    <a:bodyPr/>
                    <a:lstStyle/>
                    <a:p>
                      <a:pPr algn="l"/>
                      <a:r>
                        <a:rPr sz="1200" b="0" i="0">
                          <a:solidFill>
                            <a:srgbClr val="2B2B2B"/>
                          </a:solidFill>
                          <a:latin typeface="Calibri"/>
                        </a:rPr>
                        <a:t>ACA 1</a:t>
                      </a:r>
                    </a:p>
                  </a:txBody>
                  <a:tcPr anchor="ctr" marL="109728" marR="91440" marT="36576" marB="36576">
                    <a:solidFill>
                      <a:srgbClr val="FFFFFF"/>
                    </a:solidFill>
                  </a:tcPr>
                </a:tc>
                <a:tc>
                  <a:txBody>
                    <a:bodyPr/>
                    <a:lstStyle/>
                    <a:p>
                      <a:pPr algn="l"/>
                      <a:r>
                        <a:rPr sz="1200" b="0" i="0">
                          <a:solidFill>
                            <a:srgbClr val="2B2B2B"/>
                          </a:solidFill>
                          <a:latin typeface="Calibri"/>
                        </a:rPr>
                        <a:t>25%</a:t>
                      </a:r>
                    </a:p>
                  </a:txBody>
                  <a:tcPr anchor="ctr" marL="109728" marR="91440" marT="36576" marB="36576">
                    <a:solidFill>
                      <a:srgbClr val="FFFFFF"/>
                    </a:solidFill>
                  </a:tcPr>
                </a:tc>
                <a:tc>
                  <a:txBody>
                    <a:bodyPr/>
                    <a:lstStyle/>
                    <a:p>
                      <a:pPr algn="l"/>
                      <a:r>
                        <a:rPr sz="1200" b="0" i="0">
                          <a:solidFill>
                            <a:srgbClr val="2B2B2B"/>
                          </a:solidFill>
                          <a:latin typeface="Calibri"/>
                        </a:rPr>
                        <a:t>Avance: problema, pregunta, objetivos, justificación…</a:t>
                      </a:r>
                    </a:p>
                  </a:txBody>
                  <a:tcPr anchor="ctr" marL="109728" marR="91440" marT="36576" marB="36576">
                    <a:solidFill>
                      <a:srgbClr val="FFFFFF"/>
                    </a:solidFill>
                  </a:tcPr>
                </a:tc>
              </a:tr>
              <a:tr h="502920">
                <a:tc>
                  <a:txBody>
                    <a:bodyPr/>
                    <a:lstStyle/>
                    <a:p>
                      <a:pPr algn="l"/>
                      <a:r>
                        <a:rPr sz="1200" b="0" i="0">
                          <a:solidFill>
                            <a:srgbClr val="2B2B2B"/>
                          </a:solidFill>
                          <a:latin typeface="Calibri"/>
                        </a:rPr>
                        <a:t>ACA 2</a:t>
                      </a:r>
                    </a:p>
                  </a:txBody>
                  <a:tcPr anchor="ctr" marL="109728" marR="91440" marT="36576" marB="36576">
                    <a:solidFill>
                      <a:srgbClr val="F2F2F2"/>
                    </a:solidFill>
                  </a:tcPr>
                </a:tc>
                <a:tc>
                  <a:txBody>
                    <a:bodyPr/>
                    <a:lstStyle/>
                    <a:p>
                      <a:pPr algn="l"/>
                      <a:r>
                        <a:rPr sz="1200" b="0" i="0">
                          <a:solidFill>
                            <a:srgbClr val="2B2B2B"/>
                          </a:solidFill>
                          <a:latin typeface="Calibri"/>
                        </a:rPr>
                        <a:t>25%</a:t>
                      </a:r>
                    </a:p>
                  </a:txBody>
                  <a:tcPr anchor="ctr" marL="109728" marR="91440" marT="36576" marB="36576">
                    <a:solidFill>
                      <a:srgbClr val="F2F2F2"/>
                    </a:solidFill>
                  </a:tcPr>
                </a:tc>
                <a:tc>
                  <a:txBody>
                    <a:bodyPr/>
                    <a:lstStyle/>
                    <a:p>
                      <a:pPr algn="l"/>
                      <a:r>
                        <a:rPr sz="1200" b="0" i="0">
                          <a:solidFill>
                            <a:srgbClr val="2B2B2B"/>
                          </a:solidFill>
                          <a:latin typeface="Calibri"/>
                        </a:rPr>
                        <a:t>Avance: marco referencial (antecedentes, teórico, etc.)</a:t>
                      </a:r>
                    </a:p>
                  </a:txBody>
                  <a:tcPr anchor="ctr" marL="109728" marR="91440" marT="36576" marB="36576">
                    <a:solidFill>
                      <a:srgbClr val="F2F2F2"/>
                    </a:solidFill>
                  </a:tcPr>
                </a:tc>
              </a:tr>
              <a:tr h="502920">
                <a:tc>
                  <a:txBody>
                    <a:bodyPr/>
                    <a:lstStyle/>
                    <a:p>
                      <a:pPr algn="l"/>
                      <a:r>
                        <a:rPr sz="1200" b="0" i="0">
                          <a:solidFill>
                            <a:srgbClr val="2B2B2B"/>
                          </a:solidFill>
                          <a:latin typeface="Calibri"/>
                        </a:rPr>
                        <a:t>ACA 3 (anteproyecto)</a:t>
                      </a:r>
                    </a:p>
                  </a:txBody>
                  <a:tcPr anchor="ctr" marL="109728" marR="91440" marT="36576" marB="36576">
                    <a:solidFill>
                      <a:srgbClr val="FFFFFF"/>
                    </a:solidFill>
                  </a:tcPr>
                </a:tc>
                <a:tc>
                  <a:txBody>
                    <a:bodyPr/>
                    <a:lstStyle/>
                    <a:p>
                      <a:pPr algn="l"/>
                      <a:r>
                        <a:rPr sz="1200" b="0" i="0">
                          <a:solidFill>
                            <a:srgbClr val="2B2B2B"/>
                          </a:solidFill>
                          <a:latin typeface="Calibri"/>
                        </a:rPr>
                        <a:t>42%</a:t>
                      </a:r>
                    </a:p>
                  </a:txBody>
                  <a:tcPr anchor="ctr" marL="109728" marR="91440" marT="36576" marB="36576">
                    <a:solidFill>
                      <a:srgbClr val="FFFFFF"/>
                    </a:solidFill>
                  </a:tcPr>
                </a:tc>
                <a:tc>
                  <a:txBody>
                    <a:bodyPr/>
                    <a:lstStyle/>
                    <a:p>
                      <a:pPr algn="l"/>
                      <a:r>
                        <a:rPr sz="1200" b="0" i="0">
                          <a:solidFill>
                            <a:srgbClr val="2B2B2B"/>
                          </a:solidFill>
                          <a:latin typeface="Calibri"/>
                        </a:rPr>
                        <a:t>Producto consolidado + metodología + planeación</a:t>
                      </a:r>
                    </a:p>
                  </a:txBody>
                  <a:tcPr anchor="ctr" marL="109728" marR="91440" marT="36576" marB="36576">
                    <a:solidFill>
                      <a:srgbClr val="FFFFFF"/>
                    </a:solidFill>
                  </a:tcPr>
                </a:tc>
              </a:tr>
              <a:tr h="502920">
                <a:tc>
                  <a:txBody>
                    <a:bodyPr/>
                    <a:lstStyle/>
                    <a:p>
                      <a:pPr algn="l"/>
                      <a:r>
                        <a:rPr sz="1200" b="0" i="0">
                          <a:solidFill>
                            <a:srgbClr val="2B2B2B"/>
                          </a:solidFill>
                          <a:latin typeface="Calibri"/>
                        </a:rPr>
                        <a:t>Autoevaluación</a:t>
                      </a:r>
                    </a:p>
                  </a:txBody>
                  <a:tcPr anchor="ctr" marL="109728" marR="91440" marT="36576" marB="36576">
                    <a:solidFill>
                      <a:srgbClr val="F2F2F2"/>
                    </a:solidFill>
                  </a:tcPr>
                </a:tc>
                <a:tc>
                  <a:txBody>
                    <a:bodyPr/>
                    <a:lstStyle/>
                    <a:p>
                      <a:pPr algn="l"/>
                      <a:r>
                        <a:rPr sz="1200" b="0" i="0">
                          <a:solidFill>
                            <a:srgbClr val="2B2B2B"/>
                          </a:solidFill>
                          <a:latin typeface="Calibri"/>
                        </a:rPr>
                        <a:t>4%</a:t>
                      </a:r>
                    </a:p>
                  </a:txBody>
                  <a:tcPr anchor="ctr" marL="109728" marR="91440" marT="36576" marB="36576">
                    <a:solidFill>
                      <a:srgbClr val="F2F2F2"/>
                    </a:solidFill>
                  </a:tcPr>
                </a:tc>
                <a:tc>
                  <a:txBody>
                    <a:bodyPr/>
                    <a:lstStyle/>
                    <a:p>
                      <a:pPr algn="l"/>
                      <a:r>
                        <a:rPr sz="1200" b="0" i="0">
                          <a:solidFill>
                            <a:srgbClr val="2B2B2B"/>
                          </a:solidFill>
                          <a:latin typeface="Calibri"/>
                        </a:rPr>
                        <a:t>Individual (cierre)</a:t>
                      </a:r>
                    </a:p>
                  </a:txBody>
                  <a:tcPr anchor="ctr" marL="109728" marR="91440" marT="36576" marB="36576">
                    <a:solidFill>
                      <a:srgbClr val="F2F2F2"/>
                    </a:solidFill>
                  </a:tcPr>
                </a:tc>
              </a:tr>
              <a:tr h="502920">
                <a:tc>
                  <a:txBody>
                    <a:bodyPr/>
                    <a:lstStyle/>
                    <a:p>
                      <a:pPr algn="l"/>
                      <a:r>
                        <a:rPr sz="1200" b="0" i="0">
                          <a:solidFill>
                            <a:srgbClr val="2B2B2B"/>
                          </a:solidFill>
                          <a:latin typeface="Calibri"/>
                        </a:rPr>
                        <a:t>Coevaluación</a:t>
                      </a:r>
                    </a:p>
                  </a:txBody>
                  <a:tcPr anchor="ctr" marL="109728" marR="91440" marT="36576" marB="36576">
                    <a:solidFill>
                      <a:srgbClr val="FFFFFF"/>
                    </a:solidFill>
                  </a:tcPr>
                </a:tc>
                <a:tc>
                  <a:txBody>
                    <a:bodyPr/>
                    <a:lstStyle/>
                    <a:p>
                      <a:pPr algn="l"/>
                      <a:r>
                        <a:rPr sz="1200" b="0" i="0">
                          <a:solidFill>
                            <a:srgbClr val="2B2B2B"/>
                          </a:solidFill>
                          <a:latin typeface="Calibri"/>
                        </a:rPr>
                        <a:t>4%</a:t>
                      </a:r>
                    </a:p>
                  </a:txBody>
                  <a:tcPr anchor="ctr" marL="109728" marR="91440" marT="36576" marB="36576">
                    <a:solidFill>
                      <a:srgbClr val="FFFFFF"/>
                    </a:solidFill>
                  </a:tcPr>
                </a:tc>
                <a:tc>
                  <a:txBody>
                    <a:bodyPr/>
                    <a:lstStyle/>
                    <a:p>
                      <a:pPr algn="l"/>
                      <a:r>
                        <a:rPr sz="1200" b="0" i="0">
                          <a:solidFill>
                            <a:srgbClr val="2B2B2B"/>
                          </a:solidFill>
                          <a:latin typeface="Calibri"/>
                        </a:rPr>
                        <a:t>Individual (cierre)</a:t>
                      </a:r>
                    </a:p>
                  </a:txBody>
                  <a:tcPr anchor="ctr" marL="109728" marR="91440" marT="36576" marB="36576">
                    <a:solidFill>
                      <a:srgbClr val="FFFFFF"/>
                    </a:solidFill>
                  </a:tcPr>
                </a:tc>
              </a:tr>
            </a:tbl>
          </a:graphicData>
        </a:graphic>
      </p:graphicFrame>
      <p:sp>
        <p:nvSpPr>
          <p:cNvPr id="5" name="TextBox 4"/>
          <p:cNvSpPr txBox="1"/>
          <p:nvPr/>
        </p:nvSpPr>
        <p:spPr>
          <a:xfrm>
            <a:off x="640080" y="4846320"/>
            <a:ext cx="10911535" cy="548640"/>
          </a:xfrm>
          <a:prstGeom prst="rect">
            <a:avLst/>
          </a:prstGeom>
          <a:noFill/>
        </p:spPr>
        <p:txBody>
          <a:bodyPr wrap="square" anchor="t" lIns="0" rIns="0" tIns="0" bIns="0">
            <a:spAutoFit/>
          </a:bodyPr>
          <a:lstStyle/>
          <a:p>
            <a:r>
              <a:rPr sz="1200" b="0" i="1">
                <a:solidFill>
                  <a:srgbClr val="2B2B2B"/>
                </a:solidFill>
                <a:latin typeface="Calibri"/>
              </a:rPr>
              <a:t>Seguimiento formativo de un producto único y acumulativo. Si ACA 3 evidencia correcciones y resultados, el docente puede ajustar favorablemente ACA 1/2 con trazabilidad en CDigital.</a:t>
            </a:r>
          </a:p>
        </p:txBody>
      </p:sp>
      <p:sp>
        <p:nvSpPr>
          <p:cNvPr id="6" name="TextBox 5"/>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7" name="TextBox 6"/>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AUTOEVALUACIÓN Y COEVALUACIÓN — CÓMO FUNCIONAN</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300" b="0" i="0">
                <a:solidFill>
                  <a:srgbClr val="2B2B2B"/>
                </a:solidFill>
                <a:latin typeface="Calibri"/>
              </a:rPr>
              <a:t>–   </a:t>
            </a:r>
            <a:r>
              <a:rPr sz="1300" b="1" i="0">
                <a:solidFill>
                  <a:srgbClr val="2B2B2B"/>
                </a:solidFill>
                <a:latin typeface="Calibri"/>
              </a:rPr>
              <a:t>Aplican solo en Proyecto I</a:t>
            </a:r>
            <a:r>
              <a:rPr sz="1300" b="0" i="0">
                <a:solidFill>
                  <a:srgbClr val="2B2B2B"/>
                </a:solidFill>
                <a:latin typeface="Calibri"/>
              </a:rPr>
              <a:t> (ESP329 · Art. 41 · cronograma AFI). </a:t>
            </a:r>
            <a:r>
              <a:rPr sz="1300" b="1" i="0">
                <a:solidFill>
                  <a:srgbClr val="2B2B2B"/>
                </a:solidFill>
                <a:latin typeface="Calibri"/>
              </a:rPr>
              <a:t>No</a:t>
            </a:r>
            <a:r>
              <a:rPr sz="1300" b="0" i="0">
                <a:solidFill>
                  <a:srgbClr val="2B2B2B"/>
                </a:solidFill>
                <a:latin typeface="Calibri"/>
              </a:rPr>
              <a:t> en Proyecto II ni en pregrado Art. 52.</a:t>
            </a:r>
          </a:p>
          <a:p>
            <a:pPr>
              <a:spcAft>
                <a:spcPts val="1000"/>
              </a:spcAft>
            </a:pPr>
            <a:r>
              <a:rPr sz="1300" b="0" i="0">
                <a:solidFill>
                  <a:srgbClr val="2B2B2B"/>
                </a:solidFill>
                <a:latin typeface="Calibri"/>
              </a:rPr>
              <a:t>–   </a:t>
            </a:r>
            <a:r>
              <a:rPr sz="1300" b="1" i="0">
                <a:solidFill>
                  <a:srgbClr val="2B2B2B"/>
                </a:solidFill>
                <a:latin typeface="Calibri"/>
              </a:rPr>
              <a:t>Autoevaluación (4%):</a:t>
            </a:r>
            <a:r>
              <a:rPr sz="1300" b="0" i="0">
                <a:solidFill>
                  <a:srgbClr val="2B2B2B"/>
                </a:solidFill>
                <a:latin typeface="Calibri"/>
              </a:rPr>
              <a:t> tú valoras tu proceso, aportes al equipo y logro del anteproyecto. Individual y honesta.</a:t>
            </a:r>
          </a:p>
          <a:p>
            <a:pPr>
              <a:spcAft>
                <a:spcPts val="1000"/>
              </a:spcAft>
            </a:pPr>
            <a:r>
              <a:rPr sz="1300" b="0" i="0">
                <a:solidFill>
                  <a:srgbClr val="2B2B2B"/>
                </a:solidFill>
                <a:latin typeface="Calibri"/>
              </a:rPr>
              <a:t>–   </a:t>
            </a:r>
            <a:r>
              <a:rPr sz="1300" b="1" i="0">
                <a:solidFill>
                  <a:srgbClr val="2B2B2B"/>
                </a:solidFill>
                <a:latin typeface="Calibri"/>
              </a:rPr>
              <a:t>Coevaluación (4%):</a:t>
            </a:r>
            <a:r>
              <a:rPr sz="1300" b="0" i="0">
                <a:solidFill>
                  <a:srgbClr val="2B2B2B"/>
                </a:solidFill>
                <a:latin typeface="Calibri"/>
              </a:rPr>
              <a:t> valoras el trabajo colaborativo / aportes de pares de tu equipo (respeto + criterio académico).</a:t>
            </a:r>
          </a:p>
          <a:p>
            <a:pPr>
              <a:spcAft>
                <a:spcPts val="1000"/>
              </a:spcAft>
            </a:pPr>
            <a:r>
              <a:rPr sz="1300" b="0" i="0">
                <a:solidFill>
                  <a:srgbClr val="2B2B2B"/>
                </a:solidFill>
                <a:latin typeface="Calibri"/>
              </a:rPr>
              <a:t>–   </a:t>
            </a:r>
            <a:r>
              <a:rPr sz="1300" b="1" i="0">
                <a:solidFill>
                  <a:srgbClr val="2B2B2B"/>
                </a:solidFill>
                <a:latin typeface="Calibri"/>
              </a:rPr>
              <a:t>Dónde:</a:t>
            </a:r>
            <a:r>
              <a:rPr sz="1300" b="0" i="0">
                <a:solidFill>
                  <a:srgbClr val="2B2B2B"/>
                </a:solidFill>
                <a:latin typeface="Calibri"/>
              </a:rPr>
              <a:t> actividad individual en </a:t>
            </a:r>
            <a:r>
              <a:rPr sz="1300" b="1" i="0">
                <a:solidFill>
                  <a:srgbClr val="2B2B2B"/>
                </a:solidFill>
                <a:latin typeface="Calibri"/>
              </a:rPr>
              <a:t>CDigital</a:t>
            </a:r>
            <a:r>
              <a:rPr sz="1300" b="0" i="0">
                <a:solidFill>
                  <a:srgbClr val="2B2B2B"/>
                </a:solidFill>
                <a:latin typeface="Calibri"/>
              </a:rPr>
              <a:t> (Moodle). Enunciados: `Clases/Recursos/ACAs/`.</a:t>
            </a:r>
          </a:p>
          <a:p>
            <a:pPr>
              <a:spcAft>
                <a:spcPts val="1000"/>
              </a:spcAft>
            </a:pPr>
            <a:r>
              <a:rPr sz="1300" b="0" i="0">
                <a:solidFill>
                  <a:srgbClr val="2B2B2B"/>
                </a:solidFill>
                <a:latin typeface="Calibri"/>
              </a:rPr>
              <a:t>–   </a:t>
            </a:r>
            <a:r>
              <a:rPr sz="1300" b="1" i="0">
                <a:solidFill>
                  <a:srgbClr val="2B2B2B"/>
                </a:solidFill>
                <a:latin typeface="Calibri"/>
              </a:rPr>
              <a:t>Cuándo (26ES4):</a:t>
            </a:r>
            <a:r>
              <a:rPr sz="1300" b="0" i="0">
                <a:solidFill>
                  <a:srgbClr val="2B2B2B"/>
                </a:solidFill>
                <a:latin typeface="Calibri"/>
              </a:rPr>
              <a:t> coevaluación </a:t>
            </a:r>
            <a:r>
              <a:rPr sz="1300" b="1" i="0">
                <a:solidFill>
                  <a:srgbClr val="2B2B2B"/>
                </a:solidFill>
                <a:latin typeface="Calibri"/>
              </a:rPr>
              <a:t>10–16/11/2026</a:t>
            </a:r>
            <a:r>
              <a:rPr sz="1300" b="0" i="0">
                <a:solidFill>
                  <a:srgbClr val="2B2B2B"/>
                </a:solidFill>
                <a:latin typeface="Calibri"/>
              </a:rPr>
              <a:t> · autoevaluación </a:t>
            </a:r>
            <a:r>
              <a:rPr sz="1300" b="1" i="0">
                <a:solidFill>
                  <a:srgbClr val="2B2B2B"/>
                </a:solidFill>
                <a:latin typeface="Calibri"/>
              </a:rPr>
              <a:t>17–22/11/2026</a:t>
            </a:r>
            <a:r>
              <a:rPr sz="1300" b="0" i="0">
                <a:solidFill>
                  <a:srgbClr val="2B2B2B"/>
                </a:solidFill>
                <a:latin typeface="Calibri"/>
              </a:rPr>
              <a:t> (cierre notas </a:t>
            </a:r>
            <a:r>
              <a:rPr sz="1300" b="1" i="0">
                <a:solidFill>
                  <a:srgbClr val="2B2B2B"/>
                </a:solidFill>
                <a:latin typeface="Calibri"/>
              </a:rPr>
              <a:t>22/11/2026</a:t>
            </a:r>
            <a:r>
              <a:rPr sz="1300" b="0" i="0">
                <a:solidFill>
                  <a:srgbClr val="2B2B2B"/>
                </a:solidFill>
                <a:latin typeface="Calibri"/>
              </a:rPr>
              <a:t>).</a:t>
            </a:r>
          </a:p>
          <a:p>
            <a:pPr>
              <a:spcAft>
                <a:spcPts val="1000"/>
              </a:spcAft>
            </a:pPr>
            <a:r>
              <a:rPr sz="1300" b="0" i="0">
                <a:solidFill>
                  <a:srgbClr val="2B2B2B"/>
                </a:solidFill>
                <a:latin typeface="Calibri"/>
              </a:rPr>
              <a:t>–   </a:t>
            </a:r>
            <a:r>
              <a:rPr sz="1300" b="1" i="0">
                <a:solidFill>
                  <a:srgbClr val="2B2B2B"/>
                </a:solidFill>
                <a:latin typeface="Calibri"/>
              </a:rPr>
              <a:t>Quién califica:</a:t>
            </a:r>
            <a:r>
              <a:rPr sz="1300" b="0" i="0">
                <a:solidFill>
                  <a:srgbClr val="2B2B2B"/>
                </a:solidFill>
                <a:latin typeface="Calibri"/>
              </a:rPr>
              <a:t> el estudiante diligencia el instrumento; el Docente habilita la ventana, verifica y registra la nota en el gradebook.</a:t>
            </a:r>
          </a:p>
          <a:p>
            <a:pPr>
              <a:spcAft>
                <a:spcPts val="1000"/>
              </a:spcAft>
            </a:pPr>
            <a:r>
              <a:rPr sz="1300" b="0" i="0">
                <a:solidFill>
                  <a:srgbClr val="2B2B2B"/>
                </a:solidFill>
                <a:latin typeface="Calibri"/>
              </a:rPr>
              <a:t>–   </a:t>
            </a:r>
            <a:r>
              <a:rPr sz="1300" b="1" i="0">
                <a:solidFill>
                  <a:srgbClr val="2B2B2B"/>
                </a:solidFill>
                <a:latin typeface="Calibri"/>
              </a:rPr>
              <a:t>Evidencia:</a:t>
            </a:r>
            <a:r>
              <a:rPr sz="1300" b="0" i="0">
                <a:solidFill>
                  <a:srgbClr val="2B2B2B"/>
                </a:solidFill>
                <a:latin typeface="Calibri"/>
              </a:rPr>
              <a:t> completar la actividad en la ventana. No sustituye ACA 3 (anteproyecto).</a:t>
            </a:r>
          </a:p>
        </p:txBody>
      </p:sp>
      <p:sp>
        <p:nvSpPr>
          <p:cNvPr id="5" name="TextBox 4"/>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ROLES — AUTO / COEVALUACIÓN</a:t>
            </a:r>
          </a:p>
        </p:txBody>
      </p:sp>
      <p:sp>
        <p:nvSpPr>
          <p:cNvPr id="4" name="Rounded Rectangle 3"/>
          <p:cNvSpPr/>
          <p:nvPr/>
        </p:nvSpPr>
        <p:spPr>
          <a:xfrm>
            <a:off x="640080" y="1737360"/>
            <a:ext cx="10911535" cy="969264"/>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ℹ️ Nota institucional</a:t>
            </a:r>
          </a:p>
          <a:p>
            <a:pPr>
              <a:spcBef>
                <a:spcPts val="400"/>
              </a:spcBef>
            </a:pPr>
            <a:r>
              <a:rPr sz="1300" b="0" i="0">
                <a:solidFill>
                  <a:srgbClr val="2B2B2B"/>
                </a:solidFill>
                <a:latin typeface="Calibri"/>
              </a:rPr>
              <a:t>Estudiante: espera la habilitación en CDigital → diligencia individual → respeta plazos. Si eres de equipo, la coevaluación mira aportes reales del trabajo conjunto.</a:t>
            </a:r>
          </a:p>
        </p:txBody>
      </p:sp>
      <p:sp>
        <p:nvSpPr>
          <p:cNvPr id="6" name="Rounded Rectangle 5"/>
          <p:cNvSpPr/>
          <p:nvPr/>
        </p:nvSpPr>
        <p:spPr>
          <a:xfrm>
            <a:off x="640080" y="2935224"/>
            <a:ext cx="10911535" cy="969264"/>
          </a:xfrm>
          <a:prstGeom prst="roundRect">
            <a:avLst/>
          </a:prstGeom>
          <a:solidFill>
            <a:srgbClr val="FD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44952"/>
            <a:ext cx="10454335" cy="749808"/>
          </a:xfrm>
          <a:prstGeom prst="rect">
            <a:avLst/>
          </a:prstGeom>
          <a:noFill/>
        </p:spPr>
        <p:txBody>
          <a:bodyPr wrap="square" anchor="t" lIns="0" rIns="0" tIns="0" bIns="0">
            <a:spAutoFit/>
          </a:bodyPr>
          <a:lstStyle/>
          <a:p>
            <a:r>
              <a:rPr sz="1300" b="1" i="0">
                <a:solidFill>
                  <a:srgbClr val="0C2340"/>
                </a:solidFill>
                <a:latin typeface="Calibri"/>
              </a:rPr>
              <a:t>💡 Aclaración</a:t>
            </a:r>
          </a:p>
          <a:p>
            <a:pPr>
              <a:spcBef>
                <a:spcPts val="400"/>
              </a:spcBef>
            </a:pPr>
            <a:r>
              <a:rPr sz="1300" b="0" i="0">
                <a:solidFill>
                  <a:srgbClr val="2B2B2B"/>
                </a:solidFill>
                <a:latin typeface="Calibri"/>
              </a:rPr>
              <a:t>Docente: configurar/habilitar actividades individuales en las ventanas oficiales; calificar/registrar antes del cierre de notas; conservar evidencia en el aula.</a:t>
            </a:r>
          </a:p>
        </p:txBody>
      </p:sp>
      <p:sp>
        <p:nvSpPr>
          <p:cNvPr id="8" name="Rounded Rectangle 7"/>
          <p:cNvSpPr/>
          <p:nvPr/>
        </p:nvSpPr>
        <p:spPr>
          <a:xfrm>
            <a:off x="640080" y="4133087"/>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42816"/>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0" i="0">
                <a:solidFill>
                  <a:srgbClr val="2B2B2B"/>
                </a:solidFill>
                <a:latin typeface="Calibri"/>
              </a:rPr>
              <a:t>No confundir con la «autoevaluación» institucional SIAC (calidad de programas en acreditacion.cun.edu.co): esa no es una nota del curso.</a:t>
            </a:r>
          </a:p>
        </p:txBody>
      </p:sp>
      <p:sp>
        <p:nvSpPr>
          <p:cNvPr id="10" name="TextBox 9"/>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11" name="TextBox 10"/>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CRONOGRAMA — VENTANAS DE ENTREGA (AFI 26ES4)</a:t>
            </a:r>
          </a:p>
        </p:txBody>
      </p:sp>
      <p:sp>
        <p:nvSpPr>
          <p:cNvPr id="4" name="TextBox 3"/>
          <p:cNvSpPr txBox="1"/>
          <p:nvPr/>
        </p:nvSpPr>
        <p:spPr>
          <a:xfrm>
            <a:off x="640080" y="1280160"/>
            <a:ext cx="10911535" cy="411480"/>
          </a:xfrm>
          <a:prstGeom prst="rect">
            <a:avLst/>
          </a:prstGeom>
          <a:noFill/>
        </p:spPr>
        <p:txBody>
          <a:bodyPr wrap="square" anchor="t" lIns="0" rIns="0" tIns="0" bIns="0">
            <a:spAutoFit/>
          </a:bodyPr>
          <a:lstStyle/>
          <a:p>
            <a:pPr algn="ctr"/>
            <a:r>
              <a:rPr sz="1500" b="0" i="0">
                <a:solidFill>
                  <a:srgbClr val="2B2B2B"/>
                </a:solidFill>
                <a:latin typeface="Calibri"/>
              </a:rPr>
              <a:t>Periodo </a:t>
            </a:r>
            <a:r>
              <a:rPr sz="1500" b="1" i="0">
                <a:solidFill>
                  <a:srgbClr val="2B2B2B"/>
                </a:solidFill>
                <a:latin typeface="Calibri"/>
              </a:rPr>
              <a:t>26ES4</a:t>
            </a:r>
            <a:r>
              <a:rPr sz="1500" b="0" i="0">
                <a:solidFill>
                  <a:srgbClr val="2B2B2B"/>
                </a:solidFill>
                <a:latin typeface="Calibri"/>
              </a:rPr>
              <a:t> · cierre y registro de notas: </a:t>
            </a:r>
            <a:r>
              <a:rPr sz="1500" b="1" i="0">
                <a:solidFill>
                  <a:srgbClr val="2B2B2B"/>
                </a:solidFill>
                <a:latin typeface="Calibri"/>
              </a:rPr>
              <a:t>22/11/2026</a:t>
            </a:r>
          </a:p>
        </p:txBody>
      </p:sp>
      <p:sp>
        <p:nvSpPr>
          <p:cNvPr id="5" name="Rectangle 4"/>
          <p:cNvSpPr/>
          <p:nvPr/>
        </p:nvSpPr>
        <p:spPr>
          <a:xfrm>
            <a:off x="640080" y="2011679"/>
            <a:ext cx="2577007" cy="658368"/>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13231" y="2084831"/>
            <a:ext cx="2430703" cy="512064"/>
          </a:xfrm>
          <a:prstGeom prst="rect">
            <a:avLst/>
          </a:prstGeom>
          <a:noFill/>
        </p:spPr>
        <p:txBody>
          <a:bodyPr wrap="square" anchor="ctr" lIns="0" rIns="0" tIns="0" bIns="0">
            <a:spAutoFit/>
          </a:bodyPr>
          <a:lstStyle/>
          <a:p>
            <a:pPr algn="ctr"/>
            <a:r>
              <a:rPr sz="1400" b="1" i="0">
                <a:solidFill>
                  <a:srgbClr val="FFFFFF"/>
                </a:solidFill>
                <a:latin typeface="Calibri"/>
              </a:rPr>
              <a:t>ACA 1  ·  25%</a:t>
            </a:r>
          </a:p>
        </p:txBody>
      </p:sp>
      <p:sp>
        <p:nvSpPr>
          <p:cNvPr id="7" name="Rectangle 6"/>
          <p:cNvSpPr/>
          <p:nvPr/>
        </p:nvSpPr>
        <p:spPr>
          <a:xfrm>
            <a:off x="640080" y="2670048"/>
            <a:ext cx="2577007" cy="222199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2880359"/>
            <a:ext cx="2357551" cy="822960"/>
          </a:xfrm>
          <a:prstGeom prst="rect">
            <a:avLst/>
          </a:prstGeom>
          <a:noFill/>
        </p:spPr>
        <p:txBody>
          <a:bodyPr wrap="square" anchor="t" lIns="0" rIns="0" tIns="0" bIns="0">
            <a:spAutoFit/>
          </a:bodyPr>
          <a:lstStyle/>
          <a:p>
            <a:pPr algn="ctr"/>
            <a:r>
              <a:rPr sz="1100" b="1" i="0">
                <a:solidFill>
                  <a:srgbClr val="8F989D"/>
                </a:solidFill>
                <a:latin typeface="Calibri"/>
              </a:rPr>
              <a:t>INICIO</a:t>
            </a:r>
          </a:p>
          <a:p>
            <a:pPr algn="ctr">
              <a:spcBef>
                <a:spcPts val="400"/>
              </a:spcBef>
            </a:pPr>
            <a:r>
              <a:rPr sz="2000" b="1" i="0">
                <a:solidFill>
                  <a:srgbClr val="007433"/>
                </a:solidFill>
                <a:latin typeface="Calibri"/>
              </a:rPr>
              <a:t>10/08/2026</a:t>
            </a:r>
          </a:p>
        </p:txBody>
      </p:sp>
      <p:sp>
        <p:nvSpPr>
          <p:cNvPr id="9" name="Rectangle 8"/>
          <p:cNvSpPr/>
          <p:nvPr/>
        </p:nvSpPr>
        <p:spPr>
          <a:xfrm>
            <a:off x="960119" y="3794759"/>
            <a:ext cx="1936927" cy="27432"/>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49808" y="3977639"/>
            <a:ext cx="2357551" cy="822960"/>
          </a:xfrm>
          <a:prstGeom prst="rect">
            <a:avLst/>
          </a:prstGeom>
          <a:noFill/>
        </p:spPr>
        <p:txBody>
          <a:bodyPr wrap="square" anchor="t" lIns="0" rIns="0" tIns="0" bIns="0">
            <a:spAutoFit/>
          </a:bodyPr>
          <a:lstStyle/>
          <a:p>
            <a:pPr algn="ctr"/>
            <a:r>
              <a:rPr sz="1100" b="1" i="0">
                <a:solidFill>
                  <a:srgbClr val="8F989D"/>
                </a:solidFill>
                <a:latin typeface="Calibri"/>
              </a:rPr>
              <a:t>CIERRE</a:t>
            </a:r>
          </a:p>
          <a:p>
            <a:pPr algn="ctr">
              <a:spcBef>
                <a:spcPts val="400"/>
              </a:spcBef>
            </a:pPr>
            <a:r>
              <a:rPr sz="2000" b="1" i="0">
                <a:solidFill>
                  <a:srgbClr val="0C2340"/>
                </a:solidFill>
                <a:latin typeface="Calibri"/>
              </a:rPr>
              <a:t>31/08/2026</a:t>
            </a:r>
          </a:p>
        </p:txBody>
      </p:sp>
      <p:sp>
        <p:nvSpPr>
          <p:cNvPr id="11" name="Rectangle 10"/>
          <p:cNvSpPr/>
          <p:nvPr/>
        </p:nvSpPr>
        <p:spPr>
          <a:xfrm>
            <a:off x="3418255" y="2011679"/>
            <a:ext cx="2577007" cy="658368"/>
          </a:xfrm>
          <a:prstGeom prst="rect">
            <a:avLst/>
          </a:prstGeom>
          <a:solidFill>
            <a:srgbClr val="324A6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491407" y="2084831"/>
            <a:ext cx="2430703" cy="512064"/>
          </a:xfrm>
          <a:prstGeom prst="rect">
            <a:avLst/>
          </a:prstGeom>
          <a:noFill/>
        </p:spPr>
        <p:txBody>
          <a:bodyPr wrap="square" anchor="ctr" lIns="0" rIns="0" tIns="0" bIns="0">
            <a:spAutoFit/>
          </a:bodyPr>
          <a:lstStyle/>
          <a:p>
            <a:pPr algn="ctr"/>
            <a:r>
              <a:rPr sz="1400" b="1" i="0">
                <a:solidFill>
                  <a:srgbClr val="FFFFFF"/>
                </a:solidFill>
                <a:latin typeface="Calibri"/>
              </a:rPr>
              <a:t>ACA 2  ·  25%</a:t>
            </a:r>
          </a:p>
        </p:txBody>
      </p:sp>
      <p:sp>
        <p:nvSpPr>
          <p:cNvPr id="13" name="Rectangle 12"/>
          <p:cNvSpPr/>
          <p:nvPr/>
        </p:nvSpPr>
        <p:spPr>
          <a:xfrm>
            <a:off x="3418255" y="2670048"/>
            <a:ext cx="2577007" cy="222199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27983" y="2880359"/>
            <a:ext cx="2357551" cy="822960"/>
          </a:xfrm>
          <a:prstGeom prst="rect">
            <a:avLst/>
          </a:prstGeom>
          <a:noFill/>
        </p:spPr>
        <p:txBody>
          <a:bodyPr wrap="square" anchor="t" lIns="0" rIns="0" tIns="0" bIns="0">
            <a:spAutoFit/>
          </a:bodyPr>
          <a:lstStyle/>
          <a:p>
            <a:pPr algn="ctr"/>
            <a:r>
              <a:rPr sz="1100" b="1" i="0">
                <a:solidFill>
                  <a:srgbClr val="8F989D"/>
                </a:solidFill>
                <a:latin typeface="Calibri"/>
              </a:rPr>
              <a:t>INICIO</a:t>
            </a:r>
          </a:p>
          <a:p>
            <a:pPr algn="ctr">
              <a:spcBef>
                <a:spcPts val="400"/>
              </a:spcBef>
            </a:pPr>
            <a:r>
              <a:rPr sz="2000" b="1" i="0">
                <a:solidFill>
                  <a:srgbClr val="007433"/>
                </a:solidFill>
                <a:latin typeface="Calibri"/>
              </a:rPr>
              <a:t>07/09/2026</a:t>
            </a:r>
          </a:p>
        </p:txBody>
      </p:sp>
      <p:sp>
        <p:nvSpPr>
          <p:cNvPr id="15" name="Rectangle 14"/>
          <p:cNvSpPr/>
          <p:nvPr/>
        </p:nvSpPr>
        <p:spPr>
          <a:xfrm>
            <a:off x="3738295" y="3794759"/>
            <a:ext cx="1936927" cy="27432"/>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527983" y="3977639"/>
            <a:ext cx="2357551" cy="822960"/>
          </a:xfrm>
          <a:prstGeom prst="rect">
            <a:avLst/>
          </a:prstGeom>
          <a:noFill/>
        </p:spPr>
        <p:txBody>
          <a:bodyPr wrap="square" anchor="t" lIns="0" rIns="0" tIns="0" bIns="0">
            <a:spAutoFit/>
          </a:bodyPr>
          <a:lstStyle/>
          <a:p>
            <a:pPr algn="ctr"/>
            <a:r>
              <a:rPr sz="1100" b="1" i="0">
                <a:solidFill>
                  <a:srgbClr val="8F989D"/>
                </a:solidFill>
                <a:latin typeface="Calibri"/>
              </a:rPr>
              <a:t>CIERRE</a:t>
            </a:r>
          </a:p>
          <a:p>
            <a:pPr algn="ctr">
              <a:spcBef>
                <a:spcPts val="400"/>
              </a:spcBef>
            </a:pPr>
            <a:r>
              <a:rPr sz="2000" b="1" i="0">
                <a:solidFill>
                  <a:srgbClr val="0C2340"/>
                </a:solidFill>
                <a:latin typeface="Calibri"/>
              </a:rPr>
              <a:t>28/09/2026</a:t>
            </a:r>
          </a:p>
        </p:txBody>
      </p:sp>
      <p:sp>
        <p:nvSpPr>
          <p:cNvPr id="17" name="Rectangle 16"/>
          <p:cNvSpPr/>
          <p:nvPr/>
        </p:nvSpPr>
        <p:spPr>
          <a:xfrm>
            <a:off x="6196431" y="2011679"/>
            <a:ext cx="2577007" cy="658368"/>
          </a:xfrm>
          <a:prstGeom prst="rect">
            <a:avLst/>
          </a:prstGeom>
          <a:solidFill>
            <a:srgbClr val="4A7FB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9583" y="2084831"/>
            <a:ext cx="2430703" cy="512064"/>
          </a:xfrm>
          <a:prstGeom prst="rect">
            <a:avLst/>
          </a:prstGeom>
          <a:noFill/>
        </p:spPr>
        <p:txBody>
          <a:bodyPr wrap="square" anchor="ctr" lIns="0" rIns="0" tIns="0" bIns="0">
            <a:spAutoFit/>
          </a:bodyPr>
          <a:lstStyle/>
          <a:p>
            <a:pPr algn="ctr"/>
            <a:r>
              <a:rPr sz="1400" b="1" i="0">
                <a:solidFill>
                  <a:srgbClr val="FFFFFF"/>
                </a:solidFill>
                <a:latin typeface="Calibri"/>
              </a:rPr>
              <a:t>ACA 3  ·  42%</a:t>
            </a:r>
          </a:p>
        </p:txBody>
      </p:sp>
      <p:sp>
        <p:nvSpPr>
          <p:cNvPr id="19" name="Rectangle 18"/>
          <p:cNvSpPr/>
          <p:nvPr/>
        </p:nvSpPr>
        <p:spPr>
          <a:xfrm>
            <a:off x="6196431" y="2670048"/>
            <a:ext cx="2577007" cy="222199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6159" y="2880359"/>
            <a:ext cx="2357551" cy="822960"/>
          </a:xfrm>
          <a:prstGeom prst="rect">
            <a:avLst/>
          </a:prstGeom>
          <a:noFill/>
        </p:spPr>
        <p:txBody>
          <a:bodyPr wrap="square" anchor="t" lIns="0" rIns="0" tIns="0" bIns="0">
            <a:spAutoFit/>
          </a:bodyPr>
          <a:lstStyle/>
          <a:p>
            <a:pPr algn="ctr"/>
            <a:r>
              <a:rPr sz="1100" b="1" i="0">
                <a:solidFill>
                  <a:srgbClr val="8F989D"/>
                </a:solidFill>
                <a:latin typeface="Calibri"/>
              </a:rPr>
              <a:t>INICIO</a:t>
            </a:r>
          </a:p>
          <a:p>
            <a:pPr algn="ctr">
              <a:spcBef>
                <a:spcPts val="400"/>
              </a:spcBef>
            </a:pPr>
            <a:r>
              <a:rPr sz="2000" b="1" i="0">
                <a:solidFill>
                  <a:srgbClr val="007433"/>
                </a:solidFill>
                <a:latin typeface="Calibri"/>
              </a:rPr>
              <a:t>05/10/2026</a:t>
            </a:r>
          </a:p>
        </p:txBody>
      </p:sp>
      <p:sp>
        <p:nvSpPr>
          <p:cNvPr id="21" name="Rectangle 20"/>
          <p:cNvSpPr/>
          <p:nvPr/>
        </p:nvSpPr>
        <p:spPr>
          <a:xfrm>
            <a:off x="6516471" y="3794759"/>
            <a:ext cx="1936927" cy="27432"/>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06159" y="3977639"/>
            <a:ext cx="2357551" cy="822960"/>
          </a:xfrm>
          <a:prstGeom prst="rect">
            <a:avLst/>
          </a:prstGeom>
          <a:noFill/>
        </p:spPr>
        <p:txBody>
          <a:bodyPr wrap="square" anchor="t" lIns="0" rIns="0" tIns="0" bIns="0">
            <a:spAutoFit/>
          </a:bodyPr>
          <a:lstStyle/>
          <a:p>
            <a:pPr algn="ctr"/>
            <a:r>
              <a:rPr sz="1100" b="1" i="0">
                <a:solidFill>
                  <a:srgbClr val="8F989D"/>
                </a:solidFill>
                <a:latin typeface="Calibri"/>
              </a:rPr>
              <a:t>CIERRE</a:t>
            </a:r>
          </a:p>
          <a:p>
            <a:pPr algn="ctr">
              <a:spcBef>
                <a:spcPts val="400"/>
              </a:spcBef>
            </a:pPr>
            <a:r>
              <a:rPr sz="2000" b="1" i="0">
                <a:solidFill>
                  <a:srgbClr val="0C2340"/>
                </a:solidFill>
                <a:latin typeface="Calibri"/>
              </a:rPr>
              <a:t>09/11/2026</a:t>
            </a:r>
          </a:p>
        </p:txBody>
      </p:sp>
      <p:sp>
        <p:nvSpPr>
          <p:cNvPr id="23" name="Rectangle 22"/>
          <p:cNvSpPr/>
          <p:nvPr/>
        </p:nvSpPr>
        <p:spPr>
          <a:xfrm>
            <a:off x="8974607" y="2011679"/>
            <a:ext cx="2577007" cy="658368"/>
          </a:xfrm>
          <a:prstGeom prst="rect">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047759" y="2084831"/>
            <a:ext cx="2430703" cy="512064"/>
          </a:xfrm>
          <a:prstGeom prst="rect">
            <a:avLst/>
          </a:prstGeom>
          <a:noFill/>
        </p:spPr>
        <p:txBody>
          <a:bodyPr wrap="square" anchor="ctr" lIns="0" rIns="0" tIns="0" bIns="0">
            <a:spAutoFit/>
          </a:bodyPr>
          <a:lstStyle/>
          <a:p>
            <a:pPr algn="ctr"/>
            <a:r>
              <a:rPr sz="1400" b="1" i="0">
                <a:solidFill>
                  <a:srgbClr val="FFFFFF"/>
                </a:solidFill>
                <a:latin typeface="Calibri"/>
              </a:rPr>
              <a:t>Coev. + Autoev.  ·  8%</a:t>
            </a:r>
          </a:p>
        </p:txBody>
      </p:sp>
      <p:sp>
        <p:nvSpPr>
          <p:cNvPr id="25" name="Rectangle 24"/>
          <p:cNvSpPr/>
          <p:nvPr/>
        </p:nvSpPr>
        <p:spPr>
          <a:xfrm>
            <a:off x="8974607" y="2670048"/>
            <a:ext cx="2577007" cy="2221991"/>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84335" y="2880359"/>
            <a:ext cx="2357551" cy="822960"/>
          </a:xfrm>
          <a:prstGeom prst="rect">
            <a:avLst/>
          </a:prstGeom>
          <a:noFill/>
        </p:spPr>
        <p:txBody>
          <a:bodyPr wrap="square" anchor="t" lIns="0" rIns="0" tIns="0" bIns="0">
            <a:spAutoFit/>
          </a:bodyPr>
          <a:lstStyle/>
          <a:p>
            <a:pPr algn="ctr"/>
            <a:r>
              <a:rPr sz="1100" b="1" i="0">
                <a:solidFill>
                  <a:srgbClr val="8F989D"/>
                </a:solidFill>
                <a:latin typeface="Calibri"/>
              </a:rPr>
              <a:t>INICIO</a:t>
            </a:r>
          </a:p>
          <a:p>
            <a:pPr algn="ctr">
              <a:spcBef>
                <a:spcPts val="400"/>
              </a:spcBef>
            </a:pPr>
            <a:r>
              <a:rPr sz="2000" b="1" i="0">
                <a:solidFill>
                  <a:srgbClr val="007433"/>
                </a:solidFill>
                <a:latin typeface="Calibri"/>
              </a:rPr>
              <a:t>10/11/2026</a:t>
            </a:r>
          </a:p>
        </p:txBody>
      </p:sp>
      <p:sp>
        <p:nvSpPr>
          <p:cNvPr id="27" name="Rectangle 26"/>
          <p:cNvSpPr/>
          <p:nvPr/>
        </p:nvSpPr>
        <p:spPr>
          <a:xfrm>
            <a:off x="9294647" y="3794759"/>
            <a:ext cx="1936927" cy="27432"/>
          </a:xfrm>
          <a:prstGeom prst="rect">
            <a:avLst/>
          </a:prstGeom>
          <a:solidFill>
            <a:srgbClr val="D0D0D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84335" y="3977639"/>
            <a:ext cx="2357551" cy="822960"/>
          </a:xfrm>
          <a:prstGeom prst="rect">
            <a:avLst/>
          </a:prstGeom>
          <a:noFill/>
        </p:spPr>
        <p:txBody>
          <a:bodyPr wrap="square" anchor="t" lIns="0" rIns="0" tIns="0" bIns="0">
            <a:spAutoFit/>
          </a:bodyPr>
          <a:lstStyle/>
          <a:p>
            <a:pPr algn="ctr"/>
            <a:r>
              <a:rPr sz="1100" b="1" i="0">
                <a:solidFill>
                  <a:srgbClr val="8F989D"/>
                </a:solidFill>
                <a:latin typeface="Calibri"/>
              </a:rPr>
              <a:t>CIERRE</a:t>
            </a:r>
          </a:p>
          <a:p>
            <a:pPr algn="ctr">
              <a:spcBef>
                <a:spcPts val="400"/>
              </a:spcBef>
            </a:pPr>
            <a:r>
              <a:rPr sz="2000" b="1" i="0">
                <a:solidFill>
                  <a:srgbClr val="0C2340"/>
                </a:solidFill>
                <a:latin typeface="Calibri"/>
              </a:rPr>
              <a:t>22/11/2026</a:t>
            </a:r>
          </a:p>
        </p:txBody>
      </p:sp>
      <p:sp>
        <p:nvSpPr>
          <p:cNvPr id="29" name="TextBox 28"/>
          <p:cNvSpPr txBox="1"/>
          <p:nvPr/>
        </p:nvSpPr>
        <p:spPr>
          <a:xfrm>
            <a:off x="640080" y="5056631"/>
            <a:ext cx="10911535" cy="320040"/>
          </a:xfrm>
          <a:prstGeom prst="rect">
            <a:avLst/>
          </a:prstGeom>
          <a:noFill/>
        </p:spPr>
        <p:txBody>
          <a:bodyPr wrap="square" anchor="t" lIns="0" rIns="0" tIns="0" bIns="0">
            <a:spAutoFit/>
          </a:bodyPr>
          <a:lstStyle/>
          <a:p>
            <a:r>
              <a:rPr sz="1200" b="0" i="0">
                <a:solidFill>
                  <a:srgbClr val="C0392B"/>
                </a:solidFill>
                <a:latin typeface="Calibri"/>
              </a:rPr>
              <a:t>🚫 </a:t>
            </a:r>
            <a:r>
              <a:rPr sz="1200" b="1" i="0">
                <a:solidFill>
                  <a:srgbClr val="C0392B"/>
                </a:solidFill>
                <a:latin typeface="Calibri"/>
              </a:rPr>
              <a:t>Sin clase (festivos):</a:t>
            </a:r>
            <a:r>
              <a:rPr sz="1200" b="0" i="0">
                <a:solidFill>
                  <a:srgbClr val="C0392B"/>
                </a:solidFill>
                <a:latin typeface="Calibri"/>
              </a:rPr>
              <a:t> 17/08 Asunción de la Virgen  ·  12/10 Día de la Raza  ·  02/11 Todos los Santos  ·  16/11 Indep. de Cartagena</a:t>
            </a:r>
          </a:p>
        </p:txBody>
      </p:sp>
      <p:sp>
        <p:nvSpPr>
          <p:cNvPr id="30" name="Rounded Rectangle 29"/>
          <p:cNvSpPr/>
          <p:nvPr/>
        </p:nvSpPr>
        <p:spPr>
          <a:xfrm>
            <a:off x="640080" y="5404103"/>
            <a:ext cx="10911535" cy="640080"/>
          </a:xfrm>
          <a:prstGeom prst="roundRect">
            <a:avLst/>
          </a:prstGeom>
          <a:solidFill>
            <a:srgbClr val="FD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59" y="5513831"/>
            <a:ext cx="10545775" cy="457200"/>
          </a:xfrm>
          <a:prstGeom prst="rect">
            <a:avLst/>
          </a:prstGeom>
          <a:noFill/>
        </p:spPr>
        <p:txBody>
          <a:bodyPr wrap="square" anchor="ctr" lIns="0" rIns="0" tIns="0" bIns="0">
            <a:spAutoFit/>
          </a:bodyPr>
          <a:lstStyle/>
          <a:p>
            <a:r>
              <a:rPr sz="1200" b="0" i="0">
                <a:solidFill>
                  <a:srgbClr val="2B2B2B"/>
                </a:solidFill>
                <a:latin typeface="Calibri"/>
              </a:rPr>
              <a:t>📌 Tutorías → https://forms.gle/oZ8xCYiUo3KEWr1d9</a:t>
            </a:r>
          </a:p>
        </p:txBody>
      </p:sp>
      <p:sp>
        <p:nvSpPr>
          <p:cNvPr id="32" name="TextBox 31"/>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33" name="TextBox 32"/>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AVISO IMPORTANTE</a:t>
            </a:r>
          </a:p>
        </p:txBody>
      </p:sp>
      <p:sp>
        <p:nvSpPr>
          <p:cNvPr id="4" name="Rounded Rectangle 3"/>
          <p:cNvSpPr/>
          <p:nvPr/>
        </p:nvSpPr>
        <p:spPr>
          <a:xfrm>
            <a:off x="640080" y="1737360"/>
            <a:ext cx="10911535" cy="969264"/>
          </a:xfrm>
          <a:prstGeom prst="roundRect">
            <a:avLst/>
          </a:prstGeom>
          <a:solidFill>
            <a:srgbClr val="FBE4E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847088"/>
            <a:ext cx="10454335" cy="749808"/>
          </a:xfrm>
          <a:prstGeom prst="rect">
            <a:avLst/>
          </a:prstGeom>
          <a:noFill/>
        </p:spPr>
        <p:txBody>
          <a:bodyPr wrap="square" anchor="t" lIns="0" rIns="0" tIns="0" bIns="0">
            <a:spAutoFit/>
          </a:bodyPr>
          <a:lstStyle/>
          <a:p>
            <a:r>
              <a:rPr sz="1300" b="1" i="0">
                <a:solidFill>
                  <a:srgbClr val="0C2340"/>
                </a:solidFill>
                <a:latin typeface="Calibri"/>
              </a:rPr>
              <a:t>⚠️ Importante</a:t>
            </a:r>
          </a:p>
          <a:p>
            <a:pPr>
              <a:spcBef>
                <a:spcPts val="400"/>
              </a:spcBef>
            </a:pPr>
            <a:r>
              <a:rPr sz="1300" b="0" i="0">
                <a:solidFill>
                  <a:srgbClr val="2B2B2B"/>
                </a:solidFill>
                <a:latin typeface="Calibri"/>
              </a:rPr>
              <a:t>ACA 3 (42%) solo tiene 2 lunes sincrónicos (19/10 y 26/10). Apóyate en tutorías adicionales acordadas en la semana con el Docente y registra cada una en el formulario.</a:t>
            </a:r>
          </a:p>
        </p:txBody>
      </p:sp>
      <p:sp>
        <p:nvSpPr>
          <p:cNvPr id="6" name="Rounded Rectangle 5"/>
          <p:cNvSpPr/>
          <p:nvPr/>
        </p:nvSpPr>
        <p:spPr>
          <a:xfrm>
            <a:off x="640080" y="2935224"/>
            <a:ext cx="10911535" cy="969264"/>
          </a:xfrm>
          <a:prstGeom prst="roundRect">
            <a:avLst/>
          </a:prstGeom>
          <a:solidFill>
            <a:srgbClr val="E8F5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68680" y="3044952"/>
            <a:ext cx="10454335" cy="749808"/>
          </a:xfrm>
          <a:prstGeom prst="rect">
            <a:avLst/>
          </a:prstGeom>
          <a:noFill/>
        </p:spPr>
        <p:txBody>
          <a:bodyPr wrap="square" anchor="t" lIns="0" rIns="0" tIns="0" bIns="0">
            <a:spAutoFit/>
          </a:bodyPr>
          <a:lstStyle/>
          <a:p>
            <a:r>
              <a:rPr sz="1300" b="1" i="0">
                <a:solidFill>
                  <a:srgbClr val="0C2340"/>
                </a:solidFill>
                <a:latin typeface="Calibri"/>
              </a:rPr>
              <a:t>ℹ️ Nota institucional</a:t>
            </a:r>
          </a:p>
          <a:p>
            <a:pPr>
              <a:spcBef>
                <a:spcPts val="400"/>
              </a:spcBef>
            </a:pPr>
            <a:r>
              <a:rPr sz="1300" b="0" i="0">
                <a:solidFill>
                  <a:srgbClr val="2B2B2B"/>
                </a:solidFill>
                <a:latin typeface="Calibri"/>
              </a:rPr>
              <a:t>Las tutorías por grupo se acuerdan en la semana con el Docente (no hay atención espontánea sin cita).</a:t>
            </a:r>
          </a:p>
        </p:txBody>
      </p:sp>
      <p:sp>
        <p:nvSpPr>
          <p:cNvPr id="8" name="Rounded Rectangle 7"/>
          <p:cNvSpPr/>
          <p:nvPr/>
        </p:nvSpPr>
        <p:spPr>
          <a:xfrm>
            <a:off x="640080" y="4133087"/>
            <a:ext cx="10911535" cy="969264"/>
          </a:xfrm>
          <a:prstGeom prst="roundRect">
            <a:avLst/>
          </a:prstGeom>
          <a:solidFill>
            <a:srgbClr val="FDEC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4242816"/>
            <a:ext cx="10454335" cy="749808"/>
          </a:xfrm>
          <a:prstGeom prst="rect">
            <a:avLst/>
          </a:prstGeom>
          <a:noFill/>
        </p:spPr>
        <p:txBody>
          <a:bodyPr wrap="square" anchor="t" lIns="0" rIns="0" tIns="0" bIns="0">
            <a:spAutoFit/>
          </a:bodyPr>
          <a:lstStyle/>
          <a:p>
            <a:r>
              <a:rPr sz="1300" b="1" i="0">
                <a:solidFill>
                  <a:srgbClr val="0C2340"/>
                </a:solidFill>
                <a:latin typeface="Calibri"/>
              </a:rPr>
              <a:t>💡 Aclaración</a:t>
            </a:r>
          </a:p>
          <a:p>
            <a:pPr>
              <a:spcBef>
                <a:spcPts val="400"/>
              </a:spcBef>
            </a:pPr>
            <a:r>
              <a:rPr sz="1300" b="0" i="0">
                <a:solidFill>
                  <a:srgbClr val="2B2B2B"/>
                </a:solidFill>
                <a:latin typeface="Calibri"/>
              </a:rPr>
              <a:t>ESP329 / AFI: en Proyecto I se </a:t>
            </a:r>
            <a:r>
              <a:rPr sz="1300" b="1" i="0">
                <a:solidFill>
                  <a:srgbClr val="2B2B2B"/>
                </a:solidFill>
                <a:latin typeface="Calibri"/>
              </a:rPr>
              <a:t>diseña</a:t>
            </a:r>
            <a:r>
              <a:rPr sz="1300" b="0" i="0">
                <a:solidFill>
                  <a:srgbClr val="2B2B2B"/>
                </a:solidFill>
                <a:latin typeface="Calibri"/>
              </a:rPr>
              <a:t> la metodología (instrumentos propuestos); la aplicación y recolección son de Proyecto II.</a:t>
            </a:r>
          </a:p>
        </p:txBody>
      </p:sp>
      <p:sp>
        <p:nvSpPr>
          <p:cNvPr id="10" name="TextBox 9"/>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11" name="TextBox 10"/>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QUÉ ENTREGA CADA EQUIPO EN CADA ACA</a:t>
            </a:r>
          </a:p>
        </p:txBody>
      </p:sp>
      <p:graphicFrame>
        <p:nvGraphicFramePr>
          <p:cNvPr id="4" name="Table 3"/>
          <p:cNvGraphicFramePr>
            <a:graphicFrameLocks noGrp="1"/>
          </p:cNvGraphicFramePr>
          <p:nvPr/>
        </p:nvGraphicFramePr>
        <p:xfrm>
          <a:off x="640080" y="1691639"/>
          <a:ext cx="10911534" cy="2011680"/>
        </p:xfrm>
        <a:graphic>
          <a:graphicData uri="http://schemas.openxmlformats.org/drawingml/2006/table">
            <a:tbl>
              <a:tblPr>
                <a:tableStyleId>{2D5ABB26-0587-4C30-8999-92F81FD0307C}</a:tableStyleId>
              </a:tblPr>
              <a:tblGrid>
                <a:gridCol w="5455767"/>
                <a:gridCol w="5455767"/>
              </a:tblGrid>
              <a:tr h="502920">
                <a:tc>
                  <a:txBody>
                    <a:bodyPr/>
                    <a:lstStyle/>
                    <a:p>
                      <a:pPr algn="l"/>
                      <a:r>
                        <a:rPr sz="1300" b="1" i="0">
                          <a:solidFill>
                            <a:srgbClr val="FFFFFF"/>
                          </a:solidFill>
                          <a:latin typeface="Calibri"/>
                        </a:rPr>
                        <a:t>ACA</a:t>
                      </a:r>
                    </a:p>
                  </a:txBody>
                  <a:tcPr anchor="ctr" marL="109728" marR="91440" marT="36576" marB="36576">
                    <a:solidFill>
                      <a:srgbClr val="0C2340"/>
                    </a:solidFill>
                  </a:tcPr>
                </a:tc>
                <a:tc>
                  <a:txBody>
                    <a:bodyPr/>
                    <a:lstStyle/>
                    <a:p>
                      <a:pPr algn="l"/>
                      <a:r>
                        <a:rPr sz="1300" b="1" i="0">
                          <a:solidFill>
                            <a:srgbClr val="FFFFFF"/>
                          </a:solidFill>
                          <a:latin typeface="Calibri"/>
                        </a:rPr>
                        <a:t>Contenido (unidades ESP329)</a:t>
                      </a:r>
                    </a:p>
                  </a:txBody>
                  <a:tcPr anchor="ctr" marL="109728" marR="91440" marT="36576" marB="36576">
                    <a:solidFill>
                      <a:srgbClr val="0C2340"/>
                    </a:solidFill>
                  </a:tcPr>
                </a:tc>
              </a:tr>
              <a:tr h="502920">
                <a:tc>
                  <a:txBody>
                    <a:bodyPr/>
                    <a:lstStyle/>
                    <a:p>
                      <a:pPr algn="l"/>
                      <a:r>
                        <a:rPr sz="1200" b="0" i="0">
                          <a:solidFill>
                            <a:srgbClr val="2B2B2B"/>
                          </a:solidFill>
                          <a:latin typeface="Calibri"/>
                        </a:rPr>
                        <a:t>ACA 1 (25%)</a:t>
                      </a:r>
                    </a:p>
                  </a:txBody>
                  <a:tcPr anchor="ctr" marL="109728" marR="91440" marT="36576" marB="36576">
                    <a:solidFill>
                      <a:srgbClr val="FFFFFF"/>
                    </a:solidFill>
                  </a:tcPr>
                </a:tc>
                <a:tc>
                  <a:txBody>
                    <a:bodyPr/>
                    <a:lstStyle/>
                    <a:p>
                      <a:pPr algn="l"/>
                      <a:r>
                        <a:rPr sz="1200" b="0" i="0">
                          <a:solidFill>
                            <a:srgbClr val="2B2B2B"/>
                          </a:solidFill>
                          <a:latin typeface="Calibri"/>
                        </a:rPr>
                        <a:t>U2–U3 (+alcances): problema, pregunta, objetivos, justificación, alcances/limitaciones.</a:t>
                      </a:r>
                    </a:p>
                  </a:txBody>
                  <a:tcPr anchor="ctr" marL="109728" marR="91440" marT="36576" marB="36576">
                    <a:solidFill>
                      <a:srgbClr val="FFFFFF"/>
                    </a:solidFill>
                  </a:tcPr>
                </a:tc>
              </a:tr>
              <a:tr h="502920">
                <a:tc>
                  <a:txBody>
                    <a:bodyPr/>
                    <a:lstStyle/>
                    <a:p>
                      <a:pPr algn="l"/>
                      <a:r>
                        <a:rPr sz="1200" b="0" i="0">
                          <a:solidFill>
                            <a:srgbClr val="2B2B2B"/>
                          </a:solidFill>
                          <a:latin typeface="Calibri"/>
                        </a:rPr>
                        <a:t>ACA 2 (25%)</a:t>
                      </a:r>
                    </a:p>
                  </a:txBody>
                  <a:tcPr anchor="ctr" marL="109728" marR="91440" marT="36576" marB="36576">
                    <a:solidFill>
                      <a:srgbClr val="F2F2F2"/>
                    </a:solidFill>
                  </a:tcPr>
                </a:tc>
                <a:tc>
                  <a:txBody>
                    <a:bodyPr/>
                    <a:lstStyle/>
                    <a:p>
                      <a:pPr algn="l"/>
                      <a:r>
                        <a:rPr sz="1200" b="0" i="0">
                          <a:solidFill>
                            <a:srgbClr val="2B2B2B"/>
                          </a:solidFill>
                          <a:latin typeface="Calibri"/>
                        </a:rPr>
                        <a:t>U4: correcciones ACA1 + marco referencial (antecedentes, teórico, conceptual, contextual, legal).</a:t>
                      </a:r>
                    </a:p>
                  </a:txBody>
                  <a:tcPr anchor="ctr" marL="109728" marR="91440" marT="36576" marB="36576">
                    <a:solidFill>
                      <a:srgbClr val="F2F2F2"/>
                    </a:solidFill>
                  </a:tcPr>
                </a:tc>
              </a:tr>
              <a:tr h="502920">
                <a:tc>
                  <a:txBody>
                    <a:bodyPr/>
                    <a:lstStyle/>
                    <a:p>
                      <a:pPr algn="l"/>
                      <a:r>
                        <a:rPr sz="1200" b="0" i="0">
                          <a:solidFill>
                            <a:srgbClr val="2B2B2B"/>
                          </a:solidFill>
                          <a:latin typeface="Calibri"/>
                        </a:rPr>
                        <a:t>ACA 3 (42%)</a:t>
                      </a:r>
                    </a:p>
                  </a:txBody>
                  <a:tcPr anchor="ctr" marL="109728" marR="91440" marT="36576" marB="36576">
                    <a:solidFill>
                      <a:srgbClr val="FFFFFF"/>
                    </a:solidFill>
                  </a:tcPr>
                </a:tc>
                <a:tc>
                  <a:txBody>
                    <a:bodyPr/>
                    <a:lstStyle/>
                    <a:p>
                      <a:pPr algn="l"/>
                      <a:r>
                        <a:rPr sz="1200" b="0" i="0">
                          <a:solidFill>
                            <a:srgbClr val="2B2B2B"/>
                          </a:solidFill>
                          <a:latin typeface="Calibri"/>
                        </a:rPr>
                        <a:t>U5–U7: correcciones + metodología + cronograma/presupuesto + anteproyecto FINAL integrado.</a:t>
                      </a:r>
                    </a:p>
                  </a:txBody>
                  <a:tcPr anchor="ctr" marL="109728" marR="91440" marT="36576" marB="36576">
                    <a:solidFill>
                      <a:srgbClr val="FFFFFF"/>
                    </a:solidFill>
                  </a:tcPr>
                </a:tc>
              </a:tr>
            </a:tbl>
          </a:graphicData>
        </a:graphic>
      </p:graphicFrame>
      <p:sp>
        <p:nvSpPr>
          <p:cNvPr id="5" name="TextBox 4"/>
          <p:cNvSpPr txBox="1"/>
          <p:nvPr/>
        </p:nvSpPr>
        <p:spPr>
          <a:xfrm>
            <a:off x="640080" y="3840480"/>
            <a:ext cx="10911535" cy="548640"/>
          </a:xfrm>
          <a:prstGeom prst="rect">
            <a:avLst/>
          </a:prstGeom>
          <a:noFill/>
        </p:spPr>
        <p:txBody>
          <a:bodyPr wrap="square" anchor="t" lIns="0" rIns="0" tIns="0" bIns="0">
            <a:spAutoFit/>
          </a:bodyPr>
          <a:lstStyle/>
          <a:p>
            <a:r>
              <a:rPr sz="1200" b="0" i="1">
                <a:solidFill>
                  <a:srgbClr val="2B2B2B"/>
                </a:solidFill>
                <a:latin typeface="Calibri"/>
              </a:rPr>
              <a:t>Equipos máx. 3 (AFI). Formato: Plantilla APA CUN – Proyecto de Grado (APA 7). Criterios: coherencia, pertinencia, rigor, fuentes, escritura, integridad y viabilidad (ESP329).</a:t>
            </a:r>
          </a:p>
        </p:txBody>
      </p:sp>
      <p:sp>
        <p:nvSpPr>
          <p:cNvPr id="6" name="TextBox 5"/>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7" name="TextBox 6"/>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188720"/>
          </a:xfrm>
          <a:prstGeom prst="rect">
            <a:avLst/>
          </a:prstGeom>
          <a:solidFill>
            <a:srgbClr val="0C234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0"/>
            <a:ext cx="9082735" cy="1188720"/>
          </a:xfrm>
          <a:prstGeom prst="rect">
            <a:avLst/>
          </a:prstGeom>
          <a:noFill/>
        </p:spPr>
        <p:txBody>
          <a:bodyPr wrap="square" anchor="ctr" lIns="0" rIns="0" tIns="0" bIns="0">
            <a:spAutoFit/>
          </a:bodyPr>
          <a:lstStyle/>
          <a:p>
            <a:pPr algn="ctr"/>
            <a:r>
              <a:rPr sz="2600" b="1" i="0">
                <a:solidFill>
                  <a:srgbClr val="FFFFFF"/>
                </a:solidFill>
                <a:latin typeface="Calibri"/>
              </a:rPr>
              <a:t>RECURSOS, PLANTILLAS Y ENLACES</a:t>
            </a:r>
          </a:p>
        </p:txBody>
      </p:sp>
      <p:sp>
        <p:nvSpPr>
          <p:cNvPr id="4" name="TextBox 3"/>
          <p:cNvSpPr txBox="1"/>
          <p:nvPr/>
        </p:nvSpPr>
        <p:spPr>
          <a:xfrm>
            <a:off x="640080" y="1691639"/>
            <a:ext cx="10911535" cy="4617720"/>
          </a:xfrm>
          <a:prstGeom prst="rect">
            <a:avLst/>
          </a:prstGeom>
          <a:noFill/>
        </p:spPr>
        <p:txBody>
          <a:bodyPr wrap="square" anchor="t" lIns="0" rIns="0" tIns="0" bIns="0">
            <a:spAutoFit/>
          </a:bodyPr>
          <a:lstStyle/>
          <a:p>
            <a:pPr>
              <a:spcAft>
                <a:spcPts val="1000"/>
              </a:spcAft>
            </a:pPr>
            <a:r>
              <a:rPr sz="1600" b="0" i="0">
                <a:solidFill>
                  <a:srgbClr val="2B2B2B"/>
                </a:solidFill>
                <a:latin typeface="Calibri"/>
              </a:rPr>
              <a:t>–   </a:t>
            </a:r>
            <a:r>
              <a:rPr sz="1600" b="1" i="0">
                <a:solidFill>
                  <a:srgbClr val="2B2B2B"/>
                </a:solidFill>
                <a:latin typeface="Calibri"/>
              </a:rPr>
              <a:t>Contacto del Docente:</a:t>
            </a:r>
            <a:r>
              <a:rPr sz="1600" b="0" i="0">
                <a:solidFill>
                  <a:srgbClr val="2B2B2B"/>
                </a:solidFill>
                <a:latin typeface="Calibri"/>
              </a:rPr>
              <a:t> julian_castanoe@cun.edu.co</a:t>
            </a:r>
          </a:p>
          <a:p>
            <a:pPr>
              <a:spcAft>
                <a:spcPts val="1000"/>
              </a:spcAft>
            </a:pPr>
            <a:r>
              <a:rPr sz="1600" b="0" i="0">
                <a:solidFill>
                  <a:srgbClr val="2B2B2B"/>
                </a:solidFill>
                <a:latin typeface="Calibri"/>
              </a:rPr>
              <a:t>–   </a:t>
            </a:r>
            <a:r>
              <a:rPr sz="1600" b="1" i="0">
                <a:solidFill>
                  <a:srgbClr val="2B2B2B"/>
                </a:solidFill>
                <a:latin typeface="Calibri"/>
              </a:rPr>
              <a:t>CDigital (campus del curso):</a:t>
            </a:r>
            <a:r>
              <a:rPr sz="1600" b="0" i="0">
                <a:solidFill>
                  <a:srgbClr val="2B2B2B"/>
                </a:solidFill>
                <a:latin typeface="Calibri"/>
              </a:rPr>
              <a:t> </a:t>
            </a:r>
            <a:r>
              <a:rPr sz="1600" b="1" i="0">
                <a:solidFill>
                  <a:srgbClr val="2B2B2B"/>
                </a:solidFill>
                <a:latin typeface="Calibri"/>
              </a:rPr>
              <a:t>[URL CDigital — campus del curso pendiente]</a:t>
            </a:r>
          </a:p>
          <a:p>
            <a:pPr>
              <a:spcAft>
                <a:spcPts val="1000"/>
              </a:spcAft>
            </a:pPr>
            <a:r>
              <a:rPr sz="1600" b="0" i="0">
                <a:solidFill>
                  <a:srgbClr val="2B2B2B"/>
                </a:solidFill>
                <a:latin typeface="Calibri"/>
              </a:rPr>
              <a:t>–   </a:t>
            </a:r>
            <a:r>
              <a:rPr sz="1600" b="1" i="0">
                <a:solidFill>
                  <a:srgbClr val="2B2B2B"/>
                </a:solidFill>
                <a:latin typeface="Calibri"/>
              </a:rPr>
              <a:t>Registro de tutorías (obligatorio):</a:t>
            </a:r>
            <a:r>
              <a:rPr sz="1600" b="0" i="0">
                <a:solidFill>
                  <a:srgbClr val="2B2B2B"/>
                </a:solidFill>
                <a:latin typeface="Calibri"/>
              </a:rPr>
              <a:t> </a:t>
            </a:r>
            <a:r>
              <a:rPr sz="1600" b="1" i="0">
                <a:solidFill>
                  <a:srgbClr val="007433"/>
                </a:solidFill>
                <a:latin typeface="Calibri"/>
              </a:rPr>
              <a:t>https://forms.gle/oZ8xCYiUo3KEWr1d9</a:t>
            </a:r>
          </a:p>
          <a:p>
            <a:pPr>
              <a:spcAft>
                <a:spcPts val="1000"/>
              </a:spcAft>
            </a:pPr>
            <a:r>
              <a:rPr sz="1600" b="0" i="0">
                <a:solidFill>
                  <a:srgbClr val="2B2B2B"/>
                </a:solidFill>
                <a:latin typeface="Calibri"/>
              </a:rPr>
              <a:t>–   Las tutorías por grupo se acuerdan en la semana con el Docente (no hay atención espontánea sin cita).</a:t>
            </a:r>
          </a:p>
          <a:p>
            <a:pPr>
              <a:spcAft>
                <a:spcPts val="1000"/>
              </a:spcAft>
            </a:pPr>
            <a:r>
              <a:rPr sz="1600" b="0" i="0">
                <a:solidFill>
                  <a:srgbClr val="2B2B2B"/>
                </a:solidFill>
                <a:latin typeface="Calibri"/>
              </a:rPr>
              <a:t>–   </a:t>
            </a:r>
            <a:r>
              <a:rPr sz="1600" b="1" i="0">
                <a:solidFill>
                  <a:srgbClr val="2B2B2B"/>
                </a:solidFill>
                <a:latin typeface="Calibri"/>
              </a:rPr>
              <a:t>Google Meet (mismo enlace toda la serie):</a:t>
            </a:r>
            <a:r>
              <a:rPr sz="1600" b="0" i="0">
                <a:solidFill>
                  <a:srgbClr val="2B2B2B"/>
                </a:solidFill>
                <a:latin typeface="Calibri"/>
              </a:rPr>
              <a:t> </a:t>
            </a:r>
            <a:r>
              <a:rPr sz="1600" b="1" i="0">
                <a:solidFill>
                  <a:srgbClr val="2B2B2B"/>
                </a:solidFill>
                <a:latin typeface="Calibri"/>
              </a:rPr>
              <a:t>[URL Meet — mismo enlace toda la serie · Proyecto I]</a:t>
            </a:r>
          </a:p>
          <a:p>
            <a:pPr>
              <a:spcAft>
                <a:spcPts val="1000"/>
              </a:spcAft>
            </a:pPr>
            <a:r>
              <a:rPr sz="1600" b="0" i="0">
                <a:solidFill>
                  <a:srgbClr val="2B2B2B"/>
                </a:solidFill>
                <a:latin typeface="Calibri"/>
              </a:rPr>
              <a:t>–   </a:t>
            </a:r>
            <a:r>
              <a:rPr sz="1600" b="1" i="0">
                <a:solidFill>
                  <a:srgbClr val="2B2B2B"/>
                </a:solidFill>
                <a:latin typeface="Calibri"/>
              </a:rPr>
              <a:t>Plantilla APA CUN – Proyecto de Grado</a:t>
            </a:r>
            <a:r>
              <a:rPr sz="1600" b="0" i="0">
                <a:solidFill>
                  <a:srgbClr val="2B2B2B"/>
                </a:solidFill>
                <a:latin typeface="Calibri"/>
              </a:rPr>
              <a:t> (archivo local): `Cursos/Plantilla_APA_CUN_Proyecto de grado.docx`.</a:t>
            </a:r>
          </a:p>
          <a:p>
            <a:pPr>
              <a:spcAft>
                <a:spcPts val="1000"/>
              </a:spcAft>
            </a:pPr>
            <a:r>
              <a:rPr sz="1600" b="0" i="0">
                <a:solidFill>
                  <a:srgbClr val="2B2B2B"/>
                </a:solidFill>
                <a:latin typeface="Calibri"/>
              </a:rPr>
              <a:t>–   </a:t>
            </a:r>
            <a:r>
              <a:rPr sz="1600" b="1" i="0">
                <a:solidFill>
                  <a:srgbClr val="2B2B2B"/>
                </a:solidFill>
                <a:latin typeface="Calibri"/>
              </a:rPr>
              <a:t>URL pública Plantilla APA:</a:t>
            </a:r>
            <a:r>
              <a:rPr sz="1600" b="0" i="0">
                <a:solidFill>
                  <a:srgbClr val="2B2B2B"/>
                </a:solidFill>
                <a:latin typeface="Calibri"/>
              </a:rPr>
              <a:t> [URL Drive/Moodle de la Plantilla APA CUN — pendiente]</a:t>
            </a:r>
          </a:p>
          <a:p>
            <a:pPr>
              <a:spcAft>
                <a:spcPts val="1000"/>
              </a:spcAft>
            </a:pPr>
            <a:r>
              <a:rPr sz="1600" b="0" i="0">
                <a:solidFill>
                  <a:srgbClr val="2B2B2B"/>
                </a:solidFill>
                <a:latin typeface="Calibri"/>
              </a:rPr>
              <a:t>–   </a:t>
            </a:r>
            <a:r>
              <a:rPr sz="1600" b="1" i="0">
                <a:solidFill>
                  <a:srgbClr val="2B2B2B"/>
                </a:solidFill>
                <a:latin typeface="Calibri"/>
              </a:rPr>
              <a:t>Enunciados ACA (estudiantes):</a:t>
            </a:r>
            <a:r>
              <a:rPr sz="1600" b="0" i="0">
                <a:solidFill>
                  <a:srgbClr val="2B2B2B"/>
                </a:solidFill>
                <a:latin typeface="Calibri"/>
              </a:rPr>
              <a:t> `Clases/Recursos/ACAs/ (enunciados ACA 1–3 · autoevaluación · coevaluación)`</a:t>
            </a:r>
          </a:p>
          <a:p>
            <a:pPr>
              <a:spcAft>
                <a:spcPts val="1000"/>
              </a:spcAft>
            </a:pPr>
            <a:r>
              <a:rPr sz="1600" b="0" i="0">
                <a:solidFill>
                  <a:srgbClr val="2B2B2B"/>
                </a:solidFill>
                <a:latin typeface="Calibri"/>
              </a:rPr>
              <a:t>–   </a:t>
            </a:r>
            <a:r>
              <a:rPr sz="1600" b="1" i="0">
                <a:solidFill>
                  <a:srgbClr val="2B2B2B"/>
                </a:solidFill>
                <a:latin typeface="Calibri"/>
              </a:rPr>
              <a:t>Biblioteca Virtual CUN + bases:</a:t>
            </a:r>
            <a:r>
              <a:rPr sz="1600" b="0" i="0">
                <a:solidFill>
                  <a:srgbClr val="2B2B2B"/>
                </a:solidFill>
                <a:latin typeface="Calibri"/>
              </a:rPr>
              <a:t> Google Scholar, Redalyc, SciELO, Dialnet · citas: ZoteroBib / Google Docs.</a:t>
            </a:r>
          </a:p>
          <a:p>
            <a:pPr>
              <a:spcAft>
                <a:spcPts val="1000"/>
              </a:spcAft>
            </a:pPr>
            <a:r>
              <a:rPr sz="1600" b="0" i="0">
                <a:solidFill>
                  <a:srgbClr val="2B2B2B"/>
                </a:solidFill>
                <a:latin typeface="Calibri"/>
              </a:rPr>
              <a:t>–   </a:t>
            </a:r>
            <a:r>
              <a:rPr sz="1600" b="1" i="0">
                <a:solidFill>
                  <a:srgbClr val="2B2B2B"/>
                </a:solidFill>
                <a:latin typeface="Calibri"/>
              </a:rPr>
              <a:t>Syllabus fuente:</a:t>
            </a:r>
            <a:r>
              <a:rPr sz="1600" b="0" i="0">
                <a:solidFill>
                  <a:srgbClr val="2B2B2B"/>
                </a:solidFill>
                <a:latin typeface="Calibri"/>
              </a:rPr>
              <a:t> `Especializacion_En_Inteligencia_Artificial_Proyecto_I_ESP329.docx` · Entregas oficiales solo por CDigital.</a:t>
            </a:r>
          </a:p>
        </p:txBody>
      </p:sp>
      <p:sp>
        <p:nvSpPr>
          <p:cNvPr id="5" name="TextBox 4"/>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
        <p:nvSpPr>
          <p:cNvPr id="6" name="TextBox 5"/>
          <p:cNvSpPr txBox="1"/>
          <p:nvPr/>
        </p:nvSpPr>
        <p:spPr>
          <a:xfrm>
            <a:off x="11094415" y="6446520"/>
            <a:ext cx="548640" cy="274320"/>
          </a:xfrm>
          <a:prstGeom prst="rect">
            <a:avLst/>
          </a:prstGeom>
          <a:noFill/>
        </p:spPr>
        <p:txBody>
          <a:bodyPr wrap="square" anchor="t" lIns="0" rIns="0" tIns="0" bIns="0">
            <a:spAutoFit/>
          </a:bodyPr>
          <a:lstStyle/>
          <a:p>
            <a:pPr algn="r"/>
            <a:r>
              <a:rPr sz="1000" b="1" i="0">
                <a:solidFill>
                  <a:srgbClr val="8F989D"/>
                </a:solidFill>
                <a:latin typeface="Calibri"/>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074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logo_cun_solo.png"/>
          <p:cNvPicPr>
            <a:picLocks noChangeAspect="1"/>
          </p:cNvPicPr>
          <p:nvPr/>
        </p:nvPicPr>
        <p:blipFill>
          <a:blip r:embed="rId2"/>
          <a:stretch>
            <a:fillRect/>
          </a:stretch>
        </p:blipFill>
        <p:spPr>
          <a:xfrm>
            <a:off x="10362895" y="5632704"/>
            <a:ext cx="1371600" cy="950976"/>
          </a:xfrm>
          <a:prstGeom prst="rect">
            <a:avLst/>
          </a:prstGeom>
        </p:spPr>
      </p:pic>
      <p:sp>
        <p:nvSpPr>
          <p:cNvPr id="4" name="TextBox 3"/>
          <p:cNvSpPr txBox="1"/>
          <p:nvPr/>
        </p:nvSpPr>
        <p:spPr>
          <a:xfrm>
            <a:off x="640080" y="1737360"/>
            <a:ext cx="10911535" cy="1097280"/>
          </a:xfrm>
          <a:prstGeom prst="rect">
            <a:avLst/>
          </a:prstGeom>
          <a:noFill/>
        </p:spPr>
        <p:txBody>
          <a:bodyPr wrap="square" anchor="ctr" lIns="0" rIns="0" tIns="0" bIns="0">
            <a:spAutoFit/>
          </a:bodyPr>
          <a:lstStyle/>
          <a:p>
            <a:pPr algn="ctr"/>
            <a:r>
              <a:rPr sz="3400" b="1" i="0">
                <a:solidFill>
                  <a:srgbClr val="0C2340"/>
                </a:solidFill>
                <a:latin typeface="Calibri"/>
              </a:rPr>
              <a:t>¡Empezamos!</a:t>
            </a:r>
          </a:p>
        </p:txBody>
      </p:sp>
      <p:sp>
        <p:nvSpPr>
          <p:cNvPr id="5" name="TextBox 4"/>
          <p:cNvSpPr txBox="1"/>
          <p:nvPr/>
        </p:nvSpPr>
        <p:spPr>
          <a:xfrm>
            <a:off x="640080" y="3017520"/>
            <a:ext cx="10911535" cy="1645920"/>
          </a:xfrm>
          <a:prstGeom prst="rect">
            <a:avLst/>
          </a:prstGeom>
          <a:noFill/>
        </p:spPr>
        <p:txBody>
          <a:bodyPr wrap="square" anchor="t" lIns="0" rIns="0" tIns="0" bIns="0">
            <a:spAutoFit/>
          </a:bodyPr>
          <a:lstStyle/>
          <a:p>
            <a:pPr algn="ctr">
              <a:spcAft>
                <a:spcPts val="600"/>
              </a:spcAft>
            </a:pPr>
            <a:r>
              <a:rPr sz="1600" b="0" i="0">
                <a:solidFill>
                  <a:srgbClr val="2B2B2B"/>
                </a:solidFill>
                <a:latin typeface="Calibri"/>
              </a:rPr>
              <a:t>Nos vemos en el primer encuentro sincrónico: </a:t>
            </a:r>
            <a:r>
              <a:rPr sz="1600" b="1" i="0">
                <a:solidFill>
                  <a:srgbClr val="2B2B2B"/>
                </a:solidFill>
                <a:latin typeface="Calibri"/>
              </a:rPr>
              <a:t>Lunes, 8:00 pm – 10:00 pm</a:t>
            </a:r>
            <a:r>
              <a:rPr sz="1600" b="0" i="0">
                <a:solidFill>
                  <a:srgbClr val="2B2B2B"/>
                </a:solidFill>
                <a:latin typeface="Calibri"/>
              </a:rPr>
              <a:t>.</a:t>
            </a:r>
          </a:p>
          <a:p>
            <a:pPr algn="ctr">
              <a:spcAft>
                <a:spcPts val="600"/>
              </a:spcAft>
            </a:pPr>
            <a:r>
              <a:rPr sz="1600" b="0" i="0">
                <a:solidFill>
                  <a:srgbClr val="2B2B2B"/>
                </a:solidFill>
                <a:latin typeface="Calibri"/>
              </a:rPr>
              <a:t>El Docente — garante metodológico de tu anteproyecto.</a:t>
            </a:r>
          </a:p>
          <a:p>
            <a:pPr algn="ctr">
              <a:spcAft>
                <a:spcPts val="600"/>
              </a:spcAft>
            </a:pPr>
            <a:r>
              <a:rPr sz="1600" b="0" i="0">
                <a:solidFill>
                  <a:srgbClr val="2B2B2B"/>
                </a:solidFill>
                <a:latin typeface="Calibri"/>
              </a:rPr>
              <a:t>Las tutorías por grupo se acuerdan en la semana con el Docente (no hay atención espontánea sin cita).</a:t>
            </a:r>
          </a:p>
          <a:p>
            <a:pPr algn="ctr">
              <a:spcAft>
                <a:spcPts val="600"/>
              </a:spcAft>
            </a:pPr>
            <a:r>
              <a:rPr sz="1600" b="0" i="0">
                <a:solidFill>
                  <a:srgbClr val="2B2B2B"/>
                </a:solidFill>
                <a:latin typeface="Calibri"/>
              </a:rPr>
              <a:t>Tutorías: regístrate siempre en https://forms.gle/oZ8xCYiUo3KEWr1d9</a:t>
            </a:r>
          </a:p>
        </p:txBody>
      </p:sp>
      <p:sp>
        <p:nvSpPr>
          <p:cNvPr id="6" name="TextBox 5"/>
          <p:cNvSpPr txBox="1"/>
          <p:nvPr/>
        </p:nvSpPr>
        <p:spPr>
          <a:xfrm>
            <a:off x="640080" y="4754880"/>
            <a:ext cx="10911535" cy="640080"/>
          </a:xfrm>
          <a:prstGeom prst="rect">
            <a:avLst/>
          </a:prstGeom>
          <a:noFill/>
        </p:spPr>
        <p:txBody>
          <a:bodyPr wrap="square" anchor="t" lIns="0" rIns="0" tIns="0" bIns="0">
            <a:spAutoFit/>
          </a:bodyPr>
          <a:lstStyle/>
          <a:p>
            <a:pPr algn="ctr"/>
            <a:r>
              <a:rPr sz="2000" b="1" i="0">
                <a:solidFill>
                  <a:srgbClr val="007433"/>
                </a:solidFill>
                <a:latin typeface="Calibri"/>
              </a:rPr>
              <a:t>PROYECTO I · ESP329</a:t>
            </a:r>
          </a:p>
        </p:txBody>
      </p:sp>
      <p:sp>
        <p:nvSpPr>
          <p:cNvPr id="7" name="TextBox 6"/>
          <p:cNvSpPr txBox="1"/>
          <p:nvPr/>
        </p:nvSpPr>
        <p:spPr>
          <a:xfrm>
            <a:off x="2194560" y="6446520"/>
            <a:ext cx="5943600" cy="274320"/>
          </a:xfrm>
          <a:prstGeom prst="rect">
            <a:avLst/>
          </a:prstGeom>
          <a:noFill/>
        </p:spPr>
        <p:txBody>
          <a:bodyPr wrap="square" anchor="t" lIns="0" rIns="0" tIns="0" bIns="0">
            <a:spAutoFit/>
          </a:bodyPr>
          <a:lstStyle/>
          <a:p>
            <a:pPr algn="l"/>
            <a:r>
              <a:rPr sz="1000" b="1" i="0">
                <a:solidFill>
                  <a:srgbClr val="8F989D"/>
                </a:solidFill>
                <a:latin typeface="Calibri"/>
              </a:rPr>
              <a:t>Inicio 8:10 pm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CUN</dc:creator>
  <cp:keywords/>
  <dc:description/>
  <cp:lastModifiedBy>CUN</cp:lastModifiedBy>
  <cp:revision>1</cp:revision>
  <dcterms:created xsi:type="dcterms:W3CDTF">2013-01-27T09:14:16Z</dcterms:created>
  <dcterms:modified xsi:type="dcterms:W3CDTF">2013-01-27T09:15:58Z</dcterms:modified>
  <cp:category/>
</cp:coreProperties>
</file>