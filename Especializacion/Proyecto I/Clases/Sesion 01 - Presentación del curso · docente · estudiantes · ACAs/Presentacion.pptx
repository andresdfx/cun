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9" roundtripDataSignature="AMtx7mgGvIlbQOHoai5lxRqMLHps16GnK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2B1F78A-36C7-4734-840E-526E5161B390}">
  <a:tblStyle styleId="{72B1F78A-36C7-4734-840E-526E5161B390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customschemas.google.com/relationships/presentationmetadata" Target="meta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7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7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8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8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9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9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9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9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1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1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2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2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2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3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4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4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74320"/>
            <a:ext cx="1325880" cy="919277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640080" y="1303324"/>
            <a:ext cx="10911600" cy="91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SESIÓN 01 — PRESENTACIÓN DEL CURSO</a:t>
            </a:r>
            <a:endParaRPr/>
          </a:p>
          <a:p>
            <a:pPr indent="0" lvl="0" marL="0" marR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CFDDEE"/>
                </a:solidFill>
                <a:latin typeface="Calibri"/>
                <a:ea typeface="Calibri"/>
                <a:cs typeface="Calibri"/>
                <a:sym typeface="Calibri"/>
              </a:rPr>
              <a:t>Proyecto I — Especialización en Inteligencia Artificial</a:t>
            </a:r>
            <a:endParaRPr sz="1700"/>
          </a:p>
        </p:txBody>
      </p:sp>
      <p:sp>
        <p:nvSpPr>
          <p:cNvPr id="88" name="Google Shape;88;p1"/>
          <p:cNvSpPr txBox="1"/>
          <p:nvPr/>
        </p:nvSpPr>
        <p:spPr>
          <a:xfrm>
            <a:off x="640080" y="3337560"/>
            <a:ext cx="10911600" cy="103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01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Sesión de encuadre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Hoy: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curso · el Docente · ustedes · cómo se evalúa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Asignatura: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PROYECTO I</a:t>
            </a:r>
            <a:endParaRPr sz="17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0"/>
            <a:ext cx="12191700" cy="118860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2"/>
          <p:cNvSpPr txBox="1"/>
          <p:nvPr/>
        </p:nvSpPr>
        <p:spPr>
          <a:xfrm>
            <a:off x="1554480" y="317500"/>
            <a:ext cx="908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AGENDA DE HOY</a:t>
            </a:r>
            <a:endParaRPr/>
          </a:p>
        </p:txBody>
      </p:sp>
      <p:sp>
        <p:nvSpPr>
          <p:cNvPr id="95" name="Google Shape;95;p2"/>
          <p:cNvSpPr txBox="1"/>
          <p:nvPr/>
        </p:nvSpPr>
        <p:spPr>
          <a:xfrm>
            <a:off x="640080" y="1280160"/>
            <a:ext cx="10911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de encuadre — hoy no vemos tema; el contenido arranca en la Sesión 02.</a:t>
            </a:r>
            <a:endParaRPr sz="1800"/>
          </a:p>
        </p:txBody>
      </p:sp>
      <p:sp>
        <p:nvSpPr>
          <p:cNvPr id="96" name="Google Shape;96;p2"/>
          <p:cNvSpPr txBox="1"/>
          <p:nvPr/>
        </p:nvSpPr>
        <p:spPr>
          <a:xfrm>
            <a:off x="640080" y="2011679"/>
            <a:ext cx="10911600" cy="197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  </a:t>
            </a:r>
            <a:r>
              <a:rPr b="1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El curso:</a:t>
            </a: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qué se trata, cómo trabajamos y qué se llevan al final.</a:t>
            </a:r>
            <a:endParaRPr sz="17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El Docente:</a:t>
            </a: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quién los acompaña y cómo contactarlo.</a:t>
            </a:r>
            <a:endParaRPr sz="17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Ustedes:</a:t>
            </a: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arrancamos con un juego de 8 minutos —«dos verdades y una mentira»— y hay premio.</a:t>
            </a:r>
            <a:endParaRPr sz="17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Cómo se evalúa:</a:t>
            </a: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qué ítems tiene el aula, cuánto pesa cada uno y qué se hace con él.</a:t>
            </a:r>
            <a:endParaRPr sz="17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Acuerdos</a:t>
            </a: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trabajo y el primer encargo autónomo.</a:t>
            </a:r>
            <a:endParaRPr sz="1700"/>
          </a:p>
        </p:txBody>
      </p:sp>
      <p:sp>
        <p:nvSpPr>
          <p:cNvPr id="97" name="Google Shape;97;p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3"/>
          <p:cNvSpPr txBox="1"/>
          <p:nvPr/>
        </p:nvSpPr>
        <p:spPr>
          <a:xfrm>
            <a:off x="1426280" y="394263"/>
            <a:ext cx="9082800" cy="86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DOCENTE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3"/>
          <p:cNvSpPr txBox="1"/>
          <p:nvPr/>
        </p:nvSpPr>
        <p:spPr>
          <a:xfrm>
            <a:off x="601201" y="1950629"/>
            <a:ext cx="10989300" cy="29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chemeClr val="dk1"/>
                </a:solidFill>
              </a:rPr>
              <a:t> Julián Castaño</a:t>
            </a:r>
            <a:endParaRPr b="1"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b="1" lang="en-US" sz="1900">
                <a:solidFill>
                  <a:schemeClr val="dk1"/>
                </a:solidFill>
              </a:rPr>
            </a:br>
            <a:r>
              <a:rPr lang="en-US" sz="1900">
                <a:solidFill>
                  <a:schemeClr val="dk1"/>
                </a:solidFill>
              </a:rPr>
              <a:t> Ingeniero de Sistemas · Candidato a MSc. en Inteligencia Artificial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00">
                <a:solidFill>
                  <a:schemeClr val="dk1"/>
                </a:solidFill>
              </a:rPr>
              <a:t>•Líder Técnico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00">
                <a:solidFill>
                  <a:schemeClr val="dk1"/>
                </a:solidFill>
              </a:rPr>
              <a:t>•Speaker tecnológico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900">
                <a:solidFill>
                  <a:schemeClr val="dk1"/>
                </a:solidFill>
              </a:rPr>
              <a:t>CONTACTO</a:t>
            </a:r>
            <a:br>
              <a:rPr b="1" lang="en-US" sz="1900">
                <a:solidFill>
                  <a:schemeClr val="dk1"/>
                </a:solidFill>
              </a:rPr>
            </a:br>
            <a:r>
              <a:rPr lang="en-US" sz="1900">
                <a:solidFill>
                  <a:schemeClr val="dk1"/>
                </a:solidFill>
              </a:rPr>
              <a:t> ✉ </a:t>
            </a:r>
            <a:r>
              <a:rPr lang="en-US" sz="1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julian_castanoe@cun.edu.co</a:t>
            </a:r>
            <a:endParaRPr sz="1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B2B2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105" name="Google Shape;10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5523586"/>
            <a:ext cx="1463040" cy="1014374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3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07" name="Google Shape;107;p3"/>
          <p:cNvSpPr txBox="1"/>
          <p:nvPr/>
        </p:nvSpPr>
        <p:spPr>
          <a:xfrm>
            <a:off x="6731000" y="610800"/>
            <a:ext cx="54852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4"/>
          <p:cNvSpPr txBox="1"/>
          <p:nvPr/>
        </p:nvSpPr>
        <p:spPr>
          <a:xfrm>
            <a:off x="1054638" y="302400"/>
            <a:ext cx="10082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ROMPEHIELOS — DOS VERDADES Y UNA MENTIRA</a:t>
            </a:r>
            <a:endParaRPr/>
          </a:p>
        </p:txBody>
      </p:sp>
      <p:sp>
        <p:nvSpPr>
          <p:cNvPr id="114" name="Google Shape;114;p4"/>
          <p:cNvSpPr txBox="1"/>
          <p:nvPr/>
        </p:nvSpPr>
        <p:spPr>
          <a:xfrm>
            <a:off x="640080" y="1280160"/>
            <a:ext cx="10911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Dos verdades y una mentira · Slido · 8 minutos</a:t>
            </a:r>
            <a:endParaRPr sz="1800"/>
          </a:p>
        </p:txBody>
      </p:sp>
      <p:sp>
        <p:nvSpPr>
          <p:cNvPr id="115" name="Google Shape;115;p4"/>
          <p:cNvSpPr txBox="1"/>
          <p:nvPr/>
        </p:nvSpPr>
        <p:spPr>
          <a:xfrm>
            <a:off x="725550" y="1714850"/>
            <a:ext cx="7692900" cy="444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Entra a slido.com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escribe el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código del evento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que el Docente pega en el chat del Meet. Sin cuenta ni instalar nada.</a:t>
            </a:r>
            <a:endParaRPr sz="20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El juego: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«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dos verdades y una mentira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» sobre el Docente. Se proyectan tres frases suyas y votas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cuál de las tres NO es cierta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acertar es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 entre 3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así que arrancamos todos iguales.</a:t>
            </a:r>
            <a:endParaRPr sz="20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Tres rondas (~4 min).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Al cerrar cada una el Docente revela la mentira y cuenta la historia de la verdad más rara: ahí queda hecha su presentación.</a:t>
            </a:r>
            <a:endParaRPr sz="20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Ronda final (~2 min):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sale la tabla de posiciones y los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tres primeros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toman el micrófono con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sus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dos verdades y una mentira. Gana quien engañe a más gente. Hablan tres, no 50.</a:t>
            </a:r>
            <a:endParaRPr sz="20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Premio: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revisión 1 a 1 con el Docente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del avance del ganador, antes de la primera entrega.</a:t>
            </a:r>
            <a:endParaRPr sz="20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Las preguntas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toda la sesión van por el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Q&amp;A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del mismo Slido.</a:t>
            </a:r>
            <a:endParaRPr sz="2000"/>
          </a:p>
        </p:txBody>
      </p:sp>
      <p:sp>
        <p:nvSpPr>
          <p:cNvPr id="116" name="Google Shape;116;p4"/>
          <p:cNvSpPr/>
          <p:nvPr/>
        </p:nvSpPr>
        <p:spPr>
          <a:xfrm>
            <a:off x="8332927" y="1993391"/>
            <a:ext cx="3328415" cy="388620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4"/>
          <p:cNvSpPr txBox="1"/>
          <p:nvPr/>
        </p:nvSpPr>
        <p:spPr>
          <a:xfrm>
            <a:off x="8534095" y="2606039"/>
            <a:ext cx="2926200" cy="210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slido.com</a:t>
            </a:r>
            <a:endParaRPr/>
          </a:p>
          <a:p>
            <a:pPr indent="0" lvl="0" marL="0" marR="0" rtl="0" algn="ctr">
              <a:spcBef>
                <a:spcPts val="14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El </a:t>
            </a: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código del evento</a:t>
            </a:r>
            <a:r>
              <a:rPr b="0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 te lo pega el Docente en el </a:t>
            </a: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chat del Meet</a:t>
            </a:r>
            <a:r>
              <a:rPr b="0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18" name="Google Shape;118;p4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[URL Slido — evento del rompehielos pendiente · PROYECTO I]</a:t>
            </a:r>
            <a:endParaRPr/>
          </a:p>
        </p:txBody>
      </p:sp>
      <p:sp>
        <p:nvSpPr>
          <p:cNvPr id="119" name="Google Shape;119;p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 txBox="1"/>
          <p:nvPr/>
        </p:nvSpPr>
        <p:spPr>
          <a:xfrm>
            <a:off x="1698430" y="394263"/>
            <a:ext cx="908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SE EVALÚA — LOS ÍTEMS DEL AULA</a:t>
            </a:r>
            <a:endParaRPr/>
          </a:p>
        </p:txBody>
      </p:sp>
      <p:sp>
        <p:nvSpPr>
          <p:cNvPr id="126" name="Google Shape;126;p5"/>
          <p:cNvSpPr txBox="1"/>
          <p:nvPr/>
        </p:nvSpPr>
        <p:spPr>
          <a:xfrm>
            <a:off x="640080" y="1280160"/>
            <a:ext cx="10911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Evaluación y notas: solo en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los pesos suman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100%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fechas: enunciados y Presentación del Curso</a:t>
            </a:r>
            <a:endParaRPr sz="1800"/>
          </a:p>
        </p:txBody>
      </p:sp>
      <p:graphicFrame>
        <p:nvGraphicFramePr>
          <p:cNvPr id="127" name="Google Shape;127;p5"/>
          <p:cNvGraphicFramePr/>
          <p:nvPr/>
        </p:nvGraphicFramePr>
        <p:xfrm>
          <a:off x="640080" y="201167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{72B1F78A-36C7-4734-840E-526E5161B390}</a:tableStyleId>
              </a:tblPr>
              <a:tblGrid>
                <a:gridCol w="1833875"/>
                <a:gridCol w="1192025"/>
                <a:gridCol w="1192025"/>
                <a:gridCol w="825250"/>
                <a:gridCol w="586840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Ítem en CDigital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Tipo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(peso)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Peso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haces con él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(25%)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25%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 resuelves en CDigital dentro de su ventana. No se sube archivo.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1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Tarea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 (25%)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25%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Subes el documento (plantilla APA CUN) al espacio de la tarea.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FINAL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Tarea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(50%)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42%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Subes el documento (plantilla APA CUN) al espacio de la tarea.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Autoevaluación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(50%)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4%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diligencias tú mismo en el aula (cuestionario individual).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Coevaluación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Foro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(50%)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4%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Participas en el foro valorando el trabajo de tus pares.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8" name="Google Shape;128;p5"/>
          <p:cNvSpPr txBox="1"/>
          <p:nvPr/>
        </p:nvSpPr>
        <p:spPr>
          <a:xfrm>
            <a:off x="640080" y="5166360"/>
            <a:ext cx="10911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sube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documento únicamente en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 1 y ACA FINAL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; los cuestionarios se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resuelven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el aula y la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coevaluación es un foro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Enunciados y ventanas: `Clases/Recursos/ACAs/`.</a:t>
            </a:r>
            <a:endParaRPr/>
          </a:p>
        </p:txBody>
      </p:sp>
      <p:sp>
        <p:nvSpPr>
          <p:cNvPr id="129" name="Google Shape;129;p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6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 txBox="1"/>
          <p:nvPr/>
        </p:nvSpPr>
        <p:spPr>
          <a:xfrm>
            <a:off x="911137" y="328313"/>
            <a:ext cx="10369500" cy="86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TRABAJAMOS: EL ENCUENTRO TIENE DOS MITADES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 txBox="1"/>
          <p:nvPr/>
        </p:nvSpPr>
        <p:spPr>
          <a:xfrm>
            <a:off x="640080" y="1691639"/>
            <a:ext cx="10911600" cy="33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 Nos vemos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una vez por semana, dos horas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No son dos horas de exposición.</a:t>
            </a:r>
            <a:endParaRPr sz="17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Primera hora — contenido: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Docente explica el punto de la semana y modela un ejemplo en pantalla.</a:t>
            </a:r>
            <a:endParaRPr sz="17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Segunda hora — tutoría en vivo: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cada equipo trabaja su avance y el Docente pasa por los equipos.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El curso funciona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al revés de lo que se acostumbra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se lee y se escribe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antes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llegar al encuentro.</a:t>
            </a:r>
            <a:endParaRPr sz="17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A cada sesión se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trae el avance escrito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Aquí se corrige lo que ya existe; no se empieza de cero en clase.</a:t>
            </a:r>
            <a:endParaRPr sz="17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Quien llega sin nada escrito pierde la segunda hora: no hay avance que revisar.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Se trabaja en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equipos de máximo 3 personas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los mismos durante todo el curso.</a:t>
            </a:r>
            <a:endParaRPr sz="17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Un solo integrante sube la entrega grupal, pero la nota es del equipo, no de quien subió el archivo.</a:t>
            </a:r>
            <a:endParaRPr sz="17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¿Prefieren trabajar solos? Se puede, y la carga es la misma. Decídanlo esta semana, no en octubre.</a:t>
            </a:r>
            <a:endParaRPr sz="1700"/>
          </a:p>
        </p:txBody>
      </p:sp>
      <p:sp>
        <p:nvSpPr>
          <p:cNvPr id="137" name="Google Shape;137;p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sp>
        <p:nvSpPr>
          <p:cNvPr id="138" name="Google Shape;138;p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Regla de oro: la clase avanza sobre el documento del equipo. Si el documento no crece, el curso no avanza.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"/>
          <p:cNvSpPr/>
          <p:nvPr/>
        </p:nvSpPr>
        <p:spPr>
          <a:xfrm>
            <a:off x="0" y="0"/>
            <a:ext cx="12191700" cy="118860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7"/>
          <p:cNvSpPr txBox="1"/>
          <p:nvPr/>
        </p:nvSpPr>
        <p:spPr>
          <a:xfrm>
            <a:off x="728499" y="328200"/>
            <a:ext cx="10823100" cy="86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MAPA DEL CURSO: QUÉ PASA EN CADA UNO DE LOS 11 ENCUENTROS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45" name="Google Shape;145;p7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{72B1F78A-36C7-4734-840E-526E5161B390}</a:tableStyleId>
              </a:tblPr>
              <a:tblGrid>
                <a:gridCol w="991950"/>
                <a:gridCol w="6844500"/>
                <a:gridCol w="3075075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 qué se ocupa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Bloque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Presentación del curso, del Docente, de ustedes y de cómo se evalúa (hoy)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Encuadre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Problema y pregunta de investigación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1 · </a:t>
                      </a:r>
                      <a:r>
                        <a:rPr b="1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03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Objetivos, justificación, alcances y limitaciones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1 · </a:t>
                      </a:r>
                      <a:r>
                        <a:rPr b="1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Retroalimentación del corte 1 · antecedentes de investigación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2 · </a:t>
                      </a:r>
                      <a:r>
                        <a:rPr b="1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1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Marco teórico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2 · </a:t>
                      </a:r>
                      <a:r>
                        <a:rPr b="1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1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Marco conceptual y marco contextual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2 · </a:t>
                      </a:r>
                      <a:r>
                        <a:rPr b="1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1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Marco legal · citación en APA 7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2 · </a:t>
                      </a:r>
                      <a:r>
                        <a:rPr b="1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1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Diseño metodológico: paradigma, enfoque y alcance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Puente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6" name="Google Shape;146;p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8"/>
          <p:cNvSpPr/>
          <p:nvPr/>
        </p:nvSpPr>
        <p:spPr>
          <a:xfrm>
            <a:off x="0" y="0"/>
            <a:ext cx="12191700" cy="118860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8"/>
          <p:cNvSpPr txBox="1"/>
          <p:nvPr/>
        </p:nvSpPr>
        <p:spPr>
          <a:xfrm>
            <a:off x="594325" y="263075"/>
            <a:ext cx="11003100" cy="86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MAPA DEL CURSO: QUÉ PASA EN CADA UNO DE LOS 11 ENCUENTROS (CONT.)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53" name="Google Shape;153;p8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{72B1F78A-36C7-4734-840E-526E5161B390}</a:tableStyleId>
              </a:tblPr>
              <a:tblGrid>
                <a:gridCol w="991950"/>
                <a:gridCol w="6844500"/>
                <a:gridCol w="3075075"/>
              </a:tblGrid>
              <a:tr h="578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 qué se ocupa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Bloque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09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Población y muestra, técnicas e instrumentos </a:t>
                      </a:r>
                      <a:r>
                        <a:rPr b="1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propuestos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3 · </a:t>
                      </a:r>
                      <a:r>
                        <a:rPr b="1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FINAL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Planeación, viabilidad e integración del anteproyecto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3 · </a:t>
                      </a:r>
                      <a:r>
                        <a:rPr b="1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FINAL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Integración y evaluación · coevaluación (foro) y autoevaluación (cuestionario): instrumentos individuales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7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Cierre</a:t>
                      </a:r>
                      <a:endParaRPr sz="20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4" name="Google Shape;154;p8"/>
          <p:cNvSpPr txBox="1"/>
          <p:nvPr/>
        </p:nvSpPr>
        <p:spPr>
          <a:xfrm>
            <a:off x="640080" y="4370230"/>
            <a:ext cx="109116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 unidad de </a:t>
            </a:r>
            <a:r>
              <a:rPr b="1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fundamentos y enfoque de investigación (U1 del programa)</a:t>
            </a:r>
            <a:r>
              <a:rPr b="0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pasa a </a:t>
            </a:r>
            <a:r>
              <a:rPr b="1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lectura autónoma</a:t>
            </a:r>
            <a:r>
              <a:rPr b="0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hoy hacemos encuadre y la retomamos al abrir la Sesión 02. Fechas exactas de cada encuentro: calendario del curso en CDigital.</a:t>
            </a:r>
            <a:endParaRPr sz="1600"/>
          </a:p>
        </p:txBody>
      </p:sp>
      <p:sp>
        <p:nvSpPr>
          <p:cNvPr id="155" name="Google Shape;155;p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9"/>
          <p:cNvSpPr txBox="1"/>
          <p:nvPr/>
        </p:nvSpPr>
        <p:spPr>
          <a:xfrm>
            <a:off x="715674" y="328325"/>
            <a:ext cx="10454400" cy="86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PRODUCTO DEL CURSO: QUÉ ARCHIVO ENTREGAN AL FINAL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9"/>
          <p:cNvSpPr txBox="1"/>
          <p:nvPr/>
        </p:nvSpPr>
        <p:spPr>
          <a:xfrm>
            <a:off x="640080" y="1691639"/>
            <a:ext cx="10911600" cy="3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Al terminar el curso ustedes suben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 solo documento: el anteproyecto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su investigación.</a:t>
            </a:r>
            <a:endParaRPr sz="17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No son trabajos sueltos: es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 mismo archivo que crece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corte tras corte.</a:t>
            </a:r>
            <a:endParaRPr sz="17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La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 FINAL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del aula es ese archivo completo e integrado, no un fragmento nuevo escrito la última semana.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Va en la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plantilla APA CUN de proyecto de grado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la misma desde el primer día.</a:t>
            </a:r>
            <a:endParaRPr sz="17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Está en `Clases/Recursos/Plantilla_APA_CUN_Proyecto de grado.docx`; ábranla en Google Docs y trabajen ahí.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¿Para qué les sirve después?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 el punto de partida de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Proyecto II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donde el proyecto se ejecuta.</a:t>
            </a:r>
            <a:endParaRPr sz="17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Y es la base de lo que sustentarán al cerrar el programa: no es un trabajo que se archiva y se olvida.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Frontera del curso, sin excepciones: en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Proyecto I los instrumentos se proponen; nunca se aplican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700"/>
          </a:p>
        </p:txBody>
      </p:sp>
      <p:sp>
        <p:nvSpPr>
          <p:cNvPr id="163" name="Google Shape;163;p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  <p:sp>
        <p:nvSpPr>
          <p:cNvPr id="164" name="Google Shape;164;p9"/>
          <p:cNvSpPr txBox="1"/>
          <p:nvPr/>
        </p:nvSpPr>
        <p:spPr>
          <a:xfrm>
            <a:off x="640080" y="5580750"/>
            <a:ext cx="9997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Piénsenlo así: todo el semestre queda en un archivo. Cuídenlo, guarden versiones y compártanlo con todo el equipo desde hoy.</a:t>
            </a:r>
            <a:endParaRPr sz="16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0"/>
          <p:cNvSpPr txBox="1"/>
          <p:nvPr/>
        </p:nvSpPr>
        <p:spPr>
          <a:xfrm>
            <a:off x="640075" y="142125"/>
            <a:ext cx="10911600" cy="13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CORTE POR CORTE: QUÉ HAY EN EL AULA Y QUÉ SEPARA UN BUEN TRABAJO DE UNO FLOJO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71" name="Google Shape;171;p10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{72B1F78A-36C7-4734-840E-526E5161B390}</a:tableStyleId>
              </a:tblPr>
              <a:tblGrid>
                <a:gridCol w="825250"/>
                <a:gridCol w="2934200"/>
                <a:gridCol w="3667750"/>
                <a:gridCol w="348435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hay en el aula (CDigital)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se prepara para eso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Bueno vs. flojo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1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</a:t>
                      </a: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cuestionario individual que se resuelve en el aula, dentro de su ventana. No se sube archivo.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Formulación del problema: planteamiento, pregunta, objetivos, justificación, alcances y limitaciones. Guía: `Quiz (25%)`.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Bueno:</a:t>
                      </a: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se puede señalar a quién le duele algo y dónde ocurre. </a:t>
                      </a: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Flojo:</a:t>
                      </a: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una tecnología de moda sin decir a quién le sirve.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2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1</a:t>
                      </a: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tarea del equipo — se </a:t>
                      </a: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sube</a:t>
                      </a: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el documento.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Fundamentación referencial: antecedentes (mín. 6), marco teórico, conceptual, contextual y legal, con las correcciones del corte 1. Guía: `ACA 1 (25%)`.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Bueno:</a:t>
                      </a: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cada fuente responde a la pregunta y se nota qué se corrigió. </a:t>
                      </a: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Flojo:</a:t>
                      </a: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resúmenes pegados que no se hablan entre sí.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3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FINAL</a:t>
                      </a: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(tarea del equipo) + </a:t>
                      </a: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autoevaluación</a:t>
                      </a: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(cuestionario) y </a:t>
                      </a: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coevaluación</a:t>
                      </a: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(foro), individuales.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Anteproyecto completo e integrado: metodología, población, instrumentos </a:t>
                      </a: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propuestos</a:t>
                      </a: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cronograma, presupuesto y viabilidad. Guía: `ACA FINAL (42%)`.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Bueno:</a:t>
                      </a: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se lee de portada a referencias sin contradecirse. </a:t>
                      </a: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Flojo:</a:t>
                      </a: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capítulos con tres preguntas de investigación distintas.</a:t>
                      </a:r>
                      <a:endParaRPr sz="19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2" name="Google Shape;172;p10"/>
          <p:cNvSpPr txBox="1"/>
          <p:nvPr/>
        </p:nvSpPr>
        <p:spPr>
          <a:xfrm>
            <a:off x="640068" y="6160255"/>
            <a:ext cx="10911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Los pesos y el tipo de cada ítem están en la slide «CÓMO SE EVALÚA» de esta sesión. Autoevaluación y coevaluación </a:t>
            </a:r>
            <a:r>
              <a:rPr b="1" i="1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 son entregables</a:t>
            </a:r>
            <a:r>
              <a:rPr b="0" i="1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se diligencian y se participa en el aula al cierre (instructivo en `Clases/Recursos/ACAs/`, junto con los enunciados y las fechas).</a:t>
            </a:r>
            <a:endParaRPr sz="1500"/>
          </a:p>
        </p:txBody>
      </p:sp>
      <p:sp>
        <p:nvSpPr>
          <p:cNvPr id="173" name="Google Shape;173;p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1"/>
          <p:cNvSpPr txBox="1"/>
          <p:nvPr/>
        </p:nvSpPr>
        <p:spPr>
          <a:xfrm>
            <a:off x="937650" y="-65950"/>
            <a:ext cx="9855600" cy="13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SE ENTREGA: PASO A PASO EN CDIGITAL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1"/>
          <p:cNvSpPr txBox="1"/>
          <p:nvPr/>
        </p:nvSpPr>
        <p:spPr>
          <a:xfrm>
            <a:off x="640075" y="1691651"/>
            <a:ext cx="10911600" cy="37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Trabajen la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plantilla APA CUN en Google Docs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un documento por equipo, con permiso de edición para todos.</a:t>
            </a:r>
            <a:endParaRPr sz="17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Antes de entregar,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descarguen como PDF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así nadie recibe un documento a medio formatear.</a:t>
            </a:r>
            <a:endParaRPr sz="17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Nombren el archivo con el ítem del aula: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ACA1_Apellido1-Apellido2-Apellido3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el corte 2 y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ACAFinal_Apellido1-Apellido2-Apellido3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el cierre.</a:t>
            </a:r>
            <a:endParaRPr sz="17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 solo integrante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lo sube en el espacio de ese ítem en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; los demás verifican que quedó cargado.</a:t>
            </a:r>
            <a:endParaRPr sz="1700"/>
          </a:p>
          <a:p>
            <a:pPr indent="0" lvl="0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El Quiz del corte 1 no se sube: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 un cuestionario individual que se resuelve en el aula dentro de su ventana.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5.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Revisen que la portada traiga los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nombres completos de todos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si falta alguien, esa persona no tiene nota.</a:t>
            </a:r>
            <a:endParaRPr sz="17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Lo que no está en CDigital, no está entregado.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Correo, chat o WhatsApp no son canal de entrega.</a:t>
            </a:r>
            <a:endParaRPr sz="17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Entrega tardía: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espacio cierra a la hora publicada en el enunciado. Si algo pasa, se avisa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antes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del cierre.</a:t>
            </a:r>
            <a:endParaRPr sz="1700"/>
          </a:p>
          <a:p>
            <a:pPr indent="0" lvl="0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Quedarse sin internet a las 11:50 p. m. no es un imprevisto: es haber esperado hasta las 11:50 p. m.</a:t>
            </a:r>
            <a:endParaRPr sz="1700"/>
          </a:p>
        </p:txBody>
      </p:sp>
      <p:sp>
        <p:nvSpPr>
          <p:cNvPr id="181" name="Google Shape;181;p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182" name="Google Shape;182;p11"/>
          <p:cNvSpPr txBox="1"/>
          <p:nvPr/>
        </p:nvSpPr>
        <p:spPr>
          <a:xfrm>
            <a:off x="640080" y="5943600"/>
            <a:ext cx="9997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Consejo del Docente: suban una versión el día anterior. Mientras el espacio esté abierto siempre se puede reemplazar por una mejor.</a:t>
            </a:r>
            <a:endParaRPr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2"/>
          <p:cNvSpPr txBox="1"/>
          <p:nvPr/>
        </p:nvSpPr>
        <p:spPr>
          <a:xfrm>
            <a:off x="868674" y="313263"/>
            <a:ext cx="10188300" cy="86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INTEGRIDAD ACADÉMICA: LA LÍNEA QUE NO SE CRUZA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2"/>
          <p:cNvSpPr/>
          <p:nvPr/>
        </p:nvSpPr>
        <p:spPr>
          <a:xfrm>
            <a:off x="640080" y="1737360"/>
            <a:ext cx="10911535" cy="1481328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2"/>
          <p:cNvSpPr txBox="1"/>
          <p:nvPr/>
        </p:nvSpPr>
        <p:spPr>
          <a:xfrm>
            <a:off x="868680" y="1847088"/>
            <a:ext cx="10454400" cy="103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</a:t>
            </a:r>
            <a:r>
              <a:rPr b="1" i="0" lang="en-US" sz="16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 Importante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Plagio es tomar lo ajeno y no decirlo.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Cuenta como plagio pegar texto de una fuente sin comillas ni cita, traducir un párrafo ajeno y firmarlo, reusar un trabajo propio de otro semestre como si fuera nuevo, y entregar el documento de otro equipo con la portada cambiada.</a:t>
            </a:r>
            <a:endParaRPr sz="1700"/>
          </a:p>
        </p:txBody>
      </p:sp>
      <p:sp>
        <p:nvSpPr>
          <p:cNvPr id="191" name="Google Shape;191;p12"/>
          <p:cNvSpPr/>
          <p:nvPr/>
        </p:nvSpPr>
        <p:spPr>
          <a:xfrm>
            <a:off x="640080" y="3447288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E8F5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2"/>
          <p:cNvSpPr txBox="1"/>
          <p:nvPr/>
        </p:nvSpPr>
        <p:spPr>
          <a:xfrm>
            <a:off x="868680" y="3557016"/>
            <a:ext cx="10454400" cy="79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ℹ️ </a:t>
            </a:r>
            <a:r>
              <a:rPr b="1" i="0" lang="en-US" sz="16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Nota institucional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Citar no debilita el trabajo: lo sostiene.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este curso se cita 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APA 7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dentro del texto y en la lista final de referencias. Una idea que no es suya y no está citada es un problema; esa misma idea citada es un argumento con respaldo.</a:t>
            </a:r>
            <a:endParaRPr sz="1700"/>
          </a:p>
        </p:txBody>
      </p:sp>
      <p:sp>
        <p:nvSpPr>
          <p:cNvPr id="193" name="Google Shape;193;p12"/>
          <p:cNvSpPr/>
          <p:nvPr/>
        </p:nvSpPr>
        <p:spPr>
          <a:xfrm>
            <a:off x="640080" y="4901184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2"/>
          <p:cNvSpPr txBox="1"/>
          <p:nvPr/>
        </p:nvSpPr>
        <p:spPr>
          <a:xfrm>
            <a:off x="868680" y="5010912"/>
            <a:ext cx="10454400" cy="79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 Aclaración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Si se detecta, hay debido proceso.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No depende del ánimo del Docente: es un procedimiento institucional, con notificación y derecho a descargos. Por eso siempre conviene preguntar antes que improvisar.</a:t>
            </a:r>
            <a:endParaRPr sz="1700"/>
          </a:p>
        </p:txBody>
      </p:sp>
      <p:sp>
        <p:nvSpPr>
          <p:cNvPr id="195" name="Google Shape;195;p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3"/>
          <p:cNvSpPr txBox="1"/>
          <p:nvPr/>
        </p:nvSpPr>
        <p:spPr>
          <a:xfrm>
            <a:off x="933749" y="394263"/>
            <a:ext cx="10324200" cy="86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IA GENERATIVA: SE PUEDE USAR, CON TRES CONDICIONES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3"/>
          <p:cNvSpPr txBox="1"/>
          <p:nvPr/>
        </p:nvSpPr>
        <p:spPr>
          <a:xfrm>
            <a:off x="640075" y="1691650"/>
            <a:ext cx="11231400" cy="33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 este curso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 se prohíbe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usar IA generativa. Se exige usarla con criterio y decirlo por escrito.</a:t>
            </a:r>
            <a:endParaRPr sz="17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Condición 1 — Declararla.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Una nota al final del documento: qué herramienta usaron y para qué (ideas, redacción, tablas).</a:t>
            </a:r>
            <a:endParaRPr sz="17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Condición 2 — Verificar todo.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Cada dato y cada fuente que sugiera la herramienta se comprueba en el original.</a:t>
            </a:r>
            <a:endParaRPr sz="17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Los modelos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inventan referencias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con apariencia impecable: autor creíble, año creíble, enlace que no existe.</a:t>
            </a:r>
            <a:endParaRPr sz="17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Citar una referencia inexistente no es un error de formato: es una fuente falsa dentro de un trabajo académico.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Condición 3 — La autoría es suya.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La decisión, el criterio y la defensa del documento son del equipo.</a:t>
            </a:r>
            <a:endParaRPr sz="17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Si no pueden explicar en voz alta un párrafo de su propio anteproyecto, ese párrafo todavía no es suyo.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Uso sensato: ordenar ideas, mejorar redacción, sugerir ejemplos. Uso inútil: pedirle el trabajo entero.</a:t>
            </a:r>
            <a:endParaRPr sz="1700"/>
          </a:p>
        </p:txBody>
      </p:sp>
      <p:sp>
        <p:nvSpPr>
          <p:cNvPr id="203" name="Google Shape;203;p13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/>
          </a:p>
        </p:txBody>
      </p:sp>
      <p:sp>
        <p:nvSpPr>
          <p:cNvPr id="204" name="Google Shape;204;p13"/>
          <p:cNvSpPr txBox="1"/>
          <p:nvPr/>
        </p:nvSpPr>
        <p:spPr>
          <a:xfrm>
            <a:off x="640080" y="5943600"/>
            <a:ext cx="9997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Prueba rápida antes de entregar: abran el documento en cualquier página y explíquenla con sus palabras. Si no pueden, reescríbanla.</a:t>
            </a:r>
            <a:endParaRPr sz="16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4"/>
          <p:cNvSpPr/>
          <p:nvPr/>
        </p:nvSpPr>
        <p:spPr>
          <a:xfrm>
            <a:off x="0" y="0"/>
            <a:ext cx="12191700" cy="118860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4"/>
          <p:cNvSpPr txBox="1"/>
          <p:nvPr/>
        </p:nvSpPr>
        <p:spPr>
          <a:xfrm>
            <a:off x="640075" y="0"/>
            <a:ext cx="106872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Herramientas del curso: todas gratis y desde el navegador</a:t>
            </a:r>
            <a:endParaRPr/>
          </a:p>
        </p:txBody>
      </p:sp>
      <p:graphicFrame>
        <p:nvGraphicFramePr>
          <p:cNvPr id="211" name="Google Shape;211;p14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{72B1F78A-36C7-4734-840E-526E5161B390}</a:tableStyleId>
              </a:tblPr>
              <a:tblGrid>
                <a:gridCol w="2975875"/>
                <a:gridCol w="793565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Herramienta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Para qué la usamos en este curso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CDigital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Aula oficial: material, </a:t>
                      </a:r>
                      <a:r>
                        <a:rPr b="1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</a:t>
                      </a: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espacios de entrega de ACA 1 y ACA FINAL, foro de coevaluación y retroalimentación. Único canal válido.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Google Docs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Donde se escribe el anteproyecto, en equipo y a la vez, sobre la plantilla APA CUN. Guarda historial de versiones.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Google Scholar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Buscador académico general: artículos, tesis y libros. Punto de partida para rastrear antecedentes.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SciELO y Redalyc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Repositorios abiertos en español: producción latinoamericana, clave para los antecedentes nacionales y regionales.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ZoteroBib (zbib.org)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Genera la referencia en APA 7 pegando un enlace o un DOI. Sin instalar nada y sin crear cuenta.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Excalidraw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Pizarra para dibujar el proceso, el contexto o la idea cuando el texto solo no alcanza para explicarla.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Google Meet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encuentro sincrónico semanal: mismo enlace toda la serie. La sesión se graba.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2" name="Google Shape;212;p14"/>
          <p:cNvSpPr txBox="1"/>
          <p:nvPr/>
        </p:nvSpPr>
        <p:spPr>
          <a:xfrm>
            <a:off x="640080" y="6063835"/>
            <a:ext cx="10911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Nada de esto cuesta ni exige instalación.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Súmenle la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biblioteca virtual de la CUN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con su usuario institucional. Si una herramienta les pide pagar para continuar, no es la que estamos usando: pregunten antes.</a:t>
            </a:r>
            <a:endParaRPr/>
          </a:p>
        </p:txBody>
      </p:sp>
      <p:sp>
        <p:nvSpPr>
          <p:cNvPr id="213" name="Google Shape;213;p1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5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5"/>
          <p:cNvSpPr txBox="1"/>
          <p:nvPr/>
        </p:nvSpPr>
        <p:spPr>
          <a:xfrm>
            <a:off x="640075" y="0"/>
            <a:ext cx="10454400" cy="13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PEDIR AYUDA: CANALES, TUTORÍAS Y TIEMPOS DE RESPUESTA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5"/>
          <p:cNvSpPr txBox="1"/>
          <p:nvPr/>
        </p:nvSpPr>
        <p:spPr>
          <a:xfrm>
            <a:off x="640075" y="1691651"/>
            <a:ext cx="10911600" cy="375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 clase: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la segunda hora es tutoría en vivo. Es el canal más rápido y ya está dentro de su horario.</a:t>
            </a:r>
            <a:endParaRPr sz="17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Tutorías por equipo: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se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acuerdan en la semana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con el Docente. No hay atención espontánea sin cita.</a:t>
            </a:r>
            <a:endParaRPr sz="17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Al pedirla, digan qué necesitan y qué tienen escrito; se agenda y se atiende con el documento abierto.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Cada estudiante que asiste a tutoría registra su asistencia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el formulario del curso:</a:t>
            </a:r>
            <a:endParaRPr sz="17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https://forms.gle/oZ8xCYiUo3KEWr1d9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también queda publicado en CDigital.</a:t>
            </a:r>
            <a:endParaRPr sz="17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Ese registro es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su evidencia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acompañamiento ante el programa: sin registro, la tutoría no consta.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Foro y mensajería de CDigital: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para dudas que le sirven a todo el curso. Respuesta en días hábiles.</a:t>
            </a:r>
            <a:endParaRPr sz="17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Antes de preguntar: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revisen el enunciado del corte y la plantilla. La mitad de las dudas ya está resuelta ahí.</a:t>
            </a:r>
            <a:endParaRPr sz="17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Pregunta bien hecha = sección concreta + qué intentaron + qué no les cuadra. «No entendí nada» no se puede responder.</a:t>
            </a:r>
            <a:endParaRPr sz="1700"/>
          </a:p>
        </p:txBody>
      </p:sp>
      <p:sp>
        <p:nvSpPr>
          <p:cNvPr id="221" name="Google Shape;221;p1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/>
          </a:p>
        </p:txBody>
      </p:sp>
      <p:sp>
        <p:nvSpPr>
          <p:cNvPr id="222" name="Google Shape;222;p15"/>
          <p:cNvSpPr txBox="1"/>
          <p:nvPr/>
        </p:nvSpPr>
        <p:spPr>
          <a:xfrm>
            <a:off x="640080" y="5943600"/>
            <a:ext cx="9997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Las tutorías por grupo se acuerdan en la semana con el Docente (no hay atención espontánea sin cita).</a:t>
            </a:r>
            <a:endParaRPr sz="16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6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6"/>
          <p:cNvSpPr txBox="1"/>
          <p:nvPr/>
        </p:nvSpPr>
        <p:spPr>
          <a:xfrm>
            <a:off x="640074" y="0"/>
            <a:ext cx="10142700" cy="13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ACUERDOS DE CONVIVENCIA DEL ENCUENTRO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6"/>
          <p:cNvSpPr/>
          <p:nvPr/>
        </p:nvSpPr>
        <p:spPr>
          <a:xfrm>
            <a:off x="640080" y="1737360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E8F5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6"/>
          <p:cNvSpPr txBox="1"/>
          <p:nvPr/>
        </p:nvSpPr>
        <p:spPr>
          <a:xfrm>
            <a:off x="868680" y="1847088"/>
            <a:ext cx="10454400" cy="8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ℹ️</a:t>
            </a:r>
            <a:r>
              <a:rPr b="1" i="0" lang="en-US" sz="16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8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Nota institucional</a:t>
            </a:r>
            <a:endParaRPr sz="19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Puntualidad y cámara.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Empezamos a la hora en punto. Cámara encendida al menos en la presentación y en la tutoría de su equipo: revisar un avance a ciegas no funciona. Micrófono en silencio mientras alguien expone.</a:t>
            </a:r>
            <a:endParaRPr sz="1900"/>
          </a:p>
        </p:txBody>
      </p:sp>
      <p:sp>
        <p:nvSpPr>
          <p:cNvPr id="231" name="Google Shape;231;p16"/>
          <p:cNvSpPr/>
          <p:nvPr/>
        </p:nvSpPr>
        <p:spPr>
          <a:xfrm>
            <a:off x="640080" y="3191256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6"/>
          <p:cNvSpPr txBox="1"/>
          <p:nvPr/>
        </p:nvSpPr>
        <p:spPr>
          <a:xfrm>
            <a:off x="868680" y="3300984"/>
            <a:ext cx="10454400" cy="8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</a:t>
            </a:r>
            <a:r>
              <a:rPr b="1" i="0" lang="en-US" sz="16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8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Aclaración</a:t>
            </a:r>
            <a:endParaRPr sz="19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Participar es parte del método.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Cuando el Docente pregunta, el silencio también es una respuesta: alarga la clase. Interrumpan para preguntar; es preferible una duda a destiempo que un capítulo entero mal escrito.</a:t>
            </a:r>
            <a:endParaRPr sz="1900"/>
          </a:p>
        </p:txBody>
      </p:sp>
      <p:sp>
        <p:nvSpPr>
          <p:cNvPr id="233" name="Google Shape;233;p16"/>
          <p:cNvSpPr/>
          <p:nvPr/>
        </p:nvSpPr>
        <p:spPr>
          <a:xfrm>
            <a:off x="640080" y="4645152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6"/>
          <p:cNvSpPr txBox="1"/>
          <p:nvPr/>
        </p:nvSpPr>
        <p:spPr>
          <a:xfrm>
            <a:off x="868680" y="4754880"/>
            <a:ext cx="10454400" cy="8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</a:t>
            </a:r>
            <a:r>
              <a:rPr b="1" i="0" lang="en-US" sz="15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b="1" i="0" lang="en-US" sz="18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mportante</a:t>
            </a:r>
            <a:endParaRPr sz="19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Respeto en el foro y en el chat.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Se critica el documento, nunca a la persona. La retroalimentación entre equipos se escribe con la misma cortesía con la que quisieran recibirla. El encuentro se graba.</a:t>
            </a:r>
            <a:endParaRPr sz="1900"/>
          </a:p>
        </p:txBody>
      </p:sp>
      <p:sp>
        <p:nvSpPr>
          <p:cNvPr id="235" name="Google Shape;235;p1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7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7"/>
          <p:cNvSpPr txBox="1"/>
          <p:nvPr/>
        </p:nvSpPr>
        <p:spPr>
          <a:xfrm>
            <a:off x="640074" y="0"/>
            <a:ext cx="10838400" cy="13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ANTES DE LA SESIÓN 02: LECTURA AUTÓNOMA Y QUÉ TRAER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7"/>
          <p:cNvSpPr txBox="1"/>
          <p:nvPr/>
        </p:nvSpPr>
        <p:spPr>
          <a:xfrm>
            <a:off x="640055" y="1541239"/>
            <a:ext cx="10911600" cy="418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Lectura autónoma de esta semana: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la unidad de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fundamentos y enfoque de investigación (U1 del programa)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6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Hoy no la dictamos: la leen ustedes y la retomamos al abrir la Sesión 02.</a:t>
            </a:r>
            <a:endParaRPr sz="16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Dónde está: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ya viene en tu carpeta del curso, en `Sesion 01 - …/` (los PDF `Lectura 1 (obligatoria)…`, `Lectura 2 (guia)…` y `Lectura 3 (recomendada)…`, más el archivo `Lectura autonoma - Sesion 01.txt` con la cita, el enlace y qué traer). También queda publicada en CDigital.</a:t>
            </a:r>
            <a:endParaRPr sz="16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Mientras leen, anoten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tres términos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que no les queden claros. Con esos tres arrancamos la próxima clase.</a:t>
            </a:r>
            <a:endParaRPr sz="16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Confirmen su equipo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(máximo 3 personas) y avísenlo. Si aún no tienen con quién, díganlo esta semana y el Docente ayuda a armarlo.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Abran la guía del primer corte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`Clases/Recursos/ACAs/` — `Quiz (25%)` — y léanla completa, criterios incluidos: eso es lo que comprueba el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Quiz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Creen el documento del equipo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Google Docs con la plantilla APA CUN y compártanlo con todos los integrantes.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Traigan a la Sesión 02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una idea de tema escrita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 una frase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el contexto donde ocurre (empresa, aula, proceso).</a:t>
            </a:r>
            <a:endParaRPr sz="16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Con eso trabajamos en clase. Quien llegue sin la frase se pasará la sesión viendo trabajar a los demás.</a:t>
            </a:r>
            <a:endParaRPr sz="1600"/>
          </a:p>
        </p:txBody>
      </p:sp>
      <p:sp>
        <p:nvSpPr>
          <p:cNvPr id="243" name="Google Shape;243;p1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  <p:sp>
        <p:nvSpPr>
          <p:cNvPr id="244" name="Google Shape;244;p17"/>
          <p:cNvSpPr txBox="1"/>
          <p:nvPr/>
        </p:nvSpPr>
        <p:spPr>
          <a:xfrm>
            <a:off x="640080" y="5943600"/>
            <a:ext cx="9997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Nada de esto se califica hoy, pero todo se nota en la Sesión 02: la clase avanza sobre lo que ustedes traigan escrito.</a:t>
            </a:r>
            <a:endParaRPr sz="16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8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8"/>
          <p:cNvSpPr txBox="1"/>
          <p:nvPr/>
        </p:nvSpPr>
        <p:spPr>
          <a:xfrm>
            <a:off x="640075" y="0"/>
            <a:ext cx="10683000" cy="13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LAS PREGUNTAS QUE SIEMPRE SALEN EL PRIMER DÍA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8"/>
          <p:cNvSpPr/>
          <p:nvPr/>
        </p:nvSpPr>
        <p:spPr>
          <a:xfrm>
            <a:off x="640080" y="1737360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E8F5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8"/>
          <p:cNvSpPr txBox="1"/>
          <p:nvPr/>
        </p:nvSpPr>
        <p:spPr>
          <a:xfrm>
            <a:off x="868680" y="1847088"/>
            <a:ext cx="10454400" cy="79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ℹ️</a:t>
            </a:r>
            <a:r>
              <a:rPr b="1" i="0" lang="en-US" sz="15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6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Nota institucional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«¿Esta materia se pierde fácil?»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No se pierde por dificultad: se pierde por entregar tarde o por entregar un documento que nadie leyó antes de subirlo. Quien trae avance cada semana llega al final con el anteproyecto prácticamente listo.</a:t>
            </a:r>
            <a:endParaRPr sz="1700"/>
          </a:p>
        </p:txBody>
      </p:sp>
      <p:sp>
        <p:nvSpPr>
          <p:cNvPr id="253" name="Google Shape;253;p18"/>
          <p:cNvSpPr/>
          <p:nvPr/>
        </p:nvSpPr>
        <p:spPr>
          <a:xfrm>
            <a:off x="640080" y="3191256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8"/>
          <p:cNvSpPr txBox="1"/>
          <p:nvPr/>
        </p:nvSpPr>
        <p:spPr>
          <a:xfrm>
            <a:off x="868680" y="3300984"/>
            <a:ext cx="10454400" cy="79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 </a:t>
            </a:r>
            <a:r>
              <a:rPr b="1" i="0" lang="en-US" sz="16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Aclaración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«¿Puedo trabajar solo?»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Sí, pero el equipo es de máximo 3 y la carga de trabajo es la misma para uno que para tres. Decídanlo esta semana: después del primer corte no conviene cambiar de equipo ni de tema.</a:t>
            </a:r>
            <a:endParaRPr sz="1700"/>
          </a:p>
        </p:txBody>
      </p:sp>
      <p:sp>
        <p:nvSpPr>
          <p:cNvPr id="255" name="Google Shape;255;p18"/>
          <p:cNvSpPr/>
          <p:nvPr/>
        </p:nvSpPr>
        <p:spPr>
          <a:xfrm>
            <a:off x="640080" y="4645152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8"/>
          <p:cNvSpPr txBox="1"/>
          <p:nvPr/>
        </p:nvSpPr>
        <p:spPr>
          <a:xfrm>
            <a:off x="868680" y="4754880"/>
            <a:ext cx="10454400" cy="79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</a:t>
            </a:r>
            <a:r>
              <a:rPr b="1" i="0" lang="en-US" sz="16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 Importante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«¿Sirve un trabajo de otro semestre?»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Como punto de partida sí, si usted lo declara y lo reformula para este curso. Entregarlo tal cual como si fuera nuevo también es plagio y entra en el mismo debido proc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eso.</a:t>
            </a:r>
            <a:endParaRPr/>
          </a:p>
        </p:txBody>
      </p:sp>
      <p:sp>
        <p:nvSpPr>
          <p:cNvPr id="257" name="Google Shape;257;p1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9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9"/>
          <p:cNvSpPr txBox="1"/>
          <p:nvPr/>
        </p:nvSpPr>
        <p:spPr>
          <a:xfrm>
            <a:off x="1864705" y="0"/>
            <a:ext cx="90828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ACUERDOS DE TRABAJO</a:t>
            </a:r>
            <a:endParaRPr/>
          </a:p>
        </p:txBody>
      </p:sp>
      <p:sp>
        <p:nvSpPr>
          <p:cNvPr id="264" name="Google Shape;264;p19"/>
          <p:cNvSpPr/>
          <p:nvPr/>
        </p:nvSpPr>
        <p:spPr>
          <a:xfrm>
            <a:off x="640080" y="1737360"/>
            <a:ext cx="10911535" cy="713232"/>
          </a:xfrm>
          <a:prstGeom prst="roundRect">
            <a:avLst>
              <a:gd fmla="val 16667" name="adj"/>
            </a:avLst>
          </a:prstGeom>
          <a:solidFill>
            <a:srgbClr val="E8F5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9"/>
          <p:cNvSpPr txBox="1"/>
          <p:nvPr/>
        </p:nvSpPr>
        <p:spPr>
          <a:xfrm>
            <a:off x="868680" y="1847088"/>
            <a:ext cx="10454400" cy="54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ℹ️ </a:t>
            </a:r>
            <a:r>
              <a:rPr b="1" i="0" lang="en-US" sz="16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Nota institucional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Entrega oficial: CDigital.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Lo que no esté ahí, no está entregado.</a:t>
            </a:r>
            <a:endParaRPr sz="1700"/>
          </a:p>
        </p:txBody>
      </p:sp>
      <p:sp>
        <p:nvSpPr>
          <p:cNvPr id="266" name="Google Shape;266;p19"/>
          <p:cNvSpPr/>
          <p:nvPr/>
        </p:nvSpPr>
        <p:spPr>
          <a:xfrm>
            <a:off x="640080" y="2679191"/>
            <a:ext cx="10911535" cy="969264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9"/>
          <p:cNvSpPr txBox="1"/>
          <p:nvPr/>
        </p:nvSpPr>
        <p:spPr>
          <a:xfrm>
            <a:off x="868680" y="2788920"/>
            <a:ext cx="10454400" cy="54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</a:t>
            </a:r>
            <a:r>
              <a:rPr b="1" i="0" lang="en-US" sz="16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 Aclaración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Las tutorías por grupo se acuerdan en la semana con el Docente (no hay atención espontánea sin cita).</a:t>
            </a:r>
            <a:endParaRPr sz="1700"/>
          </a:p>
        </p:txBody>
      </p:sp>
      <p:sp>
        <p:nvSpPr>
          <p:cNvPr id="268" name="Google Shape;268;p19"/>
          <p:cNvSpPr/>
          <p:nvPr/>
        </p:nvSpPr>
        <p:spPr>
          <a:xfrm>
            <a:off x="640080" y="3877056"/>
            <a:ext cx="10911535" cy="713232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9"/>
          <p:cNvSpPr txBox="1"/>
          <p:nvPr/>
        </p:nvSpPr>
        <p:spPr>
          <a:xfrm>
            <a:off x="868680" y="3986784"/>
            <a:ext cx="10454400" cy="54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 </a:t>
            </a:r>
            <a:r>
              <a:rPr b="1" i="0" lang="en-US" sz="16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Aclaración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Traer el avance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escrito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 cada encuentro: se trabaja sobre lo que ya existe.</a:t>
            </a:r>
            <a:endParaRPr sz="1700"/>
          </a:p>
        </p:txBody>
      </p:sp>
      <p:sp>
        <p:nvSpPr>
          <p:cNvPr id="270" name="Google Shape;270;p19"/>
          <p:cNvSpPr/>
          <p:nvPr/>
        </p:nvSpPr>
        <p:spPr>
          <a:xfrm>
            <a:off x="640080" y="4818888"/>
            <a:ext cx="10911535" cy="713232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9"/>
          <p:cNvSpPr txBox="1"/>
          <p:nvPr/>
        </p:nvSpPr>
        <p:spPr>
          <a:xfrm>
            <a:off x="868680" y="4928616"/>
            <a:ext cx="10454400" cy="54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</a:t>
            </a:r>
            <a:r>
              <a:rPr b="1" i="0" lang="en-US" sz="16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Importante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Integridad académica: citar siempre 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APA 7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El plagio tiene debido proceso.</a:t>
            </a:r>
            <a:endParaRPr sz="1700"/>
          </a:p>
        </p:txBody>
      </p:sp>
      <p:sp>
        <p:nvSpPr>
          <p:cNvPr id="272" name="Google Shape;272;p1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0"/>
          <p:cNvSpPr/>
          <p:nvPr/>
        </p:nvSpPr>
        <p:spPr>
          <a:xfrm>
            <a:off x="0" y="0"/>
            <a:ext cx="12191700" cy="118860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0"/>
          <p:cNvSpPr txBox="1"/>
          <p:nvPr/>
        </p:nvSpPr>
        <p:spPr>
          <a:xfrm>
            <a:off x="640074" y="0"/>
            <a:ext cx="101427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PARA LA PRÓXIMA SESIÓN</a:t>
            </a:r>
            <a:endParaRPr/>
          </a:p>
        </p:txBody>
      </p:sp>
      <p:sp>
        <p:nvSpPr>
          <p:cNvPr id="279" name="Google Shape;279;p20"/>
          <p:cNvSpPr txBox="1"/>
          <p:nvPr/>
        </p:nvSpPr>
        <p:spPr>
          <a:xfrm>
            <a:off x="640080" y="1691639"/>
            <a:ext cx="10911600" cy="10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Lectura autónoma: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ESP329 U1 (Fundamentos y enfoque de investigación) — la retomamos al abrir la Sesión 02.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Revisar la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Presentación del Curso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completa (fechas, evaluación, contenido de todas las sesiones).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Abrir los enunciados de `Clases/Recursos/ACAs/`: son la guía escrita de lo que evalúa cada corte.</a:t>
            </a:r>
            <a:endParaRPr sz="1600"/>
          </a:p>
        </p:txBody>
      </p:sp>
      <p:sp>
        <p:nvSpPr>
          <p:cNvPr id="280" name="Google Shape;280;p2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1"/>
          <p:cNvSpPr txBox="1"/>
          <p:nvPr/>
        </p:nvSpPr>
        <p:spPr>
          <a:xfrm>
            <a:off x="640074" y="0"/>
            <a:ext cx="106266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RUTA DE ENTREGABLES DEL CURSO</a:t>
            </a:r>
            <a:endParaRPr/>
          </a:p>
        </p:txBody>
      </p:sp>
      <p:sp>
        <p:nvSpPr>
          <p:cNvPr id="287" name="Google Shape;287;p21"/>
          <p:cNvSpPr txBox="1"/>
          <p:nvPr/>
        </p:nvSpPr>
        <p:spPr>
          <a:xfrm>
            <a:off x="640080" y="1280160"/>
            <a:ext cx="109116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Sin fechas a propósito: aquí va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 qué punto del curso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cierra cada ítem · la ventana exacta la fija CDigital</a:t>
            </a:r>
            <a:endParaRPr sz="1700"/>
          </a:p>
        </p:txBody>
      </p:sp>
      <p:graphicFrame>
        <p:nvGraphicFramePr>
          <p:cNvPr id="288" name="Google Shape;288;p21"/>
          <p:cNvGraphicFramePr/>
          <p:nvPr/>
        </p:nvGraphicFramePr>
        <p:xfrm>
          <a:off x="640080" y="201167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{72B1F78A-36C7-4734-840E-526E5161B390}</a:tableStyleId>
              </a:tblPr>
              <a:tblGrid>
                <a:gridCol w="2659125"/>
                <a:gridCol w="2659125"/>
                <a:gridCol w="559330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Cierra en la semana de…</a:t>
                      </a:r>
                      <a:endParaRPr sz="17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Entregable</a:t>
                      </a:r>
                      <a:endParaRPr sz="17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debes tener listo</a:t>
                      </a:r>
                      <a:endParaRPr sz="17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02</a:t>
                      </a:r>
                      <a:r>
                        <a:rPr b="0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 sz="17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</a:t>
                      </a:r>
                      <a:r>
                        <a:rPr b="0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Cuestionario · 25%</a:t>
                      </a:r>
                      <a:endParaRPr sz="17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Estudia </a:t>
                      </a:r>
                      <a:r>
                        <a:rPr b="1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problema y pregunta</a:t>
                      </a:r>
                      <a:r>
                        <a:rPr b="0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de investigación; resuélvelo dentro de su ventana.</a:t>
                      </a:r>
                      <a:endParaRPr sz="17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07</a:t>
                      </a:r>
                      <a:r>
                        <a:rPr b="0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 sz="17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1</a:t>
                      </a:r>
                      <a:r>
                        <a:rPr b="0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Tarea · 25%</a:t>
                      </a:r>
                      <a:endParaRPr sz="17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Sube en </a:t>
                      </a:r>
                      <a:r>
                        <a:rPr b="1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plantilla APA</a:t>
                      </a:r>
                      <a:r>
                        <a:rPr b="0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problema, pregunta, objetivos, mínimo 6 antecedentes y los marcos.</a:t>
                      </a:r>
                      <a:endParaRPr sz="17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10</a:t>
                      </a:r>
                      <a:r>
                        <a:rPr b="0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 sz="17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FINAL</a:t>
                      </a:r>
                      <a:r>
                        <a:rPr b="0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Tarea · 42%</a:t>
                      </a:r>
                      <a:endParaRPr sz="17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Sube el anteproyecto integrado con las </a:t>
                      </a:r>
                      <a:r>
                        <a:rPr b="1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correcciones</a:t>
                      </a:r>
                      <a:r>
                        <a:rPr b="0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de la ACA 1, metodología y viabilidad.</a:t>
                      </a:r>
                      <a:endParaRPr sz="17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11</a:t>
                      </a:r>
                      <a:r>
                        <a:rPr b="0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 sz="17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Autoevaluación</a:t>
                      </a:r>
                      <a:r>
                        <a:rPr b="0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Cuestionario · 4%</a:t>
                      </a:r>
                      <a:endParaRPr sz="17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Diligénciala tú, dentro de su ventana, según tu </a:t>
                      </a:r>
                      <a:r>
                        <a:rPr b="1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participación real</a:t>
                      </a:r>
                      <a:r>
                        <a:rPr b="0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17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11</a:t>
                      </a:r>
                      <a:r>
                        <a:rPr b="0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 sz="17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Coevaluación</a:t>
                      </a:r>
                      <a:r>
                        <a:rPr b="0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Foro · 4%</a:t>
                      </a:r>
                      <a:endParaRPr sz="17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Publica</a:t>
                      </a:r>
                      <a:r>
                        <a:rPr b="0" i="0" lang="en-US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tu propio aporte y valora hechos del trabajo del equipo, con respeto.</a:t>
                      </a:r>
                      <a:endParaRPr sz="17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9" name="Google Shape;289;p21"/>
          <p:cNvSpPr txBox="1"/>
          <p:nvPr/>
        </p:nvSpPr>
        <p:spPr>
          <a:xfrm>
            <a:off x="640080" y="5166360"/>
            <a:ext cx="10911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Esta misma tabla va al final de todas las sesiones. La </a:t>
            </a:r>
            <a:r>
              <a:rPr b="1" i="1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fecha</a:t>
            </a:r>
            <a:r>
              <a:rPr b="0" i="1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cada ventana está en el enunciado del ítem (`Clases/Recursos/ACAs/`) y en el aula: si el aula y cualquier otro material se contradicen, </a:t>
            </a:r>
            <a:r>
              <a:rPr b="1" i="1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manda el aula</a:t>
            </a:r>
            <a:r>
              <a:rPr b="0" i="1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500"/>
          </a:p>
        </p:txBody>
      </p:sp>
      <p:sp>
        <p:nvSpPr>
          <p:cNvPr id="290" name="Google Shape;290;p2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21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296" name="Google Shape;29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62895" y="5632704"/>
            <a:ext cx="1371600" cy="950976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22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Cierre — Sesión 01</a:t>
            </a:r>
            <a:endParaRPr/>
          </a:p>
        </p:txBody>
      </p:sp>
      <p:sp>
        <p:nvSpPr>
          <p:cNvPr id="298" name="Google Shape;298;p22"/>
          <p:cNvSpPr txBox="1"/>
          <p:nvPr/>
        </p:nvSpPr>
        <p:spPr>
          <a:xfrm>
            <a:off x="640080" y="3017520"/>
            <a:ext cx="109116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Ya sabemos qué haremos, cómo se evalúa y quién es quién.</a:t>
            </a:r>
            <a:endParaRPr sz="1600"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02: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arranca el contenido del curso.</a:t>
            </a:r>
            <a:endParaRPr sz="1600"/>
          </a:p>
        </p:txBody>
      </p:sp>
      <p:sp>
        <p:nvSpPr>
          <p:cNvPr id="299" name="Google Shape;299;p22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PROYECTO I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CUN</dc:creator>
</cp:coreProperties>
</file>