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iaVNrgQPPXtOj66nM+A2RpJ0PX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5584DF-E356-4CE5-A652-4DEEB28B7AE0}">
  <a:tblStyle styleId="{945584DF-E356-4CE5-A652-4DEEB28B7AE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customschemas.google.com/relationships/presentationmetadata" Target="meta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01 — PRESENTACIÓN DEL CURSO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Proyecto I — Especialización en Inteligencia Artificial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01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Sesión de encuadre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Hoy: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curso · el Docente · ustedes · cómo se evalúa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PROYECTO 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 DE HOY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de encuadre — hoy no vemos tema; el contenido arranca en la Sesión 02.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640080" y="2011679"/>
            <a:ext cx="10911600" cy="42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curso: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qué se trata, cómo trabajamos y qué se llevan al final.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Docente: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quién los acompaña y cómo contactarlo.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Ustedes: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arrancamos con un juego de 8 minutos —«dos verdades y una mentira»— y hay premio.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Cómo se evalúa: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qué ítems tiene el aula, cuánto pesa cada uno y qué se hace con él.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Acuerdos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trabajo y el primer encargo autónomo.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Docente</a:t>
            </a:r>
            <a:endParaRPr/>
          </a:p>
        </p:txBody>
      </p:sp>
      <p:sp>
        <p:nvSpPr>
          <p:cNvPr id="104" name="Google Shape;104;p3"/>
          <p:cNvSpPr txBox="1"/>
          <p:nvPr/>
        </p:nvSpPr>
        <p:spPr>
          <a:xfrm>
            <a:off x="1042420" y="2267815"/>
            <a:ext cx="89913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Líder Técnico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/>
          </a:p>
        </p:txBody>
      </p:sp>
      <p:pic>
        <p:nvPicPr>
          <p:cNvPr descr="gmail_icon.png" id="105" name="Google Shape;10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2420" y="417877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 txBox="1"/>
          <p:nvPr/>
        </p:nvSpPr>
        <p:spPr>
          <a:xfrm>
            <a:off x="1570100" y="4178770"/>
            <a:ext cx="8463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julian_castanoe@cun.edu.co</a:t>
            </a:r>
            <a:endParaRPr/>
          </a:p>
        </p:txBody>
      </p:sp>
      <p:pic>
        <p:nvPicPr>
          <p:cNvPr descr="logo_cun_solo.png" id="107" name="Google Shape;10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523586"/>
            <a:ext cx="1463040" cy="101437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ROMPEHIELOS — DOS VERDADES Y UNA MENTIRA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 · Slido · 8 minutos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Entra a slido.com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escribe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el Docente pega en el chat del Meet. Sin cuenta ni instalar nada.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juego: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«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» sobre el Docente. Se proyectan tres frases suyas y votas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cuál de las tres NO es cierta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acertar es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 entre 3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así que arrancamos todos iguales.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rondas (~4 min).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Al cerrar cada una el Docente revela la mentira y cuenta la historia de la verdad más rara: ahí queda hecha su presentación.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Ronda final (~2 min):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sale la tabla de posiciones y los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primeros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toman el micrófono con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dos verdades y una mentira. Gana quien engañe a más gente. Hablan tres, no 50.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Premio: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revisión 1 a 1 con el Docente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avance del ganador, antes de la primera entrega.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toda la sesión van por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mismo Slido.</a:t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8332927" y="1993391"/>
            <a:ext cx="3328415" cy="38862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slido.com</a:t>
            </a:r>
            <a:endParaRPr/>
          </a:p>
          <a:p>
            <a:pPr indent="0" lvl="0" marL="0" marR="0" rtl="0" algn="ctr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te lo pega el Docente en 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chat del Meet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[URL Slido — evento del rompehielos pendiente · PROYECTO I]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EVALÚA — LOS ÍTEMS DEL AULA</a:t>
            </a:r>
            <a:endParaRPr/>
          </a:p>
        </p:txBody>
      </p:sp>
      <p:sp>
        <p:nvSpPr>
          <p:cNvPr id="127" name="Google Shape;127;p5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Evaluación y notas: solo en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los pesos suman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fechas: enunciados y Presentación del Curso</a:t>
            </a:r>
            <a:endParaRPr/>
          </a:p>
        </p:txBody>
      </p:sp>
      <p:graphicFrame>
        <p:nvGraphicFramePr>
          <p:cNvPr id="128" name="Google Shape;128;p5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{945584DF-E356-4CE5-A652-4DEEB28B7AE0}</a:tableStyleId>
              </a:tblPr>
              <a:tblGrid>
                <a:gridCol w="1833875"/>
                <a:gridCol w="1192025"/>
                <a:gridCol w="1192025"/>
                <a:gridCol w="825250"/>
                <a:gridCol w="58684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Ítem en 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(peso)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haces con él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(25%)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 resuelves en CDigital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(25%)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Subes el documento (plantilla APA CUN) al espacio de la tarea.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(50%)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Subes el documento (plantilla APA CUN) al espacio de la tarea.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(50%)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diligencias tú mismo en el aula (cuestionario individual).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(50%)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Participas en el foro valorando el trabajo de tus pares.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29;p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sube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documento únicamente en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1 y ACA FINAL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los cuestionarios se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resuelven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aula y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coevaluación es un foro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Enunciados y ventanas: `Clases/Recursos/ACAs/`.</a:t>
            </a:r>
            <a:endParaRPr/>
          </a:p>
        </p:txBody>
      </p:sp>
      <p:sp>
        <p:nvSpPr>
          <p:cNvPr id="130" name="Google Shape;130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trabajamos: el encuentro tiene dos mitades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Nos vemos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vez por semana, dos horas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No son dos horas de exposición.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Primera hora — contenido: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Docente explica el punto de la semana y modela un ejemplo en pantalla.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Segunda hora — tutoría en vivo: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cada equipo trabaja su avance y el Docente pasa por los equipos.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curso funciona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al revés de lo que se acostumbra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lee y se escribe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llegar al encuentro.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 cada sesión se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trae el avance escrito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Aquí se corrige lo que ya existe; no se empieza de cero en clase.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Quien llega sin nada escrito pierde la segunda hora: no hay avance que revisar.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Se trabaja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equipos de máximo 3 personas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los mismos durante todo el curso.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 solo integrante sube la entrega grupal, pero la nota es del equipo, no de quien subió el archivo.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¿Prefieren trabajar solos? Se puede, y la carga es la misma. Decídanlo esta semana, no en octubre.</a:t>
            </a:r>
            <a:endParaRPr/>
          </a:p>
        </p:txBody>
      </p:sp>
      <p:sp>
        <p:nvSpPr>
          <p:cNvPr id="138" name="Google Shape;138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39" name="Google Shape;139;p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 oro: la clase avanza sobre el documento del equipo. Si el documento no crece, el curso no avanza.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Mapa del curso: qué pasa en cada uno de los 11 encuentros</a:t>
            </a:r>
            <a:endParaRPr/>
          </a:p>
        </p:txBody>
      </p:sp>
      <p:graphicFrame>
        <p:nvGraphicFramePr>
          <p:cNvPr id="146" name="Google Shape;146;p7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{945584DF-E356-4CE5-A652-4DEEB28B7AE0}</a:tableStyleId>
              </a:tblPr>
              <a:tblGrid>
                <a:gridCol w="991950"/>
                <a:gridCol w="6844500"/>
                <a:gridCol w="30750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Bloque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Presentación del curso, del Docente, de ustedes y de cómo se evalúa (hoy)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Encuadre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 y pregunta de investigación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1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Objetivos, justificación, alcances y limitaciones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1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Retroalimentación del corte 1 · antecedentes de investigación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Marco teórico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Marco conceptual y marco contextual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Marco legal · citación en APA 7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Diseño metodológico: paradigma, enfoque y alcance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7" name="Google Shape;147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Mapa del curso: qué pasa en cada uno de los 11 encuentros (cont.)</a:t>
            </a:r>
            <a:endParaRPr/>
          </a:p>
        </p:txBody>
      </p:sp>
      <p:graphicFrame>
        <p:nvGraphicFramePr>
          <p:cNvPr id="154" name="Google Shape;154;p8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{945584DF-E356-4CE5-A652-4DEEB28B7AE0}</a:tableStyleId>
              </a:tblPr>
              <a:tblGrid>
                <a:gridCol w="991950"/>
                <a:gridCol w="6844500"/>
                <a:gridCol w="30750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Bloque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Población y muestra, técnicas e instrumentos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propuestos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3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Planeación, viabilidad e integración del anteproyecto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3 ·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Integración y evaluación · coevaluación (foro) y autoevaluación (cuestionario): instrumentos individuales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Google Shape;155;p8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unidad de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fundamentos y enfoque de investigación (U1 del programa)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pasa 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hoy hacemos encuadre y la retomamos al abrir la Sesión 02. Fechas exactas de cada encuentro: calendario del curso en CDigital.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producto del curso: qué archivo entregan al final</a:t>
            </a:r>
            <a:endParaRPr/>
          </a:p>
        </p:txBody>
      </p:sp>
      <p:sp>
        <p:nvSpPr>
          <p:cNvPr id="163" name="Google Shape;163;p9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Al terminar el curso ustedes suben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solo documento: el anteproyecto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su investigación.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son trabajos sueltos: es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mismo archivo que crece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corte tras corte.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La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aula es ese archivo completo e integrado, no un fragmento nuevo escrito la última semana.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Va en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de proyecto de grado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la misma desde el primer día.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Está en `Clases/Recursos/Plantilla_APA_CUN_Proyecto de grado.docx`; ábranla en Google Docs y trabajen ahí.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¿Para qué les sirve después?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el punto de partida de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Proyecto II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donde el proyecto se ejecuta.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Y es la base de lo que sustentarán al cerrar el programa: no es un trabajo que se archiva y se olvida.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Frontera del curso, sin excepciones: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Proyecto I los instrumentos se proponen; nunca se aplican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64" name="Google Shape;164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165" name="Google Shape;165;p9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Piénsenlo así: todo el semestre queda en un archivo. Cuídenlo, guarden versiones y compártanlo con todo el equipo desde hoy.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por corte: qué hay en el aula y qué separa un buen trabajo de uno flojo</a:t>
            </a:r>
            <a:endParaRPr/>
          </a:p>
        </p:txBody>
      </p:sp>
      <p:graphicFrame>
        <p:nvGraphicFramePr>
          <p:cNvPr id="172" name="Google Shape;172;p10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{945584DF-E356-4CE5-A652-4DEEB28B7AE0}</a:tableStyleId>
              </a:tblPr>
              <a:tblGrid>
                <a:gridCol w="825250"/>
                <a:gridCol w="2934200"/>
                <a:gridCol w="3667750"/>
                <a:gridCol w="34843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hay en el aula (CDigital)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se prepara para eso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 vs. flojo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cuestionario individual que se resuelve en el aula, dentro de su ventana. No se sube archivo.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Formulación del problema: planteamiento, pregunta, objetivos, justificación, alcances y limitaciones. Guía: `Quiz (25%)`.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Bueno: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puede señalar a quién le duele algo y dónde ocurre.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una tecnología de moda sin decir a quién le sirve.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tarea del equipo — se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el documento.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Fundamentación referencial: antecedentes (mín. 6), marco teórico, conceptual, contextual y legal, con las correcciones del corte 1. Guía: `ACA 1 (25%)`.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Bueno: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cada fuente responde a la pregunta y se nota qué se corrigió.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resúmenes pegados que no se hablan entre sí.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(tarea del equipo) +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(cuestionario) y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(foro), individuales.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Anteproyecto completo e integrado: metodología, población, instrumentos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propuestos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cronograma, presupuesto y viabilidad. Guía: `ACA FINAL (42%)`.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Bueno: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lee de portada a referencias sin contradecirse.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Flojo: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capítulos con tres preguntas de investigación distintas.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10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Los pesos y el tipo de cada ítem están en la slide «CÓMO SE EVALÚA» de esta sesión. Autoevaluación y coevaluación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son entregables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diligencian y se participa en el aula al cierre (instructivo en `Clases/Recursos/ACAs/`, junto con los enunciados y las fechas).</a:t>
            </a:r>
            <a:endParaRPr/>
          </a:p>
        </p:txBody>
      </p:sp>
      <p:sp>
        <p:nvSpPr>
          <p:cNvPr id="174" name="Google Shape;174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entrega: paso a paso en CDigital</a:t>
            </a:r>
            <a:endParaRPr/>
          </a:p>
        </p:txBody>
      </p:sp>
      <p:sp>
        <p:nvSpPr>
          <p:cNvPr id="181" name="Google Shape;181;p1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Trabajen la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en Google Docs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un documento por equipo, con permiso de edición para todos.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Antes de entregar,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descarguen como PDF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así nadie recibe un documento a medio formatear.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Nombren el archivo con el ítem del aula: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ACA1_Apellido1-Apellido2-Apellido3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corte 2 y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ACAFinal_Apellido1-Apellido2-Apellido3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cierre.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solo integrante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 sube en el espacio de ese ítem en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los demás verifican que quedó cargado.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Quiz del corte 1 no se sube:</a:t>
            </a: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un cuestionario individual que se resuelve en el aula dentro de su ventana.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Revisen que la portada traiga los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nombres completos de todos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si falta alguien, esa persona no tiene nota.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Lo que no está en CDigital, no está entregado.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Correo, chat o WhatsApp no son canal de entrega.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 tardía: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espacio cierra a la hora publicada en el enunciado. Si algo pasa, se avisa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cierre.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Quedarse sin internet a las 11:50 p. m. no es un imprevisto: es haber esperado hasta las 11:50 p. m.</a:t>
            </a:r>
            <a:endParaRPr/>
          </a:p>
        </p:txBody>
      </p:sp>
      <p:sp>
        <p:nvSpPr>
          <p:cNvPr id="182" name="Google Shape;182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83" name="Google Shape;183;p11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Consejo del Docente: suban una versión el día anterior. Mientras el espacio esté abierto siempre se puede reemplazar por una mejor.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Integridad académica: la línea que no se cruza</a:t>
            </a:r>
            <a:endParaRPr/>
          </a:p>
        </p:txBody>
      </p:sp>
      <p:sp>
        <p:nvSpPr>
          <p:cNvPr id="190" name="Google Shape;190;p12"/>
          <p:cNvSpPr/>
          <p:nvPr/>
        </p:nvSpPr>
        <p:spPr>
          <a:xfrm>
            <a:off x="640080" y="1737360"/>
            <a:ext cx="10911535" cy="1481328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Plagio es tomar lo ajeno y no decirlo.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  <a:endParaRPr/>
          </a:p>
        </p:txBody>
      </p:sp>
      <p:sp>
        <p:nvSpPr>
          <p:cNvPr id="192" name="Google Shape;192;p12"/>
          <p:cNvSpPr/>
          <p:nvPr/>
        </p:nvSpPr>
        <p:spPr>
          <a:xfrm>
            <a:off x="640080" y="3447288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2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Citar no debilita el trabajo: lo sostiene.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este curso se cita en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APA 7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dentro del texto y en la lista final de referencias. Una idea que no es suya y no está citada es un problema; esa misma idea citada es un argumento con respaldo.</a:t>
            </a:r>
            <a:endParaRPr/>
          </a:p>
        </p:txBody>
      </p:sp>
      <p:sp>
        <p:nvSpPr>
          <p:cNvPr id="194" name="Google Shape;194;p12"/>
          <p:cNvSpPr/>
          <p:nvPr/>
        </p:nvSpPr>
        <p:spPr>
          <a:xfrm>
            <a:off x="640080" y="4901184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se detecta, hay debido proceso.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depende del ánimo del Docente: es un procedimiento institucional, con notificación y derecho a descargos. Por eso siempre conviene preguntar antes que improvisar.</a:t>
            </a:r>
            <a:endParaRPr/>
          </a:p>
        </p:txBody>
      </p:sp>
      <p:sp>
        <p:nvSpPr>
          <p:cNvPr id="196" name="Google Shape;196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IA generativa: se puede usar, con tres condiciones</a:t>
            </a:r>
            <a:endParaRPr/>
          </a:p>
        </p:txBody>
      </p:sp>
      <p:sp>
        <p:nvSpPr>
          <p:cNvPr id="203" name="Google Shape;203;p1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 este curso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se prohíbe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usar IA generativa. Se exige usarla con criterio y decirlo por escrito.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Condición 1 — Declararla.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Una nota al final del documento: qué herramienta usaron y para qué (ideas, redacción, tablas).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Condición 2 — Verificar todo.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Cada dato y cada fuente que sugiera la herramienta se comprueba en el original.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Los modelos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inventan referencias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apariencia impecable: autor creíble, año creíble, enlace que no existe.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Citar una referencia inexistente no es un error de formato: es una fuente falsa dentro de un trabajo académico.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Condición 3 — La autoría es suya.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decisión, el criterio y la defensa del documento son del equipo.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no pueden explicar en voz alta un párrafo de su propio anteproyecto, ese párrafo todavía no es suyo.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Uso sensato: ordenar ideas, mejorar redacción, sugerir ejemplos. Uso inútil: pedirle el trabajo entero.</a:t>
            </a:r>
            <a:endParaRPr/>
          </a:p>
        </p:txBody>
      </p:sp>
      <p:sp>
        <p:nvSpPr>
          <p:cNvPr id="204" name="Google Shape;204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205" name="Google Shape;205;p13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Prueba rápida antes de entregar: abran el documento en cualquier página y explíquenla con sus palabras. Si no pueden, reescríbanla.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del curso: todas gratis y desde el navegador</a:t>
            </a:r>
            <a:endParaRPr/>
          </a:p>
        </p:txBody>
      </p:sp>
      <p:graphicFrame>
        <p:nvGraphicFramePr>
          <p:cNvPr id="212" name="Google Shape;212;p14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{945584DF-E356-4CE5-A652-4DEEB28B7AE0}</a:tableStyleId>
              </a:tblPr>
              <a:tblGrid>
                <a:gridCol w="2975875"/>
                <a:gridCol w="79356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Herramienta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qué la usamos en este curso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Aula oficial: material,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espacios de entrega de ACA 1 y ACA FINAL, foro de coevaluación y retroalimentación. Único canal válido.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Docs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Donde se escribe el anteproyecto, en equipo y a la vez, sobre la plantilla APA CUN. Guarda historial de versiones.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Scholar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Buscador académico general: artículos, tesis y libros. Punto de partida para rastrear antecedentes.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SciELO y Redalyc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Repositorios abiertos en español: producción latinoamericana, clave para los antecedentes nacionales y regionales.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ZoteroBib (zbib.org)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 la referencia en APA 7 pegando un enlace o un DOI. Sin instalar nada y sin crear cuenta.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Excalidraw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Pizarra para dibujar el proceso, el contexto o la idea cuando el texto solo no alcanza para explicarla.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Meet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encuentro sincrónico semanal: mismo enlace toda la serie. La sesión se graba.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3" name="Google Shape;213;p1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Nada de esto cuesta ni exige instalación.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Súmenle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biblioteca virtual de la CUN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su usuario institucional. Si una herramienta les pide pagar para continuar, no es la que estamos usando: pregunten antes.</a:t>
            </a:r>
            <a:endParaRPr/>
          </a:p>
        </p:txBody>
      </p:sp>
      <p:sp>
        <p:nvSpPr>
          <p:cNvPr id="214" name="Google Shape;214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pedir ayuda: canales, tutorías y tiempos de respuesta</a:t>
            </a:r>
            <a:endParaRPr/>
          </a:p>
        </p:txBody>
      </p:sp>
      <p:sp>
        <p:nvSpPr>
          <p:cNvPr id="221" name="Google Shape;221;p15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clase: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segunda hora es tutoría en vivo. Es el canal más rápido y ya está dentro de su horario.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Tutorías por equipo: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acuerdan en la semana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el Docente. No hay atención espontánea sin cita.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Al pedirla, digan qué necesitan y qué tienen escrito; se agenda y se atiende con el documento abierto.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Cada estudiante que asiste a tutoría registra su asistencia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formulario del curso: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https://forms.gle/oZ8xCYiUo3KEWr1d9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también queda publicado en CDigital.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Ese registro es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 evidencia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acompañamiento ante el programa: sin registro, la tutoría no consta.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Foro y mensajería de CDigital: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dudas que le sirven a todo el curso. Respuesta en días hábiles.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Antes de preguntar: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revisen el enunciado del corte y la plantilla. La mitad de las dudas ya está resuelta ahí.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Pregunta bien hecha = sección concreta + qué intentaron + qué no les cuadra. «No entendí nada» no se puede responder.</a:t>
            </a:r>
            <a:endParaRPr/>
          </a:p>
        </p:txBody>
      </p:sp>
      <p:sp>
        <p:nvSpPr>
          <p:cNvPr id="222" name="Google Shape;222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223" name="Google Shape;223;p1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tutorías por grupo se acuerdan en la semana con el Docente (no hay atención espontánea sin cita).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 convivencia del encuentro</a:t>
            </a:r>
            <a:endParaRPr/>
          </a:p>
        </p:txBody>
      </p:sp>
      <p:sp>
        <p:nvSpPr>
          <p:cNvPr id="230" name="Google Shape;230;p16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6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Puntualidad y cámara.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  <a:endParaRPr/>
          </a:p>
        </p:txBody>
      </p:sp>
      <p:sp>
        <p:nvSpPr>
          <p:cNvPr id="232" name="Google Shape;232;p16"/>
          <p:cNvSpPr/>
          <p:nvPr/>
        </p:nvSpPr>
        <p:spPr>
          <a:xfrm>
            <a:off x="640080" y="3191256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Participar es parte del método.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  <a:endParaRPr/>
          </a:p>
        </p:txBody>
      </p:sp>
      <p:sp>
        <p:nvSpPr>
          <p:cNvPr id="234" name="Google Shape;234;p16"/>
          <p:cNvSpPr/>
          <p:nvPr/>
        </p:nvSpPr>
        <p:spPr>
          <a:xfrm>
            <a:off x="640080" y="4645152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6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Respeto en el foro y en el chat.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critica el documento, nunca a la persona. La retroalimentación entre equipos se escribe con la misma cortesía con la que quisieran recibirla. El encuentro se graba.</a:t>
            </a:r>
            <a:endParaRPr/>
          </a:p>
        </p:txBody>
      </p:sp>
      <p:sp>
        <p:nvSpPr>
          <p:cNvPr id="236" name="Google Shape;236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Antes de la Sesión 02: lectura autónoma y qué traer</a:t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 de esta semana: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unidad de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fundamentos y enfoque de investigación (U1 del programa)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Hoy no la dictamos: la leen ustedes y la retomamos al abrir la Sesión 02.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Dónde está:</a:t>
            </a: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ya viene en tu carpeta del curso, en `Sesion 01 - …/` (los PDF `Lectura 1 (obligatoria)…`, `Lectura 2 (guia)…` y `Lectura 3 (recomendada)…`, más el archivo `Lectura autonoma - Sesion 01.txt` con la cita, el enlace y qué traer). También queda publicada en CDigital.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Mientras leen, anoten </a:t>
            </a:r>
            <a:r>
              <a:rPr b="1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términos</a:t>
            </a: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no les queden claros. Con esos tres arrancamos la próxima clase.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Confirmen su equipo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(máximo 3 personas) y avísenlo. Si aún no tienen con quién, díganlo esta semana y el Docente ayuda a armarlo.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Abran la guía del primer corte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`Clases/Recursos/ACAs/` — `Quiz (25%)` — y léanla completa, criterios incluidos: eso es lo que comprueba el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Quiz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Creen el documento del equipo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Google Docs con la plantilla APA CUN y compártanlo con todos los integrantes.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Traigan a la Sesión 02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una idea de tema escrita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una frase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el contexto donde ocurre (empresa, aula, proceso).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Con eso trabajamos en clase. Quien llegue sin la frase se pasará la sesión viendo trabajar a los demás.</a:t>
            </a:r>
            <a:endParaRPr/>
          </a:p>
        </p:txBody>
      </p:sp>
      <p:sp>
        <p:nvSpPr>
          <p:cNvPr id="244" name="Google Shape;244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245" name="Google Shape;245;p17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Nada de esto se califica hoy, pero todo se nota en la Sesión 02: la clase avanza sobre lo que ustedes traigan escrito.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preguntas que siempre salen el primer día</a:t>
            </a:r>
            <a:endParaRPr/>
          </a:p>
        </p:txBody>
      </p:sp>
      <p:sp>
        <p:nvSpPr>
          <p:cNvPr id="252" name="Google Shape;252;p18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8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«¿Esta materia se pierde fácil?»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  <a:endParaRPr/>
          </a:p>
        </p:txBody>
      </p:sp>
      <p:sp>
        <p:nvSpPr>
          <p:cNvPr id="254" name="Google Shape;254;p18"/>
          <p:cNvSpPr/>
          <p:nvPr/>
        </p:nvSpPr>
        <p:spPr>
          <a:xfrm>
            <a:off x="640080" y="3191256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8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«¿Puedo trabajar solo?»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Sí, pero el equipo es de máximo 3 y la carga de trabajo es la misma para uno que para tres. Decídanlo esta semana: después del primer corte no conviene cambiar de equipo ni de tema.</a:t>
            </a:r>
            <a:endParaRPr/>
          </a:p>
        </p:txBody>
      </p:sp>
      <p:sp>
        <p:nvSpPr>
          <p:cNvPr id="256" name="Google Shape;256;p18"/>
          <p:cNvSpPr/>
          <p:nvPr/>
        </p:nvSpPr>
        <p:spPr>
          <a:xfrm>
            <a:off x="640080" y="4645152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«¿Sirve un trabajo de otro semestre?»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Como punto de partida sí, si usted lo declara y lo reformula para este curso. Entregarlo tal cual como si fuera nuevo también es plagio y entra en el mismo debido proceso.</a:t>
            </a:r>
            <a:endParaRPr/>
          </a:p>
        </p:txBody>
      </p:sp>
      <p:sp>
        <p:nvSpPr>
          <p:cNvPr id="258" name="Google Shape;258;p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 TRABAJO</a:t>
            </a:r>
            <a:endParaRPr/>
          </a:p>
        </p:txBody>
      </p:sp>
      <p:sp>
        <p:nvSpPr>
          <p:cNvPr id="265" name="Google Shape;265;p19"/>
          <p:cNvSpPr/>
          <p:nvPr/>
        </p:nvSpPr>
        <p:spPr>
          <a:xfrm>
            <a:off x="640080" y="1737360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9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 oficial: CDigital.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 que no esté ahí, no está entregado.</a:t>
            </a:r>
            <a:endParaRPr/>
          </a:p>
        </p:txBody>
      </p:sp>
      <p:sp>
        <p:nvSpPr>
          <p:cNvPr id="267" name="Google Shape;267;p19"/>
          <p:cNvSpPr/>
          <p:nvPr/>
        </p:nvSpPr>
        <p:spPr>
          <a:xfrm>
            <a:off x="640080" y="2679191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9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tutorías por grupo se acuerdan en la semana con el Docente (no hay atención espontánea sin cita).</a:t>
            </a:r>
            <a:endParaRPr/>
          </a:p>
        </p:txBody>
      </p:sp>
      <p:sp>
        <p:nvSpPr>
          <p:cNvPr id="269" name="Google Shape;269;p19"/>
          <p:cNvSpPr/>
          <p:nvPr/>
        </p:nvSpPr>
        <p:spPr>
          <a:xfrm>
            <a:off x="640080" y="3877056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9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Traer el avance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escrito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 cada encuentro: se trabaja sobre lo que ya existe.</a:t>
            </a:r>
            <a:endParaRPr/>
          </a:p>
        </p:txBody>
      </p:sp>
      <p:sp>
        <p:nvSpPr>
          <p:cNvPr id="271" name="Google Shape;271;p19"/>
          <p:cNvSpPr/>
          <p:nvPr/>
        </p:nvSpPr>
        <p:spPr>
          <a:xfrm>
            <a:off x="640080" y="4818888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9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Integridad académica: citar siempre en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APA 7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El plagio tiene debido proceso.</a:t>
            </a:r>
            <a:endParaRPr/>
          </a:p>
        </p:txBody>
      </p:sp>
      <p:sp>
        <p:nvSpPr>
          <p:cNvPr id="273" name="Google Shape;273;p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LA PRÓXIMA SESIÓN</a:t>
            </a:r>
            <a:endParaRPr/>
          </a:p>
        </p:txBody>
      </p:sp>
      <p:sp>
        <p:nvSpPr>
          <p:cNvPr id="280" name="Google Shape;280;p20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Lectura autónoma: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ESP329 U1 (Fundamentos y enfoque de investigación) — la retomamos al abrir la Sesión 02.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Revisar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Presentación del Curso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completa (fechas, evaluación, contenido de todas las sesiones).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Abrir los enunciados de `Clases/Recursos/ACAs/`: son la guía escrita de lo que evalúa cada corte.</a:t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87" name="Google Shape;28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1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01</a:t>
            </a:r>
            <a:endParaRPr/>
          </a:p>
        </p:txBody>
      </p:sp>
      <p:sp>
        <p:nvSpPr>
          <p:cNvPr id="289" name="Google Shape;289;p21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Ya sabemos qué haremos, cómo se evalúa y quién es quién.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arranca el contenido del curso.</a:t>
            </a:r>
            <a:endParaRPr/>
          </a:p>
        </p:txBody>
      </p:sp>
      <p:sp>
        <p:nvSpPr>
          <p:cNvPr id="290" name="Google Shape;290;p21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