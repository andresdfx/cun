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PROYECTO I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Especialización en Inteligencia Artificial · Código ESP329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188720" cy="502920"/>
          </a:xfrm>
          <a:prstGeom prst="rect">
            <a:avLst/>
          </a:prstGeom>
          <a:solidFill>
            <a:srgbClr val="0A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88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cun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Periodo: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26ES4 · 03 de agosto – 22 de noviembre de 2026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Grupo: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54ES4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Modalidad: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Virtual — encuentro sincrónico semanal por Google Meet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8:00 pm – 10:00 pm (2 horas)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[Nombre del docente]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109115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¿QUÉ ES PROYECTO 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Formular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anteproyecto de investigación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viable, coherente y metodológicamente sólido.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es una asignatura disciplinar tradicional: es el inicio de tu trabajo de grado.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Nada se recolecta ni se aplica todavía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encuestas, entrevistas, trabajo de campo pertenecen a Proyecto II, después del aval metodológico.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docente actúa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garante metodológico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orienta, revisa y aprueba la estructura del anteproyecto.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Producto de cierre: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anteproyecto completo, aprobado por el docente metodólogo.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 · Grupo 54ES4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109115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LÍNEAS DE INVESTIGACIÓN DEL PROGRAMA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Todo anteproyecto debe enmarcarse en una de las líneas oficiales de la Especialización en Inteligencia Artificial: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Uso y adaptación de IA para entornos productivos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Implementación de IA en la educación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tu tema no encaja claramente, tu docente te ayudará a reformularlo dentro de una de estas líneas.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 · Grupo 54ES4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109115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METODOLOGÍA DEL ENCUENTRO SEMANAL (2 HORAS)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 anchor="ctr" marL="109728" marR="91440" marT="36576" marB="36576">
                    <a:solidFill>
                      <a:srgbClr val="122A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Horario</a:t>
                      </a:r>
                    </a:p>
                  </a:txBody>
                  <a:tcPr anchor="ctr" marL="109728" marR="91440" marT="36576" marB="36576">
                    <a:solidFill>
                      <a:srgbClr val="122A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ocurre</a:t>
                      </a:r>
                    </a:p>
                  </a:txBody>
                  <a:tcPr anchor="ctr" marL="109728" marR="91440" marT="36576" marB="36576">
                    <a:solidFill>
                      <a:srgbClr val="122A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Contenido nuevo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8:00 – 9:00 pm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Explicación del concepto de la semana, modelación con ejemplo, dudas comunes.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Tutoría / taller en vivo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9:00 – 10:00 pm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Trabajo en equipos sobre sus avances puntuales, acompañamiento flexible.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337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Todo el encuentro se graba de corrido. Hay además tutorías adicionales fuera de este horario (≈5h/semana) para revisión focalizada por equipo.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 · Grupo 54ES4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109115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CRONOGRAMA DEL CURSO — LÍNEA DE TIEMPO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03 de agosto — 22 de noviembre de 2026 · 11 sesiones de clase reales (festivos ya descontados)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108960"/>
            <a:ext cx="10911535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108960"/>
            <a:ext cx="2654157" cy="502920"/>
          </a:xfrm>
          <a:prstGeom prst="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79"/>
            <a:ext cx="265415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122A4E"/>
                </a:solidFill>
                <a:latin typeface="Calibri"/>
              </a:rPr>
              <a:t>ACA 1 (25%)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66744"/>
            <a:ext cx="26541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8F989D"/>
                </a:solidFill>
                <a:latin typeface="Calibri"/>
              </a:rPr>
              <a:t>03/08–30/08</a:t>
            </a:r>
          </a:p>
        </p:txBody>
      </p:sp>
      <p:sp>
        <p:nvSpPr>
          <p:cNvPr id="9" name="Rectangle 8"/>
          <p:cNvSpPr/>
          <p:nvPr/>
        </p:nvSpPr>
        <p:spPr>
          <a:xfrm>
            <a:off x="4080654" y="3108960"/>
            <a:ext cx="2654157" cy="5029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80654" y="2697479"/>
            <a:ext cx="265415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122A4E"/>
                </a:solidFill>
                <a:latin typeface="Calibri"/>
              </a:rPr>
              <a:t>ACA 2 (25%)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0654" y="3666744"/>
            <a:ext cx="26541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8F989D"/>
                </a:solidFill>
                <a:latin typeface="Calibri"/>
              </a:rPr>
              <a:t>07/09–04/10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1228" y="3108960"/>
            <a:ext cx="2654157" cy="502920"/>
          </a:xfrm>
          <a:prstGeom prst="rect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1228" y="2697479"/>
            <a:ext cx="265415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122A4E"/>
                </a:solidFill>
                <a:latin typeface="Calibri"/>
              </a:rPr>
              <a:t>ACA 3 (42%)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1228" y="3666744"/>
            <a:ext cx="26541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8F989D"/>
                </a:solidFill>
                <a:latin typeface="Calibri"/>
              </a:rPr>
              <a:t>12/10–08/11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73687" y="3108960"/>
            <a:ext cx="1277927" cy="502920"/>
          </a:xfrm>
          <a:prstGeom prst="rect">
            <a:avLst/>
          </a:prstGeom>
          <a:solidFill>
            <a:srgbClr val="7A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73687" y="2697479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122A4E"/>
                </a:solidFill>
                <a:latin typeface="Calibri"/>
              </a:rPr>
              <a:t>Coev. + Autoev. (8%)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73687" y="366674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8F989D"/>
                </a:solidFill>
                <a:latin typeface="Calibri"/>
              </a:rPr>
              <a:t>09/11–22/11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02593" y="3063240"/>
            <a:ext cx="27432" cy="594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13389" y="3995928"/>
            <a:ext cx="1188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  <a:latin typeface="Calibri"/>
              </a:rPr>
              <a:t>🚫 17/08</a:t>
            </a:r>
          </a:p>
          <a:p>
            <a:pPr algn="ctr"/>
            <a:r>
              <a:rPr sz="800" b="0" i="0">
                <a:solidFill>
                  <a:srgbClr val="C0392B"/>
                </a:solidFill>
                <a:latin typeface="Calibri"/>
              </a:rPr>
              <a:t>Asunción
de la Virgen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07512" y="3063240"/>
            <a:ext cx="27432" cy="594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8308" y="3995928"/>
            <a:ext cx="1188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  <a:latin typeface="Calibri"/>
              </a:rPr>
              <a:t>🚫 12/10</a:t>
            </a:r>
          </a:p>
          <a:p>
            <a:pPr algn="ctr"/>
            <a:r>
              <a:rPr sz="800" b="0" i="0">
                <a:solidFill>
                  <a:srgbClr val="C0392B"/>
                </a:solidFill>
                <a:latin typeface="Calibri"/>
              </a:rPr>
              <a:t>Día de
la Raza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71856" y="3063240"/>
            <a:ext cx="27432" cy="594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82652" y="3995928"/>
            <a:ext cx="1188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  <a:latin typeface="Calibri"/>
              </a:rPr>
              <a:t>🚫 02/11</a:t>
            </a:r>
          </a:p>
          <a:p>
            <a:pPr algn="ctr"/>
            <a:r>
              <a:rPr sz="800" b="0" i="0">
                <a:solidFill>
                  <a:srgbClr val="C0392B"/>
                </a:solidFill>
                <a:latin typeface="Calibri"/>
              </a:rPr>
              <a:t>Todos los
Santos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48086" y="3063240"/>
            <a:ext cx="27432" cy="594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58882" y="3995928"/>
            <a:ext cx="1188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  <a:latin typeface="Calibri"/>
              </a:rPr>
              <a:t>🚫 16/11</a:t>
            </a:r>
          </a:p>
          <a:p>
            <a:pPr algn="ctr"/>
            <a:r>
              <a:rPr sz="800" b="0" i="0">
                <a:solidFill>
                  <a:srgbClr val="C0392B"/>
                </a:solidFill>
                <a:latin typeface="Calibri"/>
              </a:rPr>
              <a:t>Independencia
de Cartagena</a:t>
            </a:r>
          </a:p>
        </p:txBody>
      </p:sp>
      <p:sp>
        <p:nvSpPr>
          <p:cNvPr id="26" name="Oval 25"/>
          <p:cNvSpPr/>
          <p:nvPr/>
        </p:nvSpPr>
        <p:spPr>
          <a:xfrm>
            <a:off x="585215" y="3305556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73330" y="3305556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649560" y="3305556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25790" y="3305556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713904" y="3305556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402019" y="3305556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90134" y="3305556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78249" y="3305556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54479" y="3305556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42593" y="3305556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823" y="3305556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" y="6080760"/>
            <a:ext cx="128016" cy="12801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60533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2B2B2B"/>
                </a:solidFill>
                <a:latin typeface="Calibri"/>
              </a:rPr>
              <a:t>Sesión de clase</a:t>
            </a:r>
          </a:p>
        </p:txBody>
      </p:sp>
      <p:sp>
        <p:nvSpPr>
          <p:cNvPr id="39" name="Oval 38"/>
          <p:cNvSpPr/>
          <p:nvPr/>
        </p:nvSpPr>
        <p:spPr>
          <a:xfrm>
            <a:off x="2834639" y="6080760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35808" y="6053328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 i="0">
                <a:solidFill>
                  <a:srgbClr val="2B2B2B"/>
                </a:solidFill>
                <a:latin typeface="Calibri"/>
              </a:rPr>
              <a:t>Festivo (sin clase)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 · Grupo 54ES4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109115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CRONOGRAMA OFICIAL — FECHAS EXACTAS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5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Actividad</a:t>
                      </a:r>
                    </a:p>
                  </a:txBody>
                  <a:tcPr anchor="ctr" marL="109728" marR="91440" marT="36576" marB="36576">
                    <a:solidFill>
                      <a:srgbClr val="122A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Apertura</a:t>
                      </a:r>
                    </a:p>
                  </a:txBody>
                  <a:tcPr anchor="ctr" marL="109728" marR="91440" marT="36576" marB="36576">
                    <a:solidFill>
                      <a:srgbClr val="122A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Cierre</a:t>
                      </a:r>
                    </a:p>
                  </a:txBody>
                  <a:tcPr anchor="ctr" marL="109728" marR="91440" marT="36576" marB="36576">
                    <a:solidFill>
                      <a:srgbClr val="122A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Nota límite</a:t>
                      </a:r>
                    </a:p>
                  </a:txBody>
                  <a:tcPr anchor="ctr" marL="109728" marR="91440" marT="36576" marB="36576">
                    <a:solidFill>
                      <a:srgbClr val="122A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anchor="ctr" marL="109728" marR="91440" marT="36576" marB="36576">
                    <a:solidFill>
                      <a:srgbClr val="122A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1 — 1er avance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03/08/2026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30/08/2026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07/09/2026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2 — 2do avance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07/09/2026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04/10/2026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12/10/2026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3 — Anteproyecto final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12/10/2026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08/11/2026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16/11/2026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Coevaluación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09/11/2026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15/11/2026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22/11/2026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Autoevaluación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16/11/2026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22/11/2026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22/11/2026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Fecha oficial de cierre y registro de TODAS las calificaciones: domingo 22 de noviembre de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 · Grupo 54ES4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109115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AVISO IMPORTANTE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22A4E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ACA 3 (42%, el entregable más grande) solo tiene 2 lunes de clase sincrónica disponibles (19/10 y 26/10) — los otros 2 lunes de su ventana son festivos. Aprovecha bien esas sesiones y apóyate en tutorías adicionales.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22A4E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NO se aplican instrumentos ni se recolecta información — eso corresponde a Proyecto II, después de aprobar el anteproyecto.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 · Grupo 54ES4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109115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QUÉ ENTREGA CADA EQUIPO EN CADA ACA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55767"/>
                <a:gridCol w="545576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ACA</a:t>
                      </a:r>
                    </a:p>
                  </a:txBody>
                  <a:tcPr anchor="ctr" marL="109728" marR="91440" marT="36576" marB="36576">
                    <a:solidFill>
                      <a:srgbClr val="122A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Contenido</a:t>
                      </a:r>
                    </a:p>
                  </a:txBody>
                  <a:tcPr anchor="ctr" marL="109728" marR="91440" marT="36576" marB="36576">
                    <a:solidFill>
                      <a:srgbClr val="122A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1 (25%)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Planteamiento del problema, pregunta de investigación, objetivo general y específicos, justificación, alcances y limitaciones.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2 (25%)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Correcciones de ACA1 + marco referencial: antecedentes (mínimo 6), marco teórico, conceptual, contextual y legal.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3 (42%)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Correcciones de ACA1+ACA2 + metodología completa (enfoque, diseño, población/muestra, técnicas e instrumentos PROPUESTOS) + cronograma + presupuesto = anteproyecto FINAL integrado.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Formato: Plantilla APA CUN de Proyecto de Grado, Normas APA 7.ª edición. Equipos de máximo 3 estudiantes.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 · Grupo 54ES4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109115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RECURSOS Y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Plataforma: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CDigital (Moodle) — todas las entregas, calificaciones y retroalimentación oficiales viven aquí.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Encuentro sincrónico: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Google Meet, enlace publicado en Moodle — lunes 8:00-10:00 pm.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de formato: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Plantilla APA CUN – Proyecto de Grado (estructura + Normas APA 7).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Gestor de citas y referencias: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Mendeley (recomendado por el instructivo institucional).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Bases de datos: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biblioteca CUN (bases suscritas) + Google Scholar, Redalyc, Scielo, Dialnet.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 · Grupo 54ES4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122A4E"/>
                </a:solidFill>
                <a:latin typeface="Calibri"/>
              </a:rPr>
              <a:t>¡Empezamos el 3 de agosto!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Un anteproyecto sólido en Proyecto I es la base de todo tu trabajo de grado.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Nos vemos los lunes, 8:00 pm, por Google Meet.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Cualquier duda, usa las tutorías — son tu espacio de acompañamiento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22A4E"/>
                </a:solidFill>
                <a:latin typeface="Calibri"/>
              </a:rPr>
              <a:t>PROYECTO I · Especialización en Inteligencia Artificial · Grupo 54ES4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