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7315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4320"/>
            <a:ext cx="1325880" cy="91927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1303324"/>
            <a:ext cx="10911535" cy="14764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SESIÓN 02 — FORMULACIÓN DE PREGUNTA, OBJETIVOS Y TÍTULO</a:t>
            </a:r>
          </a:p>
          <a:p>
            <a:pPr algn="ctr">
              <a:spcBef>
                <a:spcPts val="800"/>
              </a:spcBef>
            </a:pPr>
            <a:r>
              <a:rPr sz="1600" b="0" i="0">
                <a:solidFill>
                  <a:srgbClr val="CFDDEE"/>
                </a:solidFill>
                <a:latin typeface="Calibri"/>
              </a:rPr>
              <a:t>Trabajo de Grado 3 — Modelos de Innovación (Ing. Sistemas)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337560"/>
            <a:ext cx="10911535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Sesión 02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Tema: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Formulación de pregunta, objetivos y título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Asignatura: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TRABAJO DE GRADO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94560" y="64465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8F989D"/>
                </a:solidFill>
                <a:latin typeface="Calibri"/>
              </a:rPr>
              <a:t>Inicio 5:10 pm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Sin una buena pregunta, todo el artículo cojea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Hoy le ponemos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corazón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al proyecto: pregunta, objetivos y título. Si esto queda bien, el resto del artículo casi se ordena solo.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El jurado de sustentación no empieza por su metodología: empieza por el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título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y por la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pregunta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Si en 20 segundos no entiende qué investigó usted, ya arrancó con desventaja.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Caso real de Ingeniería de Sistemas: un estudiante llega con "quiero hacer algo de inteligencia artificial".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Eso no es un proyecto: es un antojo. No dice qué se mide, en quién, ni dónde.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La versión investigable: "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¿En qué medida un clasificador de correos reduce los intentos de phishing que llegan a la bandeja de los funcionarios de una entidad pública en Bogotá?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"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Regla de la sesión: la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pregunta manda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 De ella salen los objetivos, y de los objetivos salen las secciones del artículo.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4560" y="64465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8F989D"/>
                </a:solidFill>
                <a:latin typeface="Calibri"/>
              </a:rPr>
              <a:t>Inicio 5:10 pm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943600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Traiga abierta su matriz de herencia de la Sesión 01: hoy se convierte en pregunta.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Qué es (y qué NO es) una pregunta de investigación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una oración interrogativa que deja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ver sus variables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: qué se relaciona con qué, en quién y dónde.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Variable = aquello que puede cambiar y que usted va a observar o medir (tiempo, cobertura, número de errores, percepción).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NO es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un tema. "Automatización de pruebas" es un tema; no se puede responder.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NO es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de sí/no. "¿Sirve la automatización?" se responde con "sí" y se acabó el trabajo de grado.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NO es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una consulta de Google. "¿Qué es DevOps?" ya está respondido en un manual: eso no genera conocimiento nuevo.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NO es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una lista de deseos. "¿Cómo mejorar todo el proceso de la empresa?" no tiene límites y no cabe en un artículo.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Prueba rápida en clase: si al leer su pregunta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el Docente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no puede decir qué dato tendría que recoger para responderla, la pregunta todavía no sirve.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4560" y="64465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8F989D"/>
                </a:solidFill>
                <a:latin typeface="Calibri"/>
              </a:rPr>
              <a:t>Inicio 5:10 pm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Pregunta floja vs. pregunta con variables visibles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691639"/>
          <a:ext cx="10911534" cy="25146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3117581"/>
                <a:gridCol w="2750807"/>
                <a:gridCol w="5043146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Pregunta floja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Qué le falta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Versión reescrita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¿Es buena la automatización?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Sin variables, sin actor, sin contexto; se responde sí/no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¿En qué medida</a:t>
                      </a:r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 la automatización de pruebas </a:t>
                      </a:r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reduce el tiempo de despliegue</a:t>
                      </a:r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 en el equipo de desarrollo del área de TI?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¿La IA es útil en las empresas?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Demasiado ancha; "útil" no se mide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¿Cómo</a:t>
                      </a:r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 incide un modelo de clasificación de tickets </a:t>
                      </a:r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en el tiempo de respuesta</a:t>
                      </a:r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 de la mesa de ayuda?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¿Qué es la ciberseguridad?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Es pregunta de manual, no de investigación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¿Qué prácticas de seguridad</a:t>
                      </a:r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 aplican hoy las pymes de software de la ciudad </a:t>
                      </a:r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y qué brechas</a:t>
                      </a:r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 persisten?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¿Cómo mejorar la empresa?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Sin límite: no cabe en un artículo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¿Qué efecto</a:t>
                      </a:r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 tiene un tablero de indicadores </a:t>
                      </a:r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sobre el control de inventario</a:t>
                      </a:r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 en una microempresa de comercio?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434340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Fórmula que sirve para casi todos: </a:t>
            </a:r>
            <a:r>
              <a:rPr sz="1200" b="1" i="1">
                <a:solidFill>
                  <a:srgbClr val="2B2B2B"/>
                </a:solidFill>
                <a:latin typeface="Calibri"/>
              </a:rPr>
              <a:t>¿En qué medida / cómo</a:t>
            </a:r>
            <a:r>
              <a:rPr sz="1200" b="0" i="1">
                <a:solidFill>
                  <a:srgbClr val="2B2B2B"/>
                </a:solidFill>
                <a:latin typeface="Calibri"/>
              </a:rPr>
              <a:t> [variable A] </a:t>
            </a:r>
            <a:r>
              <a:rPr sz="1200" b="1" i="1">
                <a:solidFill>
                  <a:srgbClr val="2B2B2B"/>
                </a:solidFill>
                <a:latin typeface="Calibri"/>
              </a:rPr>
              <a:t>afecta a</a:t>
            </a:r>
            <a:r>
              <a:rPr sz="1200" b="0" i="1">
                <a:solidFill>
                  <a:srgbClr val="2B2B2B"/>
                </a:solidFill>
                <a:latin typeface="Calibri"/>
              </a:rPr>
              <a:t> [variable B] </a:t>
            </a:r>
            <a:r>
              <a:rPr sz="1200" b="1" i="1">
                <a:solidFill>
                  <a:srgbClr val="2B2B2B"/>
                </a:solidFill>
                <a:latin typeface="Calibri"/>
              </a:rPr>
              <a:t>en</a:t>
            </a:r>
            <a:r>
              <a:rPr sz="1200" b="0" i="1">
                <a:solidFill>
                  <a:srgbClr val="2B2B2B"/>
                </a:solidFill>
                <a:latin typeface="Calibri"/>
              </a:rPr>
              <a:t> [actor y contexto]?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94560" y="64465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8F989D"/>
                </a:solidFill>
                <a:latin typeface="Calibri"/>
              </a:rPr>
              <a:t>Inicio 5:10 pm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Las cuatro piezas que debe tener su pregunta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1. El conector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— "en qué medida", "cómo", "qué relación existe entre". Abre la pregunta y prohíbe el sí/no.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2. La variable que usted mueve o propone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— la automatización, el prototipo, el modelo, la estrategia.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Es lo que usted diseña, aplica u observa. En obra-creación, suele ser el prototipo mismo.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3. La variable que usted observa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— el tiempo, los errores, la cobertura, la percepción de los usuarios.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Debe poder registrarse: con un cronómetro, un log, una encuesta o una rúbrica.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4. El actor y el contexto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— quién y dónde. "El equipo de TI de la empresa X", "los estudiantes de séptimo semestre".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Sin contexto, su investigación no es replicable ni delimitada, y el jurado lo va a notar.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Si al escribir su pregunta le sobra o le falta una de las cuatro piezas, todavía no está lista.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4560" y="64465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8F989D"/>
                </a:solidFill>
                <a:latin typeface="Calibri"/>
              </a:rPr>
              <a:t>Inicio 5:10 pm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Del objetivo general a los específicos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El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objetivo general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es la pregunta convertida en propósito, con un verbo de alcance amplio: analizar, diseñar, evaluar.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Se escribe en infinitivo, es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uno solo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y debe caber en una sola oración.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Los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objetivos específicos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son los pasos para lograr el general: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tres o cuatro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, ni más ni menos.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Regla de oro de esta sesión: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cada objetivo específico se convierte después en una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sección del artículo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Si tiene 7 específicos, va a escribir 7 secciones y el artículo se le vuelve inmanejable.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Si tiene 1 solo, no tiene un proyecto: tiene una tarea.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Los específicos se ordenan en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secuencia lógica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: primero describir lo que hay, luego diseñar o intervenir, al final comparar o evaluar.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Ningún objetivo específico puede pedir algo que la pregunta no pidió; si aparece uno así, o sobra el objetivo o su pregunta era otra.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4560" y="64465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8F989D"/>
                </a:solidFill>
                <a:latin typeface="Calibri"/>
              </a:rPr>
              <a:t>Inicio 5:10 pm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Verbos: los que hunden el proyecto y los que lo sostienen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691639"/>
          <a:ext cx="10911533" cy="301752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384032"/>
                <a:gridCol w="3300968"/>
                <a:gridCol w="2475726"/>
                <a:gridCol w="2750807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Verbo débil (evítelo)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Por qué falla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Verbo operable (úselo)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Qué produce en el artículo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Conocer / entender / saber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Ocurre dentro de su cabeza: nadie puede verificarlo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Identificar · Caracterizar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Una sección de descripción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Ver / analizar (a secas)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"Analizar" sin decir qué ni contra qué no compromete a nada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Comparar · Correlacionar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Una sección de análisis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Aprender sobre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Es un objetivo de estudiante, no de investigación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Diseñar · Construir · Implementar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La obra-creación o el prototipo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Profundizar en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No tiene punto de llegada: nunca se sabe si se cumplió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Evaluar · Validar · Medir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Resultados y discusión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Concientizar / sensibilizar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Es intención pedagógica, no resultado verificable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Determinar · Establecer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Conclusiones sostenidas en datos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484632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Prueba del verbo: pregúntese </a:t>
            </a:r>
            <a:r>
              <a:rPr sz="1200" b="1" i="1">
                <a:solidFill>
                  <a:srgbClr val="2B2B2B"/>
                </a:solidFill>
                <a:latin typeface="Calibri"/>
              </a:rPr>
              <a:t>"¿cómo demuestro que ya lo cumplí?"</a:t>
            </a:r>
            <a:r>
              <a:rPr sz="1200" b="0" i="1">
                <a:solidFill>
                  <a:srgbClr val="2B2B2B"/>
                </a:solidFill>
                <a:latin typeface="Calibri"/>
              </a:rPr>
              <a:t>. Si no puede responder con una evidencia concreta, cambie el verbo.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94560" y="64465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8F989D"/>
                </a:solidFill>
                <a:latin typeface="Calibri"/>
              </a:rPr>
              <a:t>Inicio 5:10 pm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El título es la puerta de entrada del jurado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Fórmula: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fenómeno + actor + contexto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, en unas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15 a 20 palabras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Fenómeno: qué se estudia o qué se construye. Actor: quién. Contexto: dónde.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Prohibido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en un título académico: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Eslóganes y adjetivos de folleto: "innovador", "revolucionario", "del futuro".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Signos de admiración, preguntas retóricas y juegos de palabras.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Siglas que el lector no conoce todavía, salvo que sean de uso universal.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"Innovando el futuro con IA" no dice nada: no se sabe qué se hizo, con quién, ni dónde.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"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Detección de phishing con aprendizaje automático en los correos institucionales de la CUN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" lo dice todo en 13 palabras.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Truco práctico: escriba el título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al final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, cuando ya tenga la pregunta. Casi siempre el título es la pregunta sin el signo de interrogación.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4560" y="64465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8F989D"/>
                </a:solidFill>
                <a:latin typeface="Calibri"/>
              </a:rPr>
              <a:t>Inicio 5:10 pm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Ejemplo modelado — de una idea floja a un proyecto coherente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Punto de partida (flojo):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"¿Es buena la automatización?"</a:t>
            </a:r>
          </a:p>
          <a:p>
            <a:pPr>
              <a:spcAft>
                <a:spcPts val="10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Pregunta reescrita: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"¿En qué medida la automatización de pruebas reduce el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tiempo de despliegue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y los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errores en producción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del equipo de desarrollo del área de TI?"</a:t>
            </a:r>
          </a:p>
          <a:p>
            <a:pPr>
              <a:spcAft>
                <a:spcPts val="10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Objetivo general: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Evaluar el efecto de la automatización de pruebas sobre el tiempo de despliegue y los errores en producción del equipo de desarrollo del área de TI.</a:t>
            </a:r>
          </a:p>
          <a:p>
            <a:pPr>
              <a:spcAft>
                <a:spcPts val="10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Específico 1: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*Caracterizar* el proceso actual de despliegue del equipo. → sección de descripción del contexto.</a:t>
            </a:r>
          </a:p>
          <a:p>
            <a:pPr>
              <a:spcAft>
                <a:spcPts val="10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Específico 2: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*Diseñar* la automatización de las pruebas del proceso caracterizado. → sección de la obra-creación / prototipo.</a:t>
            </a:r>
          </a:p>
          <a:p>
            <a:pPr>
              <a:spcAft>
                <a:spcPts val="10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Específico 3: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*Comparar* los tiempos de despliegue y las incidencias antes y después de la automatización. → sección de resultados.</a:t>
            </a:r>
          </a:p>
          <a:p>
            <a:pPr>
              <a:spcAft>
                <a:spcPts val="10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Título (14 palabras):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"Automatización de pruebas y su efecto en el tiempo de despliegue de un equipo de TI".</a:t>
            </a:r>
          </a:p>
          <a:p>
            <a:pPr>
              <a:spcAft>
                <a:spcPts val="10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Prueba de coherencia: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lea seguidos pregunta, objetivos y título. Suenan a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un solo proyecto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→ puede seguir.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4560" y="64465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8F989D"/>
                </a:solidFill>
                <a:latin typeface="Calibri"/>
              </a:rPr>
              <a:t>Inicio 5:10 pm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943600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Fíjese que cada objetivo específico ya le anuncia qué sección va a escribir. Ese es el estándar de hoy.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Errores frecuentes que hoy quedan desterrados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10911535" cy="969264"/>
          </a:xfrm>
          <a:prstGeom prst="roundRect">
            <a:avLst/>
          </a:prstGeom>
          <a:solidFill>
            <a:srgbClr val="FB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47088"/>
            <a:ext cx="1045433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⚠️ Importante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"Mi objetivo es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conocer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sobre la automatización de pruebas." — 'Conocer' no se mide ni se vuelve sección. Cámbielo por identificar, caracterizar, comparar, diseñar o evaluar.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935224"/>
            <a:ext cx="10911535" cy="969264"/>
          </a:xfrm>
          <a:prstGeom prst="roundRect">
            <a:avLst/>
          </a:prstGeom>
          <a:solidFill>
            <a:srgbClr val="FB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3044952"/>
            <a:ext cx="1045433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⚠️ Importante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"Puse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7 objetivos específicos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para que se vea completo." — Cada específico es una sección: con 7 el artículo se vuelve inmanejable. Deje 3 o 4 bien alineados.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4133087"/>
            <a:ext cx="10911535" cy="969264"/>
          </a:xfrm>
          <a:prstGeom prst="roundRect">
            <a:avLst/>
          </a:prstGeom>
          <a:solidFill>
            <a:srgbClr val="FB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4242816"/>
            <a:ext cx="1045433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⚠️ Importante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"Mi título es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'Revolucionando el software'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." — Eslogan sin variables ni contexto. Título = fenómeno + actor + contexto, en 15 a 20 palabras.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94560" y="64465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8F989D"/>
                </a:solidFill>
                <a:latin typeface="Calibri"/>
              </a:rPr>
              <a:t>Inicio 5:10 pm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Errores frecuentes que hoy quedan desterrados (cont.)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10911535" cy="969264"/>
          </a:xfrm>
          <a:prstGeom prst="roundRect">
            <a:avLst/>
          </a:prstGeom>
          <a:solidFill>
            <a:srgbClr val="FD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47088"/>
            <a:ext cx="1045433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💡 Aclaración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"¿Puedo cambiar la pregunta más adelante?" — Sí, pero cada cambio obliga a reescribir objetivos y título. Por eso hoy se invierte tiempo en dejarla firme.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935224"/>
            <a:ext cx="10911535" cy="969264"/>
          </a:xfrm>
          <a:prstGeom prst="roundRect">
            <a:avLst/>
          </a:prstGeom>
          <a:solidFill>
            <a:srgbClr val="E8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3044952"/>
            <a:ext cx="1045433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ℹ️ Nota institucional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Su pregunta es la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brújula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de todo lo que viene: la búsqueda de referentes, el instrumento, el análisis y la discusión se derivan de ella.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94560" y="64465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8F989D"/>
                </a:solidFill>
                <a:latin typeface="Calibri"/>
              </a:rPr>
              <a:t>Inicio 5:10 pm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Paso a paso — cómo armar el documento en Google Docs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1.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Cree en su Drive el documento `S02_PreguntaObjetivos_Apellido`. Todo se trabaja en la nube: nada de instalar programas.</a:t>
            </a:r>
          </a:p>
          <a:p>
            <a:pPr>
              <a:spcAft>
                <a:spcPts val="10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2.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Ponga tres títulos: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Pregunta · Objetivos · Título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. Deje el título del proyecto de último aunque le den ganas de escribirlo primero.</a:t>
            </a:r>
          </a:p>
          <a:p>
            <a:pPr>
              <a:spcAft>
                <a:spcPts val="10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3.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Escriba su pregunta y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subraye las dos variables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con color. Si no puede subrayar dos, no hay pregunta todavía.</a:t>
            </a:r>
          </a:p>
          <a:p>
            <a:pPr>
              <a:spcAft>
                <a:spcPts val="10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4.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Debajo escriba el objetivo general en una sola oración, empezando por el verbo en infinitivo.</a:t>
            </a:r>
          </a:p>
          <a:p>
            <a:pPr>
              <a:spcAft>
                <a:spcPts val="10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5.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Escriba 3 o 4 específicos y, al frente de cada uno, anote entre paréntesis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qué sección producirá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6.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Abra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Google Académico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y busque cómo nombran esas mismas variables los autores de su campo; ajuste su vocabulario al de ellos.</a:t>
            </a:r>
          </a:p>
          <a:p>
            <a:pPr lvl="1">
              <a:spcAft>
                <a:spcPts val="600"/>
              </a:spcAft>
            </a:pPr>
            <a:r>
              <a:rPr sz="1400" b="0" i="0">
                <a:solidFill>
                  <a:srgbClr val="2B2B2B"/>
                </a:solidFill>
                <a:latin typeface="Calibri"/>
              </a:rPr>
              <a:t>●   Buscar "tiempo de despliegue" con comillas le muestra si el término existe en la literatura o si usted lo inventó.</a:t>
            </a:r>
          </a:p>
          <a:p>
            <a:pPr>
              <a:spcAft>
                <a:spcPts val="10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7.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Genere en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zbib.org (ZoteroBib)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las referencias APA de 2 fuentes que respalden que su pregunta vale la pena; péguelas al final del documento.</a:t>
            </a:r>
          </a:p>
          <a:p>
            <a:pPr>
              <a:spcAft>
                <a:spcPts val="10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8.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Escriba por fin el título y haga la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prueba de coherencia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leyendo los tres bloques en voz alta.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4560" y="64465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8F989D"/>
                </a:solidFill>
                <a:latin typeface="Calibri"/>
              </a:rPr>
              <a:t>Inicio 5:10 pm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TALLER — Pregunta, objetivos y título en una página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Tiempo: 20 minutos.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Trabajo individual sobre su propio proyecto. Entregable: `S02_PreguntaObjetivos_Apellido`.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Consigna literal: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(1)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Escriba su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pregunta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con las dos variables visibles, el actor y el contexto.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(2)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Derive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un objetivo general + tres específicos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con verbos operables, y anote al frente de cada específico la sección que producirá.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(3)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Escriba el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título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en 15 a 20 palabras, sin eslóganes.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(4)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Cierre con la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prueba de coherencia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: lea los tres bloques seguidos y escriba una línea diciendo si suenan al mismo proyecto.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4560" y="64465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8F989D"/>
                </a:solidFill>
                <a:latin typeface="Calibri"/>
              </a:rPr>
              <a:t>Inicio 5:10 pm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TALLER — Pregunta, objetivos y título en una página (cont.)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Criterio de éxito (así se verifica):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Un compañero que no conoce su tema lee su página y puede decir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qué va a medir usted y en quién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Ningún objetivo específico usa conocer, entender, saber o profundizar.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El título no contiene ningún adjetivo publicitario.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4560" y="64465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8F989D"/>
                </a:solidFill>
                <a:latin typeface="Calibri"/>
              </a:rPr>
              <a:t>Inicio 5:10 pm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943600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Mientras trabajan, </a:t>
            </a:r>
            <a:r>
              <a:rPr sz="1200" b="1" i="1">
                <a:solidFill>
                  <a:srgbClr val="2B2B2B"/>
                </a:solidFill>
                <a:latin typeface="Calibri"/>
              </a:rPr>
              <a:t>el Docente</a:t>
            </a:r>
            <a:r>
              <a:rPr sz="1200" b="0" i="1">
                <a:solidFill>
                  <a:srgbClr val="2B2B2B"/>
                </a:solidFill>
                <a:latin typeface="Calibri"/>
              </a:rPr>
              <a:t> pasa por los grupos: si usa 'conocer', si su pregunta es de sí/no o si su título es un eslogan, se lo va a decir en el momento.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Checklist de autoevaluación antes de subir a CDigital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10911535" cy="969264"/>
          </a:xfrm>
          <a:prstGeom prst="roundRect">
            <a:avLst/>
          </a:prstGeom>
          <a:solidFill>
            <a:srgbClr val="E8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47088"/>
            <a:ext cx="1045433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ℹ️ Nota institucional</a:t>
            </a:r>
          </a:p>
          <a:p>
            <a:pPr>
              <a:spcBef>
                <a:spcPts val="400"/>
              </a:spcBef>
            </a:pPr>
            <a:r>
              <a:rPr sz="1300" b="1" i="0">
                <a:solidFill>
                  <a:srgbClr val="2B2B2B"/>
                </a:solidFill>
                <a:latin typeface="Calibri"/>
              </a:rPr>
              <a:t>Pregunta: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¿puedo subrayar dos variables? ¿aparece el actor y el lugar? ¿empieza por 'en qué medida' o 'cómo' y no se responde con sí/no?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935224"/>
            <a:ext cx="10911535" cy="969264"/>
          </a:xfrm>
          <a:prstGeom prst="roundRect">
            <a:avLst/>
          </a:prstGeom>
          <a:solidFill>
            <a:srgbClr val="E8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3044952"/>
            <a:ext cx="1045433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ℹ️ Nota institucional</a:t>
            </a:r>
          </a:p>
          <a:p>
            <a:pPr>
              <a:spcBef>
                <a:spcPts val="400"/>
              </a:spcBef>
            </a:pPr>
            <a:r>
              <a:rPr sz="1300" b="1" i="0">
                <a:solidFill>
                  <a:srgbClr val="2B2B2B"/>
                </a:solidFill>
                <a:latin typeface="Calibri"/>
              </a:rPr>
              <a:t>Objetivos: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¿el general es uno solo y empieza en infinitivo? ¿hay entre 3 y 4 específicos? ¿todos usan verbos que se pueden verificar? ¿cada uno anuncia una sección?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4133087"/>
            <a:ext cx="10911535" cy="969264"/>
          </a:xfrm>
          <a:prstGeom prst="roundRect">
            <a:avLst/>
          </a:prstGeom>
          <a:solidFill>
            <a:srgbClr val="E8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4242816"/>
            <a:ext cx="1045433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ℹ️ Nota institucional</a:t>
            </a:r>
          </a:p>
          <a:p>
            <a:pPr>
              <a:spcBef>
                <a:spcPts val="400"/>
              </a:spcBef>
            </a:pPr>
            <a:r>
              <a:rPr sz="1300" b="1" i="0">
                <a:solidFill>
                  <a:srgbClr val="2B2B2B"/>
                </a:solidFill>
                <a:latin typeface="Calibri"/>
              </a:rPr>
              <a:t>Título: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¿tiene fenómeno, actor y contexto? ¿está entre 15 y 20 palabras? ¿no tiene adjetivos de folleto ni signos de admiración?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94560" y="64465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8F989D"/>
                </a:solidFill>
                <a:latin typeface="Calibri"/>
              </a:rPr>
              <a:t>Inicio 5:10 pm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Checklist de autoevaluación antes de subir a CDigital (cont.)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10911535" cy="969264"/>
          </a:xfrm>
          <a:prstGeom prst="roundRect">
            <a:avLst/>
          </a:prstGeom>
          <a:solidFill>
            <a:srgbClr val="FD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47088"/>
            <a:ext cx="1045433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💡 Aclaración</a:t>
            </a:r>
          </a:p>
          <a:p>
            <a:pPr>
              <a:spcBef>
                <a:spcPts val="400"/>
              </a:spcBef>
            </a:pPr>
            <a:r>
              <a:rPr sz="1300" b="1" i="0">
                <a:solidFill>
                  <a:srgbClr val="2B2B2B"/>
                </a:solidFill>
                <a:latin typeface="Calibri"/>
              </a:rPr>
              <a:t>Coherencia: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si leo pregunta, objetivos y título seguidos, ¿suenan a un solo proyecto? Si suenan a tres proyectos distintos, alinéelos antes de entregar.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935224"/>
            <a:ext cx="10911535" cy="969264"/>
          </a:xfrm>
          <a:prstGeom prst="roundRect">
            <a:avLst/>
          </a:prstGeom>
          <a:solidFill>
            <a:srgbClr val="FB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3044952"/>
            <a:ext cx="1045433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⚠️ Importante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Si respondió 'no' a cualquiera de estas casillas, todavía no suba el archivo: arréglelo primero. Este documento es la base de todo lo que viene.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94560" y="64465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8F989D"/>
                </a:solidFill>
                <a:latin typeface="Calibri"/>
              </a:rPr>
              <a:t>Inicio 5:10 pm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Para continuar — trabajo autónomo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Suba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`S02_PreguntaObjetivos_Apellido` 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CDigital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: [URL CDigital — campus del curso pendiente]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Trabajo autónomo (extensión de la sesión):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Muéstrele su pregunta a alguien ajeno al proyecto y pídale que le explique con sus palabras qué va a investigar usted. Si no puede, reescríbala.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Busque en Google Académico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tres artículos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cuyo título se parezca en estructura al suyo y observe cómo están construidos.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Anote en su bitácora las variables tal como las nombran esos autores: ese vocabulario le va a servir para los referentes.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En la próxima sesión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tomamos exactamente esta pregunta y estos objetivos y montamos la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estructura del artículo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, con taller de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introducción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sobre la plantilla APA CUN en Google Docs.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Llegue con el documento de hoy terminado: la introducción se escribe encima de él.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4560" y="64465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8F989D"/>
                </a:solidFill>
                <a:latin typeface="Calibri"/>
              </a:rPr>
              <a:t>Inicio 5:10 pm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2895" y="5632704"/>
            <a:ext cx="1371600" cy="95097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1737360"/>
            <a:ext cx="10911535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0C2340"/>
                </a:solidFill>
                <a:latin typeface="Calibri"/>
              </a:rPr>
              <a:t>Cierre — Sesión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017520"/>
            <a:ext cx="10911535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Sesión 02: Formulación de pregunta, objetivos y título</a:t>
            </a:r>
          </a:p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Siguiente encuentro: continúa el hilo del mismo entregable.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754880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007433"/>
                </a:solidFill>
                <a:latin typeface="Calibri"/>
              </a:rPr>
              <a:t>TRABAJO DE GRADO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94560" y="64465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8F989D"/>
                </a:solidFill>
                <a:latin typeface="Calibri"/>
              </a:rPr>
              <a:t>Inicio 5:10 pm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CUN</dc:creator>
  <cp:keywords/>
  <dc:description/>
  <cp:lastModifiedBy>CUN</cp:lastModifiedBy>
  <cp:revision>1</cp:revision>
  <dcterms:created xsi:type="dcterms:W3CDTF">2013-01-27T09:14:16Z</dcterms:created>
  <dcterms:modified xsi:type="dcterms:W3CDTF">2013-01-27T09:15:58Z</dcterms:modified>
  <cp:category/>
</cp:coreProperties>
</file>