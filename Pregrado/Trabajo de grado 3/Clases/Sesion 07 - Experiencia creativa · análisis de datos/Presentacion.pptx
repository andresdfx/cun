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1325880" cy="91927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303324"/>
            <a:ext cx="10911535" cy="14764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07 — EXPERIENCIA CREATIVA · ANÁLISIS DE DATOS</a:t>
            </a:r>
          </a:p>
          <a:p>
            <a:pPr algn="ctr">
              <a:spcBef>
                <a:spcPts val="800"/>
              </a:spcBef>
            </a:pPr>
            <a:r>
              <a:rPr sz="1600" b="0" i="0">
                <a:solidFill>
                  <a:srgbClr val="CFDDEE"/>
                </a:solidFill>
                <a:latin typeface="Calibri"/>
              </a:rPr>
              <a:t>Trabajo de Grado 3 — Modelos de Innovación (Ing. Sistemas)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37560"/>
            <a:ext cx="10911535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Sesión 07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Experiencia creativa · análisis de datos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TRABAJO DE GRADO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El dato en bruto no dice nada; el hallazgo sí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Esta es la sesión que separa un buen artículo de uno mediocre: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convertir datos en hallazgos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Muchos estudiantes entregan tablas y creen que entregaron resultados.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Les falta el paso del medio: interpretar.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Ejemplo que se repite todos los semestres: el estudiante escribe "el 70% respondió que sí" y ahí termina el párrafo.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¿70% de cuántos? ¿Sí a qué? ¿Eso es mucho o es poco? ¿Comparado con qué? ¿Qué objetivo responde?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Un número solo no significa nada hasta que se le pone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un punto de comparación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una pregunta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"42 minutos" no dice nada. "42 minutos cuando el estándar del equipo son 20" ya dice algo.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Hoy salimos con la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tabla de hallazgos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armada y con una página de lectura en prosa que interpreta esos hallazgos.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Todo con herramientas gratis en el navegador: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Hojas de cálculo de Google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Google Docs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Tenga a la mano lo que haya recogido con su instrumento. Con 10 registros ya se puede trabajar la lógica del análisis.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Dato, hallazgo y resultado no son lo mismo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4" cy="20116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50484"/>
                <a:gridCol w="2750807"/>
                <a:gridCol w="3300968"/>
                <a:gridCol w="3209275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Nivel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Qué es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Ejemplo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Qué le falta si se queda ahí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Dato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El registro en bruto, tal como se capturó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"El despliegue tardó 42 minutos"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Falta el significado: es solo un número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Hallazgo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La interpretación del dato a la luz de la pregunta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"El tiempo de despliegue casi duplica el estándar del equipo"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Falta amarrarlo a un objetivo del proyecto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Resultado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El hallazgo que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responde a un objetivo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"Se caracterizó el proceso actual: lento y con 6 pasos manuales"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Nada: esto sí va en la sección de Resultados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38404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El salto de dato a hallazgo se hace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comparando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: contra un estándar, contra otro grupo, contra el momento anterior o contra lo que dice la literatura.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Cómo se convierte un dato en hallazgo: cuatro comparaciones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Un dato se vuelve hallazgo cuando usted lo pone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contra algo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 Hay cuatro contras posibles: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1. Contra un estándar o meta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"42 minutos frente a los 20 que fija el acuerdo de servicio del área".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2. Contra otro momento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"42 minutos antes de la automatización, 12 después". Es la comparación más potente si su diseño lo permite.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3. Contra otro grupo o caso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"el equipo A tarda 42 minutos; el equipo B, que ya automatizó, tarda 15".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4. Contra la literatura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"Ramírez (2022) reportó descensos de 40 a 12 minutos; nuestro caso muestra un patrón similar".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Si su dato no se puede comparar contra nada, revise: probablemente su instrumento no capturó el punto de referencia.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Ese es un error que se arregla ahora, no cuando ya no quede tiempo de volver a medir.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Ojo: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el hallazgo describe lo que muestra el dato. La explicación de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por qué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ocurre eso va en la Discusión, no aquí.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Cómo se analiza según su enfoque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3" cy="2514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200645"/>
                <a:gridCol w="3209275"/>
                <a:gridCol w="3025887"/>
                <a:gridCol w="2475726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Enfoque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Qué se hace con los datos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Qué se muestra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Herramienta gratis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Cuantitativo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Promedios, frecuencias, porcentajes, rangos, mínimos y máximos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Tablas y gráficos,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cada uno con su lectura en prosa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Hojas de cálculo de Google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Cualitativo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Codificar (etiquetar fragmentos), agrupar en categorías, buscar patrones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Categorías con citas textuales de los participantes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Google Docs con colores y comentarios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Investigación-creación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Describir decisiones de diseño, iteraciones y aprendizajes del prototipo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Bitácora de iteraciones y rúbrica aplicada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Docs + Excalidraw para los esquemas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Mixto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Se analiza cada parte por separado y luego se cruzan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Un número y la explicación de la gente sobre ese número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Hojas de cálculo + Docs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En cualquiera de los cuatro casos la regla es la misma: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nada se deja solo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. Toda tabla, gráfico o categoría lleva su frase de interpretación.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Análisis cuantitativo: lo mínimo que necesita y sabe hacer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No necesita software estadístico de pago. Con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Hojas de cálculo de Google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cubre todo lo que exige un trabajo de pregrado.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Frecuencia y porcentaje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cuántos y qué proporción. Fórmula: `=CONTAR.SI(rango; criterio)` y luego divide sobre el total.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Promedio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`=PROMEDIO(rango)`. Útil para tiempos, cantidades, calificaciones.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Cuidado: si hay un valor extremo, el promedio miente. Reporte también la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mediana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con `=MEDIANA(rango)`.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Rango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mínimo y máximo. Dice mucho más de lo que la gente cree: "entre 18 y 67 minutos" muestra una variabilidad enorme.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Desviación estándar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`=DESVEST(rango)`. Indica qué tan dispersos están los datos alrededor del promedio.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Análisis cuantitativo: lo mínimo que necesita y sabe hacer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Reglas de presentación que el jurado revisa: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Cada tabla y cada figura va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numerada y titulada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en APA: "Tabla 1. Tiempos de despliegue registrados".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Los porcentajes se reportan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con el total al lado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"70% (14 de 20)". Un porcentaje sobre 5 casos es engañoso.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No use gráficos de torta para más de cinco categorías: se vuelven ilegibles.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Análisis cualitativo: de las respuestas a las categorías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Si aplicó entrevistas o preguntas abiertas, no se trata de contar palabras: se trata de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encontrar sentidos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Paso 1 — Transcriba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o consolide las respuestas en un documento, una por participante y con su código (P1, P2, P3).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Paso 2 — Codifique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lea y marque con color los fragmentos que dicen algo relevante, poniéndoles una etiqueta corta.</a:t>
            </a:r>
          </a:p>
          <a:p>
            <a:pPr lvl="1"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●   Ejemplo: "toca esperar a que alguien de infraestructura apruebe" → etiqueta: *dependencia de terceros*.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Paso 3 — Agrupe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las etiquetas parecidas en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categorías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 Tres o cuatro categorías bien construidas bastan.</a:t>
            </a:r>
          </a:p>
          <a:p>
            <a:pPr lvl="1"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●   Ejemplo de categoría: *fricciones del proceso manual*, que reúne dependencia de terceros, reprocesos y esperas.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Paso 4 — Busque patrones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qué se repite en casi todos, qué aparece solo en un caso y por qué, qué se contradice entre participantes.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Paso 5 — Sostenga cada categoría con una cita textual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del participante, entre comillas y con su código: "…" (P3).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Las categorías se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derivan de los datos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no se inventan antes. Si usted ya sabía las categorías, no analizó: confirmó su prejuicio.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Ejemplo modelado — el mismo número, de mudo a hablante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Dato crudo: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"42 minutos por despliegue". Ahí está el número, y no dice nada por sí solo.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Lo comparo: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el acuerdo interno del área fija 20 minutos como tiempo objetivo.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Hallazgo: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"el tiempo actual de despliegue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duplica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el tiempo objetivo del área".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¿A qué objetivo responde?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Al objetivo específico 1: *caracterizar el proceso actual de despliegue*.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Resultado (así se escribe en el artículo):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"Se caracterizó el proceso actual: un despliegue toma en promedio 42 minutos (rango 31-58), frente al tiempo objetivo de 20 minutos, y exige seis pasos manuales."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Ahora una tabla muda y su arreglo: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*Tabla muda:* tres columnas de números pegadas en el documento, sin una sola frase alrededor.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*Tabla con lectura:* debajo se agrega — "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Se observa que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el 70% de los despliegues (14 de 20) superó los 40 minutos,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lo que indica que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la demora no es un caso aislado sino el comportamiento habitual del proceso."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Esa frase es la diferencia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entre un anexo y un resultado.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Repita este recorrido con cada tabla y cada gráfico de su artículo. Sin excepción.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Tabla de hallazgos — la herramienta del día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4" cy="30175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300968"/>
                <a:gridCol w="4034517"/>
                <a:gridCol w="3576049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Dato (evidencia)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Hallazgo (interpretación)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Objetivo que responde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Promedio de 42 min por despliegue (n=20)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Duplica el tiempo objetivo del área (20 min)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Obj. 1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— Caracterizar el proceso actual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6 pasos ejecutados manualmente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Alta dependencia de intervención humana en cada salida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Obj. 1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— Caracterizar el proceso actual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3 incidencias por semana en producción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Los errores llegan al usuario con frecuencia sostenida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Obj. 3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— Comparar antes y después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Cobertura de pruebas del 35%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Dos tercios del código sale sin verificación automática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Obj. 2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— Diseñar la automatización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"toca esperar a que aprueben" (P3, P5)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La espera por terceros es una fricción reconocida por el equipo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Obj. 1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— Caracterizar el proceso actual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84632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Si una fila no puede llenar la tercera columna, hay dos posibilidades: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o ese dato sobra, o le falta un objetivo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. Decida hoy cuál de las dos.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La advertencia del día: el "data dump"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969264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Data dump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es pegar diez tablas seguidas sin una sola frase que las explique. No es análisis: es un volcado. El jurado lo detecta en la primera hojeada.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35224"/>
            <a:ext cx="10911535" cy="969264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044952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Regla simple: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si una tabla no tiene lectura, sobra. O la interpreta, o la manda a anexos.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133087"/>
            <a:ext cx="10911535" cy="969264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242816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Fórmula de lectura, para copiar y usar: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"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Se observa que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[lo que muestra el dato],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lo que indica que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[qué significa para mi pregunta]." Dos frases por tabla bastan.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330952"/>
            <a:ext cx="10911535" cy="969264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5440680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Prueba de calidad: tape todas las tablas de su sección de Resultados. Si el texto se sigue entendiendo y se sabe qué encontró usted, está bien escrito.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La advertencia del día: el "data dump" (cont.)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969264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Al revés también falla: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texto sin evidencia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 Toda afirmación de la sección de Resultados debe poder señalar el dato que la sostiene.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Errores frecuentes de esta sesión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969264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"Pego mis tablas y ya están los resultados." — Falta la lectura de cada tabla: qué se ve y qué significa.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35224"/>
            <a:ext cx="10911535" cy="969264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044952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"Mi opinión sobre el tema es un hallazgo." — No. Un hallazgo se sostiene en un dato. Opinión sin dato no entra al artículo.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133087"/>
            <a:ext cx="10911535" cy="969264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242816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"Analizo cosas que no pregunté porque son interesantes." — Dispersan y le restan foco. Analice solo lo que responde a un objetivo.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Errores frecuentes de esta sesión (cont.)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969264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"Tengo el dato pero no sé a qué objetivo va." — Revise: o el dato sobra, o le falta un objetivo, o su instrumento capturó cosas que nadie pidió.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35224"/>
            <a:ext cx="10911535" cy="969264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044952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"¿Y si mis resultados contradicen lo que yo esperaba?" — Excelente material. Un resultado inesperado bien sustentado vale más que uno predecible; se reporta igual y se discute.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Paso a paso — de los registros a la tabla de hallazgos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1.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Consolide sus registros 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Hojas de cálculo de Google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una fila por caso, una columna por variable. Nada de datos en servilletas ni en el chat.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2.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Limpie: elimine filas incompletas, unifique formatos de fecha y de unidades. Deje constancia de cuántos casos descartó y por qué.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3.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Calcule lo básico por columna: promedio, mediana, mínimo, máximo y frecuencias.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4.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Elija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solo lo que responde a un objetivo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 Todo lo demás va a un anexo o se descarta.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5.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Abra `S07_AnalisisHallazgos_Apellido` en Google Docs e inserte la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tabla de hallazgos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 tres columnas.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6.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Llene una fila por dato relevante y complete siempre la tercera columna con el objetivo.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7.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Escriba la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lectura en prosa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un párrafo por objetivo, usando la fórmula "se observa que… lo que indica que…".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8.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Numere y titule sus tablas y figuras en APA, y refiéralas en el texto: "como muestra la Tabla 1…".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Paso a paso — de los registros a la tabla de hallazgos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9.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Marque los hallazgos que le van a servir para la discusión y anote al lado qué autor de sus fichas dice algo sobre eso.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Ese apunte le va a ahorrar horas cuando escriba la discusión.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TALLER — Tabla de hallazgos y página de lectura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Tiempo: 20 minutos.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Trabajo individual. Entregable: `S07_AnalisisHallazgos_Apellido`.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Consigna literal: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(1)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Arme una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tabla de hallazgos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con las columnas *dato · hallazgo · objetivo que responde*, con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mínimo 3 filas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(2)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Escriba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una página de lectura en prosa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que interprete esos hallazgos: qué se ve y qué significa.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(3)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Use al menos una vez la fórmula "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se observa que… lo que indica que…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".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(4)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Marque con color los hallazgos que piensa retomar en la discusión.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TALLER — Tabla de hallazgos y página de lectura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 (así se verifica):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Cada dato tiene su interpretación y está amarrado a un objetivo: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ninguna celda de la tercera columna vacía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Si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el Docente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lee su página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sin ver las tablas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entiende qué encontró usted.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No hay ni una tabla muda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en su documento.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Si todavía tiene pocos datos, haga el ejercicio con los que tenga. Lo que se evalúa hoy es la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lógica del análisis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, no el volumen de la muestra.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Checklist de autoevaluación antes de subir a CDigital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969264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Trazabilidad: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¿puedo señalar de dónde salió cada número de mi tabla? ¿mis registros originales están guardados y disponibles?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35224"/>
            <a:ext cx="10911535" cy="969264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044952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Interpretación: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¿cada dato de mi tabla tiene un hallazgo redactado, y ese hallazgo compara contra algo (estándar, momento anterior, otro grupo o literatura)?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133087"/>
            <a:ext cx="10911535" cy="969264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242816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Amarre a objetivos: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¿toda fila tiene su objetivo? ¿algún objetivo específico se quedó sin ninguna fila? Si es así, ahí tiene un hueco de evidencia.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Checklist de autoevaluación antes de subir a CDigital (cont.)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969264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Neutralidad: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¿mi sección de Resultados está libre de juicios y de explicaciones de causa? Eso va en la Discusión.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35224"/>
            <a:ext cx="10911535" cy="969264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044952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Formato: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¿todas las tablas y figuras están numeradas, tituladas en APA y referidas en el texto? ¿ninguna quedó suelta sin su lectura?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 — trabajo autónomo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Suba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`S07_AnalisisHallazgos_Apellido`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CDigital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[URL CDigital — campus del curso pendiente]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Trabajo autónomo (extensión de la sesión):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Complete la tabla de hallazgos con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todos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sus datos, no solo con los tres del taller.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Redacte ya la sección de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Resultados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del artículo: la tabla de hallazgos se traduce a prosa casi directamente.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Genere en Hojas de cálculo los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gráficos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que de verdad aporten y péguelos en el documento, cada uno con su lectura.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Vuelva a sus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fichas de lectura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y anote, al lado de cada hallazgo, qué autor dice algo parecido o contrario. Esa lista es el esqueleto de la discusión.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Si su trabajo es obra-creación, cierre la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bitácora de iteraciones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con el aprendizaje de la última versión del prototipo.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 la próxima sesión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cerramos la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Fase III de referentes y el marco teórico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hay que tener con quién dialogar antes de escribir la discusión.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Llegue con su marco y sus fichas abiertos, y con el conteo de referencias a la mano.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— Sesión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Sesión 07: Experiencia creativa · análisis de datos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TRABAJO DE GRADO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