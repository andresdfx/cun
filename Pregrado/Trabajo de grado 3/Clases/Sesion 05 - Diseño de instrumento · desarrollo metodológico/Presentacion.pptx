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Diseño de instrumento · desarrollo metodológico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Diseño de instrumento · desarrollo metodológico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Aquí es donde se descarrilan los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más caro del trabajo de grado: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elegir el método porque suena 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descubrir tarde que no mide lo que se preguntó.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recogen datos, se llenan tablas, se pierde un mes… y en la sustentación el jurado pregunta "¿y esto qué objetivo responde?".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concreto: un estudiante quería *evaluar el efecto de un chatbot en la mesa de ayuda* y aplicó una encuesta de satisfacción general.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encuesta medía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 les caía bien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chatbot, no si bajó el tiempo de respuesta. El objetivo quedó sin evidencia.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la sesión: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método no se elige, se deriva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pregunta y de los objetivos.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herramienta que lo garantiza tiene nombre: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consistencia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una fila no encaja, el que está mal es el método, no la matriz.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sale de clase con: la matriz llena, las tres decisiones metodológicas declaradas y el bosquejo del instrumento.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abiertos sus objetivos específicos de la Sesión 02: son las filas de la matriz que vamos a construir.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de consistencia, fila por fila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0807"/>
                <a:gridCol w="1925565"/>
                <a:gridCol w="1558790"/>
                <a:gridCol w="2292339"/>
                <a:gridCol w="23840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específico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Variable / constructo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Técnica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Análisis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Caracterizar el proceso actual de despliegue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 de despliegue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Observación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/ registro de logs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Estadística descriptiva (promedio, rango)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Diseñar la automatización de las pruebas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Cobertura de pruebas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Prototipado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Prototipo (obra-creación) + rúbrica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Revisión técnica contra criterios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Comparar el desempeño antes y después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Errores en producción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Medición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Registro de incidencias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de promedios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Léala de izquierda a derecha: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quiero lograr → qué observo → cómo lo capturo → con qué herramienta → cómo lo interpreto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una fila se corta a medio camino, ahí está el problema.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construye la matriz: el orden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empiece por el instrumento.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Casi todo el mundo lo hace y por eso termina con encuestas que no miden nada.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1 — Copie sus objetivos específicos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primera columna, uno por fila. No los reescriba: cópielos textuales.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2 — Extraiga la variable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hay en cada objetivo. Pregúntese: ¿qué es lo que va a cambiar o lo que voy a observar aquí?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Si un objetivo no tiene variable identificable, ese objetivo estaba mal escrito y hay que arreglarlo hoy.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3 — Elija la técnica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observación, encuesta, entrevista, medición, prototipado, análisis documental.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La técnica es la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forma de acercarse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al dato; el instrumento es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objeto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con el que lo captura.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4 — Nombre el instrumento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concreto: "cuestionario de 10 ítems", "guía de entrevista de 8 preguntas", "bitácora de despliegues", "rúbrica del prototipo".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5 — Declare el análisis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promedios y frecuencias, codificación por categorías, comparación antes/después, revisión contra criterios.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al terminar hay una celda vacía, ahí tiene su tarea pendiente: no siga adelante hasta llenarla.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Decisión 1 — El enfoque: cuali, cuanti o mixto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2842500"/>
                <a:gridCol w="3025887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nota cuando…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Medir, contar, comparar magnitudes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Números, tablas, porcentajes, gráficos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pregunta dice "en qué medida", "cuánto", "qué diferencia"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Comprender significados, prácticas y percepciones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Categorías, patrones, citas de los participantes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pregunta dice "cómo", "por qué", "qué sentido"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Combinar la medida con la comprensión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Números + categorías que se explican entre 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Necesita el dato duro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la explicación de la gente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enfoque no se decide por gusto ni por facilidad: se decide por lo que exige su pregunta. Y una vez decidido, condiciona todo el resto de la matriz.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Decisión 2 y 3 — Alcance y diseño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25887"/>
                <a:gridCol w="3942823"/>
                <a:gridCol w="394282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Opciones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se usa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Alcance: exploratorio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Tema poco estudiado, primeras aproximaciones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encontró muy pocos referentes en la Fase 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Alcance: descriptivo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Caracterizar cómo es algo, sin explicar causas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más común en trabajos de grado de pregrado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Alcance: correlacional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 si dos variables se mueven juntas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su pregunta relaciona dos variables medibles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Alcance: explicativo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Establecer causa y efecto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Exige control de condiciones; rara vez viable en un semestre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Diseño: estudio de caso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 solo escenario estudiado a fondo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trabaja con una sola empresa, área o comunidad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Diseño: cuasi-experimento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Medición antes y después de una intervención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usted introduce un cambio y mide su efecto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Diseño: investigación-creación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diseña, se prueba y se documenta una obra o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producto de su trabajo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el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Estas tres decisiones —enfoque, alcance, diseño— 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enuncian explícitamente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la sección de Metodología del artículo. El jurado las busca.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Investigación-creación: el prototipo es método y resultado a la vez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obra-creación el prototipo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solo el producto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proceso de construirlo es parte del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Eso significa que hay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documentar el proceso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solo entregar el producto funcionando.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se documenta, iteración por iteración: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decisión de diseño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se eligió (arquitectura, librería, flujo de pantallas) y qué alternativas se descartaron.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por qué se eligió eso: rendimiento, costo cero, accesibilidad, tiempo disponible.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prueba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cómo se verificó que funcionaba y con quién se probó.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aprendizaje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salió mal y qué se cambió en la siguiente versión.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instrumento aquí no es una encuesta: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rúbrica del prototipo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criterios verificables y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bitácora de iteraciones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prototipo sin bitácora es una tarea de programación; un prototipo con bitácora es investigación-creación.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instrumento: cada ítem responde a un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dura: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cada pregunta o criterio de su instrumento, pregúntese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"¿a qué objetivo responde?"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responde a ninguno, se borra. Sin discusión, sin lástima.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encuesta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40 preguntas dispersas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sirve: cansa al que responde y produce datos que usted no sabrá analizar.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 ítems alineados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sí sirve, y usted sabrá exactamente qué hacer con cada respuesta.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se redacta un buen ítem: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idea por ítem.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"¿Es rápido y confiable el proceso?" son dos preguntas disfrazadas de una.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inducir la respuesta.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"¿No cree que el proceso manual es ineficiente?" ya trae la respuesta adentro.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el lenguaje del que responde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en el suyo. Si el usuario no dice "despliegue", no se lo pregunte así.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escala clara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cuando aplique: opciones excluyentes, sin "a veces" al lado de "algunas veces".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instrumento: cada ítem responde a un objetivo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Numere sus ítems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al frente el objetivo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que apuntan. Esa columna es su prueba de consistencia.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instrumento para qué necesidad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3300968"/>
                <a:gridCol w="2384032"/>
                <a:gridCol w="28425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Captura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Tamaño razonable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Ojo con…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Percepciones y frecuencias de muchas personas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8 a 12 ítems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Preguntas dobles y respuestas inducidas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Guía de entrevista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Explicaciones y matices de pocas personas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8 preguntas abiertas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Convertirla en un interrogatorio cerrado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Guía de observación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 que pasa realmente, sin intermediarios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 a 8 criterios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Observar sin criterios definidos previamente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Bitácora /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Datos que se generan solos (tiempos, incidencias)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Campos fijos por evento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definir desde cuándo hasta cuándo se registra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Rúbrica del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Calidad de la obra-creación contra criterios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 a 6 criterios con niveles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Criterios subjetivos que nadie más podría aplicar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puede usar más de un instrumento: lo normal es una bitácora para lo medible y una entrevista corta para entender el porqué.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de una fila de la matriz a los ítems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Fila completa: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Objetivo → *caracterizar el proceso actual de despliegue* · Variable → *tiempo de despliegue* · Técnica → *observación* · Instrumento → *bitácora de despliegues* · Análisis → *estadística descriptiva*.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Mire cómo la fila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cierra sola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sé qué mido, con qué lo capturo y cómo lo voy a interpretar.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Bajo esa fila a ítems concretos de la bitácora: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Ítem 1: "Fecha y hora de inicio y de fin del despliegue" → responde al objetivo de caracterizar (mide el tiempo).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Ítem 2: "Número de pasos ejecutados manualmente" → responde al objetivo de caracterizar (mide la manualidad).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Ítem 3: "Incidencias reportadas en las 24 horas siguientes" → responde al objetivo de comparar antes/después.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ahora el ítem huérfano: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"¿Le gusta trabajar en equipo?".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¿A qué objetivo responde?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Se borra. Así de simple.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Ese es el estándar: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ningún ítem entra porque "suena interesante"; entra porque un objetivo lo necesita.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Ética de los datos: no es un trámite, es un criterio de evaluación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su instrumento recoge información de personas, necesita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consentimiento informado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quién es usted, para qué son los datos, que la participación es voluntaria y que puede retirarse.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Anonimice siempre.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Nada de nombres, cédulas, correos ni cargos identificables en el artículo. Use códigos: Participante 1, Participante 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Los datos se usan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solo para este estudio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No se comparten con terceros, no se publican en bruto y no se reutilizan para otro proyecto sin nuevo consentimiento.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Ética de los datos: no es un trámite, es un criterio de evaluación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trabaja con datos de una empresa, pida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autorización escrita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quien pueda darla y respete lo que sea confidencial. Un logo o un dato interno publicado sin permiso le puede costar la sustentación.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 su sección de Metodología debe quedar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una declaración explícita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tratamiento ético. El jurado la busca y su ausencia resta.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"Elegí encuesta porque es lo más fácil." — El método se deriva de la pregunta y los objetivos, no de la comodidad. Revíselo en la matriz de consistencia.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"Mi encuesta tiene 40 preguntas para que sea completa." — Está dispersa. Cada ítem debe responder a un objetivo; si no, se borra. Diez ítems alineados valen más que cuarenta sueltos.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"Copié el método de un artículo tal cual." — Puede copiar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lógica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nunca el texto, y debe justificar por qué aplica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pregunta y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contexto.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"¿Puedo cambiar el instrumento si no funciona?" — Sí, y se documenta el cambio. Lo que no se puede es cambiarlo a mitad de la recolección sin dejar constancia.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Un buen indicio de que la matriz quedó bien: usted puede explicar su metodología completa en dos minutos, sin leer.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armar la matriz y el instrumento en la nube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 cree `S05_MetodoInstrumento_Apellido`. Todo gratis y en el navegador.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5 columnas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encabezados: objetivo específico · variable · técnica · instrumento ·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textualmente sus objetivos específicos en la primera columna, una fila por objetivo.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de izquierda a derecha, fila por fila.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salte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la fila siguiente si dejó una celda vacía.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Debajo de la tabla escriba tres líneas: "El enfoque es… El alcance es… El diseño es…", cada una con su justificación en media línea.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Google Académico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estudio con diseño parecido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suyo y observe cómo redactaron su metodología. Copie la estructura, no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el instrumento y agregue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columna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objetivo al que apunta cada ítem.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Recorra esa columna: si algún ítem quedó sin objetivo, bórrelo en ese momento.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Cierre con un párrafo corto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tratamiento ético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los datos.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armar la matriz y el instrumento en la nube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referencias APA de las fuentes metodológicas en las que se apoyó y péguelas en su lista.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Matriz de consistencia y bosquejo del instrumento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individual. Entregable: `S05_MetodoInstrumento_Apellido`.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Llene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matriz de consistencia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fila por objetivo específico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las cinco columnas completas.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Declare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 enfoque, su alcance y su diseño, cada uno con media línea de justificación.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Redacte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bosquejo del instrumento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10 ítems de cuestionario, o una guía de 8 preguntas, o la rúbrica del prototipo con 4 a 6 criterios.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línea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sobre el tratamiento ético de los datos.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Matriz de consistencia y bosquejo del instrumento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(así se verifica):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queda ninguna celda vacía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matriz.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queda ningún ítem huérfano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todos tienen anotado al frente el objetivo que responden.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compañero puede leer su matriz y decirle qué va a hacer usted, sin que se lo explique.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Mientras trabajan,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 Docente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revisa fila por fila. La pregunta que va a escuchar todo el tiempo es: "¿ese instrumento sí mide esa variable?".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Matriz: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¿hay una fila por cada objetivo específico? ¿todas las celdas están llenas? ¿la técnica y el instrumento son cosas distintas y no la misma repetida?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Coherencia hacia atrás: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¿cada variable de la matriz aparece en mi pregunta de la Sesión 02? Si aparece una variable nueva, o sobra o mi pregunta estaba incompleta.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Instrumento: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¿cada ítem tiene su objetivo anotado al frente? ¿ningún ítem pregunta dos cosas a la vez? ¿ninguno induce la respuesta?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Viabilidad: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¿puedo realmente aplicar este instrumento con el tiempo y el acceso que tengo? Un diseño perfecto e imposible no sirve de nada.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Ética: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hay personas de por medio, ¿está escrito el consentimiento, la anonimización y el uso exclusivo de los datos? Sin eso, la sección de Metodología queda incompleta.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`S05_MetodoInstrumento_Apellido`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Pruebe su instrumento con una sola persona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aplicarlo en serio. Va a descubrir preguntas que nadie entiende.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Pase su cuestionario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Formularios de Google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va a aplicarlo en línea: gratis, en el navegador y con las respuestas ya tabuladas.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trabajo es obra-creación, avance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prototipo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empiece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bitácora de iteraciones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desde la primera decisión de diseño.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Redacte el borrador del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consentimiento informado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media página.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Escriba ya la sección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artículo con lo que produjo hoy: la matriz se traduce a prosa casi sola.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trabajamos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comunidades de práctica y co-creación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su proyecto sale de la burbuja y recibe feedback de sus pares.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su avance listo para mostrarlo en tres minutos.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Diseño de instrumento · desarrollo metodológico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