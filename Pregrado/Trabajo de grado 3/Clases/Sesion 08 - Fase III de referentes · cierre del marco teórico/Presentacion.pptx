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cun_solo.png"/>
          <p:cNvPicPr>
            <a:picLocks noChangeAspect="1"/>
          </p:cNvPicPr>
          <p:nvPr/>
        </p:nvPicPr>
        <p:blipFill>
          <a:blip r:embed="rId2"/>
          <a:stretch>
            <a:fillRect/>
          </a:stretch>
        </p:blipFill>
        <p:spPr>
          <a:xfrm>
            <a:off x="457200" y="274320"/>
            <a:ext cx="1325880" cy="919277"/>
          </a:xfrm>
          <a:prstGeom prst="rect">
            <a:avLst/>
          </a:prstGeom>
        </p:spPr>
      </p:pic>
      <p:sp>
        <p:nvSpPr>
          <p:cNvPr id="5" name="TextBox 4"/>
          <p:cNvSpPr txBox="1"/>
          <p:nvPr/>
        </p:nvSpPr>
        <p:spPr>
          <a:xfrm>
            <a:off x="640080" y="1303324"/>
            <a:ext cx="10911535" cy="1476451"/>
          </a:xfrm>
          <a:prstGeom prst="rect">
            <a:avLst/>
          </a:prstGeom>
          <a:noFill/>
        </p:spPr>
        <p:txBody>
          <a:bodyPr wrap="square" anchor="ctr" lIns="0" rIns="0" tIns="0" bIns="0">
            <a:spAutoFit/>
          </a:bodyPr>
          <a:lstStyle/>
          <a:p>
            <a:pPr algn="ctr"/>
            <a:r>
              <a:rPr sz="3400" b="1" i="0">
                <a:solidFill>
                  <a:srgbClr val="FFFFFF"/>
                </a:solidFill>
                <a:latin typeface="Calibri"/>
              </a:rPr>
              <a:t>SESIÓN 08 — Fase III de referentes · cierre del marco teórico</a:t>
            </a:r>
          </a:p>
          <a:p>
            <a:pPr algn="ctr">
              <a:spcBef>
                <a:spcPts val="800"/>
              </a:spcBef>
            </a:pPr>
            <a:r>
              <a:rPr sz="1600" b="0" i="0">
                <a:solidFill>
                  <a:srgbClr val="CFDDEE"/>
                </a:solidFill>
                <a:latin typeface="Calibri"/>
              </a:rPr>
              <a:t>Trabajo de Grado 3 — Modelos de Innovación (Ing. Sistemas)</a:t>
            </a:r>
          </a:p>
        </p:txBody>
      </p:sp>
      <p:sp>
        <p:nvSpPr>
          <p:cNvPr id="6" name="TextBox 5"/>
          <p:cNvSpPr txBox="1"/>
          <p:nvPr/>
        </p:nvSpPr>
        <p:spPr>
          <a:xfrm>
            <a:off x="640080" y="3337560"/>
            <a:ext cx="10911535" cy="2651760"/>
          </a:xfrm>
          <a:prstGeom prst="rect">
            <a:avLst/>
          </a:prstGeom>
          <a:noFill/>
        </p:spPr>
        <p:txBody>
          <a:bodyPr wrap="square" anchor="t" lIns="0" rIns="0" tIns="0" bIns="0">
            <a:spAutoFit/>
          </a:bodyPr>
          <a:lstStyle/>
          <a:p>
            <a:pPr>
              <a:spcAft>
                <a:spcPts val="800"/>
              </a:spcAft>
            </a:pPr>
            <a:r>
              <a:rPr sz="1500" b="1" i="0">
                <a:solidFill>
                  <a:srgbClr val="2B2B2B"/>
                </a:solidFill>
                <a:latin typeface="Calibri"/>
              </a:rPr>
              <a:t>Sesión 08</a:t>
            </a:r>
          </a:p>
          <a:p>
            <a:pPr>
              <a:spcAft>
                <a:spcPts val="800"/>
              </a:spcAft>
            </a:pPr>
            <a:r>
              <a:rPr sz="1500" b="1" i="0">
                <a:solidFill>
                  <a:srgbClr val="2B2B2B"/>
                </a:solidFill>
                <a:latin typeface="Calibri"/>
              </a:rPr>
              <a:t>Tema:</a:t>
            </a:r>
            <a:r>
              <a:rPr sz="1500" b="0" i="0">
                <a:solidFill>
                  <a:srgbClr val="2B2B2B"/>
                </a:solidFill>
                <a:latin typeface="Calibri"/>
              </a:rPr>
              <a:t> Fase III de referentes · cierre del marco teórico</a:t>
            </a:r>
          </a:p>
          <a:p>
            <a:pPr>
              <a:spcAft>
                <a:spcPts val="800"/>
              </a:spcAft>
            </a:pPr>
            <a:r>
              <a:rPr sz="1500" b="1" i="0">
                <a:solidFill>
                  <a:srgbClr val="2B2B2B"/>
                </a:solidFill>
                <a:latin typeface="Calibri"/>
              </a:rPr>
              <a:t>Asignatura:</a:t>
            </a:r>
            <a:r>
              <a:rPr sz="1500" b="0" i="0">
                <a:solidFill>
                  <a:srgbClr val="2B2B2B"/>
                </a:solidFill>
                <a:latin typeface="Calibri"/>
              </a:rPr>
              <a:t> TRABAJO DE GRADO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Hoy se CIERRA el marco — no se abren temas nuevos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La palabra de la sesión es </a:t>
            </a:r>
            <a:r>
              <a:rPr sz="1600" b="1" i="0">
                <a:solidFill>
                  <a:srgbClr val="2B2B2B"/>
                </a:solidFill>
                <a:latin typeface="Calibri"/>
              </a:rPr>
              <a:t>cerrar</a:t>
            </a:r>
            <a:r>
              <a:rPr sz="1600" b="0" i="0">
                <a:solidFill>
                  <a:srgbClr val="2B2B2B"/>
                </a:solidFill>
                <a:latin typeface="Calibri"/>
              </a:rPr>
              <a:t>. No vamos a abrir frentes nuevos: vamos a rematar lo que quedó cojo.</a:t>
            </a:r>
          </a:p>
          <a:p>
            <a:pPr>
              <a:spcAft>
                <a:spcPts val="1000"/>
              </a:spcAft>
            </a:pPr>
            <a:r>
              <a:rPr sz="1600" b="0" i="0">
                <a:solidFill>
                  <a:srgbClr val="2B2B2B"/>
                </a:solidFill>
                <a:latin typeface="Calibri"/>
              </a:rPr>
              <a:t>–   El marco teórico tiene un defecto tentador: </a:t>
            </a:r>
            <a:r>
              <a:rPr sz="1600" b="1" i="0">
                <a:solidFill>
                  <a:srgbClr val="2B2B2B"/>
                </a:solidFill>
                <a:latin typeface="Calibri"/>
              </a:rPr>
              <a:t>se puede agrandar hasta el infinito</a:t>
            </a:r>
            <a:r>
              <a:rPr sz="1600" b="0" i="0">
                <a:solidFill>
                  <a:srgbClr val="2B2B2B"/>
                </a:solidFill>
                <a:latin typeface="Calibri"/>
              </a:rPr>
              <a:t>.</a:t>
            </a:r>
          </a:p>
          <a:p>
            <a:pPr lvl="1">
              <a:spcAft>
                <a:spcPts val="600"/>
              </a:spcAft>
            </a:pPr>
            <a:r>
              <a:rPr sz="1500" b="0" i="0">
                <a:solidFill>
                  <a:srgbClr val="2B2B2B"/>
                </a:solidFill>
                <a:latin typeface="Calibri"/>
              </a:rPr>
              <a:t>●   Siempre hay un autor más, un concepto vecino, una teoría interesante. Y mientras tanto el artículo no avanza.</a:t>
            </a:r>
          </a:p>
          <a:p>
            <a:pPr>
              <a:spcAft>
                <a:spcPts val="1000"/>
              </a:spcAft>
            </a:pPr>
            <a:r>
              <a:rPr sz="1600" b="0" i="0">
                <a:solidFill>
                  <a:srgbClr val="2B2B2B"/>
                </a:solidFill>
                <a:latin typeface="Calibri"/>
              </a:rPr>
              <a:t>–   El síntoma típico: el estudiante lleva seis semanas "leyendo" y no ha escrito ni un párrafo de resultados.</a:t>
            </a:r>
          </a:p>
          <a:p>
            <a:pPr lvl="1">
              <a:spcAft>
                <a:spcPts val="600"/>
              </a:spcAft>
            </a:pPr>
            <a:r>
              <a:rPr sz="1500" b="0" i="0">
                <a:solidFill>
                  <a:srgbClr val="2B2B2B"/>
                </a:solidFill>
                <a:latin typeface="Calibri"/>
              </a:rPr>
              <a:t>●   Leer se siente productivo, pero si no cierra el marco, está aplazando el trabajo real.</a:t>
            </a:r>
          </a:p>
          <a:p>
            <a:pPr>
              <a:spcAft>
                <a:spcPts val="1000"/>
              </a:spcAft>
            </a:pPr>
            <a:r>
              <a:rPr sz="1600" b="0" i="0">
                <a:solidFill>
                  <a:srgbClr val="2B2B2B"/>
                </a:solidFill>
                <a:latin typeface="Calibri"/>
              </a:rPr>
              <a:t>–   La meta no es un marco </a:t>
            </a:r>
            <a:r>
              <a:rPr sz="1600" b="1" i="0">
                <a:solidFill>
                  <a:srgbClr val="2B2B2B"/>
                </a:solidFill>
                <a:latin typeface="Calibri"/>
              </a:rPr>
              <a:t>completo</a:t>
            </a:r>
            <a:r>
              <a:rPr sz="1600" b="0" i="0">
                <a:solidFill>
                  <a:srgbClr val="2B2B2B"/>
                </a:solidFill>
                <a:latin typeface="Calibri"/>
              </a:rPr>
              <a:t>: es un marco </a:t>
            </a:r>
            <a:r>
              <a:rPr sz="1600" b="1" i="0">
                <a:solidFill>
                  <a:srgbClr val="2B2B2B"/>
                </a:solidFill>
                <a:latin typeface="Calibri"/>
              </a:rPr>
              <a:t>suficiente y usable</a:t>
            </a:r>
            <a:r>
              <a:rPr sz="1600" b="0" i="0">
                <a:solidFill>
                  <a:srgbClr val="2B2B2B"/>
                </a:solidFill>
                <a:latin typeface="Calibri"/>
              </a:rPr>
              <a:t>.</a:t>
            </a:r>
          </a:p>
          <a:p>
            <a:pPr lvl="1">
              <a:spcAft>
                <a:spcPts val="600"/>
              </a:spcAft>
            </a:pPr>
            <a:r>
              <a:rPr sz="1500" b="0" i="0">
                <a:solidFill>
                  <a:srgbClr val="2B2B2B"/>
                </a:solidFill>
                <a:latin typeface="Calibri"/>
              </a:rPr>
              <a:t>●   Suficiente = tiene lo necesario para sostener la discusión. Usable = usted puede usarlo para dialogar con sus hallazgos.</a:t>
            </a:r>
          </a:p>
          <a:p>
            <a:pPr>
              <a:spcAft>
                <a:spcPts val="1000"/>
              </a:spcAft>
            </a:pPr>
            <a:r>
              <a:rPr sz="1600" b="0" i="0">
                <a:solidFill>
                  <a:srgbClr val="2B2B2B"/>
                </a:solidFill>
                <a:latin typeface="Calibri"/>
              </a:rPr>
              <a:t>–   Tres tareas concretas de hoy: aplicar </a:t>
            </a:r>
            <a:r>
              <a:rPr sz="1600" b="1" i="0">
                <a:solidFill>
                  <a:srgbClr val="2B2B2B"/>
                </a:solidFill>
                <a:latin typeface="Calibri"/>
              </a:rPr>
              <a:t>saturación</a:t>
            </a:r>
            <a:r>
              <a:rPr sz="1600" b="0" i="0">
                <a:solidFill>
                  <a:srgbClr val="2B2B2B"/>
                </a:solidFill>
                <a:latin typeface="Calibri"/>
              </a:rPr>
              <a:t>, reorganizar el marco </a:t>
            </a:r>
            <a:r>
              <a:rPr sz="1600" b="1" i="0">
                <a:solidFill>
                  <a:srgbClr val="2B2B2B"/>
                </a:solidFill>
                <a:latin typeface="Calibri"/>
              </a:rPr>
              <a:t>por constructos</a:t>
            </a:r>
            <a:r>
              <a:rPr sz="1600" b="0" i="0">
                <a:solidFill>
                  <a:srgbClr val="2B2B2B"/>
                </a:solidFill>
                <a:latin typeface="Calibri"/>
              </a:rPr>
              <a:t> y </a:t>
            </a:r>
            <a:r>
              <a:rPr sz="1600" b="1" i="0">
                <a:solidFill>
                  <a:srgbClr val="2B2B2B"/>
                </a:solidFill>
                <a:latin typeface="Calibri"/>
              </a:rPr>
              <a:t>auditar el conteo</a:t>
            </a:r>
            <a:r>
              <a:rPr sz="1600" b="0" i="0">
                <a:solidFill>
                  <a:srgbClr val="2B2B2B"/>
                </a:solidFill>
                <a:latin typeface="Calibri"/>
              </a:rPr>
              <a:t> de referencias.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Tenga abierto su marco, sus fichas de lectura y la lista de referencias de su documento. Hoy se trabaja sobre lo que ya tiene.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Saturación teórica: cómo saber cuándo parar de buscar</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Saturación</a:t>
            </a:r>
            <a:r>
              <a:rPr sz="1600" b="0" i="0">
                <a:solidFill>
                  <a:srgbClr val="2B2B2B"/>
                </a:solidFill>
                <a:latin typeface="Calibri"/>
              </a:rPr>
              <a:t> es el punto en que las fuentes nuevas </a:t>
            </a:r>
            <a:r>
              <a:rPr sz="1600" b="1" i="0">
                <a:solidFill>
                  <a:srgbClr val="2B2B2B"/>
                </a:solidFill>
                <a:latin typeface="Calibri"/>
              </a:rPr>
              <a:t>ya no aportan conceptos nuevos</a:t>
            </a:r>
            <a:r>
              <a:rPr sz="1600" b="0" i="0">
                <a:solidFill>
                  <a:srgbClr val="2B2B2B"/>
                </a:solidFill>
                <a:latin typeface="Calibri"/>
              </a:rPr>
              <a:t>: solo repiten lo que usted ya tiene.</a:t>
            </a:r>
          </a:p>
          <a:p>
            <a:pPr>
              <a:spcAft>
                <a:spcPts val="1000"/>
              </a:spcAft>
            </a:pPr>
            <a:r>
              <a:rPr sz="1600" b="0" i="0">
                <a:solidFill>
                  <a:srgbClr val="2B2B2B"/>
                </a:solidFill>
                <a:latin typeface="Calibri"/>
              </a:rPr>
              <a:t>–   Señales concretas de que llegó a la saturación:</a:t>
            </a:r>
          </a:p>
          <a:p>
            <a:pPr lvl="1">
              <a:spcAft>
                <a:spcPts val="600"/>
              </a:spcAft>
            </a:pPr>
            <a:r>
              <a:rPr sz="1500" b="0" i="0">
                <a:solidFill>
                  <a:srgbClr val="2B2B2B"/>
                </a:solidFill>
                <a:latin typeface="Calibri"/>
              </a:rPr>
              <a:t>●   Abre un artículo nuevo y reconoce todas las definiciones que trae.</a:t>
            </a:r>
          </a:p>
          <a:p>
            <a:pPr lvl="1">
              <a:spcAft>
                <a:spcPts val="600"/>
              </a:spcAft>
            </a:pPr>
            <a:r>
              <a:rPr sz="1500" b="0" i="0">
                <a:solidFill>
                  <a:srgbClr val="2B2B2B"/>
                </a:solidFill>
                <a:latin typeface="Calibri"/>
              </a:rPr>
              <a:t>●   Los autores que cita ese artículo ya están en su lista.</a:t>
            </a:r>
          </a:p>
          <a:p>
            <a:pPr lvl="1">
              <a:spcAft>
                <a:spcPts val="600"/>
              </a:spcAft>
            </a:pPr>
            <a:r>
              <a:rPr sz="1500" b="0" i="0">
                <a:solidFill>
                  <a:srgbClr val="2B2B2B"/>
                </a:solidFill>
                <a:latin typeface="Calibri"/>
              </a:rPr>
              <a:t>●   Al terminar de leerlo, su ficha diría exactamente lo mismo que otra que ya escribió.</a:t>
            </a:r>
          </a:p>
          <a:p>
            <a:pPr>
              <a:spcAft>
                <a:spcPts val="1000"/>
              </a:spcAft>
            </a:pPr>
            <a:r>
              <a:rPr sz="1600" b="0" i="0">
                <a:solidFill>
                  <a:srgbClr val="2B2B2B"/>
                </a:solidFill>
                <a:latin typeface="Calibri"/>
              </a:rPr>
              <a:t>–   Señales de que </a:t>
            </a:r>
            <a:r>
              <a:rPr sz="1600" b="1" i="0">
                <a:solidFill>
                  <a:srgbClr val="2B2B2B"/>
                </a:solidFill>
                <a:latin typeface="Calibri"/>
              </a:rPr>
              <a:t>todavía no</a:t>
            </a:r>
            <a:r>
              <a:rPr sz="1600" b="0" i="0">
                <a:solidFill>
                  <a:srgbClr val="2B2B2B"/>
                </a:solidFill>
                <a:latin typeface="Calibri"/>
              </a:rPr>
              <a:t> ha llegado:</a:t>
            </a:r>
          </a:p>
          <a:p>
            <a:pPr lvl="1">
              <a:spcAft>
                <a:spcPts val="600"/>
              </a:spcAft>
            </a:pPr>
            <a:r>
              <a:rPr sz="1500" b="0" i="0">
                <a:solidFill>
                  <a:srgbClr val="2B2B2B"/>
                </a:solidFill>
                <a:latin typeface="Calibri"/>
              </a:rPr>
              <a:t>●   Hay un concepto de su pregunta que no puede definir citando a alguien.</a:t>
            </a:r>
          </a:p>
          <a:p>
            <a:pPr lvl="1">
              <a:spcAft>
                <a:spcPts val="600"/>
              </a:spcAft>
            </a:pPr>
            <a:r>
              <a:rPr sz="1500" b="0" i="0">
                <a:solidFill>
                  <a:srgbClr val="2B2B2B"/>
                </a:solidFill>
                <a:latin typeface="Calibri"/>
              </a:rPr>
              <a:t>●   Su marco no dice </a:t>
            </a:r>
            <a:r>
              <a:rPr sz="1500" b="1" i="0">
                <a:solidFill>
                  <a:srgbClr val="2B2B2B"/>
                </a:solidFill>
                <a:latin typeface="Calibri"/>
              </a:rPr>
              <a:t>cómo se mide</a:t>
            </a:r>
            <a:r>
              <a:rPr sz="1500" b="0" i="0">
                <a:solidFill>
                  <a:srgbClr val="2B2B2B"/>
                </a:solidFill>
                <a:latin typeface="Calibri"/>
              </a:rPr>
              <a:t> una de sus variables.</a:t>
            </a:r>
          </a:p>
          <a:p>
            <a:pPr lvl="1">
              <a:spcAft>
                <a:spcPts val="600"/>
              </a:spcAft>
            </a:pPr>
            <a:r>
              <a:rPr sz="1500" b="0" i="0">
                <a:solidFill>
                  <a:srgbClr val="2B2B2B"/>
                </a:solidFill>
                <a:latin typeface="Calibri"/>
              </a:rPr>
              <a:t>●   No sabe qué dice la literatura sobre la </a:t>
            </a:r>
            <a:r>
              <a:rPr sz="1500" b="1" i="0">
                <a:solidFill>
                  <a:srgbClr val="2B2B2B"/>
                </a:solidFill>
                <a:latin typeface="Calibri"/>
              </a:rPr>
              <a:t>relación</a:t>
            </a:r>
            <a:r>
              <a:rPr sz="1500" b="0" i="0">
                <a:solidFill>
                  <a:srgbClr val="2B2B2B"/>
                </a:solidFill>
                <a:latin typeface="Calibri"/>
              </a:rPr>
              <a:t> entre sus dos variables.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Saturación teórica: cómo saber cuándo parar de buscar (cont.)</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La prueba definitiva: </a:t>
            </a:r>
            <a:r>
              <a:rPr sz="1600" b="1" i="0">
                <a:solidFill>
                  <a:srgbClr val="2B2B2B"/>
                </a:solidFill>
                <a:latin typeface="Calibri"/>
              </a:rPr>
              <a:t>¿puedo discutir mis hallazgos con lo que tengo?</a:t>
            </a:r>
            <a:r>
              <a:rPr sz="1600" b="0" i="0">
                <a:solidFill>
                  <a:srgbClr val="2B2B2B"/>
                </a:solidFill>
                <a:latin typeface="Calibri"/>
              </a:rPr>
              <a:t> Si sí, el marco está cerrado. Si no, ahí está el hueco que falta.</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Marco por autores vs. marco por constructos</a:t>
            </a:r>
          </a:p>
        </p:txBody>
      </p:sp>
      <p:graphicFrame>
        <p:nvGraphicFramePr>
          <p:cNvPr id="4" name="Table 3"/>
          <p:cNvGraphicFramePr>
            <a:graphicFrameLocks noGrp="1"/>
          </p:cNvGraphicFramePr>
          <p:nvPr/>
        </p:nvGraphicFramePr>
        <p:xfrm>
          <a:off x="640080" y="1691639"/>
          <a:ext cx="10911534" cy="3017520"/>
        </p:xfrm>
        <a:graphic>
          <a:graphicData uri="http://schemas.openxmlformats.org/drawingml/2006/table">
            <a:tbl>
              <a:tblPr>
                <a:tableStyleId>{2D5ABB26-0587-4C30-8999-92F81FD0307C}</a:tableStyleId>
              </a:tblPr>
              <a:tblGrid>
                <a:gridCol w="2292339"/>
                <a:gridCol w="4217904"/>
                <a:gridCol w="4401291"/>
              </a:tblGrid>
              <a:tr h="502920">
                <a:tc>
                  <a:txBody>
                    <a:bodyPr/>
                    <a:lstStyle/>
                    <a:p>
                      <a:pPr algn="l"/>
                      <a:r>
                        <a:rPr sz="1300" b="1" i="0">
                          <a:solidFill>
                            <a:srgbClr val="FFFFFF"/>
                          </a:solidFill>
                          <a:latin typeface="Calibri"/>
                        </a:rPr>
                        <a:t>Aspecto</a:t>
                      </a:r>
                    </a:p>
                  </a:txBody>
                  <a:tcPr anchor="ctr" marL="109728" marR="91440" marT="36576" marB="36576">
                    <a:solidFill>
                      <a:srgbClr val="0C2340"/>
                    </a:solidFill>
                  </a:tcPr>
                </a:tc>
                <a:tc>
                  <a:txBody>
                    <a:bodyPr/>
                    <a:lstStyle/>
                    <a:p>
                      <a:pPr algn="l"/>
                      <a:r>
                        <a:rPr sz="1300" b="1" i="0">
                          <a:solidFill>
                            <a:srgbClr val="FFFFFF"/>
                          </a:solidFill>
                          <a:latin typeface="Calibri"/>
                        </a:rPr>
                        <a:t>Marco por autores (malo)</a:t>
                      </a:r>
                    </a:p>
                  </a:txBody>
                  <a:tcPr anchor="ctr" marL="109728" marR="91440" marT="36576" marB="36576">
                    <a:solidFill>
                      <a:srgbClr val="0C2340"/>
                    </a:solidFill>
                  </a:tcPr>
                </a:tc>
                <a:tc>
                  <a:txBody>
                    <a:bodyPr/>
                    <a:lstStyle/>
                    <a:p>
                      <a:pPr algn="l"/>
                      <a:r>
                        <a:rPr sz="1300" b="1" i="0">
                          <a:solidFill>
                            <a:srgbClr val="FFFFFF"/>
                          </a:solidFill>
                          <a:latin typeface="Calibri"/>
                        </a:rPr>
                        <a:t>Marco por constructos (correcto)</a:t>
                      </a:r>
                    </a:p>
                  </a:txBody>
                  <a:tcPr anchor="ctr" marL="109728" marR="91440" marT="36576" marB="36576">
                    <a:solidFill>
                      <a:srgbClr val="0C2340"/>
                    </a:solidFill>
                  </a:tcPr>
                </a:tc>
              </a:tr>
              <a:tr h="502920">
                <a:tc>
                  <a:txBody>
                    <a:bodyPr/>
                    <a:lstStyle/>
                    <a:p>
                      <a:pPr algn="l"/>
                      <a:r>
                        <a:rPr sz="1200" b="0" i="0">
                          <a:solidFill>
                            <a:srgbClr val="2B2B2B"/>
                          </a:solidFill>
                          <a:latin typeface="Calibri"/>
                        </a:rPr>
                        <a:t>Cómo se lee</a:t>
                      </a:r>
                    </a:p>
                  </a:txBody>
                  <a:tcPr anchor="ctr" marL="109728" marR="91440" marT="36576" marB="36576">
                    <a:solidFill>
                      <a:srgbClr val="FFFFFF"/>
                    </a:solidFill>
                  </a:tcPr>
                </a:tc>
                <a:tc>
                  <a:txBody>
                    <a:bodyPr/>
                    <a:lstStyle/>
                    <a:p>
                      <a:pPr algn="l"/>
                      <a:r>
                        <a:rPr sz="1200" b="0" i="0">
                          <a:solidFill>
                            <a:srgbClr val="2B2B2B"/>
                          </a:solidFill>
                          <a:latin typeface="Calibri"/>
                        </a:rPr>
                        <a:t>"Pérez dice… Luego González dice… Luego Ramírez dice…"</a:t>
                      </a:r>
                    </a:p>
                  </a:txBody>
                  <a:tcPr anchor="ctr" marL="109728" marR="91440" marT="36576" marB="36576">
                    <a:solidFill>
                      <a:srgbClr val="FFFFFF"/>
                    </a:solidFill>
                  </a:tcPr>
                </a:tc>
                <a:tc>
                  <a:txBody>
                    <a:bodyPr/>
                    <a:lstStyle/>
                    <a:p>
                      <a:pPr algn="l"/>
                      <a:r>
                        <a:rPr sz="1200" b="0" i="0">
                          <a:solidFill>
                            <a:srgbClr val="2B2B2B"/>
                          </a:solidFill>
                          <a:latin typeface="Calibri"/>
                        </a:rPr>
                        <a:t>"La automatización de pruebas se entiende como… (Pérez, 2021; Ramírez, 2022)"</a:t>
                      </a:r>
                    </a:p>
                  </a:txBody>
                  <a:tcPr anchor="ctr" marL="109728" marR="91440" marT="36576" marB="36576">
                    <a:solidFill>
                      <a:srgbClr val="FFFFFF"/>
                    </a:solidFill>
                  </a:tcPr>
                </a:tc>
              </a:tr>
              <a:tr h="502920">
                <a:tc>
                  <a:txBody>
                    <a:bodyPr/>
                    <a:lstStyle/>
                    <a:p>
                      <a:pPr algn="l"/>
                      <a:r>
                        <a:rPr sz="1200" b="0" i="0">
                          <a:solidFill>
                            <a:srgbClr val="2B2B2B"/>
                          </a:solidFill>
                          <a:latin typeface="Calibri"/>
                        </a:rPr>
                        <a:t>Qué es en realidad</a:t>
                      </a:r>
                    </a:p>
                  </a:txBody>
                  <a:tcPr anchor="ctr" marL="109728" marR="91440" marT="36576" marB="36576">
                    <a:solidFill>
                      <a:srgbClr val="F2F2F2"/>
                    </a:solidFill>
                  </a:tcPr>
                </a:tc>
                <a:tc>
                  <a:txBody>
                    <a:bodyPr/>
                    <a:lstStyle/>
                    <a:p>
                      <a:pPr algn="l"/>
                      <a:r>
                        <a:rPr sz="1200" b="0" i="0">
                          <a:solidFill>
                            <a:srgbClr val="2B2B2B"/>
                          </a:solidFill>
                          <a:latin typeface="Calibri"/>
                        </a:rPr>
                        <a:t>Una lista de resúmenes pegados</a:t>
                      </a:r>
                    </a:p>
                  </a:txBody>
                  <a:tcPr anchor="ctr" marL="109728" marR="91440" marT="36576" marB="36576">
                    <a:solidFill>
                      <a:srgbClr val="F2F2F2"/>
                    </a:solidFill>
                  </a:tcPr>
                </a:tc>
                <a:tc>
                  <a:txBody>
                    <a:bodyPr/>
                    <a:lstStyle/>
                    <a:p>
                      <a:pPr algn="l"/>
                      <a:r>
                        <a:rPr sz="1200" b="0" i="0">
                          <a:solidFill>
                            <a:srgbClr val="2B2B2B"/>
                          </a:solidFill>
                          <a:latin typeface="Calibri"/>
                        </a:rPr>
                        <a:t>Un </a:t>
                      </a:r>
                      <a:r>
                        <a:rPr sz="1200" b="1" i="0">
                          <a:solidFill>
                            <a:srgbClr val="2B2B2B"/>
                          </a:solidFill>
                          <a:latin typeface="Calibri"/>
                        </a:rPr>
                        <a:t>argumento</a:t>
                      </a:r>
                      <a:r>
                        <a:rPr sz="1200" b="0" i="0">
                          <a:solidFill>
                            <a:srgbClr val="2B2B2B"/>
                          </a:solidFill>
                          <a:latin typeface="Calibri"/>
                        </a:rPr>
                        <a:t> construido por usted</a:t>
                      </a:r>
                    </a:p>
                  </a:txBody>
                  <a:tcPr anchor="ctr" marL="109728" marR="91440" marT="36576" marB="36576">
                    <a:solidFill>
                      <a:srgbClr val="F2F2F2"/>
                    </a:solidFill>
                  </a:tcPr>
                </a:tc>
              </a:tr>
              <a:tr h="502920">
                <a:tc>
                  <a:txBody>
                    <a:bodyPr/>
                    <a:lstStyle/>
                    <a:p>
                      <a:pPr algn="l"/>
                      <a:r>
                        <a:rPr sz="1200" b="0" i="0">
                          <a:solidFill>
                            <a:srgbClr val="2B2B2B"/>
                          </a:solidFill>
                          <a:latin typeface="Calibri"/>
                        </a:rPr>
                        <a:t>Quién manda</a:t>
                      </a:r>
                    </a:p>
                  </a:txBody>
                  <a:tcPr anchor="ctr" marL="109728" marR="91440" marT="36576" marB="36576">
                    <a:solidFill>
                      <a:srgbClr val="FFFFFF"/>
                    </a:solidFill>
                  </a:tcPr>
                </a:tc>
                <a:tc>
                  <a:txBody>
                    <a:bodyPr/>
                    <a:lstStyle/>
                    <a:p>
                      <a:pPr algn="l"/>
                      <a:r>
                        <a:rPr sz="1200" b="0" i="0">
                          <a:solidFill>
                            <a:srgbClr val="2B2B2B"/>
                          </a:solidFill>
                          <a:latin typeface="Calibri"/>
                        </a:rPr>
                        <a:t>El orden en que usted leyó los artículos</a:t>
                      </a:r>
                    </a:p>
                  </a:txBody>
                  <a:tcPr anchor="ctr" marL="109728" marR="91440" marT="36576" marB="36576">
                    <a:solidFill>
                      <a:srgbClr val="FFFFFF"/>
                    </a:solidFill>
                  </a:tcPr>
                </a:tc>
                <a:tc>
                  <a:txBody>
                    <a:bodyPr/>
                    <a:lstStyle/>
                    <a:p>
                      <a:pPr algn="l"/>
                      <a:r>
                        <a:rPr sz="1200" b="0" i="0">
                          <a:solidFill>
                            <a:srgbClr val="2B2B2B"/>
                          </a:solidFill>
                          <a:latin typeface="Calibri"/>
                        </a:rPr>
                        <a:t>Los </a:t>
                      </a:r>
                      <a:r>
                        <a:rPr sz="1200" b="1" i="0">
                          <a:solidFill>
                            <a:srgbClr val="2B2B2B"/>
                          </a:solidFill>
                          <a:latin typeface="Calibri"/>
                        </a:rPr>
                        <a:t>conceptos de su pregunta</a:t>
                      </a:r>
                    </a:p>
                  </a:txBody>
                  <a:tcPr anchor="ctr" marL="109728" marR="91440" marT="36576" marB="36576">
                    <a:solidFill>
                      <a:srgbClr val="FFFFFF"/>
                    </a:solidFill>
                  </a:tcPr>
                </a:tc>
              </a:tr>
              <a:tr h="502920">
                <a:tc>
                  <a:txBody>
                    <a:bodyPr/>
                    <a:lstStyle/>
                    <a:p>
                      <a:pPr algn="l"/>
                      <a:r>
                        <a:rPr sz="1200" b="0" i="0">
                          <a:solidFill>
                            <a:srgbClr val="2B2B2B"/>
                          </a:solidFill>
                          <a:latin typeface="Calibri"/>
                        </a:rPr>
                        <a:t>Qué pasa con dos autores del mismo tema</a:t>
                      </a:r>
                    </a:p>
                  </a:txBody>
                  <a:tcPr anchor="ctr" marL="109728" marR="91440" marT="36576" marB="36576">
                    <a:solidFill>
                      <a:srgbClr val="F2F2F2"/>
                    </a:solidFill>
                  </a:tcPr>
                </a:tc>
                <a:tc>
                  <a:txBody>
                    <a:bodyPr/>
                    <a:lstStyle/>
                    <a:p>
                      <a:pPr algn="l"/>
                      <a:r>
                        <a:rPr sz="1200" b="0" i="0">
                          <a:solidFill>
                            <a:srgbClr val="2B2B2B"/>
                          </a:solidFill>
                          <a:latin typeface="Calibri"/>
                        </a:rPr>
                        <a:t>Quedan separados, cada uno en su párrafo</a:t>
                      </a:r>
                    </a:p>
                  </a:txBody>
                  <a:tcPr anchor="ctr" marL="109728" marR="91440" marT="36576" marB="36576">
                    <a:solidFill>
                      <a:srgbClr val="F2F2F2"/>
                    </a:solidFill>
                  </a:tcPr>
                </a:tc>
                <a:tc>
                  <a:txBody>
                    <a:bodyPr/>
                    <a:lstStyle/>
                    <a:p>
                      <a:pPr algn="l"/>
                      <a:r>
                        <a:rPr sz="1200" b="0" i="0">
                          <a:solidFill>
                            <a:srgbClr val="2B2B2B"/>
                          </a:solidFill>
                          <a:latin typeface="Calibri"/>
                        </a:rPr>
                        <a:t>Quedan juntos, y usted muestra si coinciden o no</a:t>
                      </a:r>
                    </a:p>
                  </a:txBody>
                  <a:tcPr anchor="ctr" marL="109728" marR="91440" marT="36576" marB="36576">
                    <a:solidFill>
                      <a:srgbClr val="F2F2F2"/>
                    </a:solidFill>
                  </a:tcPr>
                </a:tc>
              </a:tr>
              <a:tr h="502920">
                <a:tc>
                  <a:txBody>
                    <a:bodyPr/>
                    <a:lstStyle/>
                    <a:p>
                      <a:pPr algn="l"/>
                      <a:r>
                        <a:rPr sz="1200" b="0" i="0">
                          <a:solidFill>
                            <a:srgbClr val="2B2B2B"/>
                          </a:solidFill>
                          <a:latin typeface="Calibri"/>
                        </a:rPr>
                        <a:t>Qué sirve para la discusión</a:t>
                      </a:r>
                    </a:p>
                  </a:txBody>
                  <a:tcPr anchor="ctr" marL="109728" marR="91440" marT="36576" marB="36576">
                    <a:solidFill>
                      <a:srgbClr val="FFFFFF"/>
                    </a:solidFill>
                  </a:tcPr>
                </a:tc>
                <a:tc>
                  <a:txBody>
                    <a:bodyPr/>
                    <a:lstStyle/>
                    <a:p>
                      <a:pPr algn="l"/>
                      <a:r>
                        <a:rPr sz="1200" b="0" i="0">
                          <a:solidFill>
                            <a:srgbClr val="2B2B2B"/>
                          </a:solidFill>
                          <a:latin typeface="Calibri"/>
                        </a:rPr>
                        <a:t>Poco: hay que volver a rastrear todo</a:t>
                      </a:r>
                    </a:p>
                  </a:txBody>
                  <a:tcPr anchor="ctr" marL="109728" marR="91440" marT="36576" marB="36576">
                    <a:solidFill>
                      <a:srgbClr val="FFFFFF"/>
                    </a:solidFill>
                  </a:tcPr>
                </a:tc>
                <a:tc>
                  <a:txBody>
                    <a:bodyPr/>
                    <a:lstStyle/>
                    <a:p>
                      <a:pPr algn="l"/>
                      <a:r>
                        <a:rPr sz="1200" b="0" i="0">
                          <a:solidFill>
                            <a:srgbClr val="2B2B2B"/>
                          </a:solidFill>
                          <a:latin typeface="Calibri"/>
                        </a:rPr>
                        <a:t>Todo: cada bloque ya está listo para dialogar</a:t>
                      </a:r>
                    </a:p>
                  </a:txBody>
                  <a:tcPr anchor="ctr" marL="109728" marR="91440" marT="36576" marB="36576">
                    <a:solidFill>
                      <a:srgbClr val="FFFFFF"/>
                    </a:solidFill>
                  </a:tcPr>
                </a:tc>
              </a:tr>
            </a:tbl>
          </a:graphicData>
        </a:graphic>
      </p:graphicFrame>
      <p:sp>
        <p:nvSpPr>
          <p:cNvPr id="5" name="TextBox 4"/>
          <p:cNvSpPr txBox="1"/>
          <p:nvPr/>
        </p:nvSpPr>
        <p:spPr>
          <a:xfrm>
            <a:off x="640080" y="4846320"/>
            <a:ext cx="10911535" cy="548640"/>
          </a:xfrm>
          <a:prstGeom prst="rect">
            <a:avLst/>
          </a:prstGeom>
          <a:noFill/>
        </p:spPr>
        <p:txBody>
          <a:bodyPr wrap="square" anchor="t" lIns="0" rIns="0" tIns="0" bIns="0">
            <a:spAutoFit/>
          </a:bodyPr>
          <a:lstStyle/>
          <a:p>
            <a:r>
              <a:rPr sz="1200" b="0" i="1">
                <a:solidFill>
                  <a:srgbClr val="2B2B2B"/>
                </a:solidFill>
                <a:latin typeface="Calibri"/>
              </a:rPr>
              <a:t>Regla: </a:t>
            </a:r>
            <a:r>
              <a:rPr sz="1200" b="1" i="1">
                <a:solidFill>
                  <a:srgbClr val="2B2B2B"/>
                </a:solidFill>
                <a:latin typeface="Calibri"/>
              </a:rPr>
              <a:t>el autor va debajo del concepto</a:t>
            </a:r>
            <a:r>
              <a:rPr sz="1200" b="0" i="1">
                <a:solidFill>
                  <a:srgbClr val="2B2B2B"/>
                </a:solidFill>
                <a:latin typeface="Calibri"/>
              </a:rPr>
              <a:t>, nunca al revés. Si un párrafo de su marco empieza con el apellido de un autor, revíselo.</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Cómo identificar sus constructos (salen de su pregunta)</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Un </a:t>
            </a:r>
            <a:r>
              <a:rPr sz="1600" b="1" i="0">
                <a:solidFill>
                  <a:srgbClr val="2B2B2B"/>
                </a:solidFill>
                <a:latin typeface="Calibri"/>
              </a:rPr>
              <a:t>constructo</a:t>
            </a:r>
            <a:r>
              <a:rPr sz="1600" b="0" i="0">
                <a:solidFill>
                  <a:srgbClr val="2B2B2B"/>
                </a:solidFill>
                <a:latin typeface="Calibri"/>
              </a:rPr>
              <a:t> es cada concepto clave que su pregunta pone en juego. No los invente: </a:t>
            </a:r>
            <a:r>
              <a:rPr sz="1600" b="1" i="0">
                <a:solidFill>
                  <a:srgbClr val="2B2B2B"/>
                </a:solidFill>
                <a:latin typeface="Calibri"/>
              </a:rPr>
              <a:t>subráyelos en su propia pregunta</a:t>
            </a:r>
            <a:r>
              <a:rPr sz="1600" b="0" i="0">
                <a:solidFill>
                  <a:srgbClr val="2B2B2B"/>
                </a:solidFill>
                <a:latin typeface="Calibri"/>
              </a:rPr>
              <a:t>.</a:t>
            </a:r>
          </a:p>
          <a:p>
            <a:pPr>
              <a:spcAft>
                <a:spcPts val="1000"/>
              </a:spcAft>
            </a:pPr>
            <a:r>
              <a:rPr sz="1600" b="0" i="0">
                <a:solidFill>
                  <a:srgbClr val="2B2B2B"/>
                </a:solidFill>
                <a:latin typeface="Calibri"/>
              </a:rPr>
              <a:t>–   Ejemplo: "¿En qué medida la </a:t>
            </a:r>
            <a:r>
              <a:rPr sz="1600" b="1" i="0">
                <a:solidFill>
                  <a:srgbClr val="2B2B2B"/>
                </a:solidFill>
                <a:latin typeface="Calibri"/>
              </a:rPr>
              <a:t>automatización de pruebas</a:t>
            </a:r>
            <a:r>
              <a:rPr sz="1600" b="0" i="0">
                <a:solidFill>
                  <a:srgbClr val="2B2B2B"/>
                </a:solidFill>
                <a:latin typeface="Calibri"/>
              </a:rPr>
              <a:t> reduce el </a:t>
            </a:r>
            <a:r>
              <a:rPr sz="1600" b="1" i="0">
                <a:solidFill>
                  <a:srgbClr val="2B2B2B"/>
                </a:solidFill>
                <a:latin typeface="Calibri"/>
              </a:rPr>
              <a:t>tiempo de despliegue</a:t>
            </a:r>
            <a:r>
              <a:rPr sz="1600" b="0" i="0">
                <a:solidFill>
                  <a:srgbClr val="2B2B2B"/>
                </a:solidFill>
                <a:latin typeface="Calibri"/>
              </a:rPr>
              <a:t> en el equipo de TI?"</a:t>
            </a:r>
          </a:p>
          <a:p>
            <a:pPr lvl="1">
              <a:spcAft>
                <a:spcPts val="600"/>
              </a:spcAft>
            </a:pPr>
            <a:r>
              <a:rPr sz="1500" b="0" i="0">
                <a:solidFill>
                  <a:srgbClr val="2B2B2B"/>
                </a:solidFill>
                <a:latin typeface="Calibri"/>
              </a:rPr>
              <a:t>●   Constructo 1: automatización de pruebas. Constructo 2: tiempo de despliegue. Y falta el tercero, que casi todos olvidan:</a:t>
            </a:r>
          </a:p>
          <a:p>
            <a:pPr lvl="1">
              <a:spcAft>
                <a:spcPts val="600"/>
              </a:spcAft>
            </a:pPr>
            <a:r>
              <a:rPr sz="1500" b="0" i="0">
                <a:solidFill>
                  <a:srgbClr val="2B2B2B"/>
                </a:solidFill>
                <a:latin typeface="Calibri"/>
              </a:rPr>
              <a:t>●   Constructo 3: </a:t>
            </a:r>
            <a:r>
              <a:rPr sz="1500" b="1" i="0">
                <a:solidFill>
                  <a:srgbClr val="2B2B2B"/>
                </a:solidFill>
                <a:latin typeface="Calibri"/>
              </a:rPr>
              <a:t>la relación entre los dos</a:t>
            </a:r>
            <a:r>
              <a:rPr sz="1500" b="0" i="0">
                <a:solidFill>
                  <a:srgbClr val="2B2B2B"/>
                </a:solidFill>
                <a:latin typeface="Calibri"/>
              </a:rPr>
              <a:t>. Qué dice la literatura sobre ese vínculo.</a:t>
            </a:r>
          </a:p>
          <a:p>
            <a:pPr>
              <a:spcAft>
                <a:spcPts val="1000"/>
              </a:spcAft>
            </a:pPr>
            <a:r>
              <a:rPr sz="1600" b="0" i="0">
                <a:solidFill>
                  <a:srgbClr val="2B2B2B"/>
                </a:solidFill>
                <a:latin typeface="Calibri"/>
              </a:rPr>
              <a:t>–   Con </a:t>
            </a:r>
            <a:r>
              <a:rPr sz="1600" b="1" i="0">
                <a:solidFill>
                  <a:srgbClr val="2B2B2B"/>
                </a:solidFill>
                <a:latin typeface="Calibri"/>
              </a:rPr>
              <a:t>dos o tres constructos basta</a:t>
            </a:r>
            <a:r>
              <a:rPr sz="1600" b="0" i="0">
                <a:solidFill>
                  <a:srgbClr val="2B2B2B"/>
                </a:solidFill>
                <a:latin typeface="Calibri"/>
              </a:rPr>
              <a:t> para un artículo de pregrado. Cinco constructos ya es un marco que no va a cerrar nunca.</a:t>
            </a:r>
          </a:p>
          <a:p>
            <a:pPr>
              <a:spcAft>
                <a:spcPts val="1000"/>
              </a:spcAft>
            </a:pPr>
            <a:r>
              <a:rPr sz="1600" b="0" i="0">
                <a:solidFill>
                  <a:srgbClr val="2B2B2B"/>
                </a:solidFill>
                <a:latin typeface="Calibri"/>
              </a:rPr>
              <a:t>–   Bajo cada constructo debe quedar claro:</a:t>
            </a:r>
          </a:p>
          <a:p>
            <a:pPr lvl="1">
              <a:spcAft>
                <a:spcPts val="600"/>
              </a:spcAft>
            </a:pPr>
            <a:r>
              <a:rPr sz="1500" b="0" i="0">
                <a:solidFill>
                  <a:srgbClr val="2B2B2B"/>
                </a:solidFill>
                <a:latin typeface="Calibri"/>
              </a:rPr>
              <a:t>●   </a:t>
            </a:r>
            <a:r>
              <a:rPr sz="1500" b="1" i="0">
                <a:solidFill>
                  <a:srgbClr val="2B2B2B"/>
                </a:solidFill>
                <a:latin typeface="Calibri"/>
              </a:rPr>
              <a:t>La definición</a:t>
            </a:r>
            <a:r>
              <a:rPr sz="1500" b="0" i="0">
                <a:solidFill>
                  <a:srgbClr val="2B2B2B"/>
                </a:solidFill>
                <a:latin typeface="Calibri"/>
              </a:rPr>
              <a:t> que usted adopta, y de qué autor la toma. Si hay definiciones en disputa, dígalo y elija una.</a:t>
            </a:r>
          </a:p>
          <a:p>
            <a:pPr lvl="1">
              <a:spcAft>
                <a:spcPts val="600"/>
              </a:spcAft>
            </a:pPr>
            <a:r>
              <a:rPr sz="1500" b="0" i="0">
                <a:solidFill>
                  <a:srgbClr val="2B2B2B"/>
                </a:solidFill>
                <a:latin typeface="Calibri"/>
              </a:rPr>
              <a:t>●   </a:t>
            </a:r>
            <a:r>
              <a:rPr sz="1500" b="1" i="0">
                <a:solidFill>
                  <a:srgbClr val="2B2B2B"/>
                </a:solidFill>
                <a:latin typeface="Calibri"/>
              </a:rPr>
              <a:t>La clasificación o los tipos</a:t>
            </a:r>
            <a:r>
              <a:rPr sz="1500" b="0" i="0">
                <a:solidFill>
                  <a:srgbClr val="2B2B2B"/>
                </a:solidFill>
                <a:latin typeface="Calibri"/>
              </a:rPr>
              <a:t>, si el concepto los tiene.</a:t>
            </a:r>
          </a:p>
          <a:p>
            <a:pPr lvl="1">
              <a:spcAft>
                <a:spcPts val="600"/>
              </a:spcAft>
            </a:pPr>
            <a:r>
              <a:rPr sz="1500" b="0" i="0">
                <a:solidFill>
                  <a:srgbClr val="2B2B2B"/>
                </a:solidFill>
                <a:latin typeface="Calibri"/>
              </a:rPr>
              <a:t>●   </a:t>
            </a:r>
            <a:r>
              <a:rPr sz="1500" b="1" i="0">
                <a:solidFill>
                  <a:srgbClr val="2B2B2B"/>
                </a:solidFill>
                <a:latin typeface="Calibri"/>
              </a:rPr>
              <a:t>Cómo se mide o se evalúa</a:t>
            </a:r>
            <a:r>
              <a:rPr sz="1500" b="0" i="0">
                <a:solidFill>
                  <a:srgbClr val="2B2B2B"/>
                </a:solidFill>
                <a:latin typeface="Calibri"/>
              </a:rPr>
              <a:t> — este punto es el puente directo con su metodología.</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Cómo identificar sus constructos (salen de su pregunta) (cont.)</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Si un bloque de su marco no cae bajo ninguno de sus constructos, </a:t>
            </a:r>
            <a:r>
              <a:rPr sz="1600" b="1" i="0">
                <a:solidFill>
                  <a:srgbClr val="2B2B2B"/>
                </a:solidFill>
                <a:latin typeface="Calibri"/>
              </a:rPr>
              <a:t>sobra</a:t>
            </a:r>
            <a:r>
              <a:rPr sz="1600" b="0" i="0">
                <a:solidFill>
                  <a:srgbClr val="2B2B2B"/>
                </a:solidFill>
                <a:latin typeface="Calibri"/>
              </a:rPr>
              <a:t>. Por interesante que sea.</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Tabla de constructos — el mapa de su marco</a:t>
            </a:r>
          </a:p>
        </p:txBody>
      </p:sp>
      <p:graphicFrame>
        <p:nvGraphicFramePr>
          <p:cNvPr id="4" name="Table 3"/>
          <p:cNvGraphicFramePr>
            <a:graphicFrameLocks noGrp="1"/>
          </p:cNvGraphicFramePr>
          <p:nvPr/>
        </p:nvGraphicFramePr>
        <p:xfrm>
          <a:off x="640080" y="1691639"/>
          <a:ext cx="10911534" cy="2514600"/>
        </p:xfrm>
        <a:graphic>
          <a:graphicData uri="http://schemas.openxmlformats.org/drawingml/2006/table">
            <a:tbl>
              <a:tblPr>
                <a:tableStyleId>{2D5ABB26-0587-4C30-8999-92F81FD0307C}</a:tableStyleId>
              </a:tblPr>
              <a:tblGrid>
                <a:gridCol w="2475726"/>
                <a:gridCol w="3117581"/>
                <a:gridCol w="2750807"/>
                <a:gridCol w="2567420"/>
              </a:tblGrid>
              <a:tr h="502920">
                <a:tc>
                  <a:txBody>
                    <a:bodyPr/>
                    <a:lstStyle/>
                    <a:p>
                      <a:pPr algn="l"/>
                      <a:r>
                        <a:rPr sz="1300" b="1" i="0">
                          <a:solidFill>
                            <a:srgbClr val="FFFFFF"/>
                          </a:solidFill>
                          <a:latin typeface="Calibri"/>
                        </a:rPr>
                        <a:t>Constructo</a:t>
                      </a:r>
                    </a:p>
                  </a:txBody>
                  <a:tcPr anchor="ctr" marL="109728" marR="91440" marT="36576" marB="36576">
                    <a:solidFill>
                      <a:srgbClr val="0C2340"/>
                    </a:solidFill>
                  </a:tcPr>
                </a:tc>
                <a:tc>
                  <a:txBody>
                    <a:bodyPr/>
                    <a:lstStyle/>
                    <a:p>
                      <a:pPr algn="l"/>
                      <a:r>
                        <a:rPr sz="1300" b="1" i="0">
                          <a:solidFill>
                            <a:srgbClr val="FFFFFF"/>
                          </a:solidFill>
                          <a:latin typeface="Calibri"/>
                        </a:rPr>
                        <a:t>Qué debe quedar claro</a:t>
                      </a:r>
                    </a:p>
                  </a:txBody>
                  <a:tcPr anchor="ctr" marL="109728" marR="91440" marT="36576" marB="36576">
                    <a:solidFill>
                      <a:srgbClr val="0C2340"/>
                    </a:solidFill>
                  </a:tcPr>
                </a:tc>
                <a:tc>
                  <a:txBody>
                    <a:bodyPr/>
                    <a:lstStyle/>
                    <a:p>
                      <a:pPr algn="l"/>
                      <a:r>
                        <a:rPr sz="1300" b="1" i="0">
                          <a:solidFill>
                            <a:srgbClr val="FFFFFF"/>
                          </a:solidFill>
                          <a:latin typeface="Calibri"/>
                        </a:rPr>
                        <a:t>Fuentes que lo sostienen</a:t>
                      </a:r>
                    </a:p>
                  </a:txBody>
                  <a:tcPr anchor="ctr" marL="109728" marR="91440" marT="36576" marB="36576">
                    <a:solidFill>
                      <a:srgbClr val="0C2340"/>
                    </a:solidFill>
                  </a:tcPr>
                </a:tc>
                <a:tc>
                  <a:txBody>
                    <a:bodyPr/>
                    <a:lstStyle/>
                    <a:p>
                      <a:pPr algn="l"/>
                      <a:r>
                        <a:rPr sz="1300" b="1" i="0">
                          <a:solidFill>
                            <a:srgbClr val="FFFFFF"/>
                          </a:solidFill>
                          <a:latin typeface="Calibri"/>
                        </a:rPr>
                        <a:t>Estado</a:t>
                      </a:r>
                    </a:p>
                  </a:txBody>
                  <a:tcPr anchor="ctr" marL="109728" marR="91440" marT="36576" marB="36576">
                    <a:solidFill>
                      <a:srgbClr val="0C2340"/>
                    </a:solidFill>
                  </a:tcPr>
                </a:tc>
              </a:tr>
              <a:tr h="502920">
                <a:tc>
                  <a:txBody>
                    <a:bodyPr/>
                    <a:lstStyle/>
                    <a:p>
                      <a:pPr algn="l"/>
                      <a:r>
                        <a:rPr sz="1200" b="1" i="0">
                          <a:solidFill>
                            <a:srgbClr val="2B2B2B"/>
                          </a:solidFill>
                          <a:latin typeface="Calibri"/>
                        </a:rPr>
                        <a:t>Automatización de pruebas</a:t>
                      </a:r>
                    </a:p>
                  </a:txBody>
                  <a:tcPr anchor="ctr" marL="109728" marR="91440" marT="36576" marB="36576">
                    <a:solidFill>
                      <a:srgbClr val="FFFFFF"/>
                    </a:solidFill>
                  </a:tcPr>
                </a:tc>
                <a:tc>
                  <a:txBody>
                    <a:bodyPr/>
                    <a:lstStyle/>
                    <a:p>
                      <a:pPr algn="l"/>
                      <a:r>
                        <a:rPr sz="1200" b="0" i="0">
                          <a:solidFill>
                            <a:srgbClr val="2B2B2B"/>
                          </a:solidFill>
                          <a:latin typeface="Calibri"/>
                        </a:rPr>
                        <a:t>Definición, tipos, beneficios y riesgos</a:t>
                      </a:r>
                    </a:p>
                  </a:txBody>
                  <a:tcPr anchor="ctr" marL="109728" marR="91440" marT="36576" marB="36576">
                    <a:solidFill>
                      <a:srgbClr val="FFFFFF"/>
                    </a:solidFill>
                  </a:tcPr>
                </a:tc>
                <a:tc>
                  <a:txBody>
                    <a:bodyPr/>
                    <a:lstStyle/>
                    <a:p>
                      <a:pPr algn="l"/>
                      <a:r>
                        <a:rPr sz="1200" b="0" i="0">
                          <a:solidFill>
                            <a:srgbClr val="2B2B2B"/>
                          </a:solidFill>
                          <a:latin typeface="Calibri"/>
                        </a:rPr>
                        <a:t>Pérez (2021); Ramírez (2022); Gómez (2023)</a:t>
                      </a:r>
                    </a:p>
                  </a:txBody>
                  <a:tcPr anchor="ctr" marL="109728" marR="91440" marT="36576" marB="36576">
                    <a:solidFill>
                      <a:srgbClr val="FFFFFF"/>
                    </a:solidFill>
                  </a:tcPr>
                </a:tc>
                <a:tc>
                  <a:txBody>
                    <a:bodyPr/>
                    <a:lstStyle/>
                    <a:p>
                      <a:pPr algn="l"/>
                      <a:r>
                        <a:rPr sz="1200" b="1" i="0">
                          <a:solidFill>
                            <a:srgbClr val="2B2B2B"/>
                          </a:solidFill>
                          <a:latin typeface="Calibri"/>
                        </a:rPr>
                        <a:t>Cerrado</a:t>
                      </a:r>
                    </a:p>
                  </a:txBody>
                  <a:tcPr anchor="ctr" marL="109728" marR="91440" marT="36576" marB="36576">
                    <a:solidFill>
                      <a:srgbClr val="FFFFFF"/>
                    </a:solidFill>
                  </a:tcPr>
                </a:tc>
              </a:tr>
              <a:tr h="502920">
                <a:tc>
                  <a:txBody>
                    <a:bodyPr/>
                    <a:lstStyle/>
                    <a:p>
                      <a:pPr algn="l"/>
                      <a:r>
                        <a:rPr sz="1200" b="1" i="0">
                          <a:solidFill>
                            <a:srgbClr val="2B2B2B"/>
                          </a:solidFill>
                          <a:latin typeface="Calibri"/>
                        </a:rPr>
                        <a:t>Tiempo de despliegue</a:t>
                      </a:r>
                    </a:p>
                  </a:txBody>
                  <a:tcPr anchor="ctr" marL="109728" marR="91440" marT="36576" marB="36576">
                    <a:solidFill>
                      <a:srgbClr val="F2F2F2"/>
                    </a:solidFill>
                  </a:tcPr>
                </a:tc>
                <a:tc>
                  <a:txBody>
                    <a:bodyPr/>
                    <a:lstStyle/>
                    <a:p>
                      <a:pPr algn="l"/>
                      <a:r>
                        <a:rPr sz="1200" b="0" i="0">
                          <a:solidFill>
                            <a:srgbClr val="2B2B2B"/>
                          </a:solidFill>
                          <a:latin typeface="Calibri"/>
                        </a:rPr>
                        <a:t>Cómo se mide, qué factores lo afectan</a:t>
                      </a:r>
                    </a:p>
                  </a:txBody>
                  <a:tcPr anchor="ctr" marL="109728" marR="91440" marT="36576" marB="36576">
                    <a:solidFill>
                      <a:srgbClr val="F2F2F2"/>
                    </a:solidFill>
                  </a:tcPr>
                </a:tc>
                <a:tc>
                  <a:txBody>
                    <a:bodyPr/>
                    <a:lstStyle/>
                    <a:p>
                      <a:pPr algn="l"/>
                      <a:r>
                        <a:rPr sz="1200" b="0" i="0">
                          <a:solidFill>
                            <a:srgbClr val="2B2B2B"/>
                          </a:solidFill>
                          <a:latin typeface="Calibri"/>
                        </a:rPr>
                        <a:t>Torres (2024); Ramírez (2022)</a:t>
                      </a:r>
                    </a:p>
                  </a:txBody>
                  <a:tcPr anchor="ctr" marL="109728" marR="91440" marT="36576" marB="36576">
                    <a:solidFill>
                      <a:srgbClr val="F2F2F2"/>
                    </a:solidFill>
                  </a:tcPr>
                </a:tc>
                <a:tc>
                  <a:txBody>
                    <a:bodyPr/>
                    <a:lstStyle/>
                    <a:p>
                      <a:pPr algn="l"/>
                      <a:r>
                        <a:rPr sz="1200" b="0" i="0">
                          <a:solidFill>
                            <a:srgbClr val="2B2B2B"/>
                          </a:solidFill>
                          <a:latin typeface="Calibri"/>
                        </a:rPr>
                        <a:t>Falta cómo se mide en equipos pequeños</a:t>
                      </a:r>
                    </a:p>
                  </a:txBody>
                  <a:tcPr anchor="ctr" marL="109728" marR="91440" marT="36576" marB="36576">
                    <a:solidFill>
                      <a:srgbClr val="F2F2F2"/>
                    </a:solidFill>
                  </a:tcPr>
                </a:tc>
              </a:tr>
              <a:tr h="502920">
                <a:tc>
                  <a:txBody>
                    <a:bodyPr/>
                    <a:lstStyle/>
                    <a:p>
                      <a:pPr algn="l"/>
                      <a:r>
                        <a:rPr sz="1200" b="1" i="0">
                          <a:solidFill>
                            <a:srgbClr val="2B2B2B"/>
                          </a:solidFill>
                          <a:latin typeface="Calibri"/>
                        </a:rPr>
                        <a:t>Relación entre ambos</a:t>
                      </a:r>
                    </a:p>
                  </a:txBody>
                  <a:tcPr anchor="ctr" marL="109728" marR="91440" marT="36576" marB="36576">
                    <a:solidFill>
                      <a:srgbClr val="FFFFFF"/>
                    </a:solidFill>
                  </a:tcPr>
                </a:tc>
                <a:tc>
                  <a:txBody>
                    <a:bodyPr/>
                    <a:lstStyle/>
                    <a:p>
                      <a:pPr algn="l"/>
                      <a:r>
                        <a:rPr sz="1200" b="0" i="0">
                          <a:solidFill>
                            <a:srgbClr val="2B2B2B"/>
                          </a:solidFill>
                          <a:latin typeface="Calibri"/>
                        </a:rPr>
                        <a:t>Qué evidencia hay del vínculo y en qué condiciones</a:t>
                      </a:r>
                    </a:p>
                  </a:txBody>
                  <a:tcPr anchor="ctr" marL="109728" marR="91440" marT="36576" marB="36576">
                    <a:solidFill>
                      <a:srgbClr val="FFFFFF"/>
                    </a:solidFill>
                  </a:tcPr>
                </a:tc>
                <a:tc>
                  <a:txBody>
                    <a:bodyPr/>
                    <a:lstStyle/>
                    <a:p>
                      <a:pPr algn="l"/>
                      <a:r>
                        <a:rPr sz="1200" b="0" i="0">
                          <a:solidFill>
                            <a:srgbClr val="2B2B2B"/>
                          </a:solidFill>
                          <a:latin typeface="Calibri"/>
                        </a:rPr>
                        <a:t>Ramírez (2022); Gómez (2023)</a:t>
                      </a:r>
                    </a:p>
                  </a:txBody>
                  <a:tcPr anchor="ctr" marL="109728" marR="91440" marT="36576" marB="36576">
                    <a:solidFill>
                      <a:srgbClr val="FFFFFF"/>
                    </a:solidFill>
                  </a:tcPr>
                </a:tc>
                <a:tc>
                  <a:txBody>
                    <a:bodyPr/>
                    <a:lstStyle/>
                    <a:p>
                      <a:pPr algn="l"/>
                      <a:r>
                        <a:rPr sz="1200" b="0" i="0">
                          <a:solidFill>
                            <a:srgbClr val="2B2B2B"/>
                          </a:solidFill>
                          <a:latin typeface="Calibri"/>
                        </a:rPr>
                        <a:t>Falta 1 fuente que matice</a:t>
                      </a:r>
                    </a:p>
                  </a:txBody>
                  <a:tcPr anchor="ctr" marL="109728" marR="91440" marT="36576" marB="36576">
                    <a:solidFill>
                      <a:srgbClr val="FFFFFF"/>
                    </a:solidFill>
                  </a:tcPr>
                </a:tc>
              </a:tr>
              <a:tr h="502920">
                <a:tc>
                  <a:txBody>
                    <a:bodyPr/>
                    <a:lstStyle/>
                    <a:p>
                      <a:pPr algn="l"/>
                      <a:r>
                        <a:rPr sz="1200" b="1" i="0">
                          <a:solidFill>
                            <a:srgbClr val="2B2B2B"/>
                          </a:solidFill>
                          <a:latin typeface="Calibri"/>
                        </a:rPr>
                        <a:t>Integración continua</a:t>
                      </a:r>
                    </a:p>
                  </a:txBody>
                  <a:tcPr anchor="ctr" marL="109728" marR="91440" marT="36576" marB="36576">
                    <a:solidFill>
                      <a:srgbClr val="F2F2F2"/>
                    </a:solidFill>
                  </a:tcPr>
                </a:tc>
                <a:tc>
                  <a:txBody>
                    <a:bodyPr/>
                    <a:lstStyle/>
                    <a:p>
                      <a:pPr algn="l"/>
                      <a:r>
                        <a:rPr sz="1200" b="0" i="0">
                          <a:solidFill>
                            <a:srgbClr val="2B2B2B"/>
                          </a:solidFill>
                          <a:latin typeface="Calibri"/>
                        </a:rPr>
                        <a:t>Marco tecnológico donde ocurre el proceso</a:t>
                      </a:r>
                    </a:p>
                  </a:txBody>
                  <a:tcPr anchor="ctr" marL="109728" marR="91440" marT="36576" marB="36576">
                    <a:solidFill>
                      <a:srgbClr val="F2F2F2"/>
                    </a:solidFill>
                  </a:tcPr>
                </a:tc>
                <a:tc>
                  <a:txBody>
                    <a:bodyPr/>
                    <a:lstStyle/>
                    <a:p>
                      <a:pPr algn="l"/>
                      <a:r>
                        <a:rPr sz="1200" b="0" i="0">
                          <a:solidFill>
                            <a:srgbClr val="2B2B2B"/>
                          </a:solidFill>
                          <a:latin typeface="Calibri"/>
                        </a:rPr>
                        <a:t>Torres (2024)</a:t>
                      </a:r>
                    </a:p>
                  </a:txBody>
                  <a:tcPr anchor="ctr" marL="109728" marR="91440" marT="36576" marB="36576">
                    <a:solidFill>
                      <a:srgbClr val="F2F2F2"/>
                    </a:solidFill>
                  </a:tcPr>
                </a:tc>
                <a:tc>
                  <a:txBody>
                    <a:bodyPr/>
                    <a:lstStyle/>
                    <a:p>
                      <a:pPr algn="l"/>
                      <a:r>
                        <a:rPr sz="1200" b="1" i="0">
                          <a:solidFill>
                            <a:srgbClr val="2B2B2B"/>
                          </a:solidFill>
                          <a:latin typeface="Calibri"/>
                        </a:rPr>
                        <a:t>Cerrado</a:t>
                      </a:r>
                      <a:r>
                        <a:rPr sz="1200" b="0" i="0">
                          <a:solidFill>
                            <a:srgbClr val="2B2B2B"/>
                          </a:solidFill>
                          <a:latin typeface="Calibri"/>
                        </a:rPr>
                        <a:t> con una fuente; suficiente</a:t>
                      </a:r>
                    </a:p>
                  </a:txBody>
                  <a:tcPr anchor="ctr" marL="109728" marR="91440" marT="36576" marB="36576">
                    <a:solidFill>
                      <a:srgbClr val="F2F2F2"/>
                    </a:solidFill>
                  </a:tcPr>
                </a:tc>
              </a:tr>
            </a:tbl>
          </a:graphicData>
        </a:graphic>
      </p:graphicFrame>
      <p:sp>
        <p:nvSpPr>
          <p:cNvPr id="5" name="TextBox 4"/>
          <p:cNvSpPr txBox="1"/>
          <p:nvPr/>
        </p:nvSpPr>
        <p:spPr>
          <a:xfrm>
            <a:off x="640080" y="4343400"/>
            <a:ext cx="10911535" cy="548640"/>
          </a:xfrm>
          <a:prstGeom prst="rect">
            <a:avLst/>
          </a:prstGeom>
          <a:noFill/>
        </p:spPr>
        <p:txBody>
          <a:bodyPr wrap="square" anchor="t" lIns="0" rIns="0" tIns="0" bIns="0">
            <a:spAutoFit/>
          </a:bodyPr>
          <a:lstStyle/>
          <a:p>
            <a:r>
              <a:rPr sz="1200" b="0" i="1">
                <a:solidFill>
                  <a:srgbClr val="2B2B2B"/>
                </a:solidFill>
                <a:latin typeface="Calibri"/>
              </a:rPr>
              <a:t>La columna </a:t>
            </a:r>
            <a:r>
              <a:rPr sz="1200" b="1" i="1">
                <a:solidFill>
                  <a:srgbClr val="2B2B2B"/>
                </a:solidFill>
                <a:latin typeface="Calibri"/>
              </a:rPr>
              <a:t>Estado</a:t>
            </a:r>
            <a:r>
              <a:rPr sz="1200" b="0" i="1">
                <a:solidFill>
                  <a:srgbClr val="2B2B2B"/>
                </a:solidFill>
                <a:latin typeface="Calibri"/>
              </a:rPr>
              <a:t> es su lista de tareas. Solo se busca lo que falta ahí: nada más. Así se cierra el marco en lugar de agrandarlo.</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Ejemplo modelado — reorganizar un marco en vivo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500" b="0" i="0">
                <a:solidFill>
                  <a:srgbClr val="2B2B2B"/>
                </a:solidFill>
                <a:latin typeface="Calibri"/>
              </a:rPr>
              <a:t>–   </a:t>
            </a:r>
            <a:r>
              <a:rPr sz="1500" b="1" i="0">
                <a:solidFill>
                  <a:srgbClr val="2B2B2B"/>
                </a:solidFill>
                <a:latin typeface="Calibri"/>
              </a:rPr>
              <a:t>Punto de partida (marco de autores):</a:t>
            </a:r>
          </a:p>
          <a:p>
            <a:pPr lvl="1">
              <a:spcAft>
                <a:spcPts val="600"/>
              </a:spcAft>
            </a:pPr>
            <a:r>
              <a:rPr sz="1400" b="0" i="0">
                <a:solidFill>
                  <a:srgbClr val="2B2B2B"/>
                </a:solidFill>
                <a:latin typeface="Calibri"/>
              </a:rPr>
              <a:t>●   "Pérez (2021) señala que automatizar reduce el esfuerzo manual. Luego González (2020) explica que el tiempo de despliegue depende de la infraestructura. Luego Ramírez (2022) midió el efecto de la automatización en tres equipos."</a:t>
            </a:r>
          </a:p>
          <a:p>
            <a:pPr lvl="1">
              <a:spcAft>
                <a:spcPts val="600"/>
              </a:spcAft>
            </a:pPr>
            <a:r>
              <a:rPr sz="1400" b="0" i="0">
                <a:solidFill>
                  <a:srgbClr val="2B2B2B"/>
                </a:solidFill>
                <a:latin typeface="Calibri"/>
              </a:rPr>
              <a:t>●   Se lee como un inventario. No hay argumento: hay tres resúmenes en fila.</a:t>
            </a:r>
          </a:p>
          <a:p>
            <a:pPr>
              <a:spcAft>
                <a:spcPts val="1000"/>
              </a:spcAft>
            </a:pPr>
            <a:r>
              <a:rPr sz="1500" b="0" i="0">
                <a:solidFill>
                  <a:srgbClr val="2B2B2B"/>
                </a:solidFill>
                <a:latin typeface="Calibri"/>
              </a:rPr>
              <a:t>–   </a:t>
            </a:r>
            <a:r>
              <a:rPr sz="1500" b="1" i="0">
                <a:solidFill>
                  <a:srgbClr val="2B2B2B"/>
                </a:solidFill>
                <a:latin typeface="Calibri"/>
              </a:rPr>
              <a:t>Reorganización, en dos movimientos:</a:t>
            </a:r>
          </a:p>
          <a:p>
            <a:pPr lvl="1">
              <a:spcAft>
                <a:spcPts val="600"/>
              </a:spcAft>
            </a:pPr>
            <a:r>
              <a:rPr sz="1400" b="0" i="0">
                <a:solidFill>
                  <a:srgbClr val="2B2B2B"/>
                </a:solidFill>
                <a:latin typeface="Calibri"/>
              </a:rPr>
              <a:t>●   </a:t>
            </a:r>
            <a:r>
              <a:rPr sz="1400" b="1" i="0">
                <a:solidFill>
                  <a:srgbClr val="2B2B2B"/>
                </a:solidFill>
                <a:latin typeface="Calibri"/>
              </a:rPr>
              <a:t>Movimiento 1:</a:t>
            </a:r>
            <a:r>
              <a:rPr sz="1400" b="0" i="0">
                <a:solidFill>
                  <a:srgbClr val="2B2B2B"/>
                </a:solidFill>
                <a:latin typeface="Calibri"/>
              </a:rPr>
              <a:t> creo el bloque </a:t>
            </a:r>
            <a:r>
              <a:rPr sz="1400" b="1" i="0">
                <a:solidFill>
                  <a:srgbClr val="2B2B2B"/>
                </a:solidFill>
                <a:latin typeface="Calibri"/>
              </a:rPr>
              <a:t>"Automatización de pruebas"</a:t>
            </a:r>
            <a:r>
              <a:rPr sz="1400" b="0" i="0">
                <a:solidFill>
                  <a:srgbClr val="2B2B2B"/>
                </a:solidFill>
                <a:latin typeface="Calibri"/>
              </a:rPr>
              <a:t> y meto ahí a Pérez y a Ramírez, porque los dos hablan de eso.</a:t>
            </a:r>
          </a:p>
          <a:p>
            <a:pPr lvl="1">
              <a:spcAft>
                <a:spcPts val="600"/>
              </a:spcAft>
            </a:pPr>
            <a:r>
              <a:rPr sz="1400" b="0" i="0">
                <a:solidFill>
                  <a:srgbClr val="2B2B2B"/>
                </a:solidFill>
                <a:latin typeface="Calibri"/>
              </a:rPr>
              <a:t>●   </a:t>
            </a:r>
            <a:r>
              <a:rPr sz="1400" b="1" i="0">
                <a:solidFill>
                  <a:srgbClr val="2B2B2B"/>
                </a:solidFill>
                <a:latin typeface="Calibri"/>
              </a:rPr>
              <a:t>Movimiento 2:</a:t>
            </a:r>
            <a:r>
              <a:rPr sz="1400" b="0" i="0">
                <a:solidFill>
                  <a:srgbClr val="2B2B2B"/>
                </a:solidFill>
                <a:latin typeface="Calibri"/>
              </a:rPr>
              <a:t> creo el bloque </a:t>
            </a:r>
            <a:r>
              <a:rPr sz="1400" b="1" i="0">
                <a:solidFill>
                  <a:srgbClr val="2B2B2B"/>
                </a:solidFill>
                <a:latin typeface="Calibri"/>
              </a:rPr>
              <a:t>"Tiempo de despliegue"</a:t>
            </a:r>
            <a:r>
              <a:rPr sz="1400" b="0" i="0">
                <a:solidFill>
                  <a:srgbClr val="2B2B2B"/>
                </a:solidFill>
                <a:latin typeface="Calibri"/>
              </a:rPr>
              <a:t> y meto a González, que es quien explica de qué depende.</a:t>
            </a:r>
          </a:p>
          <a:p>
            <a:pPr>
              <a:spcAft>
                <a:spcPts val="1000"/>
              </a:spcAft>
            </a:pPr>
            <a:r>
              <a:rPr sz="1500" b="0" i="0">
                <a:solidFill>
                  <a:srgbClr val="2B2B2B"/>
                </a:solidFill>
                <a:latin typeface="Calibri"/>
              </a:rPr>
              <a:t>–   </a:t>
            </a:r>
            <a:r>
              <a:rPr sz="1500" b="1" i="0">
                <a:solidFill>
                  <a:srgbClr val="2B2B2B"/>
                </a:solidFill>
                <a:latin typeface="Calibri"/>
              </a:rPr>
              <a:t>Resultado reescrito:</a:t>
            </a:r>
            <a:r>
              <a:rPr sz="1500" b="0" i="0">
                <a:solidFill>
                  <a:srgbClr val="2B2B2B"/>
                </a:solidFill>
                <a:latin typeface="Calibri"/>
              </a:rPr>
              <a:t> "La automatización de pruebas reduce el esfuerzo manual del ciclo de entrega (Pérez, 2021) y, en equipos ágiles, se ha asociado con descensos medibles del tiempo de despliegue (Ramírez, 2022). Ese tiempo, a su vez, depende de la infraestructura disponible (González, 2020)."</a:t>
            </a:r>
          </a:p>
          <a:p>
            <a:pPr>
              <a:spcAft>
                <a:spcPts val="1000"/>
              </a:spcAft>
            </a:pPr>
            <a:r>
              <a:rPr sz="1500" b="0" i="0">
                <a:solidFill>
                  <a:srgbClr val="2B2B2B"/>
                </a:solidFill>
                <a:latin typeface="Calibri"/>
              </a:rPr>
              <a:t>–   </a:t>
            </a:r>
            <a:r>
              <a:rPr sz="1500" b="1" i="0">
                <a:solidFill>
                  <a:srgbClr val="2B2B2B"/>
                </a:solidFill>
                <a:latin typeface="Calibri"/>
              </a:rPr>
              <a:t>De golpe se lee como argumento</a:t>
            </a:r>
            <a:r>
              <a:rPr sz="1500" b="0" i="0">
                <a:solidFill>
                  <a:srgbClr val="2B2B2B"/>
                </a:solidFill>
                <a:latin typeface="Calibri"/>
              </a:rPr>
              <a:t>, no como lista. Y los mismos tres autores ahora conversan entre ellos.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9</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Ojo con lo que pasó: no se agregó ni un solo autor nuevo. Solo se reordenó. Muchos marcos flojos no necesitan más fuentes: necesitan orden.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Auditoría de referencias: listadas no es lo mismo que citadas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El Syllabus exige </a:t>
            </a:r>
            <a:r>
              <a:rPr sz="1600" b="1" i="0">
                <a:solidFill>
                  <a:srgbClr val="2B2B2B"/>
                </a:solidFill>
                <a:latin typeface="Calibri"/>
              </a:rPr>
              <a:t>mínimo 50 referencias</a:t>
            </a:r>
            <a:r>
              <a:rPr sz="1600" b="0" i="0">
                <a:solidFill>
                  <a:srgbClr val="2B2B2B"/>
                </a:solidFill>
                <a:latin typeface="Calibri"/>
              </a:rPr>
              <a:t>. Pero cuenta lo que está </a:t>
            </a:r>
            <a:r>
              <a:rPr sz="1600" b="1" i="0">
                <a:solidFill>
                  <a:srgbClr val="2B2B2B"/>
                </a:solidFill>
                <a:latin typeface="Calibri"/>
              </a:rPr>
              <a:t>citado en el cuerpo</a:t>
            </a:r>
            <a:r>
              <a:rPr sz="1600" b="0" i="0">
                <a:solidFill>
                  <a:srgbClr val="2B2B2B"/>
                </a:solidFill>
                <a:latin typeface="Calibri"/>
              </a:rPr>
              <a:t>, no lo que está en la lista final.</a:t>
            </a:r>
          </a:p>
          <a:p>
            <a:pPr>
              <a:spcAft>
                <a:spcPts val="1000"/>
              </a:spcAft>
            </a:pPr>
            <a:r>
              <a:rPr sz="1600" b="0" i="0">
                <a:solidFill>
                  <a:srgbClr val="2B2B2B"/>
                </a:solidFill>
                <a:latin typeface="Calibri"/>
              </a:rPr>
              <a:t>–   Una referencia listada y nunca citada es peor que no tenerla:</a:t>
            </a:r>
          </a:p>
          <a:p>
            <a:pPr lvl="1">
              <a:spcAft>
                <a:spcPts val="600"/>
              </a:spcAft>
            </a:pPr>
            <a:r>
              <a:rPr sz="1500" b="0" i="0">
                <a:solidFill>
                  <a:srgbClr val="2B2B2B"/>
                </a:solidFill>
                <a:latin typeface="Calibri"/>
              </a:rPr>
              <a:t>●   Para el jurado es una </a:t>
            </a:r>
            <a:r>
              <a:rPr sz="1500" b="1" i="0">
                <a:solidFill>
                  <a:srgbClr val="2B2B2B"/>
                </a:solidFill>
                <a:latin typeface="Calibri"/>
              </a:rPr>
              <a:t>alarma</a:t>
            </a:r>
            <a:r>
              <a:rPr sz="1500" b="0" i="0">
                <a:solidFill>
                  <a:srgbClr val="2B2B2B"/>
                </a:solidFill>
                <a:latin typeface="Calibri"/>
              </a:rPr>
              <a:t>: sugiere que la lista se infló para cumplir un número.</a:t>
            </a:r>
          </a:p>
          <a:p>
            <a:pPr lvl="1">
              <a:spcAft>
                <a:spcPts val="600"/>
              </a:spcAft>
            </a:pPr>
            <a:r>
              <a:rPr sz="1500" b="0" i="0">
                <a:solidFill>
                  <a:srgbClr val="2B2B2B"/>
                </a:solidFill>
                <a:latin typeface="Calibri"/>
              </a:rPr>
              <a:t>●   Y es fácil de detectar: basta buscar el apellido en el documento y ver que no aparece.</a:t>
            </a:r>
          </a:p>
          <a:p>
            <a:pPr>
              <a:spcAft>
                <a:spcPts val="1000"/>
              </a:spcAft>
            </a:pPr>
            <a:r>
              <a:rPr sz="1600" b="0" i="0">
                <a:solidFill>
                  <a:srgbClr val="2B2B2B"/>
                </a:solidFill>
                <a:latin typeface="Calibri"/>
              </a:rPr>
              <a:t>–   El error inverso también existe y es más grave: </a:t>
            </a:r>
            <a:r>
              <a:rPr sz="1600" b="1" i="0">
                <a:solidFill>
                  <a:srgbClr val="2B2B2B"/>
                </a:solidFill>
                <a:latin typeface="Calibri"/>
              </a:rPr>
              <a:t>citar en el texto algo que no está en la lista</a:t>
            </a:r>
            <a:r>
              <a:rPr sz="1600" b="0" i="0">
                <a:solidFill>
                  <a:srgbClr val="2B2B2B"/>
                </a:solidFill>
                <a:latin typeface="Calibri"/>
              </a:rPr>
              <a:t>.</a:t>
            </a:r>
          </a:p>
          <a:p>
            <a:pPr lvl="1">
              <a:spcAft>
                <a:spcPts val="600"/>
              </a:spcAft>
            </a:pPr>
            <a:r>
              <a:rPr sz="1500" b="0" i="0">
                <a:solidFill>
                  <a:srgbClr val="2B2B2B"/>
                </a:solidFill>
                <a:latin typeface="Calibri"/>
              </a:rPr>
              <a:t>●   Eso ya no es descuido de forma, es un problema de trazabilidad de la fuente.</a:t>
            </a:r>
          </a:p>
          <a:p>
            <a:pPr>
              <a:spcAft>
                <a:spcPts val="1000"/>
              </a:spcAft>
            </a:pPr>
            <a:r>
              <a:rPr sz="1600" b="0" i="0">
                <a:solidFill>
                  <a:srgbClr val="2B2B2B"/>
                </a:solidFill>
                <a:latin typeface="Calibri"/>
              </a:rPr>
              <a:t>–   La regla es de doble vía y no tiene excepciones:</a:t>
            </a:r>
          </a:p>
          <a:p>
            <a:pPr lvl="1">
              <a:spcAft>
                <a:spcPts val="600"/>
              </a:spcAft>
            </a:pPr>
            <a:r>
              <a:rPr sz="1500" b="0" i="0">
                <a:solidFill>
                  <a:srgbClr val="2B2B2B"/>
                </a:solidFill>
                <a:latin typeface="Calibri"/>
              </a:rPr>
              <a:t>●   </a:t>
            </a:r>
            <a:r>
              <a:rPr sz="1500" b="1" i="0">
                <a:solidFill>
                  <a:srgbClr val="2B2B2B"/>
                </a:solidFill>
                <a:latin typeface="Calibri"/>
              </a:rPr>
              <a:t>Toda cita del cuerpo → tiene su referencia completa en la lista.</a:t>
            </a:r>
          </a:p>
          <a:p>
            <a:pPr lvl="1">
              <a:spcAft>
                <a:spcPts val="600"/>
              </a:spcAft>
            </a:pPr>
            <a:r>
              <a:rPr sz="1500" b="0" i="0">
                <a:solidFill>
                  <a:srgbClr val="2B2B2B"/>
                </a:solidFill>
                <a:latin typeface="Calibri"/>
              </a:rPr>
              <a:t>●   </a:t>
            </a:r>
            <a:r>
              <a:rPr sz="1500" b="1" i="0">
                <a:solidFill>
                  <a:srgbClr val="2B2B2B"/>
                </a:solidFill>
                <a:latin typeface="Calibri"/>
              </a:rPr>
              <a:t>Toda referencia de la lista → aparece citada al menos una vez en el cuerpo.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Auditoría de referencias: listadas no es lo mismo que citadas (cont.)</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Hágase la auditoría </a:t>
            </a:r>
            <a:r>
              <a:rPr sz="1600" b="1" i="0">
                <a:solidFill>
                  <a:srgbClr val="2B2B2B"/>
                </a:solidFill>
                <a:latin typeface="Calibri"/>
              </a:rPr>
              <a:t>hoy</a:t>
            </a:r>
            <a:r>
              <a:rPr sz="1600" b="0" i="0">
                <a:solidFill>
                  <a:srgbClr val="2B2B2B"/>
                </a:solidFill>
                <a:latin typeface="Calibri"/>
              </a:rPr>
              <a:t>, no la semana de la sustentación: si le faltan doce referencias reales, necesita tiempo para conseguirlas.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Paso a paso — auditar el conteo en Google Docs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1.</a:t>
            </a:r>
            <a:r>
              <a:rPr sz="1600" b="0" i="0">
                <a:solidFill>
                  <a:srgbClr val="2B2B2B"/>
                </a:solidFill>
                <a:latin typeface="Calibri"/>
              </a:rPr>
              <a:t> Abra su documento en Google Docs y separe visualmente el cuerpo del artículo de la lista de Referencias.</a:t>
            </a:r>
          </a:p>
          <a:p>
            <a:pPr>
              <a:spcAft>
                <a:spcPts val="1000"/>
              </a:spcAft>
            </a:pPr>
            <a:r>
              <a:rPr sz="1600" b="0" i="0">
                <a:solidFill>
                  <a:srgbClr val="2B2B2B"/>
                </a:solidFill>
                <a:latin typeface="Calibri"/>
              </a:rPr>
              <a:t>–   </a:t>
            </a:r>
            <a:r>
              <a:rPr sz="1600" b="1" i="0">
                <a:solidFill>
                  <a:srgbClr val="2B2B2B"/>
                </a:solidFill>
                <a:latin typeface="Calibri"/>
              </a:rPr>
              <a:t>2.</a:t>
            </a:r>
            <a:r>
              <a:rPr sz="1600" b="0" i="0">
                <a:solidFill>
                  <a:srgbClr val="2B2B2B"/>
                </a:solidFill>
                <a:latin typeface="Calibri"/>
              </a:rPr>
              <a:t> Numere la lista de referencias temporalmente para saber cuántas tiene. Anote el número: ese es su </a:t>
            </a:r>
            <a:r>
              <a:rPr sz="1600" b="1" i="0">
                <a:solidFill>
                  <a:srgbClr val="2B2B2B"/>
                </a:solidFill>
                <a:latin typeface="Calibri"/>
              </a:rPr>
              <a:t>total listado</a:t>
            </a:r>
            <a:r>
              <a:rPr sz="1600" b="0" i="0">
                <a:solidFill>
                  <a:srgbClr val="2B2B2B"/>
                </a:solidFill>
                <a:latin typeface="Calibri"/>
              </a:rPr>
              <a:t>.</a:t>
            </a:r>
          </a:p>
          <a:p>
            <a:pPr>
              <a:spcAft>
                <a:spcPts val="1000"/>
              </a:spcAft>
            </a:pPr>
            <a:r>
              <a:rPr sz="1600" b="0" i="0">
                <a:solidFill>
                  <a:srgbClr val="2B2B2B"/>
                </a:solidFill>
                <a:latin typeface="Calibri"/>
              </a:rPr>
              <a:t>–   </a:t>
            </a:r>
            <a:r>
              <a:rPr sz="1600" b="1" i="0">
                <a:solidFill>
                  <a:srgbClr val="2B2B2B"/>
                </a:solidFill>
                <a:latin typeface="Calibri"/>
              </a:rPr>
              <a:t>3.</a:t>
            </a:r>
            <a:r>
              <a:rPr sz="1600" b="0" i="0">
                <a:solidFill>
                  <a:srgbClr val="2B2B2B"/>
                </a:solidFill>
                <a:latin typeface="Calibri"/>
              </a:rPr>
              <a:t> Tome el primer apellido de la lista y búsquelo en el cuerpo con </a:t>
            </a:r>
            <a:r>
              <a:rPr sz="1600" b="1" i="0">
                <a:solidFill>
                  <a:srgbClr val="2B2B2B"/>
                </a:solidFill>
                <a:latin typeface="Calibri"/>
              </a:rPr>
              <a:t>Ctrl+F</a:t>
            </a:r>
            <a:r>
              <a:rPr sz="1600" b="0" i="0">
                <a:solidFill>
                  <a:srgbClr val="2B2B2B"/>
                </a:solidFill>
                <a:latin typeface="Calibri"/>
              </a:rPr>
              <a:t>.</a:t>
            </a:r>
          </a:p>
          <a:p>
            <a:pPr lvl="1">
              <a:spcAft>
                <a:spcPts val="600"/>
              </a:spcAft>
            </a:pPr>
            <a:r>
              <a:rPr sz="1500" b="0" i="0">
                <a:solidFill>
                  <a:srgbClr val="2B2B2B"/>
                </a:solidFill>
                <a:latin typeface="Calibri"/>
              </a:rPr>
              <a:t>●   Si aparece al menos una vez fuera de la lista → cuenta. Márquela con un color.</a:t>
            </a:r>
          </a:p>
          <a:p>
            <a:pPr lvl="1">
              <a:spcAft>
                <a:spcPts val="600"/>
              </a:spcAft>
            </a:pPr>
            <a:r>
              <a:rPr sz="1500" b="0" i="0">
                <a:solidFill>
                  <a:srgbClr val="2B2B2B"/>
                </a:solidFill>
                <a:latin typeface="Calibri"/>
              </a:rPr>
              <a:t>●   Si no aparece → no cuenta. Márquela con otro color.</a:t>
            </a:r>
          </a:p>
          <a:p>
            <a:pPr>
              <a:spcAft>
                <a:spcPts val="1000"/>
              </a:spcAft>
            </a:pPr>
            <a:r>
              <a:rPr sz="1600" b="0" i="0">
                <a:solidFill>
                  <a:srgbClr val="2B2B2B"/>
                </a:solidFill>
                <a:latin typeface="Calibri"/>
              </a:rPr>
              <a:t>–   </a:t>
            </a:r>
            <a:r>
              <a:rPr sz="1600" b="1" i="0">
                <a:solidFill>
                  <a:srgbClr val="2B2B2B"/>
                </a:solidFill>
                <a:latin typeface="Calibri"/>
              </a:rPr>
              <a:t>4.</a:t>
            </a:r>
            <a:r>
              <a:rPr sz="1600" b="0" i="0">
                <a:solidFill>
                  <a:srgbClr val="2B2B2B"/>
                </a:solidFill>
                <a:latin typeface="Calibri"/>
              </a:rPr>
              <a:t> Repita con cada referencia. Es mecánico y toma unos minutos, pero es la única forma de tener el número real.</a:t>
            </a:r>
          </a:p>
          <a:p>
            <a:pPr>
              <a:spcAft>
                <a:spcPts val="1000"/>
              </a:spcAft>
            </a:pPr>
            <a:r>
              <a:rPr sz="1600" b="0" i="0">
                <a:solidFill>
                  <a:srgbClr val="2B2B2B"/>
                </a:solidFill>
                <a:latin typeface="Calibri"/>
              </a:rPr>
              <a:t>–   </a:t>
            </a:r>
            <a:r>
              <a:rPr sz="1600" b="1" i="0">
                <a:solidFill>
                  <a:srgbClr val="2B2B2B"/>
                </a:solidFill>
                <a:latin typeface="Calibri"/>
              </a:rPr>
              <a:t>5.</a:t>
            </a:r>
            <a:r>
              <a:rPr sz="1600" b="0" i="0">
                <a:solidFill>
                  <a:srgbClr val="2B2B2B"/>
                </a:solidFill>
                <a:latin typeface="Calibri"/>
              </a:rPr>
              <a:t> Cuente las marcadas como citadas: ese es su </a:t>
            </a:r>
            <a:r>
              <a:rPr sz="1600" b="1" i="0">
                <a:solidFill>
                  <a:srgbClr val="2B2B2B"/>
                </a:solidFill>
                <a:latin typeface="Calibri"/>
              </a:rPr>
              <a:t>total real</a:t>
            </a:r>
            <a:r>
              <a:rPr sz="1600" b="0" i="0">
                <a:solidFill>
                  <a:srgbClr val="2B2B2B"/>
                </a:solidFill>
                <a:latin typeface="Calibri"/>
              </a:rPr>
              <a:t>.</a:t>
            </a:r>
          </a:p>
          <a:p>
            <a:pPr>
              <a:spcAft>
                <a:spcPts val="1000"/>
              </a:spcAft>
            </a:pPr>
            <a:r>
              <a:rPr sz="1600" b="0" i="0">
                <a:solidFill>
                  <a:srgbClr val="2B2B2B"/>
                </a:solidFill>
                <a:latin typeface="Calibri"/>
              </a:rPr>
              <a:t>–   </a:t>
            </a:r>
            <a:r>
              <a:rPr sz="1600" b="1" i="0">
                <a:solidFill>
                  <a:srgbClr val="2B2B2B"/>
                </a:solidFill>
                <a:latin typeface="Calibri"/>
              </a:rPr>
              <a:t>6.</a:t>
            </a:r>
            <a:r>
              <a:rPr sz="1600" b="0" i="0">
                <a:solidFill>
                  <a:srgbClr val="2B2B2B"/>
                </a:solidFill>
                <a:latin typeface="Calibri"/>
              </a:rPr>
              <a:t> Reste: `50 − total real` = cuántas referencias reales le faltan.</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Paso a paso — auditar el conteo en Google Docs (cont.)</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7.</a:t>
            </a:r>
            <a:r>
              <a:rPr sz="1600" b="0" i="0">
                <a:solidFill>
                  <a:srgbClr val="2B2B2B"/>
                </a:solidFill>
                <a:latin typeface="Calibri"/>
              </a:rPr>
              <a:t> Con las que quedaron sin citar, decida una de dos: </a:t>
            </a:r>
            <a:r>
              <a:rPr sz="1600" b="1" i="0">
                <a:solidFill>
                  <a:srgbClr val="2B2B2B"/>
                </a:solidFill>
                <a:latin typeface="Calibri"/>
              </a:rPr>
              <a:t>cítelas de verdad</a:t>
            </a:r>
            <a:r>
              <a:rPr sz="1600" b="0" i="0">
                <a:solidFill>
                  <a:srgbClr val="2B2B2B"/>
                </a:solidFill>
                <a:latin typeface="Calibri"/>
              </a:rPr>
              <a:t> donde aporten, o </a:t>
            </a:r>
            <a:r>
              <a:rPr sz="1600" b="1" i="0">
                <a:solidFill>
                  <a:srgbClr val="2B2B2B"/>
                </a:solidFill>
                <a:latin typeface="Calibri"/>
              </a:rPr>
              <a:t>bórrelas</a:t>
            </a:r>
            <a:r>
              <a:rPr sz="1600" b="0" i="0">
                <a:solidFill>
                  <a:srgbClr val="2B2B2B"/>
                </a:solidFill>
                <a:latin typeface="Calibri"/>
              </a:rPr>
              <a:t> de la lista.</a:t>
            </a:r>
          </a:p>
          <a:p>
            <a:pPr lvl="1">
              <a:spcAft>
                <a:spcPts val="600"/>
              </a:spcAft>
            </a:pPr>
            <a:r>
              <a:rPr sz="1500" b="0" i="0">
                <a:solidFill>
                  <a:srgbClr val="2B2B2B"/>
                </a:solidFill>
                <a:latin typeface="Calibri"/>
              </a:rPr>
              <a:t>●   No las deje ahí "por si acaso": inflan el conteo y no engañan a nadie.</a:t>
            </a:r>
          </a:p>
          <a:p>
            <a:pPr>
              <a:spcAft>
                <a:spcPts val="1000"/>
              </a:spcAft>
            </a:pPr>
            <a:r>
              <a:rPr sz="1600" b="0" i="0">
                <a:solidFill>
                  <a:srgbClr val="2B2B2B"/>
                </a:solidFill>
                <a:latin typeface="Calibri"/>
              </a:rPr>
              <a:t>–   </a:t>
            </a:r>
            <a:r>
              <a:rPr sz="1600" b="1" i="0">
                <a:solidFill>
                  <a:srgbClr val="2B2B2B"/>
                </a:solidFill>
                <a:latin typeface="Calibri"/>
              </a:rPr>
              <a:t>8.</a:t>
            </a:r>
            <a:r>
              <a:rPr sz="1600" b="0" i="0">
                <a:solidFill>
                  <a:srgbClr val="2B2B2B"/>
                </a:solidFill>
                <a:latin typeface="Calibri"/>
              </a:rPr>
              <a:t> Complete lo que falte buscando </a:t>
            </a:r>
            <a:r>
              <a:rPr sz="1600" b="1" i="0">
                <a:solidFill>
                  <a:srgbClr val="2B2B2B"/>
                </a:solidFill>
                <a:latin typeface="Calibri"/>
              </a:rPr>
              <a:t>solo dentro de los constructos que su tabla marcó como pendientes</a:t>
            </a:r>
            <a:r>
              <a:rPr sz="1600" b="0" i="0">
                <a:solidFill>
                  <a:srgbClr val="2B2B2B"/>
                </a:solidFill>
                <a:latin typeface="Calibri"/>
              </a:rPr>
              <a:t>.</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Ejemplo modelado — la auditoría con números reales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Lo que el estudiante creía:</a:t>
            </a:r>
            <a:r>
              <a:rPr sz="1600" b="0" i="0">
                <a:solidFill>
                  <a:srgbClr val="2B2B2B"/>
                </a:solidFill>
                <a:latin typeface="Calibri"/>
              </a:rPr>
              <a:t> "tengo 41 referencias, me faltan 9".</a:t>
            </a:r>
          </a:p>
          <a:p>
            <a:pPr>
              <a:spcAft>
                <a:spcPts val="1000"/>
              </a:spcAft>
            </a:pPr>
            <a:r>
              <a:rPr sz="1600" b="0" i="0">
                <a:solidFill>
                  <a:srgbClr val="2B2B2B"/>
                </a:solidFill>
                <a:latin typeface="Calibri"/>
              </a:rPr>
              <a:t>–   </a:t>
            </a:r>
            <a:r>
              <a:rPr sz="1600" b="1" i="0">
                <a:solidFill>
                  <a:srgbClr val="2B2B2B"/>
                </a:solidFill>
                <a:latin typeface="Calibri"/>
              </a:rPr>
              <a:t>Lo que mostró el Ctrl+F:</a:t>
            </a:r>
            <a:r>
              <a:rPr sz="1600" b="0" i="0">
                <a:solidFill>
                  <a:srgbClr val="2B2B2B"/>
                </a:solidFill>
                <a:latin typeface="Calibri"/>
              </a:rPr>
              <a:t> solo </a:t>
            </a:r>
            <a:r>
              <a:rPr sz="1600" b="1" i="0">
                <a:solidFill>
                  <a:srgbClr val="2B2B2B"/>
                </a:solidFill>
                <a:latin typeface="Calibri"/>
              </a:rPr>
              <a:t>34</a:t>
            </a:r>
            <a:r>
              <a:rPr sz="1600" b="0" i="0">
                <a:solidFill>
                  <a:srgbClr val="2B2B2B"/>
                </a:solidFill>
                <a:latin typeface="Calibri"/>
              </a:rPr>
              <a:t> apellidos aparecen citados en el cuerpo del artículo.</a:t>
            </a:r>
          </a:p>
          <a:p>
            <a:pPr lvl="1">
              <a:spcAft>
                <a:spcPts val="600"/>
              </a:spcAft>
            </a:pPr>
            <a:r>
              <a:rPr sz="1500" b="0" i="0">
                <a:solidFill>
                  <a:srgbClr val="2B2B2B"/>
                </a:solidFill>
                <a:latin typeface="Calibri"/>
              </a:rPr>
              <a:t>●   Siete referencias estaban </a:t>
            </a:r>
            <a:r>
              <a:rPr sz="1500" b="1" i="0">
                <a:solidFill>
                  <a:srgbClr val="2B2B2B"/>
                </a:solidFill>
                <a:latin typeface="Calibri"/>
              </a:rPr>
              <a:t>de adorno</a:t>
            </a:r>
            <a:r>
              <a:rPr sz="1500" b="0" i="0">
                <a:solidFill>
                  <a:srgbClr val="2B2B2B"/>
                </a:solidFill>
                <a:latin typeface="Calibri"/>
              </a:rPr>
              <a:t>: se listaron y nunca se usaron.</a:t>
            </a:r>
          </a:p>
          <a:p>
            <a:pPr>
              <a:spcAft>
                <a:spcPts val="1000"/>
              </a:spcAft>
            </a:pPr>
            <a:r>
              <a:rPr sz="1600" b="0" i="0">
                <a:solidFill>
                  <a:srgbClr val="2B2B2B"/>
                </a:solidFill>
                <a:latin typeface="Calibri"/>
              </a:rPr>
              <a:t>–   </a:t>
            </a:r>
            <a:r>
              <a:rPr sz="1600" b="1" i="0">
                <a:solidFill>
                  <a:srgbClr val="2B2B2B"/>
                </a:solidFill>
                <a:latin typeface="Calibri"/>
              </a:rPr>
              <a:t>Cuenta real:</a:t>
            </a:r>
            <a:r>
              <a:rPr sz="1600" b="0" i="0">
                <a:solidFill>
                  <a:srgbClr val="2B2B2B"/>
                </a:solidFill>
                <a:latin typeface="Calibri"/>
              </a:rPr>
              <a:t> 50 − 34 = </a:t>
            </a:r>
            <a:r>
              <a:rPr sz="1600" b="1" i="0">
                <a:solidFill>
                  <a:srgbClr val="2B2B2B"/>
                </a:solidFill>
                <a:latin typeface="Calibri"/>
              </a:rPr>
              <a:t>16 referencias</a:t>
            </a:r>
            <a:r>
              <a:rPr sz="1600" b="0" i="0">
                <a:solidFill>
                  <a:srgbClr val="2B2B2B"/>
                </a:solidFill>
                <a:latin typeface="Calibri"/>
              </a:rPr>
              <a:t> por conseguir, no 9. Casi el doble de lo que pensaba.</a:t>
            </a:r>
          </a:p>
          <a:p>
            <a:pPr>
              <a:spcAft>
                <a:spcPts val="1000"/>
              </a:spcAft>
            </a:pPr>
            <a:r>
              <a:rPr sz="1600" b="0" i="0">
                <a:solidFill>
                  <a:srgbClr val="2B2B2B"/>
                </a:solidFill>
                <a:latin typeface="Calibri"/>
              </a:rPr>
              <a:t>–   </a:t>
            </a:r>
            <a:r>
              <a:rPr sz="1600" b="1" i="0">
                <a:solidFill>
                  <a:srgbClr val="2B2B2B"/>
                </a:solidFill>
                <a:latin typeface="Calibri"/>
              </a:rPr>
              <a:t>Decisión sobre las siete de adorno, una por una:</a:t>
            </a:r>
          </a:p>
          <a:p>
            <a:pPr lvl="1">
              <a:spcAft>
                <a:spcPts val="600"/>
              </a:spcAft>
            </a:pPr>
            <a:r>
              <a:rPr sz="1500" b="0" i="0">
                <a:solidFill>
                  <a:srgbClr val="2B2B2B"/>
                </a:solidFill>
                <a:latin typeface="Calibri"/>
              </a:rPr>
              <a:t>●   Tres sí eran pertinentes y solo faltaba usarlas → se citaron en el bloque de constructo que les correspondía.</a:t>
            </a:r>
          </a:p>
          <a:p>
            <a:pPr lvl="1">
              <a:spcAft>
                <a:spcPts val="600"/>
              </a:spcAft>
            </a:pPr>
            <a:r>
              <a:rPr sz="1500" b="0" i="0">
                <a:solidFill>
                  <a:srgbClr val="2B2B2B"/>
                </a:solidFill>
                <a:latin typeface="Calibri"/>
              </a:rPr>
              <a:t>●   Cuatro no tenían nada que ver con la pregunta → se borraron de la lista sin dolor.</a:t>
            </a:r>
          </a:p>
          <a:p>
            <a:pPr>
              <a:spcAft>
                <a:spcPts val="1000"/>
              </a:spcAft>
            </a:pPr>
            <a:r>
              <a:rPr sz="1600" b="0" i="0">
                <a:solidFill>
                  <a:srgbClr val="2B2B2B"/>
                </a:solidFill>
                <a:latin typeface="Calibri"/>
              </a:rPr>
              <a:t>–   </a:t>
            </a:r>
            <a:r>
              <a:rPr sz="1600" b="1" i="0">
                <a:solidFill>
                  <a:srgbClr val="2B2B2B"/>
                </a:solidFill>
                <a:latin typeface="Calibri"/>
              </a:rPr>
              <a:t>Conclusión del ejercicio:</a:t>
            </a:r>
            <a:r>
              <a:rPr sz="1600" b="0" i="0">
                <a:solidFill>
                  <a:srgbClr val="2B2B2B"/>
                </a:solidFill>
                <a:latin typeface="Calibri"/>
              </a:rPr>
              <a:t> el estudiante descubrió el hueco </a:t>
            </a:r>
            <a:r>
              <a:rPr sz="1600" b="1" i="0">
                <a:solidFill>
                  <a:srgbClr val="2B2B2B"/>
                </a:solidFill>
                <a:latin typeface="Calibri"/>
              </a:rPr>
              <a:t>hoy</a:t>
            </a:r>
            <a:r>
              <a:rPr sz="1600" b="0" i="0">
                <a:solidFill>
                  <a:srgbClr val="2B2B2B"/>
                </a:solidFill>
                <a:latin typeface="Calibri"/>
              </a:rPr>
              <a:t>, con tiempo para resolverlo.</a:t>
            </a:r>
          </a:p>
          <a:p>
            <a:pPr lvl="1">
              <a:spcAft>
                <a:spcPts val="600"/>
              </a:spcAft>
            </a:pPr>
            <a:r>
              <a:rPr sz="1500" b="0" i="0">
                <a:solidFill>
                  <a:srgbClr val="2B2B2B"/>
                </a:solidFill>
                <a:latin typeface="Calibri"/>
              </a:rPr>
              <a:t>●   Descubrirlo la noche anterior a la entrega es la razón número uno de los trasnochos y de las referencias inventadas.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El puente marco → discusión: para qué sirve todo esto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El marco </a:t>
            </a:r>
            <a:r>
              <a:rPr sz="1600" b="1" i="0">
                <a:solidFill>
                  <a:srgbClr val="2B2B2B"/>
                </a:solidFill>
                <a:latin typeface="Calibri"/>
              </a:rPr>
              <a:t>no termina en sí mismo</a:t>
            </a:r>
            <a:r>
              <a:rPr sz="1600" b="0" i="0">
                <a:solidFill>
                  <a:srgbClr val="2B2B2B"/>
                </a:solidFill>
                <a:latin typeface="Calibri"/>
              </a:rPr>
              <a:t>: existe para que usted tenga con quién dialogar cuando escriba la discusión.</a:t>
            </a:r>
          </a:p>
          <a:p>
            <a:pPr>
              <a:spcAft>
                <a:spcPts val="1000"/>
              </a:spcAft>
            </a:pPr>
            <a:r>
              <a:rPr sz="1600" b="0" i="0">
                <a:solidFill>
                  <a:srgbClr val="2B2B2B"/>
                </a:solidFill>
                <a:latin typeface="Calibri"/>
              </a:rPr>
              <a:t>–   Cada autor que cierra hoy es alguien a quien más adelante le va a decir una de cuatro cosas:</a:t>
            </a:r>
          </a:p>
          <a:p>
            <a:pPr lvl="1">
              <a:spcAft>
                <a:spcPts val="600"/>
              </a:spcAft>
            </a:pPr>
            <a:r>
              <a:rPr sz="1500" b="0" i="0">
                <a:solidFill>
                  <a:srgbClr val="2B2B2B"/>
                </a:solidFill>
                <a:latin typeface="Calibri"/>
              </a:rPr>
              <a:t>●   </a:t>
            </a:r>
            <a:r>
              <a:rPr sz="1500" b="1" i="0">
                <a:solidFill>
                  <a:srgbClr val="2B2B2B"/>
                </a:solidFill>
                <a:latin typeface="Calibri"/>
              </a:rPr>
              <a:t>"Mis hallazgos confirman a X"</a:t>
            </a:r>
            <a:r>
              <a:rPr sz="1500" b="0" i="0">
                <a:solidFill>
                  <a:srgbClr val="2B2B2B"/>
                </a:solidFill>
                <a:latin typeface="Calibri"/>
              </a:rPr>
              <a:t> — encontré lo mismo, en otro contexto.</a:t>
            </a:r>
          </a:p>
          <a:p>
            <a:pPr lvl="1">
              <a:spcAft>
                <a:spcPts val="600"/>
              </a:spcAft>
            </a:pPr>
            <a:r>
              <a:rPr sz="1500" b="0" i="0">
                <a:solidFill>
                  <a:srgbClr val="2B2B2B"/>
                </a:solidFill>
                <a:latin typeface="Calibri"/>
              </a:rPr>
              <a:t>●   </a:t>
            </a:r>
            <a:r>
              <a:rPr sz="1500" b="1" i="0">
                <a:solidFill>
                  <a:srgbClr val="2B2B2B"/>
                </a:solidFill>
                <a:latin typeface="Calibri"/>
              </a:rPr>
              <a:t>"Mis hallazgos contradicen a Y"</a:t>
            </a:r>
            <a:r>
              <a:rPr sz="1500" b="0" i="0">
                <a:solidFill>
                  <a:srgbClr val="2B2B2B"/>
                </a:solidFill>
                <a:latin typeface="Calibri"/>
              </a:rPr>
              <a:t> — encontré lo contrario, y explico por qué puede ser.</a:t>
            </a:r>
          </a:p>
          <a:p>
            <a:pPr lvl="1">
              <a:spcAft>
                <a:spcPts val="600"/>
              </a:spcAft>
            </a:pPr>
            <a:r>
              <a:rPr sz="1500" b="0" i="0">
                <a:solidFill>
                  <a:srgbClr val="2B2B2B"/>
                </a:solidFill>
                <a:latin typeface="Calibri"/>
              </a:rPr>
              <a:t>●   </a:t>
            </a:r>
            <a:r>
              <a:rPr sz="1500" b="1" i="0">
                <a:solidFill>
                  <a:srgbClr val="2B2B2B"/>
                </a:solidFill>
                <a:latin typeface="Calibri"/>
              </a:rPr>
              <a:t>"Mis hallazgos extienden a Z"</a:t>
            </a:r>
            <a:r>
              <a:rPr sz="1500" b="0" i="0">
                <a:solidFill>
                  <a:srgbClr val="2B2B2B"/>
                </a:solidFill>
                <a:latin typeface="Calibri"/>
              </a:rPr>
              <a:t> — llevo su idea a un escenario que él no estudió.</a:t>
            </a:r>
          </a:p>
          <a:p>
            <a:pPr lvl="1">
              <a:spcAft>
                <a:spcPts val="600"/>
              </a:spcAft>
            </a:pPr>
            <a:r>
              <a:rPr sz="1500" b="0" i="0">
                <a:solidFill>
                  <a:srgbClr val="2B2B2B"/>
                </a:solidFill>
                <a:latin typeface="Calibri"/>
              </a:rPr>
              <a:t>●   </a:t>
            </a:r>
            <a:r>
              <a:rPr sz="1500" b="1" i="0">
                <a:solidFill>
                  <a:srgbClr val="2B2B2B"/>
                </a:solidFill>
                <a:latin typeface="Calibri"/>
              </a:rPr>
              <a:t>"Sigo el método de W"</a:t>
            </a:r>
            <a:r>
              <a:rPr sz="1500" b="0" i="0">
                <a:solidFill>
                  <a:srgbClr val="2B2B2B"/>
                </a:solidFill>
                <a:latin typeface="Calibri"/>
              </a:rPr>
              <a:t> — le tomé prestada la lógica de medición, y lo digo.</a:t>
            </a:r>
          </a:p>
          <a:p>
            <a:pPr>
              <a:spcAft>
                <a:spcPts val="1000"/>
              </a:spcAft>
            </a:pPr>
            <a:r>
              <a:rPr sz="1600" b="0" i="0">
                <a:solidFill>
                  <a:srgbClr val="2B2B2B"/>
                </a:solidFill>
                <a:latin typeface="Calibri"/>
              </a:rPr>
              <a:t>–   Por eso, si un bloque de su marco </a:t>
            </a:r>
            <a:r>
              <a:rPr sz="1600" b="1" i="0">
                <a:solidFill>
                  <a:srgbClr val="2B2B2B"/>
                </a:solidFill>
                <a:latin typeface="Calibri"/>
              </a:rPr>
              <a:t>no sirve para ninguna de esas cuatro frases</a:t>
            </a:r>
            <a:r>
              <a:rPr sz="1600" b="0" i="0">
                <a:solidFill>
                  <a:srgbClr val="2B2B2B"/>
                </a:solidFill>
                <a:latin typeface="Calibri"/>
              </a:rPr>
              <a:t>, sobra: es relleno bonito.</a:t>
            </a:r>
          </a:p>
          <a:p>
            <a:pPr>
              <a:spcAft>
                <a:spcPts val="1000"/>
              </a:spcAft>
            </a:pPr>
            <a:r>
              <a:rPr sz="1600" b="0" i="0">
                <a:solidFill>
                  <a:srgbClr val="2B2B2B"/>
                </a:solidFill>
                <a:latin typeface="Calibri"/>
              </a:rPr>
              <a:t>–   Salga de esta sesión sabiendo </a:t>
            </a:r>
            <a:r>
              <a:rPr sz="1600" b="1" i="0">
                <a:solidFill>
                  <a:srgbClr val="2B2B2B"/>
                </a:solidFill>
                <a:latin typeface="Calibri"/>
              </a:rPr>
              <a:t>exactamente qué autores va a citar en la discusión</a:t>
            </a:r>
            <a:r>
              <a:rPr sz="1600" b="0" i="0">
                <a:solidFill>
                  <a:srgbClr val="2B2B2B"/>
                </a:solidFill>
                <a:latin typeface="Calibri"/>
              </a:rPr>
              <a:t> y en qué papel.</a:t>
            </a:r>
          </a:p>
          <a:p>
            <a:pPr>
              <a:spcAft>
                <a:spcPts val="1000"/>
              </a:spcAft>
            </a:pPr>
            <a:r>
              <a:rPr sz="1600" b="0" i="0">
                <a:solidFill>
                  <a:srgbClr val="2B2B2B"/>
                </a:solidFill>
                <a:latin typeface="Calibri"/>
              </a:rPr>
              <a:t>–   Consejo práctico: al lado de cada bloque del marco, escriba entre corchetes el movimiento previsto — [confirma], [contradice], [extiende], [método].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De cada constructo a un movimiento de la discusión</a:t>
            </a:r>
          </a:p>
        </p:txBody>
      </p:sp>
      <p:graphicFrame>
        <p:nvGraphicFramePr>
          <p:cNvPr id="4" name="Table 3"/>
          <p:cNvGraphicFramePr>
            <a:graphicFrameLocks noGrp="1"/>
          </p:cNvGraphicFramePr>
          <p:nvPr/>
        </p:nvGraphicFramePr>
        <p:xfrm>
          <a:off x="640080" y="1691639"/>
          <a:ext cx="10911533" cy="2514600"/>
        </p:xfrm>
        <a:graphic>
          <a:graphicData uri="http://schemas.openxmlformats.org/drawingml/2006/table">
            <a:tbl>
              <a:tblPr>
                <a:tableStyleId>{2D5ABB26-0587-4C30-8999-92F81FD0307C}</a:tableStyleId>
              </a:tblPr>
              <a:tblGrid>
                <a:gridCol w="2934194"/>
                <a:gridCol w="2017258"/>
                <a:gridCol w="1742177"/>
                <a:gridCol w="4217904"/>
              </a:tblGrid>
              <a:tr h="502920">
                <a:tc>
                  <a:txBody>
                    <a:bodyPr/>
                    <a:lstStyle/>
                    <a:p>
                      <a:pPr algn="l"/>
                      <a:r>
                        <a:rPr sz="1300" b="1" i="0">
                          <a:solidFill>
                            <a:srgbClr val="FFFFFF"/>
                          </a:solidFill>
                          <a:latin typeface="Calibri"/>
                        </a:rPr>
                        <a:t>Hallazgo propio</a:t>
                      </a:r>
                    </a:p>
                  </a:txBody>
                  <a:tcPr anchor="ctr" marL="109728" marR="91440" marT="36576" marB="36576">
                    <a:solidFill>
                      <a:srgbClr val="0C2340"/>
                    </a:solidFill>
                  </a:tcPr>
                </a:tc>
                <a:tc>
                  <a:txBody>
                    <a:bodyPr/>
                    <a:lstStyle/>
                    <a:p>
                      <a:pPr algn="l"/>
                      <a:r>
                        <a:rPr sz="1300" b="1" i="0">
                          <a:solidFill>
                            <a:srgbClr val="FFFFFF"/>
                          </a:solidFill>
                          <a:latin typeface="Calibri"/>
                        </a:rPr>
                        <a:t>Autor del marco</a:t>
                      </a:r>
                    </a:p>
                  </a:txBody>
                  <a:tcPr anchor="ctr" marL="109728" marR="91440" marT="36576" marB="36576">
                    <a:solidFill>
                      <a:srgbClr val="0C2340"/>
                    </a:solidFill>
                  </a:tcPr>
                </a:tc>
                <a:tc>
                  <a:txBody>
                    <a:bodyPr/>
                    <a:lstStyle/>
                    <a:p>
                      <a:pPr algn="l"/>
                      <a:r>
                        <a:rPr sz="1300" b="1" i="0">
                          <a:solidFill>
                            <a:srgbClr val="FFFFFF"/>
                          </a:solidFill>
                          <a:latin typeface="Calibri"/>
                        </a:rPr>
                        <a:t>Movimiento</a:t>
                      </a:r>
                    </a:p>
                  </a:txBody>
                  <a:tcPr anchor="ctr" marL="109728" marR="91440" marT="36576" marB="36576">
                    <a:solidFill>
                      <a:srgbClr val="0C2340"/>
                    </a:solidFill>
                  </a:tcPr>
                </a:tc>
                <a:tc>
                  <a:txBody>
                    <a:bodyPr/>
                    <a:lstStyle/>
                    <a:p>
                      <a:pPr algn="l"/>
                      <a:r>
                        <a:rPr sz="1300" b="1" i="0">
                          <a:solidFill>
                            <a:srgbClr val="FFFFFF"/>
                          </a:solidFill>
                          <a:latin typeface="Calibri"/>
                        </a:rPr>
                        <a:t>Frase que escribiré</a:t>
                      </a:r>
                    </a:p>
                  </a:txBody>
                  <a:tcPr anchor="ctr" marL="109728" marR="91440" marT="36576" marB="36576">
                    <a:solidFill>
                      <a:srgbClr val="0C2340"/>
                    </a:solidFill>
                  </a:tcPr>
                </a:tc>
              </a:tr>
              <a:tr h="502920">
                <a:tc>
                  <a:txBody>
                    <a:bodyPr/>
                    <a:lstStyle/>
                    <a:p>
                      <a:pPr algn="l"/>
                      <a:r>
                        <a:rPr sz="1200" b="0" i="0">
                          <a:solidFill>
                            <a:srgbClr val="2B2B2B"/>
                          </a:solidFill>
                          <a:latin typeface="Calibri"/>
                        </a:rPr>
                        <a:t>Despliegue de 42 min, doble del objetivo</a:t>
                      </a:r>
                    </a:p>
                  </a:txBody>
                  <a:tcPr anchor="ctr" marL="109728" marR="91440" marT="36576" marB="36576">
                    <a:solidFill>
                      <a:srgbClr val="FFFFFF"/>
                    </a:solidFill>
                  </a:tcPr>
                </a:tc>
                <a:tc>
                  <a:txBody>
                    <a:bodyPr/>
                    <a:lstStyle/>
                    <a:p>
                      <a:pPr algn="l"/>
                      <a:r>
                        <a:rPr sz="1200" b="0" i="0">
                          <a:solidFill>
                            <a:srgbClr val="2B2B2B"/>
                          </a:solidFill>
                          <a:latin typeface="Calibri"/>
                        </a:rPr>
                        <a:t>Ramírez (2022)</a:t>
                      </a:r>
                    </a:p>
                  </a:txBody>
                  <a:tcPr anchor="ctr" marL="109728" marR="91440" marT="36576" marB="36576">
                    <a:solidFill>
                      <a:srgbClr val="FFFFFF"/>
                    </a:solidFill>
                  </a:tcPr>
                </a:tc>
                <a:tc>
                  <a:txBody>
                    <a:bodyPr/>
                    <a:lstStyle/>
                    <a:p>
                      <a:pPr algn="l"/>
                      <a:r>
                        <a:rPr sz="1200" b="1" i="0">
                          <a:solidFill>
                            <a:srgbClr val="2B2B2B"/>
                          </a:solidFill>
                          <a:latin typeface="Calibri"/>
                        </a:rPr>
                        <a:t>Confirma</a:t>
                      </a:r>
                    </a:p>
                  </a:txBody>
                  <a:tcPr anchor="ctr" marL="109728" marR="91440" marT="36576" marB="36576">
                    <a:solidFill>
                      <a:srgbClr val="FFFFFF"/>
                    </a:solidFill>
                  </a:tcPr>
                </a:tc>
                <a:tc>
                  <a:txBody>
                    <a:bodyPr/>
                    <a:lstStyle/>
                    <a:p>
                      <a:pPr algn="l"/>
                      <a:r>
                        <a:rPr sz="1200" b="0" i="0">
                          <a:solidFill>
                            <a:srgbClr val="2B2B2B"/>
                          </a:solidFill>
                          <a:latin typeface="Calibri"/>
                        </a:rPr>
                        <a:t>"Coincide con lo reportado por Ramírez (2022) en equipos ágiles"</a:t>
                      </a:r>
                    </a:p>
                  </a:txBody>
                  <a:tcPr anchor="ctr" marL="109728" marR="91440" marT="36576" marB="36576">
                    <a:solidFill>
                      <a:srgbClr val="FFFFFF"/>
                    </a:solidFill>
                  </a:tcPr>
                </a:tc>
              </a:tr>
              <a:tr h="502920">
                <a:tc>
                  <a:txBody>
                    <a:bodyPr/>
                    <a:lstStyle/>
                    <a:p>
                      <a:pPr algn="l"/>
                      <a:r>
                        <a:rPr sz="1200" b="0" i="0">
                          <a:solidFill>
                            <a:srgbClr val="2B2B2B"/>
                          </a:solidFill>
                          <a:latin typeface="Calibri"/>
                        </a:rPr>
                        <a:t>El ahorro se mantuvo tras 8 semanas</a:t>
                      </a:r>
                    </a:p>
                  </a:txBody>
                  <a:tcPr anchor="ctr" marL="109728" marR="91440" marT="36576" marB="36576">
                    <a:solidFill>
                      <a:srgbClr val="F2F2F2"/>
                    </a:solidFill>
                  </a:tcPr>
                </a:tc>
                <a:tc>
                  <a:txBody>
                    <a:bodyPr/>
                    <a:lstStyle/>
                    <a:p>
                      <a:pPr algn="l"/>
                      <a:r>
                        <a:rPr sz="1200" b="0" i="0">
                          <a:solidFill>
                            <a:srgbClr val="2B2B2B"/>
                          </a:solidFill>
                          <a:latin typeface="Calibri"/>
                        </a:rPr>
                        <a:t>Gómez (2023)</a:t>
                      </a:r>
                    </a:p>
                  </a:txBody>
                  <a:tcPr anchor="ctr" marL="109728" marR="91440" marT="36576" marB="36576">
                    <a:solidFill>
                      <a:srgbClr val="F2F2F2"/>
                    </a:solidFill>
                  </a:tcPr>
                </a:tc>
                <a:tc>
                  <a:txBody>
                    <a:bodyPr/>
                    <a:lstStyle/>
                    <a:p>
                      <a:pPr algn="l"/>
                      <a:r>
                        <a:rPr sz="1200" b="1" i="0">
                          <a:solidFill>
                            <a:srgbClr val="2B2B2B"/>
                          </a:solidFill>
                          <a:latin typeface="Calibri"/>
                        </a:rPr>
                        <a:t>Contradice</a:t>
                      </a:r>
                    </a:p>
                  </a:txBody>
                  <a:tcPr anchor="ctr" marL="109728" marR="91440" marT="36576" marB="36576">
                    <a:solidFill>
                      <a:srgbClr val="F2F2F2"/>
                    </a:solidFill>
                  </a:tcPr>
                </a:tc>
                <a:tc>
                  <a:txBody>
                    <a:bodyPr/>
                    <a:lstStyle/>
                    <a:p>
                      <a:pPr algn="l"/>
                      <a:r>
                        <a:rPr sz="1200" b="0" i="0">
                          <a:solidFill>
                            <a:srgbClr val="2B2B2B"/>
                          </a:solidFill>
                          <a:latin typeface="Calibri"/>
                        </a:rPr>
                        <a:t>"A diferencia de Gómez (2023), el costo de mantenimiento no anuló el ahorro"</a:t>
                      </a:r>
                    </a:p>
                  </a:txBody>
                  <a:tcPr anchor="ctr" marL="109728" marR="91440" marT="36576" marB="36576">
                    <a:solidFill>
                      <a:srgbClr val="F2F2F2"/>
                    </a:solidFill>
                  </a:tcPr>
                </a:tc>
              </a:tr>
              <a:tr h="502920">
                <a:tc>
                  <a:txBody>
                    <a:bodyPr/>
                    <a:lstStyle/>
                    <a:p>
                      <a:pPr algn="l"/>
                      <a:r>
                        <a:rPr sz="1200" b="0" i="0">
                          <a:solidFill>
                            <a:srgbClr val="2B2B2B"/>
                          </a:solidFill>
                          <a:latin typeface="Calibri"/>
                        </a:rPr>
                        <a:t>Efecto mayor en un equipo de 4 personas</a:t>
                      </a:r>
                    </a:p>
                  </a:txBody>
                  <a:tcPr anchor="ctr" marL="109728" marR="91440" marT="36576" marB="36576">
                    <a:solidFill>
                      <a:srgbClr val="FFFFFF"/>
                    </a:solidFill>
                  </a:tcPr>
                </a:tc>
                <a:tc>
                  <a:txBody>
                    <a:bodyPr/>
                    <a:lstStyle/>
                    <a:p>
                      <a:pPr algn="l"/>
                      <a:r>
                        <a:rPr sz="1200" b="0" i="0">
                          <a:solidFill>
                            <a:srgbClr val="2B2B2B"/>
                          </a:solidFill>
                          <a:latin typeface="Calibri"/>
                        </a:rPr>
                        <a:t>Torres (2024)</a:t>
                      </a:r>
                    </a:p>
                  </a:txBody>
                  <a:tcPr anchor="ctr" marL="109728" marR="91440" marT="36576" marB="36576">
                    <a:solidFill>
                      <a:srgbClr val="FFFFFF"/>
                    </a:solidFill>
                  </a:tcPr>
                </a:tc>
                <a:tc>
                  <a:txBody>
                    <a:bodyPr/>
                    <a:lstStyle/>
                    <a:p>
                      <a:pPr algn="l"/>
                      <a:r>
                        <a:rPr sz="1200" b="1" i="0">
                          <a:solidFill>
                            <a:srgbClr val="2B2B2B"/>
                          </a:solidFill>
                          <a:latin typeface="Calibri"/>
                        </a:rPr>
                        <a:t>Extiende</a:t>
                      </a:r>
                    </a:p>
                  </a:txBody>
                  <a:tcPr anchor="ctr" marL="109728" marR="91440" marT="36576" marB="36576">
                    <a:solidFill>
                      <a:srgbClr val="FFFFFF"/>
                    </a:solidFill>
                  </a:tcPr>
                </a:tc>
                <a:tc>
                  <a:txBody>
                    <a:bodyPr/>
                    <a:lstStyle/>
                    <a:p>
                      <a:pPr algn="l"/>
                      <a:r>
                        <a:rPr sz="1200" b="0" i="0">
                          <a:solidFill>
                            <a:srgbClr val="2B2B2B"/>
                          </a:solidFill>
                          <a:latin typeface="Calibri"/>
                        </a:rPr>
                        <a:t>"Extiende el hallazgo de Torres (2024) a equipos aún más pequeños"</a:t>
                      </a:r>
                    </a:p>
                  </a:txBody>
                  <a:tcPr anchor="ctr" marL="109728" marR="91440" marT="36576" marB="36576">
                    <a:solidFill>
                      <a:srgbClr val="FFFFFF"/>
                    </a:solidFill>
                  </a:tcPr>
                </a:tc>
              </a:tr>
              <a:tr h="502920">
                <a:tc>
                  <a:txBody>
                    <a:bodyPr/>
                    <a:lstStyle/>
                    <a:p>
                      <a:pPr algn="l"/>
                      <a:r>
                        <a:rPr sz="1200" b="0" i="0">
                          <a:solidFill>
                            <a:srgbClr val="2B2B2B"/>
                          </a:solidFill>
                          <a:latin typeface="Calibri"/>
                        </a:rPr>
                        <a:t>Bitácora de despliegues por 8 semanas</a:t>
                      </a:r>
                    </a:p>
                  </a:txBody>
                  <a:tcPr anchor="ctr" marL="109728" marR="91440" marT="36576" marB="36576">
                    <a:solidFill>
                      <a:srgbClr val="F2F2F2"/>
                    </a:solidFill>
                  </a:tcPr>
                </a:tc>
                <a:tc>
                  <a:txBody>
                    <a:bodyPr/>
                    <a:lstStyle/>
                    <a:p>
                      <a:pPr algn="l"/>
                      <a:r>
                        <a:rPr sz="1200" b="0" i="0">
                          <a:solidFill>
                            <a:srgbClr val="2B2B2B"/>
                          </a:solidFill>
                          <a:latin typeface="Calibri"/>
                        </a:rPr>
                        <a:t>Pérez (2021)</a:t>
                      </a:r>
                    </a:p>
                  </a:txBody>
                  <a:tcPr anchor="ctr" marL="109728" marR="91440" marT="36576" marB="36576">
                    <a:solidFill>
                      <a:srgbClr val="F2F2F2"/>
                    </a:solidFill>
                  </a:tcPr>
                </a:tc>
                <a:tc>
                  <a:txBody>
                    <a:bodyPr/>
                    <a:lstStyle/>
                    <a:p>
                      <a:pPr algn="l"/>
                      <a:r>
                        <a:rPr sz="1200" b="1" i="0">
                          <a:solidFill>
                            <a:srgbClr val="2B2B2B"/>
                          </a:solidFill>
                          <a:latin typeface="Calibri"/>
                        </a:rPr>
                        <a:t>Método</a:t>
                      </a:r>
                    </a:p>
                  </a:txBody>
                  <a:tcPr anchor="ctr" marL="109728" marR="91440" marT="36576" marB="36576">
                    <a:solidFill>
                      <a:srgbClr val="F2F2F2"/>
                    </a:solidFill>
                  </a:tcPr>
                </a:tc>
                <a:tc>
                  <a:txBody>
                    <a:bodyPr/>
                    <a:lstStyle/>
                    <a:p>
                      <a:pPr algn="l"/>
                      <a:r>
                        <a:rPr sz="1200" b="0" i="0">
                          <a:solidFill>
                            <a:srgbClr val="2B2B2B"/>
                          </a:solidFill>
                          <a:latin typeface="Calibri"/>
                        </a:rPr>
                        <a:t>"Se siguió la lógica de registro propuesta por Pérez (2021)"</a:t>
                      </a:r>
                    </a:p>
                  </a:txBody>
                  <a:tcPr anchor="ctr" marL="109728" marR="91440" marT="36576" marB="36576">
                    <a:solidFill>
                      <a:srgbClr val="F2F2F2"/>
                    </a:solidFill>
                  </a:tcPr>
                </a:tc>
              </a:tr>
            </a:tbl>
          </a:graphicData>
        </a:graphic>
      </p:graphicFrame>
      <p:sp>
        <p:nvSpPr>
          <p:cNvPr id="5" name="TextBox 4"/>
          <p:cNvSpPr txBox="1"/>
          <p:nvPr/>
        </p:nvSpPr>
        <p:spPr>
          <a:xfrm>
            <a:off x="640080" y="4343400"/>
            <a:ext cx="10911535" cy="548640"/>
          </a:xfrm>
          <a:prstGeom prst="rect">
            <a:avLst/>
          </a:prstGeom>
          <a:noFill/>
        </p:spPr>
        <p:txBody>
          <a:bodyPr wrap="square" anchor="t" lIns="0" rIns="0" tIns="0" bIns="0">
            <a:spAutoFit/>
          </a:bodyPr>
          <a:lstStyle/>
          <a:p>
            <a:r>
              <a:rPr sz="1200" b="0" i="1">
                <a:solidFill>
                  <a:srgbClr val="2B2B2B"/>
                </a:solidFill>
                <a:latin typeface="Calibri"/>
              </a:rPr>
              <a:t>Esta tabla es literalmente el </a:t>
            </a:r>
            <a:r>
              <a:rPr sz="1200" b="1" i="1">
                <a:solidFill>
                  <a:srgbClr val="2B2B2B"/>
                </a:solidFill>
                <a:latin typeface="Calibri"/>
              </a:rPr>
              <a:t>borrador de su discusión</a:t>
            </a:r>
            <a:r>
              <a:rPr sz="1200" b="0" i="1">
                <a:solidFill>
                  <a:srgbClr val="2B2B2B"/>
                </a:solidFill>
                <a:latin typeface="Calibri"/>
              </a:rPr>
              <a:t>. Cada fila se convierte en un párrafo cuando llegue esa sección.</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Errores frecuentes de esta sesión</a:t>
            </a:r>
          </a:p>
        </p:txBody>
      </p:sp>
      <p:sp>
        <p:nvSpPr>
          <p:cNvPr id="4" name="Rounded Rectangle 3"/>
          <p:cNvSpPr/>
          <p:nvPr/>
        </p:nvSpPr>
        <p:spPr>
          <a:xfrm>
            <a:off x="640080" y="1737360"/>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"Sigo agregando teoría, nunca siento que es suficiente." — Aplique saturación: pare cuando las fuentes solo repitan. El marco es suficiente y usable, no infinito.</a:t>
            </a:r>
          </a:p>
        </p:txBody>
      </p:sp>
      <p:sp>
        <p:nvSpPr>
          <p:cNvPr id="6" name="Rounded Rectangle 5"/>
          <p:cNvSpPr/>
          <p:nvPr/>
        </p:nvSpPr>
        <p:spPr>
          <a:xfrm>
            <a:off x="640080" y="2935224"/>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"Organizo el marco autor por autor." — Reorganícelo por constructos: los autores entran debajo del concepto que sostienen, no al revés.</a:t>
            </a:r>
          </a:p>
        </p:txBody>
      </p:sp>
      <p:sp>
        <p:nvSpPr>
          <p:cNvPr id="8" name="Rounded Rectangle 7"/>
          <p:cNvSpPr/>
          <p:nvPr/>
        </p:nvSpPr>
        <p:spPr>
          <a:xfrm>
            <a:off x="640080" y="4133087"/>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"Tengo 50 referencias en la lista." — ¿Cuántas están </a:t>
            </a:r>
            <a:r>
              <a:rPr sz="1300" b="1" i="0">
                <a:solidFill>
                  <a:srgbClr val="2B2B2B"/>
                </a:solidFill>
                <a:latin typeface="Calibri"/>
              </a:rPr>
              <a:t>citadas en el cuerpo</a:t>
            </a:r>
            <a:r>
              <a:rPr sz="1300" b="0" i="0">
                <a:solidFill>
                  <a:srgbClr val="2B2B2B"/>
                </a:solidFill>
                <a:latin typeface="Calibri"/>
              </a:rPr>
              <a:t>? Las que solo están listadas no cuentan y le alertan al jurado que la lista se infló.</a:t>
            </a:r>
          </a:p>
        </p:txBody>
      </p:sp>
      <p:sp>
        <p:nvSpPr>
          <p:cNvPr id="10" name="TextBox 9"/>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Errores frecuentes de esta sesión (cont.)</a:t>
            </a:r>
          </a:p>
        </p:txBody>
      </p:sp>
      <p:sp>
        <p:nvSpPr>
          <p:cNvPr id="4" name="Rounded Rectangle 3"/>
          <p:cNvSpPr/>
          <p:nvPr/>
        </p:nvSpPr>
        <p:spPr>
          <a:xfrm>
            <a:off x="640080" y="1737360"/>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"El marco no tiene nada que ver con lo que voy a discutir." — Entonces sobra. Cada autor del marco debe ser alguien con quien luego dialogue.</a:t>
            </a:r>
          </a:p>
        </p:txBody>
      </p:sp>
      <p:sp>
        <p:nvSpPr>
          <p:cNvPr id="6" name="Rounded Rectangle 5"/>
          <p:cNvSpPr/>
          <p:nvPr/>
        </p:nvSpPr>
        <p:spPr>
          <a:xfrm>
            <a:off x="640080" y="2935224"/>
            <a:ext cx="10911535" cy="969264"/>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 Aclaración</a:t>
            </a:r>
          </a:p>
          <a:p>
            <a:pPr>
              <a:spcBef>
                <a:spcPts val="400"/>
              </a:spcBef>
            </a:pPr>
            <a:r>
              <a:rPr sz="1300" b="0" i="0">
                <a:solidFill>
                  <a:srgbClr val="2B2B2B"/>
                </a:solidFill>
                <a:latin typeface="Calibri"/>
              </a:rPr>
              <a:t>"¿Puedo citar el mismo autor varias veces?" — Claro, y es buena señal: significa que esa fuente es central. Lo que no puede es contarla como varias referencias distintas.</a:t>
            </a:r>
          </a:p>
        </p:txBody>
      </p:sp>
      <p:sp>
        <p:nvSpPr>
          <p:cNvPr id="8" name="TextBox 7"/>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TALLER — Cierre del marco y auditoría de referencias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Tiempo: 20 minutos.</a:t>
            </a:r>
            <a:r>
              <a:rPr sz="1600" b="0" i="0">
                <a:solidFill>
                  <a:srgbClr val="2B2B2B"/>
                </a:solidFill>
                <a:latin typeface="Calibri"/>
              </a:rPr>
              <a:t> Trabajo individual. Entregable: `S08_MarcoCierre_Apellido`.</a:t>
            </a:r>
          </a:p>
          <a:p>
            <a:pPr>
              <a:spcAft>
                <a:spcPts val="1000"/>
              </a:spcAft>
            </a:pPr>
            <a:r>
              <a:rPr sz="1600" b="0" i="0">
                <a:solidFill>
                  <a:srgbClr val="2B2B2B"/>
                </a:solidFill>
                <a:latin typeface="Calibri"/>
              </a:rPr>
              <a:t>–   </a:t>
            </a:r>
            <a:r>
              <a:rPr sz="1600" b="1" i="0">
                <a:solidFill>
                  <a:srgbClr val="2B2B2B"/>
                </a:solidFill>
                <a:latin typeface="Calibri"/>
              </a:rPr>
              <a:t>Consigna literal:</a:t>
            </a:r>
          </a:p>
          <a:p>
            <a:pPr lvl="1">
              <a:spcAft>
                <a:spcPts val="600"/>
              </a:spcAft>
            </a:pPr>
            <a:r>
              <a:rPr sz="1500" b="0" i="0">
                <a:solidFill>
                  <a:srgbClr val="2B2B2B"/>
                </a:solidFill>
                <a:latin typeface="Calibri"/>
              </a:rPr>
              <a:t>●   </a:t>
            </a:r>
            <a:r>
              <a:rPr sz="1500" b="1" i="0">
                <a:solidFill>
                  <a:srgbClr val="2B2B2B"/>
                </a:solidFill>
                <a:latin typeface="Calibri"/>
              </a:rPr>
              <a:t>(1)</a:t>
            </a:r>
            <a:r>
              <a:rPr sz="1500" b="0" i="0">
                <a:solidFill>
                  <a:srgbClr val="2B2B2B"/>
                </a:solidFill>
                <a:latin typeface="Calibri"/>
              </a:rPr>
              <a:t> Reorganice su marco </a:t>
            </a:r>
            <a:r>
              <a:rPr sz="1500" b="1" i="0">
                <a:solidFill>
                  <a:srgbClr val="2B2B2B"/>
                </a:solidFill>
                <a:latin typeface="Calibri"/>
              </a:rPr>
              <a:t>por constructos</a:t>
            </a:r>
            <a:r>
              <a:rPr sz="1500" b="0" i="0">
                <a:solidFill>
                  <a:srgbClr val="2B2B2B"/>
                </a:solidFill>
                <a:latin typeface="Calibri"/>
              </a:rPr>
              <a:t> —mínimo 2, máximo 3— y verifique que bajo cada uno haya definición, tipos y forma de medición.</a:t>
            </a:r>
          </a:p>
          <a:p>
            <a:pPr lvl="1">
              <a:spcAft>
                <a:spcPts val="600"/>
              </a:spcAft>
            </a:pPr>
            <a:r>
              <a:rPr sz="1500" b="0" i="0">
                <a:solidFill>
                  <a:srgbClr val="2B2B2B"/>
                </a:solidFill>
                <a:latin typeface="Calibri"/>
              </a:rPr>
              <a:t>●   </a:t>
            </a:r>
            <a:r>
              <a:rPr sz="1500" b="1" i="0">
                <a:solidFill>
                  <a:srgbClr val="2B2B2B"/>
                </a:solidFill>
                <a:latin typeface="Calibri"/>
              </a:rPr>
              <a:t>(2)</a:t>
            </a:r>
            <a:r>
              <a:rPr sz="1500" b="0" i="0">
                <a:solidFill>
                  <a:srgbClr val="2B2B2B"/>
                </a:solidFill>
                <a:latin typeface="Calibri"/>
              </a:rPr>
              <a:t> Arme su </a:t>
            </a:r>
            <a:r>
              <a:rPr sz="1500" b="1" i="0">
                <a:solidFill>
                  <a:srgbClr val="2B2B2B"/>
                </a:solidFill>
                <a:latin typeface="Calibri"/>
              </a:rPr>
              <a:t>tabla de constructos</a:t>
            </a:r>
            <a:r>
              <a:rPr sz="1500" b="0" i="0">
                <a:solidFill>
                  <a:srgbClr val="2B2B2B"/>
                </a:solidFill>
                <a:latin typeface="Calibri"/>
              </a:rPr>
              <a:t> con la columna de estado: cerrado o qué le falta.</a:t>
            </a:r>
          </a:p>
          <a:p>
            <a:pPr lvl="1">
              <a:spcAft>
                <a:spcPts val="600"/>
              </a:spcAft>
            </a:pPr>
            <a:r>
              <a:rPr sz="1500" b="0" i="0">
                <a:solidFill>
                  <a:srgbClr val="2B2B2B"/>
                </a:solidFill>
                <a:latin typeface="Calibri"/>
              </a:rPr>
              <a:t>●   </a:t>
            </a:r>
            <a:r>
              <a:rPr sz="1500" b="1" i="0">
                <a:solidFill>
                  <a:srgbClr val="2B2B2B"/>
                </a:solidFill>
                <a:latin typeface="Calibri"/>
              </a:rPr>
              <a:t>(3)</a:t>
            </a:r>
            <a:r>
              <a:rPr sz="1500" b="0" i="0">
                <a:solidFill>
                  <a:srgbClr val="2B2B2B"/>
                </a:solidFill>
                <a:latin typeface="Calibri"/>
              </a:rPr>
              <a:t> Audite el conteo con </a:t>
            </a:r>
            <a:r>
              <a:rPr sz="1500" b="1" i="0">
                <a:solidFill>
                  <a:srgbClr val="2B2B2B"/>
                </a:solidFill>
                <a:latin typeface="Calibri"/>
              </a:rPr>
              <a:t>Ctrl+F</a:t>
            </a:r>
            <a:r>
              <a:rPr sz="1500" b="0" i="0">
                <a:solidFill>
                  <a:srgbClr val="2B2B2B"/>
                </a:solidFill>
                <a:latin typeface="Calibri"/>
              </a:rPr>
              <a:t>: escriba cuántas referencias tiene </a:t>
            </a:r>
            <a:r>
              <a:rPr sz="1500" b="1" i="0">
                <a:solidFill>
                  <a:srgbClr val="2B2B2B"/>
                </a:solidFill>
                <a:latin typeface="Calibri"/>
              </a:rPr>
              <a:t>listadas</a:t>
            </a:r>
            <a:r>
              <a:rPr sz="1500" b="0" i="0">
                <a:solidFill>
                  <a:srgbClr val="2B2B2B"/>
                </a:solidFill>
                <a:latin typeface="Calibri"/>
              </a:rPr>
              <a:t>, cuántas están </a:t>
            </a:r>
            <a:r>
              <a:rPr sz="1500" b="1" i="0">
                <a:solidFill>
                  <a:srgbClr val="2B2B2B"/>
                </a:solidFill>
                <a:latin typeface="Calibri"/>
              </a:rPr>
              <a:t>citadas en el cuerpo</a:t>
            </a:r>
            <a:r>
              <a:rPr sz="1500" b="0" i="0">
                <a:solidFill>
                  <a:srgbClr val="2B2B2B"/>
                </a:solidFill>
                <a:latin typeface="Calibri"/>
              </a:rPr>
              <a:t> y cuántas le faltan para 50.</a:t>
            </a:r>
          </a:p>
          <a:p>
            <a:pPr lvl="1">
              <a:spcAft>
                <a:spcPts val="600"/>
              </a:spcAft>
            </a:pPr>
            <a:r>
              <a:rPr sz="1500" b="0" i="0">
                <a:solidFill>
                  <a:srgbClr val="2B2B2B"/>
                </a:solidFill>
                <a:latin typeface="Calibri"/>
              </a:rPr>
              <a:t>●   </a:t>
            </a:r>
            <a:r>
              <a:rPr sz="1500" b="1" i="0">
                <a:solidFill>
                  <a:srgbClr val="2B2B2B"/>
                </a:solidFill>
                <a:latin typeface="Calibri"/>
              </a:rPr>
              <a:t>(4)</a:t>
            </a:r>
            <a:r>
              <a:rPr sz="1500" b="0" i="0">
                <a:solidFill>
                  <a:srgbClr val="2B2B2B"/>
                </a:solidFill>
                <a:latin typeface="Calibri"/>
              </a:rPr>
              <a:t> Haga la </a:t>
            </a:r>
            <a:r>
              <a:rPr sz="1500" b="1" i="0">
                <a:solidFill>
                  <a:srgbClr val="2B2B2B"/>
                </a:solidFill>
                <a:latin typeface="Calibri"/>
              </a:rPr>
              <a:t>lista de huecos</a:t>
            </a:r>
            <a:r>
              <a:rPr sz="1500" b="0" i="0">
                <a:solidFill>
                  <a:srgbClr val="2B2B2B"/>
                </a:solidFill>
                <a:latin typeface="Calibri"/>
              </a:rPr>
              <a:t>: cuáles resolvió hoy y cuáles quedan para trabajo autónomo, con fecha propia de cumplimiento.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TALLER — Cierre del marco y auditoría de referencias (cont.)</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Criterio de éxito (así se verifica):</a:t>
            </a:r>
          </a:p>
          <a:p>
            <a:pPr lvl="1">
              <a:spcAft>
                <a:spcPts val="600"/>
              </a:spcAft>
            </a:pPr>
            <a:r>
              <a:rPr sz="1500" b="0" i="0">
                <a:solidFill>
                  <a:srgbClr val="2B2B2B"/>
                </a:solidFill>
                <a:latin typeface="Calibri"/>
              </a:rPr>
              <a:t>●   El marco </a:t>
            </a:r>
            <a:r>
              <a:rPr sz="1500" b="1" i="0">
                <a:solidFill>
                  <a:srgbClr val="2B2B2B"/>
                </a:solidFill>
                <a:latin typeface="Calibri"/>
              </a:rPr>
              <a:t>se lee como argumento por constructos</a:t>
            </a:r>
            <a:r>
              <a:rPr sz="1500" b="0" i="0">
                <a:solidFill>
                  <a:srgbClr val="2B2B2B"/>
                </a:solidFill>
                <a:latin typeface="Calibri"/>
              </a:rPr>
              <a:t>, no como lista de resúmenes por autor.</a:t>
            </a:r>
          </a:p>
          <a:p>
            <a:pPr lvl="1">
              <a:spcAft>
                <a:spcPts val="600"/>
              </a:spcAft>
            </a:pPr>
            <a:r>
              <a:rPr sz="1500" b="0" i="0">
                <a:solidFill>
                  <a:srgbClr val="2B2B2B"/>
                </a:solidFill>
                <a:latin typeface="Calibri"/>
              </a:rPr>
              <a:t>●   El conteo de referencias citadas es </a:t>
            </a:r>
            <a:r>
              <a:rPr sz="1500" b="1" i="0">
                <a:solidFill>
                  <a:srgbClr val="2B2B2B"/>
                </a:solidFill>
                <a:latin typeface="Calibri"/>
              </a:rPr>
              <a:t>real, no inflado</a:t>
            </a:r>
            <a:r>
              <a:rPr sz="1500" b="0" i="0">
                <a:solidFill>
                  <a:srgbClr val="2B2B2B"/>
                </a:solidFill>
                <a:latin typeface="Calibri"/>
              </a:rPr>
              <a:t>: usted puede mostrar dónde se cita cada una.</a:t>
            </a:r>
          </a:p>
          <a:p>
            <a:pPr lvl="1">
              <a:spcAft>
                <a:spcPts val="600"/>
              </a:spcAft>
            </a:pPr>
            <a:r>
              <a:rPr sz="1500" b="0" i="0">
                <a:solidFill>
                  <a:srgbClr val="2B2B2B"/>
                </a:solidFill>
                <a:latin typeface="Calibri"/>
              </a:rPr>
              <a:t>●   Cada bloque del marco tiene anotado su movimiento previsto para la discusión.</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20</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Mientras trabajan, </a:t>
            </a:r>
            <a:r>
              <a:rPr sz="1200" b="1" i="1">
                <a:solidFill>
                  <a:srgbClr val="2B2B2B"/>
                </a:solidFill>
                <a:latin typeface="Calibri"/>
              </a:rPr>
              <a:t>el Docente</a:t>
            </a:r>
            <a:r>
              <a:rPr sz="1200" b="0" i="1">
                <a:solidFill>
                  <a:srgbClr val="2B2B2B"/>
                </a:solidFill>
                <a:latin typeface="Calibri"/>
              </a:rPr>
              <a:t> revisa dos cosas: que ningún párrafo empiece con un apellido y que el conteo sea el del Ctrl+F, no el de la lista.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Checklist de autoevaluación antes de subir a CDigital</a:t>
            </a:r>
          </a:p>
        </p:txBody>
      </p:sp>
      <p:sp>
        <p:nvSpPr>
          <p:cNvPr id="4" name="Rounded Rectangle 3"/>
          <p:cNvSpPr/>
          <p:nvPr/>
        </p:nvSpPr>
        <p:spPr>
          <a:xfrm>
            <a:off x="640080" y="1737360"/>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1" i="0">
                <a:solidFill>
                  <a:srgbClr val="2B2B2B"/>
                </a:solidFill>
                <a:latin typeface="Calibri"/>
              </a:rPr>
              <a:t>Constructos:</a:t>
            </a:r>
            <a:r>
              <a:rPr sz="1300" b="0" i="0">
                <a:solidFill>
                  <a:srgbClr val="2B2B2B"/>
                </a:solidFill>
                <a:latin typeface="Calibri"/>
              </a:rPr>
              <a:t> ¿los saqué de mi propia pregunta? ¿son 2 o 3, no cinco? ¿bajo cada uno hay definición, tipos y forma de medición?</a:t>
            </a:r>
          </a:p>
        </p:txBody>
      </p:sp>
      <p:sp>
        <p:nvSpPr>
          <p:cNvPr id="6" name="Rounded Rectangle 5"/>
          <p:cNvSpPr/>
          <p:nvPr/>
        </p:nvSpPr>
        <p:spPr>
          <a:xfrm>
            <a:off x="640080" y="2935224"/>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1" i="0">
                <a:solidFill>
                  <a:srgbClr val="2B2B2B"/>
                </a:solidFill>
                <a:latin typeface="Calibri"/>
              </a:rPr>
              <a:t>Argumento:</a:t>
            </a:r>
            <a:r>
              <a:rPr sz="1300" b="0" i="0">
                <a:solidFill>
                  <a:srgbClr val="2B2B2B"/>
                </a:solidFill>
                <a:latin typeface="Calibri"/>
              </a:rPr>
              <a:t> ¿algún párrafo de mi marco empieza con el apellido de un autor? Si sí, todavía tengo marco de autores; reescríbalo.</a:t>
            </a:r>
          </a:p>
        </p:txBody>
      </p:sp>
      <p:sp>
        <p:nvSpPr>
          <p:cNvPr id="8" name="Rounded Rectangle 7"/>
          <p:cNvSpPr/>
          <p:nvPr/>
        </p:nvSpPr>
        <p:spPr>
          <a:xfrm>
            <a:off x="640080" y="4133087"/>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1" i="0">
                <a:solidFill>
                  <a:srgbClr val="2B2B2B"/>
                </a:solidFill>
                <a:latin typeface="Calibri"/>
              </a:rPr>
              <a:t>Conteo real:</a:t>
            </a:r>
            <a:r>
              <a:rPr sz="1300" b="0" i="0">
                <a:solidFill>
                  <a:srgbClr val="2B2B2B"/>
                </a:solidFill>
                <a:latin typeface="Calibri"/>
              </a:rPr>
              <a:t> ¿hice el Ctrl+F referencia por referencia? ¿anoté el total listado, el total citado y la diferencia frente a 50?</a:t>
            </a:r>
          </a:p>
        </p:txBody>
      </p:sp>
      <p:sp>
        <p:nvSpPr>
          <p:cNvPr id="10" name="TextBox 9"/>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Checklist de autoevaluación antes de subir a CDigital (cont.)</a:t>
            </a:r>
          </a:p>
        </p:txBody>
      </p:sp>
      <p:sp>
        <p:nvSpPr>
          <p:cNvPr id="4" name="Rounded Rectangle 3"/>
          <p:cNvSpPr/>
          <p:nvPr/>
        </p:nvSpPr>
        <p:spPr>
          <a:xfrm>
            <a:off x="640080" y="1737360"/>
            <a:ext cx="10911535" cy="969264"/>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 Aclaración</a:t>
            </a:r>
          </a:p>
          <a:p>
            <a:pPr>
              <a:spcBef>
                <a:spcPts val="400"/>
              </a:spcBef>
            </a:pPr>
            <a:r>
              <a:rPr sz="1300" b="1" i="0">
                <a:solidFill>
                  <a:srgbClr val="2B2B2B"/>
                </a:solidFill>
                <a:latin typeface="Calibri"/>
              </a:rPr>
              <a:t>Limpieza:</a:t>
            </a:r>
            <a:r>
              <a:rPr sz="1300" b="0" i="0">
                <a:solidFill>
                  <a:srgbClr val="2B2B2B"/>
                </a:solidFill>
                <a:latin typeface="Calibri"/>
              </a:rPr>
              <a:t> ¿borré o cité las referencias que estaban de adorno? ¿toda cita del cuerpo tiene su referencia completa en la lista?</a:t>
            </a:r>
          </a:p>
        </p:txBody>
      </p:sp>
      <p:sp>
        <p:nvSpPr>
          <p:cNvPr id="6" name="Rounded Rectangle 5"/>
          <p:cNvSpPr/>
          <p:nvPr/>
        </p:nvSpPr>
        <p:spPr>
          <a:xfrm>
            <a:off x="640080" y="2935224"/>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1" i="0">
                <a:solidFill>
                  <a:srgbClr val="2B2B2B"/>
                </a:solidFill>
                <a:latin typeface="Calibri"/>
              </a:rPr>
              <a:t>Utilidad:</a:t>
            </a:r>
            <a:r>
              <a:rPr sz="1300" b="0" i="0">
                <a:solidFill>
                  <a:srgbClr val="2B2B2B"/>
                </a:solidFill>
                <a:latin typeface="Calibri"/>
              </a:rPr>
              <a:t> ¿cada bloque del marco me sirve para confirmar, contradecir, extender o aportar método en la discusión? Lo que no sirva para ninguna de las cuatro, sobra.</a:t>
            </a:r>
          </a:p>
        </p:txBody>
      </p:sp>
      <p:sp>
        <p:nvSpPr>
          <p:cNvPr id="8" name="TextBox 7"/>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Para continuar — trabajo autónomo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Suba</a:t>
            </a:r>
            <a:r>
              <a:rPr sz="1600" b="0" i="0">
                <a:solidFill>
                  <a:srgbClr val="2B2B2B"/>
                </a:solidFill>
                <a:latin typeface="Calibri"/>
              </a:rPr>
              <a:t> `S08_MarcoCierre_Apellido` a </a:t>
            </a:r>
            <a:r>
              <a:rPr sz="1600" b="1" i="0">
                <a:solidFill>
                  <a:srgbClr val="2B2B2B"/>
                </a:solidFill>
                <a:latin typeface="Calibri"/>
              </a:rPr>
              <a:t>CDigital</a:t>
            </a:r>
            <a:r>
              <a:rPr sz="1600" b="0" i="0">
                <a:solidFill>
                  <a:srgbClr val="2B2B2B"/>
                </a:solidFill>
                <a:latin typeface="Calibri"/>
              </a:rPr>
              <a:t>: [URL CDigital — campus del curso pendiente]</a:t>
            </a:r>
          </a:p>
          <a:p>
            <a:pPr>
              <a:spcAft>
                <a:spcPts val="1000"/>
              </a:spcAft>
            </a:pPr>
            <a:r>
              <a:rPr sz="1600" b="0" i="0">
                <a:solidFill>
                  <a:srgbClr val="2B2B2B"/>
                </a:solidFill>
                <a:latin typeface="Calibri"/>
              </a:rPr>
              <a:t>–   </a:t>
            </a:r>
            <a:r>
              <a:rPr sz="1600" b="1" i="0">
                <a:solidFill>
                  <a:srgbClr val="2B2B2B"/>
                </a:solidFill>
                <a:latin typeface="Calibri"/>
              </a:rPr>
              <a:t>Trabajo autónomo (extensión de la sesión):</a:t>
            </a:r>
          </a:p>
          <a:p>
            <a:pPr lvl="1">
              <a:spcAft>
                <a:spcPts val="600"/>
              </a:spcAft>
            </a:pPr>
            <a:r>
              <a:rPr sz="1500" b="0" i="0">
                <a:solidFill>
                  <a:srgbClr val="2B2B2B"/>
                </a:solidFill>
                <a:latin typeface="Calibri"/>
              </a:rPr>
              <a:t>●   </a:t>
            </a:r>
            <a:r>
              <a:rPr sz="1500" b="1" i="0">
                <a:solidFill>
                  <a:srgbClr val="2B2B2B"/>
                </a:solidFill>
                <a:latin typeface="Calibri"/>
              </a:rPr>
              <a:t>Cierre los huecos</a:t>
            </a:r>
            <a:r>
              <a:rPr sz="1500" b="0" i="0">
                <a:solidFill>
                  <a:srgbClr val="2B2B2B"/>
                </a:solidFill>
                <a:latin typeface="Calibri"/>
              </a:rPr>
              <a:t> que dejó marcados en la tabla de constructos. Busque </a:t>
            </a:r>
            <a:r>
              <a:rPr sz="1500" b="1" i="0">
                <a:solidFill>
                  <a:srgbClr val="2B2B2B"/>
                </a:solidFill>
                <a:latin typeface="Calibri"/>
              </a:rPr>
              <a:t>solo eso</a:t>
            </a:r>
            <a:r>
              <a:rPr sz="1500" b="0" i="0">
                <a:solidFill>
                  <a:srgbClr val="2B2B2B"/>
                </a:solidFill>
                <a:latin typeface="Calibri"/>
              </a:rPr>
              <a:t>: no abra temas nuevos.</a:t>
            </a:r>
          </a:p>
          <a:p>
            <a:pPr lvl="1">
              <a:spcAft>
                <a:spcPts val="600"/>
              </a:spcAft>
            </a:pPr>
            <a:r>
              <a:rPr sz="1500" b="0" i="0">
                <a:solidFill>
                  <a:srgbClr val="2B2B2B"/>
                </a:solidFill>
                <a:latin typeface="Calibri"/>
              </a:rPr>
              <a:t>●   Consiga las referencias que le faltan para 50, en Google Académico, SciELO y Redalyc, y haga su </a:t>
            </a:r>
            <a:r>
              <a:rPr sz="1500" b="1" i="0">
                <a:solidFill>
                  <a:srgbClr val="2B2B2B"/>
                </a:solidFill>
                <a:latin typeface="Calibri"/>
              </a:rPr>
              <a:t>ficha de lectura</a:t>
            </a:r>
            <a:r>
              <a:rPr sz="1500" b="0" i="0">
                <a:solidFill>
                  <a:srgbClr val="2B2B2B"/>
                </a:solidFill>
                <a:latin typeface="Calibri"/>
              </a:rPr>
              <a:t> a cada una. Sin ficha, no entra.</a:t>
            </a:r>
          </a:p>
          <a:p>
            <a:pPr lvl="1">
              <a:spcAft>
                <a:spcPts val="600"/>
              </a:spcAft>
            </a:pPr>
            <a:r>
              <a:rPr sz="1500" b="0" i="0">
                <a:solidFill>
                  <a:srgbClr val="2B2B2B"/>
                </a:solidFill>
                <a:latin typeface="Calibri"/>
              </a:rPr>
              <a:t>●   Genere en </a:t>
            </a:r>
            <a:r>
              <a:rPr sz="1500" b="1" i="0">
                <a:solidFill>
                  <a:srgbClr val="2B2B2B"/>
                </a:solidFill>
                <a:latin typeface="Calibri"/>
              </a:rPr>
              <a:t>zbib.org</a:t>
            </a:r>
            <a:r>
              <a:rPr sz="1500" b="0" i="0">
                <a:solidFill>
                  <a:srgbClr val="2B2B2B"/>
                </a:solidFill>
                <a:latin typeface="Calibri"/>
              </a:rPr>
              <a:t> la lista APA completa y limpia de la sección teórica, revisando mayúsculas y nombres de revista.</a:t>
            </a:r>
          </a:p>
          <a:p>
            <a:pPr lvl="1">
              <a:spcAft>
                <a:spcPts val="600"/>
              </a:spcAft>
            </a:pPr>
            <a:r>
              <a:rPr sz="1500" b="0" i="0">
                <a:solidFill>
                  <a:srgbClr val="2B2B2B"/>
                </a:solidFill>
                <a:latin typeface="Calibri"/>
              </a:rPr>
              <a:t>●   Repita la auditoría con Ctrl+F al terminar la semana: el número tiene que subir de verdad.</a:t>
            </a:r>
          </a:p>
          <a:p>
            <a:pPr lvl="1">
              <a:spcAft>
                <a:spcPts val="600"/>
              </a:spcAft>
            </a:pPr>
            <a:r>
              <a:rPr sz="1500" b="0" i="0">
                <a:solidFill>
                  <a:srgbClr val="2B2B2B"/>
                </a:solidFill>
                <a:latin typeface="Calibri"/>
              </a:rPr>
              <a:t>●   Deje escrita la </a:t>
            </a:r>
            <a:r>
              <a:rPr sz="1500" b="1" i="0">
                <a:solidFill>
                  <a:srgbClr val="2B2B2B"/>
                </a:solidFill>
                <a:latin typeface="Calibri"/>
              </a:rPr>
              <a:t>tabla de movimientos</a:t>
            </a:r>
            <a:r>
              <a:rPr sz="1500" b="0" i="0">
                <a:solidFill>
                  <a:srgbClr val="2B2B2B"/>
                </a:solidFill>
                <a:latin typeface="Calibri"/>
              </a:rPr>
              <a:t> —hallazgo, autor, movimiento, frase— con al menos cuatro filas.</a:t>
            </a:r>
          </a:p>
          <a:p>
            <a:pPr>
              <a:spcAft>
                <a:spcPts val="1000"/>
              </a:spcAft>
            </a:pPr>
            <a:r>
              <a:rPr sz="1600" b="0" i="0">
                <a:solidFill>
                  <a:srgbClr val="2B2B2B"/>
                </a:solidFill>
                <a:latin typeface="Calibri"/>
              </a:rPr>
              <a:t>–   </a:t>
            </a:r>
            <a:r>
              <a:rPr sz="1600" b="1" i="0">
                <a:solidFill>
                  <a:srgbClr val="2B2B2B"/>
                </a:solidFill>
                <a:latin typeface="Calibri"/>
              </a:rPr>
              <a:t>En la próxima sesión</a:t>
            </a:r>
            <a:r>
              <a:rPr sz="1600" b="0" i="0">
                <a:solidFill>
                  <a:srgbClr val="2B2B2B"/>
                </a:solidFill>
                <a:latin typeface="Calibri"/>
              </a:rPr>
              <a:t> llega el corazón del nuevo conocimiento: </a:t>
            </a:r>
            <a:r>
              <a:rPr sz="1600" b="1" i="0">
                <a:solidFill>
                  <a:srgbClr val="2B2B2B"/>
                </a:solidFill>
                <a:latin typeface="Calibri"/>
              </a:rPr>
              <a:t>resultados, discusión y relación con referentes</a:t>
            </a:r>
            <a:r>
              <a:rPr sz="1600" b="0" i="0">
                <a:solidFill>
                  <a:srgbClr val="2B2B2B"/>
                </a:solidFill>
                <a:latin typeface="Calibri"/>
              </a:rPr>
              <a:t>.</a:t>
            </a:r>
          </a:p>
          <a:p>
            <a:pPr lvl="1">
              <a:spcAft>
                <a:spcPts val="600"/>
              </a:spcAft>
            </a:pPr>
            <a:r>
              <a:rPr sz="1500" b="0" i="0">
                <a:solidFill>
                  <a:srgbClr val="2B2B2B"/>
                </a:solidFill>
                <a:latin typeface="Calibri"/>
              </a:rPr>
              <a:t>●   Llegue con la tabla de hallazgos de la sesión pasada y con el marco cerrado de hoy: la discusión nace del cruce de esos dos documentos.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un_solo.png"/>
          <p:cNvPicPr>
            <a:picLocks noChangeAspect="1"/>
          </p:cNvPicPr>
          <p:nvPr/>
        </p:nvPicPr>
        <p:blipFill>
          <a:blip r:embed="rId2"/>
          <a:stretch>
            <a:fillRect/>
          </a:stretch>
        </p:blipFill>
        <p:spPr>
          <a:xfrm>
            <a:off x="10362895" y="5632704"/>
            <a:ext cx="1371600" cy="950976"/>
          </a:xfrm>
          <a:prstGeom prst="rect">
            <a:avLst/>
          </a:prstGeom>
        </p:spPr>
      </p:pic>
      <p:sp>
        <p:nvSpPr>
          <p:cNvPr id="4" name="TextBox 3"/>
          <p:cNvSpPr txBox="1"/>
          <p:nvPr/>
        </p:nvSpPr>
        <p:spPr>
          <a:xfrm>
            <a:off x="640080" y="1737360"/>
            <a:ext cx="10911535" cy="1097280"/>
          </a:xfrm>
          <a:prstGeom prst="rect">
            <a:avLst/>
          </a:prstGeom>
          <a:noFill/>
        </p:spPr>
        <p:txBody>
          <a:bodyPr wrap="square" anchor="ctr" lIns="0" rIns="0" tIns="0" bIns="0">
            <a:spAutoFit/>
          </a:bodyPr>
          <a:lstStyle/>
          <a:p>
            <a:pPr algn="ctr"/>
            <a:r>
              <a:rPr sz="3400" b="1" i="0">
                <a:solidFill>
                  <a:srgbClr val="0C2340"/>
                </a:solidFill>
                <a:latin typeface="Calibri"/>
              </a:rPr>
              <a:t>Cierre — Sesión 08</a:t>
            </a:r>
          </a:p>
        </p:txBody>
      </p:sp>
      <p:sp>
        <p:nvSpPr>
          <p:cNvPr id="5" name="TextBox 4"/>
          <p:cNvSpPr txBox="1"/>
          <p:nvPr/>
        </p:nvSpPr>
        <p:spPr>
          <a:xfrm>
            <a:off x="640080" y="3017520"/>
            <a:ext cx="10911535" cy="1645920"/>
          </a:xfrm>
          <a:prstGeom prst="rect">
            <a:avLst/>
          </a:prstGeom>
          <a:noFill/>
        </p:spPr>
        <p:txBody>
          <a:bodyPr wrap="square" anchor="t" lIns="0" rIns="0" tIns="0" bIns="0">
            <a:spAutoFit/>
          </a:bodyPr>
          <a:lstStyle/>
          <a:p>
            <a:pPr algn="ctr">
              <a:spcAft>
                <a:spcPts val="600"/>
              </a:spcAft>
            </a:pPr>
            <a:r>
              <a:rPr sz="1600" b="0" i="0">
                <a:solidFill>
                  <a:srgbClr val="2B2B2B"/>
                </a:solidFill>
                <a:latin typeface="Calibri"/>
              </a:rPr>
              <a:t>Sesión 08: Fase III de referentes · cierre del marco teórico</a:t>
            </a:r>
          </a:p>
          <a:p>
            <a:pPr algn="ctr">
              <a:spcAft>
                <a:spcPts val="600"/>
              </a:spcAft>
            </a:pPr>
            <a:r>
              <a:rPr sz="1600" b="0" i="0">
                <a:solidFill>
                  <a:srgbClr val="2B2B2B"/>
                </a:solidFill>
                <a:latin typeface="Calibri"/>
              </a:rPr>
              <a:t>Siguiente encuentro: continúa el hilo del mismo entregable.</a:t>
            </a:r>
          </a:p>
        </p:txBody>
      </p:sp>
      <p:sp>
        <p:nvSpPr>
          <p:cNvPr id="6" name="TextBox 5"/>
          <p:cNvSpPr txBox="1"/>
          <p:nvPr/>
        </p:nvSpPr>
        <p:spPr>
          <a:xfrm>
            <a:off x="640080" y="4754880"/>
            <a:ext cx="10911535" cy="640080"/>
          </a:xfrm>
          <a:prstGeom prst="rect">
            <a:avLst/>
          </a:prstGeom>
          <a:noFill/>
        </p:spPr>
        <p:txBody>
          <a:bodyPr wrap="square" anchor="t" lIns="0" rIns="0" tIns="0" bIns="0">
            <a:spAutoFit/>
          </a:bodyPr>
          <a:lstStyle/>
          <a:p>
            <a:pPr algn="ctr"/>
            <a:r>
              <a:rPr sz="2000" b="1" i="0">
                <a:solidFill>
                  <a:srgbClr val="007433"/>
                </a:solidFill>
                <a:latin typeface="Calibri"/>
              </a:rPr>
              <a:t>TRABAJO DE GRADO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CUN</dc:creator>
  <cp:keywords/>
  <dc:description/>
  <cp:lastModifiedBy>CUN</cp:lastModifiedBy>
  <cp:revision>1</cp:revision>
  <dcterms:created xsi:type="dcterms:W3CDTF">2013-01-27T09:14:16Z</dcterms:created>
  <dcterms:modified xsi:type="dcterms:W3CDTF">2013-01-27T09:15:58Z</dcterms:modified>
  <cp:category/>
</cp:coreProperties>
</file>