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03 — Estructura del documento · taller de introducción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Estructura del documento · taller de introducción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Hoy deja de tener ideas sueltas y pasa a tener un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Ya tiene pregunta, objetivos y título. Eso todavía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material suelto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es un documento.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El documento de trabajo de grado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es un ensayo libre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tiene secciones fijas, con nombre y con contenido obligatorio.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El jurado no lee para dejarse sorprender: lee buscando cada sección en su lugar.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Lo que más castiga un evaluador en Ingeniería no es que el proyecto sea modesto: es que el documento esté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desordenado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Método metido en la introducción, interpretaciones en los resultados, resumen escrito antes de tener resultados.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Este esqueleto sirve a cualquier modalidad de grado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artículo, proyecto aplicado o de desarrollo, prototipo o sistema documentado, sistematización. Cambia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cada sección y qué cuenta como «resultado», no la estructura ni los mínimos.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Hoy hacemos dos cosas: montar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esqueleto completo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documento y escribir en vivo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introducción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Y todo se trabaja sobre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plantilla APA CUN abierta en Google Docs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sin instalar nada, sin depender de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Salga de esta sesión con la introducción empezada, no solo con la idea de cómo se escribe.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Anatomía del documento: qué va y qué NO va en cada sección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67420"/>
                <a:gridCol w="4217904"/>
                <a:gridCol w="412621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Sección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va ahí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NO va (error típico)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Resumen + palabras clave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Síntesis de todo el documento;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 escribe al final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Escribirlo primero, y meterle citas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Introducción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Contexto → problema → vacío → pregunta → objetivos → propósito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Arrancar "desde la antigüedad"; meter el método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Marco / referentes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Teoría y antecedentes que sostienen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 collage de definiciones apiladas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Metodología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Enfoque, alcance, diseño, instrumentos, análisis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Mezclarla con los resultados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Resultados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Qué se encontró, en tono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neutral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Interpretar y opinar aquí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Discusión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Qué significa, en diálogo con los autores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Repetir los resultados con otras palabras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Conclusiones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Responder la pregunta, límites y trabajo futuro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Ideas nuevas sin respaldo en datos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Mínimo 50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en APA 7, todas citadas en el cuerpo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Listar fuentes que nunca se citaron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Este esqueleto se conoce como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IMRyD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(Introducción, Métodos, Resultados y Discusión), adaptado a la plantilla APA CUN.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regla mental que evita el 90% de las mezclas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Introducción = por qué.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Por qué vale la pena investigar esto y qué se propone hacer.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Metodología = cómo.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Cómo se recogieron y analizaron los datos, con qué instrumento.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Resultados = qué encontré.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datos y hallazgos, sin adjetivos ni juicios.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Discusión = qué significa.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implican esos hallazgos frente a lo que dicen otros autores.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vez que dude dónde va un párrafo, pregúntese cuál de las cuatro palabras responde: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qué, cómo, qué encontré, qué significa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un párrafo responde dos preguntas a la vez, pártalo en dos y mande cada mitad a su sección.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Ejemplo de mezcla clásica: "Se aplicó una encuesta de 10 ítems a los usuarios y se evidenció que el 70% desconoce el proceso", escrito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la introducción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primera mitad es Metodología; la segunda es Resultados. En la introducción no debía ir ninguna de las 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introducción es un embudo: de lo ancho a lo estrecho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Contexto (lo ancho)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escenario real donde vive el problema, con un dato o una cita que lo sostenga.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qué está fallando, a quién le duele y por qué importa.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Vacío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qué no se ha estudiado o resuelto todavía. Es el hueco donde entra su trabajo.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enuncia con giros como "sin embargo", "no obstante", "aún no se ha documentado".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la misma de la Sesión 02, textual. No la reescriba distinto: se pierde la coherencia.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 Objetivos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general y específicos, en prosa, no en viñetas.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 Propósito del documento (lo estrecho)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qué encontrará el lector en las siguientes páginas.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o 4 párrafos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basta. Una introducción de dos páginas ya está invadiendo el marco teórico.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lector debe terminar la introducción sabiendo qué se pregunta usted y qué se propone hacer, sin haber leído todavía nada de teoría.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tres o cuatro párrafos, uno por uno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00645"/>
                <a:gridCol w="3117581"/>
                <a:gridCol w="4034517"/>
                <a:gridCol w="155879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Párrafo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contiene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 qué se abre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Extensión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 · Contexto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escenario y su relevancia, con 1 o 2 citas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despliegue continuo de software depende de…"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6 a 9 líneas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2 · Problema y vacío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falla en su caso concreto y qué no se ha medido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Sin embargo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en el área de TI las pruebas siguen siendo manuales…"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6 a 9 líneas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3 · Pregunta y objetivos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pregunta textual y los objetivos en prosa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Por ello, este trabajo se pregunta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en qué medida…"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6 a 8 líneas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4 · Propósito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(opcional)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encontrará el lector en cada sección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documento presenta primero los referentes, luego…"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 a 5 líneas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Los conectores en negrita no son decoración: son las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señales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con las que el lector reconoce en qué parte del embudo 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introducción real, párrafo a párrafo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1 (contexto):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"El despliegue continuo de software depende de pruebas confiables que verifiquen cada cambio antes de llegar a producción. En equipos pequeños de desarrollo, sin embargo, esas pruebas suelen ejecutarse de forma manual."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2 (problema y vacío):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"En el área de TI de la organización estudiada, cada despliegue exige seis pasos manuales y toma en promedio 42 minutos.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obstante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existe un registro que documente el efecto de esa manualidad sobre los errores en producción."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3 (pregunta y objetivos):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ello, este trabajo se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qué medida la automatización de pruebas reduce el tiempo de despliegue y los errores en producción del equipo. Para responderlo se propone caracterizar el proceso actual, diseñar la automatización y comparar los tiempos e incidencias antes y después."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que NO se hizo, y se ve: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empezó con "desde la antigüedad el ser humano ha buscado comunicarse".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arranque no informa nada y le dice al jurado que usted no sabía por dónde empezar.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Fíjese en el cierre: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párrafo 3 aterriza exactamente en la pregunta de la Sesión 02, palabra por palabra.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mal arranque y el buen arranque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Arranque de historia universal: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"Desde la antigüedad el ser humano ha buscado optimizar sus procesos…". No aporta nada, no se puede citar y consume el primer párrafo, que es el más leído.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Arranque de diccionario: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"Según la RAE, automatizar significa…". El jurado no necesita que le definan palabras del castellano común.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Arranque correcto: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empiece en el escenario real y verificable de su problema, con una cita que lo respalde. El lector debe sentir que ya está adentro del asunto desde la primera línea.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mal arranque y el buen arranque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Prueba de fuego: tape el primer párrafo. Si el documento se entiende igual, ese párrafo sobraba.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— trabajar sobre la plantilla APA CUN en Google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`Plantilla_APA_CUN_Proyecto de grado.docx` a su Google Drive.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Clic derecho sobre el archivo →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Abrir con → Documentos de Google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Queda una copia editable en la nube, con el formato ya resuelto.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Renombre el documento como `S03_Introduccion_Apellido`.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dé formato a mano.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Use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estilos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plantilla (Título 1, Título 2, Texto normal) desde el menú de estilos de párrafo.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Así los títulos de sección quedan uniformes y la tabla de contenido se genera sola.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Verifique que estén creadas todas las secciones del esqueleto, aunque queden vacías por ahora: eso es su mapa de trabajo del semestre.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solo la introducción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hoy. Las demás secciones se llenan en las sesiones siguientes.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citar: busque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→ genere la referencia APA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zbib.org (ZoteroBib)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→ péguela en la lista de referencias y deje la cita corta en el texto.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flujo completo está en la guía transversal de herramientas de escritura y citación del curso.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— trabajar sobre la plantilla APA CUN en Google Docs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Comparta el documento con permiso de comentario para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Docente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pueda dejarle observaciones.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Formato APA 7: lo mínimo que el jurado revisa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34194"/>
                <a:gridCol w="4492985"/>
                <a:gridCol w="348435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debe quedar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Dónde se resuelve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 en el texto (parafraseada)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(Apellido, año) — por ejemplo (Ramírez, 2022)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escribe a mano al final de la idea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 textual corta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"texto entre comillas" (Apellido, año, p. 15)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página es obligatoria en la cita textual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 completa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Apellido, N. (año). *Título*. Fuente. URL o DOI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genera en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zbib.org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y se pega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Interlineado y sangría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Doble, con sangría francesa en referencias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Ya viene en la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plantilla APA CUN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Títulos de sección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Jerarquía de niveles APA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 los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estilos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la plantilla, no a mano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Toda cita del texto debe tener su referencia en la lista, y toda referencia de la lista debe estar citada en el texto. Sin excepciones.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 esta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"Meto un poco de método en la introducción para que se entienda." — No. Introducción = por qué; el cómo va en Metodología. Cada cosa en su sección.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"Escribo el resumen ahora que estoy fresco." — El resumen se escribe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de último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hoy usted todavía no sabe qué resultado va a resumir.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"Doy formato a mano con negritas y sangrías." — Pierde horas y queda desparejo. Use la plantilla APA CUN en Google Docs; el formato ya viene resuelto.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 esta sesión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"¿Puedo cambiar la introducción después?" — Sí, y de hecho la va a ajustar cuando tenga resultados. Pero necesita la versión de hoy para que el resto del documento tenga a dónde amarrarse.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La introducción y el resumen son las dos partes que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todo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jurado lee completas. Vale la pena escribirlas con cuidado.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Su introducción en la plantilla APA CUN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Individual, en la plantilla APA CUN abierta en Google 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1091153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final tiene: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introducción de 3 a 4 párrafos que cierra exactamente en su pregunta y objetivos.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Escriba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introducción de 3 a 4 párrafos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el embudo contexto → problema → vacío → pregunta → objetivos → propósito.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Debe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cerrar exactamente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la pregunta y los objetivos de la Sesión 02,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sin cambiarles la redacción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Incluya al menos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citas en APA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párrafo de contexto, generadas en zbib.org.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4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Marque con color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conector que abre el párrafo del vacío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—«sin embargo», «no obstante»— para verificar que sí está.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clase, sin falta: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pasos 1 a 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Del 3 en adelante puede quedar en trabajo autónomo, pero antes de la próxima sesión.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cómo se revisa y dónde se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Su introducción en la plantilla APA CUN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1091153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Quedó bien si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—compruébelo usted antes de cerrar el documento—: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el Docente lee su introducción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sin conocer su tema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entiende el contexto, el vacío y qué se propone usted.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texto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termina en su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en el aire.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aparece ni una palabra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sobre instrumentos, muestras o resultados: eso va en otras secciones.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 B: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se traba, escriba primero el párrafo 3 —pregunta y objetivos—, que ya lo tiene resuelto, y luego devuélvase a construir el contexto.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Hoy no se sube nada al aula: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guarde `S03_Introduccion_Apellido` (Google Doc (plantilla APA CUN)) en su Drive y tráigalo a la próxima sesión.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avance formativo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se revisa en clase.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Esto alimenta: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ACA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—tarea, 32%—, el documento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sí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recibe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aula de su grupo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CDigital; cierra en la semana de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Sesión 13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a CDigital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Embudo: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¿mi primer párrafo es contexto real y no historia universal? ¿el segundo dice qué falla y qué no se ha estudiado? ¿el tercero aterriza en mi pregunta?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Coherencia: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¿la pregunta de la introducción es idéntica a la de la Sesión 02? ¿los objetivos son los mismos tres o cuatro?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Pureza de sección: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¿saqué de la introducción todo lo que sea método, resultados o interpretación?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a CDigital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Formato: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¿usé los estilos de la plantilla APA CUN y no formato manual? ¿mis dos citas tienen su referencia completa en la lista?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Extensión: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su introducción pasa de página y media, seguramente ya invadió el marco teórico. Recorte.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`S03_Introduccion_Apellido`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el aula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 grupo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CDigital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Trabajo autónomo (extensión de la sesión):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Deje creadas y tituladas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todas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las secciones del esqueleto en su documento, aunque estén vacías. Ese será su documento único del semestre.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Lea la introducción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artículos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su tema en SciELO o Redalyc y marque con color dónde está el contexto, el vacío y la pregunta de cada uno.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Copie a su bitácora los conectores que usan esos autores para anunciar el vacío: le van a servir toda la vida.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la próxima sesión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abrimos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Fase I de referentes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búsqueda sistemática, fichas de lectura y el primer mapa de diálogo entre autores, camino a las 50 referencias.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su pregunta a la mano: es la brújula de toda búsqueda.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RUTA DE ENTREGABLES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Sin fechas a propósito: aquí va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 qué punto del curso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cierra cada ítem · la ventana exacta la fija CDigital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3" cy="4297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9113"/>
                <a:gridCol w="2659113"/>
                <a:gridCol w="5593307"/>
              </a:tblGrid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Cierra en la semana de…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Entregable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debes tener listo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03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cierra esta semana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Repasa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pregunta, objetivos y título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las variables de la pregunta-problema.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06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24%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Estudia la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introducción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los referentes Fase I y el instrumento ya diseñado.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08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Estudia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comunidades de práctica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co-creación y análisis de datos.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10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21%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Estudia el cierre del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marco teórico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los resultados y la discusión.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12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3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4%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Ten claros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resumen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palabras clave UNESCO, póster y verificación antiplagio.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13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Final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Tarea · 32%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Sube el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documento final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en plantilla APA CUN: mínimo 4.000 palabras y 50 referencias.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14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Autoevaluación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2%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Diligénciala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tú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dentro de su ventana, sobre tu participación real.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14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pendiente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Coevaluación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Foro · 2%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Publica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tu aporte dentro de la ventana: un borrador sin enviar no cuenta.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Esta misma tabla va al final de todas las sesiones.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fecha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 cada ventana está en el enunciado del ítem (`Clases/Recursos/ACAs/`) y en el aula: si el aula y cualquier otro material se contradicen,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manda el aula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03: Estructura del documento · taller de introducción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