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Estructura del artículo · taller de introducción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Estructura del artículo · taller de introducción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deja de tener ideas sueltas y pasa a tener un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tiene pregunta, objetivos y título. Eso todavía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suelto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es un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artículo de resultados de investigación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ensayo libre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tiene secciones fijas, con nombre y con contenido obligatorio.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jurado no lee para dejarse sorprender: lee buscando cada sección en su lugar.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más castiga un evaluador en Ingeniería no es que el proyecto sea modesto: es que el documento esté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desordenado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Método metido en la introducción, interpretaciones en los resultados, resumen escrito antes de tener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hacemos dos cosas: montar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esqueleto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y escribir en vivo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todo se trabaja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abierta en 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sin instalar nada, sin depender de Word.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Salga de esta sesión con la introducción empezada, no solo con la idea de cómo se escribe.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del artículo: qué va y qué NO va en cada sección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217904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va ahí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NO va (error típico)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Resumen + palabras clave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Síntesis de todo el artículo;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 escribe al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Escribirlo primero, y meterle citas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problema → vacío → pregunta → objetivos → propósito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Arrancar "desde la antigüedad"; meter el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/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Teoría y antecedentes que sostienen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 collage de definiciones apiladas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Enfoque, alcance, diseño, instrumentos,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Mezclarla con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Qué se encontró, en tono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neutral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Interpretar y opinar aquí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Qué significa, en diálogo con los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Repetir los resultados con otras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Conclusiones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Responder la pregunta, límites y trabajo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Ideas nuevas sin respaldo en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Mínimo 50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en APA 7, todas citadas en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Listar fuentes que nunca se citaron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esqueleto se conoce como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IMRyD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(Introducción, Métodos, Resultados y Discusión), adaptado a la plantilla APA CUN.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mental que evita el 90% de las mezclas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 = por qué.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qué vale la pena investigar esto y qué se propone hacer.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Metodología = cómo.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Cómo se recogieron y analizaron los datos, con qué instrumento.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= qué encontré.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datos y hallazgos, sin adjetivos ni juicios.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Discusión = qué significa.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implican esos hallazgos frente a lo que dicen otros autores.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vez que dude dónde va un párrafo, pregúntese cuál de las cuatro palabras responde: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qué, cómo, qué encontré, qué significa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párrafo responde dos preguntas a la vez, pártalo en dos y mande cada mitad a su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de mezcla clásica: "Se aplicó una encuesta de 10 ítems a los usuarios y se evidenció que el 70% desconoce el proceso", escrito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primera mitad es Metodología; la segunda es Resultados. En la introducción no debía ir ninguna de las 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es un embudo: de lo ancho a lo estrecho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Contexto (lo ancho)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escenario real donde vive el problema, con un dato o una cita que lo sostenga.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Problema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está fallando, a quién le duele y por qué importa.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Vacío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no se ha estudiado o resuelto todavía. Es el hueco donde entra su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enuncia con giros como "sin embargo", "no obstante", "aún no se ha documentado".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misma de la Sesión 02, textual. No la reescriba distinto: se pierde la coherencia.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general y específicos, en prosa, no en viñetas.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Propósito del artículo (lo estrecho)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encontrará el lector en las siguientes páginas.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o 4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basta. Una introducción de dos páginas ya está invadiendo 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lector debe terminar la introducción sabiendo qué se pregunta usted y qué se propone hacer, sin haber leído todavía nada de teoría.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tres o cuatro párrafos, uno por uno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3117581"/>
                <a:gridCol w="4034517"/>
                <a:gridCol w="15587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Párrafo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contiene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 qué se abre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 ·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escenario y su relevancia, con 1 o 2 citas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despliegue continuo de software depende de…"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9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 · Problema y vacío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falla en su caso concreto y qué no se ha medido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embargo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en el área de TI las pruebas siguen siendo manuales…"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9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 · Pregunta y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textual y los objetivos en prosa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Por ello, este artículo se pregunta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en qué medida…"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8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 · Propósito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encontrará el lector en cada sección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artículo presenta primero los referentes, luego…"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a 5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conectores en negrita no son decoración: son las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señales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 las que el lector reconoce en qué parte del embudo 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introducción real, párrafo a párrafo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(contexto):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"El despliegue continuo de software depende de pruebas confiables que verifiquen cada cambio antes de llegar a producción. En equipos pequeños de desarrollo, sin embargo, esas pruebas suelen ejecutarse de forma manual."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(problema y vacío):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el área de TI de la organización estudiada, cada despliegue exige seis pasos manuales y toma en promedio 42 minutos.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obstante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existe un registro que documente el efecto de esa manualidad sobre los errores en producción."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(pregunta y objetivos):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ello, este artículo se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qué medida la automatización de pruebas reduce el tiempo de despliegue y los errores en producción del equipo. Para responderlo se propone caracterizar el proceso actual, diseñar la automatización y comparar los tiempos e incidencias antes y después."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se hizo, y se ve: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empezó con "desde la antigüedad el ser humano ha buscado comunicarse".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arranque no informa nada y le dice al jurado que usted no sabía por dónde empezar.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Fíjese en el cierre: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párrafo 3 aterriza exactamente en la pregunta de la Sesión 02, palabra por palabra.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mal arranque y el buen arranque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Arranque de historia universal: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"Desde la antigüedad el ser humano ha buscado optimizar sus procesos…". No aporta nada, no se puede citar y consume el primer párrafo, que es el más leído.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Arranque de diccionario: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"Según la RAE, automatizar significa…". El jurado no necesita que le definan palabras del castellano común.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Arranque correcto: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en el escenario real y verificable de su problema, con una cita que lo respalde. El lector debe sentir que ya está adentro del asunto desde la primera línea.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mal arranque y el buen arranque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Prueba de fuego: tape el primer párrafo. Si el artículo se entiende igual, ese párrafo sobraba.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trabajar sobre la plantilla APA CUN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`Plantilla_APA_CUN_Proyecto de grado.docx` a su Google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Clic derecho sobre el archivo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Abrir con → Documentos de Google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Queda una copia editable en la nube, con el formato ya resuelto.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Renombre el documento como `S03_Introduccion_Apellido`.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dé formato a mano.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 (Título 1, Título 2, Texto normal) desde el menú de estilos de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Así los títulos de sección quedan uniformes y la tabla de contenido se genera sola.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que estén creadas todas las secciones del esqueleto, aunque queden vacías por ahora: eso es su mapa de trabajo del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la 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hoy. Las demás secciones se llenan en las sesiones siguientes.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citar: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genere la referencia APA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 (ZoteroBib)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péguela en la lista de referencias y deje la cita corta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flujo completo está en la guía transversal de herramientas de escritura y citación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trabajar sobre la plantilla APA CUN en Google Docs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Comparta el documento con permiso de comentario para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pueda dejarle observaciones.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Formato APA 7: lo mínimo que el jurado revisa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194"/>
                <a:gridCol w="4492985"/>
                <a:gridCol w="34843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resuelve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en el texto (parafraseada)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(Apellido, año) — por ejemplo (Ramírez, 2022)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escribe a mano al final de la idea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 textual corta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"texto entre comillas" (Apellido, año, p. 15)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página es obligatoria en la cita 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 completa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N. (año). *Título*. Fuente. URL o DOI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genera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zbib.org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se pega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Interlineado y sangría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Doble, con sangría francesa en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Ya viene en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Títulos de sección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Jerarquía de niveles APA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 los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estilos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la plantilla, no a mano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Toda cita del texto debe tener su referencia en la lista, y toda referencia de la lista debe estar citada en el texto. Sin excepciones.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"Meto un poco de método en la introducción para que se entienda." — No. Introducción = por qué; el cómo va en Metodología. Cada cosa en su sección.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"Escribo el resumen ahora que estoy fresco." — El resumen se escribe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 último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hoy usted todavía no sabe qué resultado va a resumir.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"Doy formato a mano con negritas y sangrías." — Pierde horas y queda desparejo. Use la plantilla APA CUN en Google Docs; el formato ya viene resuelto.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"¿Puedo cambiar la introducción después?" — Sí, y de hecho la va a ajustar cuando tenga resultados. Pero necesita la versión de hoy para que el resto del documento tenga a dónde amarrarse.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introducción y el resumen son las dos partes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todo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jurado lee completas. Vale la pena escribirlas con cuidado.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Escriba su introducción en la plantilla APA CUN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individual, en la plantilla APA CUN abierta en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archivo `S03_Introduccion_Apellido`, escriba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 de 3 a 4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embudo contexto → problema → vacío → pregunta → objetivos → propósito.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cerrar exactamente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pregunta y los objetivos que formuló en la Sesión 02, sin cambiarles la redacción.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Incluya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citas en APA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párrafo de contexto, generadas en zbib.org.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Marque con color el conector que abre el párrafo del vacío ("sin embargo", "no obstante") para verificar que sí está.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su introducción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entiende el contexto, el vacío y qué se propone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texto termina en su pregunta, no en el aire.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aparece ni una palabra sobre instrumentos, muestras o resultados: eso va en otras secciones.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se traba, escriba primero el párrafo 3 (pregunta y objetivos), que ya lo tiene resuelto, y luego devuélvase a construir el contexto.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Embudo: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¿mi primer párrafo es contexto real y no historia universal? ¿el segundo dice qué falla y qué no se ha estudiado? ¿el tercero aterriza en mi pregunta?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Coherencia: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¿la pregunta de la introducción es idéntica a la de la Sesión 02? ¿los objetivos son los mismos tres o cuatro?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Pureza de sección: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¿saqué de la introducción todo lo que sea método, resultados o interpretación?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¿usé los estilos de la plantilla APA CUN y no formato manual? ¿mis dos citas tienen su referencia completa en la lista?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Extensión: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su introducción pasa de página y media, seguramente ya invadió el marco teórico. Recorte.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`S03_Introduccion_Apellido`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creadas y tituladas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secciones del esqueleto en su documento, aunque estén vacías. Ese será su documento único del semestre.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Lea la introducción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artículos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tema en SciELO o Redalyc y marque con color dónde está el contexto, el vacío y la pregunta de cada uno.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Copie a su bitácora los conectores que usan esos autores para anunciar el vacío: le van a servir toda la 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abrimos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Fase I de referentes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búsqueda sistemática, fichas de lectura y el primer mapa de diálogo entre autores, camino a las 50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 pregunta a la mano: es la brújula de toda búsqueda.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Estructura del artículo · taller de introducción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