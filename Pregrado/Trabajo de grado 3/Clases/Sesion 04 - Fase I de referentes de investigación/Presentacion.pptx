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FASE I DE REFERENTES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Fase I de referentes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Empieza la batalla de las 50 referencias — pero con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Syllabus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50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citadas en el cuerpo del documento. Esa cifra asusta solo si se busca al azar.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método, cada sesión de búsqueda de una hora produce entre 5 y 8 fichas útiles. Haga la cuenta: es alcanzable.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hunde a los estudiantes no es la cantidad: es haber acumulado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que nunca leyeron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poder decir qué aporta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típico en Ingeniería: alguien llega con 60 enlaces de un buscador comercial y ninguno responde a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llega con 12 fuentes bien fichadas y en la discusión escribe párrafos que el jurado celebra.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trabajamos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I: los referentes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más ha estudiado su problema y qué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Herramientas de hoy, todas gratuitas y en el navegador: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su pregunta de la Sesión 02: es la brújula de cada búsqueda que hagamos hoy.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palabras que todo el mundo confunde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2842500"/>
                <a:gridCol w="2384032"/>
                <a:gridCol w="330096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trabaja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 /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más lo ha estudiado y qué encontró?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 — Fase 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"Ramírez (2022) midió el efecto de automatizar pruebas en 3 equipos ágiles"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conceptos y teorías sostienen mi pregunta?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cierra más adelante en 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"Qué se entiende por integración continua y por tiempo de despliegue"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del arte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lo más reciente y avanzado del tema?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alimenta durante todo 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herramientas de automatización publicadas en los últimos 2 años"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Hoy NO estamos construyendo el marco teórico. Estamos levantando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 de quién ya caminó por aquí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 que una fuente sea un buen referente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toca alguna de las variables de su pregunta. Si no la toca, no entra, así sea un artículo famoso.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 autor identificable, año y una fuente verificable (revista, editorial, repositorio, DOI).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blog anónimo o un video sin autor no es un referente académico. Puede inspirarlo, pero no lo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temas tecnológicos, priorice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teorías fundacionales, la fecha no importa.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le va a reclamar que cite a Wenger de 1998 para comunidades de práctica; sí le van a reclamar una herramienta de 2011.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puede acceder al texto completo. Citar solo por el resumen es riesgoso y se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Aporte declarable: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puede escribir en una línea qué le aporta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proyecto. Si no puede escribir esa línea, la fuente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Cantidad sin pertinencia no cuenta: 50 referencias de relleno pesan menos que 30 bien elegidas.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el ladrillo de todo lo que viene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75726"/>
                <a:gridCol w="2934194"/>
                <a:gridCol w="5501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real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 bibliográfico (APA 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Autor, año, título, fuente, DOI o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Ramírez, L. (2022). *Automatización de pruebas en equipos ágiles*. Revista de Ingeniería, 18(2), 45-60.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una sola frase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con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"Automatizar la fase de pruebas redujo el tiempo de despliegue en los tres equipos observados."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frase clave, entre comillas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página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de despliegue descendió de 40 a 12 minutos" (p. 52)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Confirma / contradice / extiende / aporta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mi hipótesis y además me da la métrica: minutos por despliegue."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Nadie cita bien lo que no leyó. Si usted no logra escribir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última fila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 ficha, esa fuente no entra a su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Buscar con método: los operadores que cambian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`"tiempo de despliegue"` busca la frase exacta, no las palabras sueltas por separado.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`"automatización de pruebas" AND "tiempo de despliegue"` exige que aparezcan las dos ideas.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`"despliegue continuo" OR "integración continua"` cubre los sinónimos que usan distintos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signo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`pruebas -manuales` excluye resultados que le están contaminando la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Filtro por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en Google Académico, panel izquierdo: "Desde 2020". Obligatorio en temas de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Buscar en el 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`intitle:` centra la búsqueda en artículos dedicados al tema, no que lo mencionan de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Busque también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literatura de Ingeniería de Sistemas está publicada en ese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`"deployment time" AND "test automation"` le abre un universo que en español no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Escriba sus búsquedas en el documento. Una búsqueda bien registrada se puede repetir y defender ante el jurado; una búsqueda de memoria,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cada fuente sirve para algo distinto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4217904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amplia, enlace "citado por", versiones en PDF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Siempre primero, para abrir el panorama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Producción científica de América Latina, en español, en acceso abierto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Para el contexto latinoamericano y colombiano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iberoamericanas revisadas por pares,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necesita el PDF completo sin barreras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suscritas con acceso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un artículo clave está detrás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zbib.org (ZoteroBib)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referencia en APA 7 ya formateada, sin instalar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final, para armar la lista de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lo de esta tabla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 este curso no se instala software de escritorio para gestionar bibliografía.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del "citado por": buscar en bola de nieve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Debajo de cada resultado de Google Académico aparece el enlace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"Citado por (N)"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enlace es oro puro.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Hacia adelante: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"citado por" le muestra los trabajos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posteriores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usaron ese artículo. Le da lo más reciente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Hacia atrás: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lista de referencias del propio artículo le muestra de dónde salió. Le da los trabajos fundacionales.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Método práctico en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Encuentre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artículo realmente pertinente para su pregunta (el "artículo semilla").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su "citado por" y revise títulos: de ahí salen 5 a 10 fuentes útiles sin volver a buscar.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su lista de referencias y anote los autores que se repiten: esos son los imprescindibles de su campo.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mismo autor aparece citado en casi todos los artículos de su tema,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 que estar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marco. Su ausencia se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búsqueda real y una ficha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Búsqueda ejecutada: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Google Académico escribo `"tiempo de despliegue" AND "automatización de pruebas"` y filtro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Desde 2020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De 340 resultados sin filtro pasé a 27 con filtro. De esos, 6 títulos me sirven de verdad.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Artículo semilla elegido: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segundo resultado. Abro su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"Citado por (18)"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encuentro otros cuatro estudios pertinentes.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Ficha llena, campo por campo: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*Dato:* Ramírez, L. (2022). Automatización de pruebas en equipos ágiles. Revista de Ingeniería, 18(2), 45-60.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*Idea principal:* "Automatizar la fase de pruebas redujo el tiempo de despliegue en los tres equipos observados."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*Cita textual:* "el tiempo promedio de despliegue descendió de 40 a 12 minutos" (p. 52).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*Relación con mi pregunta:*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efecto que yo espero medir y además me entrega la métrica —minutos por despliegue— para mi instrumento.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descarte también se modela: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un artículo sobre automatización industrial en plantas de manufactura sale, porque mi variable es despliegue de software, no producción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que la última línea de la ficha es la que más trabajo cuesta y la que más valor tiene. Si no sale, la fuente se descarta sin culpa.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diálogo: los autores no se apilan, se ponen a conversar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marco malo dice: "Pérez dice esto. Luego González dice aquello. Luego Ramírez dice lo otro." Eso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collage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mapa de diálogo agrupa a los autores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hacen entre ellos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coinciden en el mismo hallazgo. Se citan juntos: (Ramírez, 2022; Pérez, 2021).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Contradicen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encuentran lo contrario. Es su mejor material: ahí hay una tensión que discutir.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Extienden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uno lleva más lejos lo del otro, o lo aplica a un contexto nuevo.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Aportan 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le interesa su resultado, sino cómo midieron. Sirven para su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mapa que arme hoy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borrador de la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escribirá más adelante en 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Dibújelo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tldraw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le sirve verlo espacialmente: círculos por postura y flechas entre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diálogo — ejemplo con cuatro autores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7258"/>
                <a:gridCol w="2475726"/>
                <a:gridCol w="3484355"/>
                <a:gridCol w="293419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Postura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sostienen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me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Ramírez (2022); Pérez (2021)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pruebas reduce el tiempo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Sostiene mi expectativa y mi justificación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Contradicen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Gómez (2023)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ahorro se pierde por el costo de mantener los scripts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 obliga a medir también el esfuerzo de mantenimiento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Extienden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Torres (2024)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crece cuando el equipo tiene menos de 6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 delimita mejor el contexto de mi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Aportan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Pérez (2021)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Usó bitácora de despliegues durante 8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Copio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lógica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instrumento, no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llegue a la discusión, cada fila de esta tabla se convierte en un párrafo: "mis hallazgos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confirman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 X, pero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contradicen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 Y porque…".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"Cito un artículo por el título, sin leerlo." — Se nota en la discusión y es riesgo de plagio o de citar algo que dice lo contrario de lo que usted cree. Haga la ficha antes 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"Junto 20 citas seguidas y ese es mi marco." — Eso es un collage. Agrupe por lo que dicen los autores: quién confirma, quién contradice, quién extiende.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"Busco solo en un buscador comercial." — Vaya a Google Académico, SciELO, Redalyc y a la biblioteca CUN; use comillas, AND/OR y filtro por año.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cualquier fuente para llegar a 50." — Cantidad sin pertinencia no cuenta, y una referencia listada pero no citada en el cuerpo es una alarma para el jurado.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mi tema es tan nuevo que no hay nada publicado?" — Casi nunca es cierto. Amplíe a los conceptos vecinos, busque en inglés y revise el 'citado por' de lo poco que encuentre.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del hallazgo en Scholar a la referencia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Académico, arme la consulta con comillas y AND, y aplique el filtro de año.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títulos y resúmenes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primero. No abra PDFs a lo loco: seleccione 6 a 8 candidatos.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texto completo. Si está bloqueado, búsquelo en SciELO, Redalyc o con el acceso institucional de la biblioteca CUN.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resumen, introducción y 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eso ya puede escribir la idea principal con sus palabras.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ficha en su documento de Google Docs: los cuatro campos, sin saltarse la relación con su pregunta.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Académico, use el ícono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debajo del resultado → copie la cita en APA como punto de partida.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Verifíquela y complétela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pegue el DOI o la URL, elija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7.ª edición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copie la referencia formateada.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Revise siempre lo que genera la herramienta: suele equivocarse con mayúsculas y con los nombres de revista.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la referencia en la sección de Referencias de su documento y deje la cita corta —(Ramírez, 2022)— donde use la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Fichas de lectura y primer mapa de diálogo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acompañando la búsqueda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criterio de inclusión, 4 a 6 fichas de lectura y el mapa de diálogo esbozado.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años, idioma y qué debe tocar la fuente para entrar.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Busque en Google Académico y en SciELO o Redalyc y seleccione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a 6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pertinentes.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Haga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ficha de lectura por fuente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los cuatro campos completos.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Esboce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diálogo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agrupe quién confirma, quién contradice, quién extiende y quién le aporta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Fichas de lectura y primer mapa de diálogo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ficha tiene escrita su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«relación con mi pregunta»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ninguna en blanco.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idea principal está redactada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palabras, no copiada del resumen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mapa muestra a los autores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conversando entre sí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una lista apilada.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una fuente no le deja escribir la cuarta fila de la ficha, descártela en el momento y busque otra. Descartar temprano es ganar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`S04_ReferentesFaseI_Apellido`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Método: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¿registré las consultas exactas que usé, con comillas y operadores? ¿apliqué filtro de año en las fuentes tecnológicas?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Fichas: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¿tengo entre 4 y 6? ¿todas tienen dato en APA, idea principal con mis palabras, cita textual con página y relación con mi pregunta?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Lectura real: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explicar de memoria qué encontró cada autor? Si no, no la leí y esa ficha es falsa.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Mapa: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¿hay al menos una fuente que contradiga o matice a las otras? Un mapa donde todos están de acuerdo suele significar que leyó poco.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Referencias: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toda fuente fichada debe quedar en la lista APA de su documento. Y toda referencia de la lista debe terminar citada en el cuerpo del documento.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`S04_ReferentesFaseI_Apellido`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meta semanal de fichas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(por ejemplo, 6 por semana) y cúmplala: así se llega a las 50 sin trasnochos de última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Repita la búsqueda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términos equivalentes de su tema y agregue al menos dos fuentes internacionales.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Aplique la técnica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sobre su mejor artículo y sume tres fuentes más al mapa de diálogo.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Mantenga la lista de referencias en APA actualizada en el mismo documento: no la deje para el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diseñamos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 y el desarrollo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matriz de consistencia que amarra objetivos, técnica, instrumento y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sus objetivos específicos abiertos: sobre ellos se construye la matriz.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Fase I de referentes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