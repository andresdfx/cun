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10 — Resumen, palabras clave UNESCO, conclusiones y referencias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10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Resumen, palabras clave UNESCO, conclusiones y referencias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cabeza y la cola: lo que se escribe de último y se lee de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cuerpo del artículo ya está. Falta lo que el lector ve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después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todo.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Orden real de lectura de un evaluador o de un investigador que encuentra su artículo: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Lee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Lee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resumen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Mira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palabras clave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Salta a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conclusiones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Solo si algo de eso lo engancha, se devuelve a leer el método y los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Consecuencia incómoda: puede tener un excelente trabajo y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nadie pase del resumen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hay algo más duro todavía: si sus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palabras clave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están mal elegidas, el artículo simplemente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aparece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las búsquedas.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trabajo invisible en un repositorio es, en la práctica, un trabajo que no existe.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escribimos cuatro piezas que se redactan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por buenas razones: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resumen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palabras clave UNESCO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conclusiones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lista de referencias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Requisito de hoy: tener el artículo completo abierto. No se puede resumir lo que todavía no existe.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resumen (abstract): qué es y por qué va de último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resumen es un espejo del artículo completo en ~200–250 palabras.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es una introducción corta.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escribe al final por una razón práctica: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ahora sabe cuál fue su resultado principal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Quien lo escribe en la Sesión 03 termina resumiendo un artículo que nunca ocurrió.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Debe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entenderse solo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sin leer nada más: es la única parte que muchos leerán.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NO lleva un resumen: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Citas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nada de (Pérez, 2021) adentro. El resumen sintetiza su trabajo, no el de otros.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Abreviaturas sin definir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 dice CI/CD, escríbalo completo la primera vez o no lo use.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Frases de anuncio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"en este artículo se hablará de…", "a continuación se presentará…".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Tablas, figuras, viñetas o subtítulos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 un párrafo continuo.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resumen (abstract): qué es y por qué va de último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calidad: si alguien lee solo el resumen, debe poder decir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hizo usted y qué encontró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cinco piezas del resumen y cuánto ocupa cada una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67264"/>
                <a:gridCol w="5819485"/>
                <a:gridCol w="242478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Pieza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Extensión aprox.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1.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¿Cuál es el problema y por qué importa?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1–2 frases (~15 %)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2. Objetivo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se propuso este estudio?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frase (~15 %)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3. 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se hizo? (enfoque, población, instrumento)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1–2 frases (~25 %)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4. Resultado principal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se encontró? Con el dato fuerte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1–2 frases (~30 %)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5. Conclusión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se concluye y para quién sirve?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frase (~15 %)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Truco de escritura: redacte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 frase por pieza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en ese orden, y después una las cinco. Nunca empiece a escribir el resumen "a ver qué sale".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 resumen armado pieza por 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Contexto: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"El despliegue continuo de software depende de la confiabilidad de las pruebas; en equipos pequeños, las pruebas manuales alargan los tiempos de entrega y aumentan el riesgo de error."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"Este estudio evaluó el efecto de automatizar las pruebas de regresión sobre el tiempo de despliegue de un equipo de desarrollo."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Método: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"Se aplicó un diseño cuasi-experimental de medición antes-después en un equipo de ocho desarrolladores, registrando doce despliegues y aplicando un cuestionario de percepción de confianza en la suite de pruebas."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Resultado: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"El tiempo promedio de despliegue se redujo de 42 a 18 minutos y la percepción de confianza aumentó, aunque se registraron dos fallos nuevos en producción."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Conclusión: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"La automatización de pruebas reduce significativamente el tiempo de despliegue en equipos pequeños, siempre que la cobertura de la suite se mantenga vigilada."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Verificación final: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cuenta con Herramientas → Recuento de palabras en Google Docs. Total: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211 palabras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Dentro del rango.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Si le sobran palabras, el recorte casi siempre está en el contexto, no en el resultado.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Si le faltan, revise: probablemente omitió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método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dato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del resultado.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Tres resúmenes que se rechazan (y cómo se arreglan)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"En el presente artículo se hablará sobre la importancia de la automatización de pruebas en el desarrollo de software moderno, tema de gran relevancia hoy en día."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Anuncia en vez de informar y no dice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nada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del estudio: ni objetivo, ni método, ni resultado. Arréglelo empezando por el problema concreto y llegando al dato.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"Según Pérez (2021) y Gómez (2020), la automatización mejora los tiempos; en este trabajo se confirma dicha postura."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Tres resúmenes que se rechazan (y cómo se arreglan)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resumen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cita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Los autores viven en el marco y en la discusión. Aquí solo va lo que usted hizo y encontró.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"Se implementó CI/CD con TDD y BDD sobre un stack MERN aplicando KPI de MTTR."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Sopa de siglas sin definir: el lector de otra área lo abandona en la primera línea. Defina o reformule en lenguaje llano.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846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Cuente sus palabras antes de entregar. Un resumen de 90 palabras está incompleto; uno de 400 dejó de ser resumen.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Palabras clave: por qué NO se inventan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palabras clave son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etiquetas de búsqueda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artículo dentro de repositorios y bases de datos.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se eligen por bonitas: se toman de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vocabulario controlado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el estándar en educación superior es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tesauro de la UNESCO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¿Qué es un vocabulario controlado?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lista normalizada donde cada concepto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término oficial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 autor escribe *software libre*, otro *código abierto* y otro *open source*, los tres trabajos quedan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dispersos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nadie los encuentra juntos.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tesauro decide cuál es el término normalizado, y todos usan ese.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Beneficio directo para usted: su artículo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aparece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cuando alguien busca por el término oficial de su campo.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Cantidad: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a 5 términos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más. Cada palabra clave debe abrir una puerta distinta al trabajo.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Buena práctica: combinar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método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(p. ej. un término del objeto, uno del enfoque y uno del sector).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dura: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palabra clave que ya está en el título aporta poco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use las keywords para lo que el título no alcanzó a decir.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para elegir palabras clave que sí funcionen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en bruto 8 a 10 términos que describan su trabajo, tal como se le vengan a la cabeza.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Táchelos si son demasiado generales (*tecnología*, *sistemas*, *investigación*) o demasiado locales (el nombre de la empresa).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Busque cada término sobreviviente en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tesauro UNESCO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quédese con la forma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normalizada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aparezca allí.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Contraste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escriba el término y mire cuántos resultados relevantes salen.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casi no hay resultados, nadie lo usa: cambie de término.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salen miles pero de otro campo, el término es ambiguo: precíselo.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Verifique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Redalyc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cómo nombran ese mismo concepto los autores latinoamericanos: es el público que más lo va a buscar.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Deje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 términos definitivos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minúscula, separados por punto y coma, en el orden de mayor a menor especificidad.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Guárdelos: los mismos términos irán después en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metadatos del repositorio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(Sesión 13). Deben coincidir exactamente.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Del término inventado al término que sí se busca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394699"/>
                <a:gridCol w="387965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el estudiante escribió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Término normalizado propuesto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"pruebitas automáticas"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Coloquial; no existe en ningún tesauro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automatización de pruebas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"tecnología"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Tan amplio que no filtra nada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ingeniería de software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empresa XYZ S.A.S."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Local; nadie busca por ahí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pequeñas y medianas empresas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"cositas de calidad"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Impreciso y no académico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control de calidad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"CI/CD"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Sigla sin desarrollar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integración continua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"innovación disruptiva total"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Adjetivación de marketing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innovación tecnológica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definitiva: escriba su palabra clave en Scholar. Si los resultados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se parecen a su trabajo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es su palabra clave.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Conclusiones: responden la pregunta, no repiten los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Error casi universal: pegar los resultados otra vez y llamarlo conclusiones.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lo mismo.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conclusión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responde la pregunta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usted formuló en la Sesión 02.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Cuatro piezas obligatorias, en este orden: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Respuesta a la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 una frase directa.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Cumplimiento de los objetivos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qué se logró de lo que se prometió.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Limitaciones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hasta dónde llega lo que se puede afirmar.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 Trabajo futuro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qué debería hacer el siguiente investigador (o usted en otro momento).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Prohibiciones: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ni ideas nuevas ni datos que no aparecieron 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Nada puede estrenarse en las conclusiones.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Conclusión pobre: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"Se logró reducir el tiempo de despliegue de 42 a 18 minutos." → eso es un resultado, ya lo dijo.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Conclusiones: responden la pregunta, no repiten los resultados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Conclusión correcta: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"Automatizar las pruebas de regresión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 reduce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tiempo de despliegue en equipos pequeños; los tres objetivos específicos se cumplieron, aunque la evidencia se limita a un equipo y doce despliegues, por lo que se propone replicar la medición en varios equipos y durante un semestre completo."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cuatro secciones de cierre: qué debe tener cada una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3546"/>
                <a:gridCol w="4849571"/>
                <a:gridCol w="375841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debe tener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Error típico que la hunde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Resumen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Contexto → objetivo → método → resultado → conclusión, ~200–250 palabras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Escribirlo primero; meterle citas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Palabras clave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3–5 términos del tesauro UNESCO, verificados en Scholar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Inventar términos "bonitos" o repetir el título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Conclusiones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Respuesta a la pregunta + objetivos + límites + trabajo futuro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Repetir resultados o traer ideas nuevas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 7, orden alfabético, sangría francesa, sin huérfanas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Citas en el cuerpo que no están en la lista (y viceversa)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Estas cuatro secciones son las que un jurado revisa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primero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cuando abre el documento. Son también las más rápidas de corregir: no se llegue con ellas a medias.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Referencias sin huérfanas: el flujo con ZoteroBib (gratis, sin instalar)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 huérfana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desajuste entre el cuerpo y la lista. Ocurre en dos direcciones: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cité a alguien en el texto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está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la lista final. (El jurado lo lee como cita inventada.)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B: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hay una entrada en la lista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nunca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citó en el cuerpo. (Se lee como bibliografía de relleno.)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Requisitos de forma de la lista final: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orden alfabético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sangría francesa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de fuentes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exige la plantilla del programa.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Referencias sin huérfanas: el flujo con ZoteroBib (gratis, sin instalar)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Flujo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navegador, gratis, sin cuenta ni instalación: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Pegue el DOI, el ISBN o la URL de cada fuente y ZoteroBib arma la ficha sola.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Corrija a mano lo que quede mal (mayúsculas del título, autores incompletos): la herramienta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ayuda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adivina.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Seleccione el estilo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APA 7ª edición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el idioma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español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Copie la bibliografía completa y péguela en su documento; queda ordenada alfabéticamente.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Aplique sangría francesa en Google Docs (Formato → Alinear y aplicar sangría → Opciones de sangría → Francesa, 1,27 cm).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Auditoría anti-huérfanas: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recorra la lista final y busque cada apellido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Ctrl+F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cuerpo. Cero coincidencias = entrada de más.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la sesión de cierre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"Voy escribiendo el resumen desde ya para ir adelantando."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resumen se escribe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al final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solo cuando existe el resultado se sabe qué resumir. Adelantarlo produce un resumen que promete lo que el artículo no cumple.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"Pongo como palabras clave las que suenan más profesionales."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Elíjalas del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tesauro UNESCO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verifíquelas en Scholar. Son vocabulario controlado para que el artículo sea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encontrable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adorno.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la sesión de cierre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"En las conclusiones repito los resultados, que es lo importante."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Las conclusiones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responden la pregunta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 incluyen límites y trabajo futuro. Repetir resultados es desperdiciar la última sección que el jurado lee.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"Tengo citas en el cuerpo que no alcancé a poner en la lista, pero se entiende."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Son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huérfanas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toda cita va en la lista y toda entrada se cita. Cuádrelo en ZoteroBib antes de cerrar; es media hora que evita una observación del jurado.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Cierre del artículo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documento llamado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S10_CierreArticulo_Apellido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resumen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su artículo,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~200–250 palabras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las cinco piezas en orden. Anote al final el conteo real de palabras.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Elija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 o 5 palabras clave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verificadas en el tesauro UNESCO y contrastadas en Scholar. Al lado de cada una, escriba cuántos resultados relevantes arrojó la búsqueda.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Redacte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conclusiones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las cuatro piezas: respuesta a la pregunta, cumplimiento de objetivos, limitaciones y trabajo futuro.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Revise sus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ZoteroBib: conteo de fuentes, estilo APA 7, orden alfabético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auditoría anti-huérfanas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las dos direcciones.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minutos. El Docente acompaña y revisa resúmenes en voz alta.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Cierre del artículo (20 minutos)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resumen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entiende sin leer el artículo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cae dentro del rango de palabras.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palabras clave existen como términos reales y arrojan resultados pertinentes en Scholar.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conclusiones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responden la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investigación, no repiten datos.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Cero huérfanas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cada apellido de la lista aparece en el cuerpo y viceversa.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Ejercicio de control en pareja: intercambien resúmenes. Si su compañero no puede decir qué hizo usted y qué encontró, el resumen todavía no está listo.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5334528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resumen tiene las 5 piezas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con color contexto, objetivo, método, resultado, conclusión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resumen está en rango de palabras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Herramientas → Recuento de palabras en Docs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resumen no cita a nadie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Ctrl+F por "(" : no debe haber citas APA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siglas sin definir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Leo el resumen como si fuera de otra carrera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palabras clave son términos normalizados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una verificada en tesauro UNESCO + Scholar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conclusiones responden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Ubico la frase que responde y la subrayo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limitaciones y trabajo futuro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Ambas aparecen explícitas en el 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lista está en APA 7 y alfabética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Generada en ZoteroBib, con sangría francesa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5334528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Cero referencias huérfanas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Ctrl+F de cada apellido de la lista dentro del cuerpo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`S10_CierreArticulo_Apellido` a CDigital — [URL CDigital — campus del curso pendiente].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esto,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artículo debería quedar completo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introducción, marco, método, resultados, discusión, conclusiones y referencias.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Tarea de cierre en casa: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 su artículo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corrido y en voz alta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de principio a fin. Los saltos de coherencia se oyen antes de verse.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Guarde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sus 4 palabras clave en un lugar visible del documento: las va a volver a necesitar en los metadatos del repositorio.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Termine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cuadrar la lista de referencias: es lo más tedioso y lo que peor sale a última hora.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pasamos a la divulgación —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póster, evidencias y verificación antiplagio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—.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su artículo terminado y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evidencias del prototipo o de la obra-creación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(capturas, bitácora, instrumento).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10: Resumen, palabras clave UNESCO, conclusiones y referencias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