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01 — PRESENTACIÓN DEL CURSO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Trabajo de Grado 3 — Modelos de Innovación (Ing. Sistemas)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01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Sesión de encuadre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Hoy: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el curso · el Docente · ustedes · cómo se evalúa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TRABAJO DE GRADO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AGENDA DE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Sesión de encuadre — hoy no vemos tema; el contenido arranca en la Sesión 02.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10911535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curso: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qué se trata, cómo trabajamos y qué se llevan al final.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Docente: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quién los acompaña y cómo contactarlo.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Ustedes: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nos presentamos en el tablero colaborativo.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Cómo se evalúa: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qué ítems tiene el aula, cuánto pesa cada uno y qué se hace con él.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Acuerdos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trabajo y el primer encargo autónomo.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Docente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2148840"/>
            <a:ext cx="8991295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Ingeniero de Sistemas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Candidato a MSc en Inteligencia Artificial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Líder Técnico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Speaker Tecnológico</a:t>
            </a:r>
          </a:p>
        </p:txBody>
      </p:sp>
      <p:pic>
        <p:nvPicPr>
          <p:cNvPr id="5" name="Picture 4" descr="gmail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4160520"/>
            <a:ext cx="292608" cy="2926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063239" y="4142232"/>
            <a:ext cx="8488375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 i="0">
                <a:solidFill>
                  <a:srgbClr val="007433"/>
                </a:solidFill>
                <a:latin typeface="Calibri"/>
              </a:rPr>
              <a:t>julian_castanoe@cun.edu.co</a:t>
            </a:r>
          </a:p>
        </p:txBody>
      </p:sp>
      <p:pic>
        <p:nvPicPr>
          <p:cNvPr id="7" name="Picture 6" descr="logo_cun_sol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523586"/>
            <a:ext cx="1463040" cy="101437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PRESÉNTATE — ROMPEHIELOS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Formulario de Google · encuestas y Q&amp;A en el propio Meet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58521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Escanea el QR o abre: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[URL Formulario Preséntate — pendiente · TRABAJO DE GRADO 3]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Qué respondes (1 min):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tu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nombre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+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tema del artículo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(1 frase) + expectativa del semestre. Entras con tu correo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@cun.edu.co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: no hay que crear cuenta ni instalar nada.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Ahora, ~3 min.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Somos 112: no alcanzamos a presentarnos uno por uno, así que el formulario nos ordena.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Con eso, hoy: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el Docente lee en voz alta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5 o 6 respuestas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y proyecta el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resumen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del formulario — ahí quedan todas a la vista, no solo las leídas.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En vivo: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las preguntas y las votaciones van por la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encuesta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y el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Q&amp;A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del propio Meet; no hay que abrir ninguna otra plataforma.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Después: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las respuestas quedan en una hoja que el Docente usa todo el periodo (equipos, ejemplos y seguimiento).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32927" y="1993391"/>
            <a:ext cx="3328415" cy="3886200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79815" y="2926079"/>
            <a:ext cx="2834640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0C2340"/>
                </a:solidFill>
                <a:latin typeface="Calibri"/>
              </a:rPr>
              <a:t>QR pendiente</a:t>
            </a:r>
          </a:p>
          <a:p>
            <a:pPr algn="ctr">
              <a:spcBef>
                <a:spcPts val="1000"/>
              </a:spcBef>
            </a:pPr>
            <a:r>
              <a:rPr sz="1200" b="0" i="0">
                <a:solidFill>
                  <a:srgbClr val="2B2B2B"/>
                </a:solidFill>
                <a:latin typeface="Calibri"/>
              </a:rPr>
              <a:t>Se genera cuando el formulario tenga enlace real.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32927" y="5230367"/>
            <a:ext cx="3328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007433"/>
                </a:solidFill>
                <a:latin typeface="Calibri"/>
              </a:rPr>
              <a:t>[URL Formulario Preséntate — pendiente · TRABAJO DE GRADO 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EVALÚA — LOS ÍTEMS DEL AULA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Evaluación y notas: solo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los pesos suman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100%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fechas: enunciados y Presentación del Curso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011679"/>
          <a:ext cx="10911533" cy="4297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833871"/>
                <a:gridCol w="1192016"/>
                <a:gridCol w="1192016"/>
                <a:gridCol w="825242"/>
                <a:gridCol w="5868388"/>
              </a:tblGrid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Ítem en CDigital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Tipo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Corte (peso)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Peso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haces con él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1 (30%)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 resuelves en CDigital dentro de su ventana. No se sube archivo.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1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1 (30%)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24%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 resuelves en CDigital dentro de su ventana. No se sube archivo.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2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2 (30%)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 resuelves en CDigital dentro de su ventana. No se sube archivo.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2 (30%)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21%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 resuelves en CDigital dentro de su ventana. No se sube archivo.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Final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Tarea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(40%)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32%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Subes el documento (plantilla APA CUN) al espacio de la tarea.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3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(40%)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 resuelves en CDigital dentro de su ventana. No se sube archivo.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Autoevaluación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(40%)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2%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La diligencias tú mismo en el aula (cuestionario individual).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Coevaluación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Foro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(40%)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2%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Participas en el foro valorando el trabajo de tus pares.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Preséntate: el formulario del curso (somos 112)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Los tres grupos (54450, 54466 y 54467) ven la clase juntos: 112 matriculados.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Presentarse uno por uno se llevaría la hora entera.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Un muro de notas tampoco sirve a esta escala: con 112 notas nadie alcanza a leer las de los demás.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El rompehielos es un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formulario de Google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el Docente lo pega en el chat del Meet y queda en el LEEME de `Clases/`.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Enlace: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[URL Formulario «Preséntate» — pendiente]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Se entra con su correo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@cun.edu.co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: sin cuenta nueva, sin instalar nada y sin costo.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Qué responde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(2–3 minutos, una sola vez): nombre,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su grupo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tema del artículo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una frase y qué espera del semestre.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Cuándo: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los primeros minutos del encuentro. El Docente proyecta el resumen agrupado y lee en voz alta cinco o seis respuestas; el resto queda a la vista.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En vivo, la participación va por el Meet: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las encuestas y el Q&amp;A de la sala aguantan a los 112 sin cola de micrófono.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Queda abierto hasta la Sesión 02 para quien llegó tarde.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El grupo importa: la ACA Final y la sustentación cierran en fechas distintas según el grupo, y el Docente usa esa hoja para no confundirlos.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trabajamos: una hora semanal para cerrar el trabajo de grado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hora sincrónica por semana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quince encuentros. TG3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empieza nada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termina lo que usted viene construyendo desde el semestre anterior.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Antes de cada encuentro: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revisa en CDigital lo que el Docente publica y avanza la sección de la semana.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Durante el encuentro: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criterio y ejemplo en pocos minutos, y luego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revisión sobre su documento real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Aquí se corrige texto, no se toma dictado.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Después: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cierra la sección y la sube a CDigital antes de la siguiente clase.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Qué traer siempre: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Su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artículo abierto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en la versión vigente (una sola, no cinco copias).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Su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lista de referencias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tal como va hoy, con el conteo real.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Una duda concreta: “esta discusión no dialoga con los autores”, no “ayúdeme con el artículo”.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El calendario aprieta al final: quien avanza una sección por semana llega a sustentar con dominio; quien deja todo para el cierre, sustenta lo que alcanzó a leer.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se llevan al final: artículo, sustentación y repositorio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producto de TG3 son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tres cosas encadenadas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y las tres se anuncian hoy para que nadie se entere en la recta final: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1. Un artículo resultado de investigación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con revisión bibliográfica amplia (el Syllabus habla 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al menos 50 referencias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) y una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extensión no inferior a 4.000 palabras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2. Una sustentación ante jurados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defensa oral de su trabajo, no una lectura de diapositivas.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3. La carga al repositorio institucional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con los entregables que exija el instructivo del programa.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 su opción de grado incluye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producto de ingeniería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(prototipo, sistema, modelo, dataset), el producto no reemplaza al artículo: se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documenta e investiga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dentro de él.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Para qué le sirve después: es lo que queda publicado con su nombre. Un artículo bien hecho se muestra en una entrevista, se cita y abre la puerta a posgrado.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Regla del curso: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cada sesión alimenta ese mismo artículo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No hay talleres isla.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Extensión y número de referencias son mínimos del Syllabus 94532, no metas opcionales. Se alcanzan sumando cada semana, nunca la última.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Mapa del curso (1/2): escribir el artículo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Tres tramos: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escribir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el artículo (02–10),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alistar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póster y antiplagio (11)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defender y cerrar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(12–15).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011679"/>
          <a:ext cx="10911533" cy="4297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008629"/>
                <a:gridCol w="4951452"/>
                <a:gridCol w="4951452"/>
              </a:tblGrid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Sesión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De qué se ocupa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queda listo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Presentación del curso, del Docente, de ustedes y de cómo se evalúa (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hoy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Encuadre, acuerdo pedagógico y encargo autónomo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Formulación de pregunta, objetivos y título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Pregunta y objetivos definitivos, con variables visibles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03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Estructura del artículo · taller de introducción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Introducción de 3–4 párrafos en plantilla APA CUN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04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Fase I de referentes de investigación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Primeras fichas y mapa de literatura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05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Diseño de instrumento · desarrollo metodológico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Método e instrumento coherentes con los objetivos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06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Comunidades de práctica y co-creación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Bitácora de retroalimentación de pares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07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Experiencia creativa · análisis de datos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Tabla de hallazgos con lectura escrita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08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Fase III de referentes · cierre del marco teórico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Marco cerrado, sin huecos pendientes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Mapa del curso (2/2): cerrar, defender y entregar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40233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008629"/>
                <a:gridCol w="4951452"/>
                <a:gridCol w="4951452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Sesión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De qué se ocupa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queda listo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09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Resultados, discusión y relación con referentes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Borrador de resultados y discusión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Resumen, palabras clave UNESCO, conclusiones y referencias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Artículo completo de punta a punta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Póster · evidencias · verificación antiplagio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Póster de una página y revisión de similitud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Sustentación ante jurados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Defensa presentada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Entregables para repositorio institucional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Paquete final verificado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Ajustes finales · seguimiento post-sustentación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Correcciones del jurado incorporadas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Cierre administrativo · recepción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Todo cargado y confirmado como recibido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8521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El plazo de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recepción y cierre varía según su grupo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: consúltelo en la Presentación del Curso y anótelo hoy en su calendario.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acuerdo pedagógico: qué pactamos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pacto de trabajo del curso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se deja por escrito hoy, en el espacio del curso en CDigital.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Qué contiene: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Ritmo: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una sección del artículo por sesión, subida antes del siguiente encuentro.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Formato: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plantilla APA CUN abierta en Google Docs, con referencias en APA 7 desde el primer día.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Canal: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CDigital para todo lo que se entrega, se comenta y se califica.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Retroalimentación: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el Docente comenta sobre lo entregado. Sin texto entregado no hay corrección posible.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Sustentación: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se prepara desde ahora, no la semana anterior; el guion de defensa nace del artículo.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No es un formalismo: es lo que se invoca cuando alguien dice “yo no sabía”. Léalo antes de aceptarlo.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Corte por corte: qué hay en el aula y qué se prepara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2011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825242"/>
                <a:gridCol w="3300968"/>
                <a:gridCol w="3209275"/>
                <a:gridCol w="357604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Corte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hay en el aula (CDigital)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se prepara para eso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Flojo vs. bueno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Corte 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y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: cuestionarios que se resuelven en el aula, dentro de su ventana. No se sube archivo.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Retoma del proyecto: pregunta, objetivos y título definitivos + estructura del artículo e introducción en plantilla APA CUN.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Flojo: repetir el TG2 sin revisarlo · Bueno: pregunta afinada, con lo reutilizado y lo reescrito ya decidido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Corte 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y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: también cuestionarios en el aula.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Referentes, método e instrumento; marco cerrado y primeros hallazgos escritos.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Flojo: 50 referencias listadas y ninguna citada · Bueno: cada sección se apoya en la anterior y las fuentes se usan como argumento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Corte 3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Final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(tarea: el artículo, único documento que se sube) +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3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+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autoevaluación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(cuestionario) y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coevaluación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(foro).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Artículo completo (resultados, discusión, conclusiones y referencias), póster, antiplagio y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sustentación ante jurados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Flojo: leer diapositivas y no saber por qué eligió ese método · Bueno: contar el trabajo en 10 minutos y responder preguntas difíciles con calma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8404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sustentación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no tiene ítem propio en el libro de calificaciones: es requisito del programa y se prepara con el mismo artículo que califica la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ACA Final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Pesos: slide «CÓMO SE EVALÚA».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La ACA Final, la autoevaluación y la coevaluación cierran en fechas distintas según su grupo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: revíselas en la Presentación del Curso.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entrega, paso a paso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Escriba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Docs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sobre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plantilla APA CUN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`Clases/Recursos/` (*Archivo → Abrir con → Documentos de Google*).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Trabaje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siempre en el mismo documento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el artículo es un texto que crece, no una carpeta de archivos sueltos.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Nombre cada entrega `SNN_Tema_Apellido`. Ejemplo: `S03_Introduccion_Perez`.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Entregue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PDF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(*Archivo → Descargar → PDF*), salvo que el Docente pida el enlace del documento.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Suba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el espacio de la sesión: [URL CDigital — campus del curso pendiente]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Verifique el estado: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subido no es entregado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Guarde la captura del envío si el campus lo permite.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Si entrega tarde: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avise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antes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del cierre. Se recibe, pero se califica lo que exista dentro del plazo.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Los quices y parciales no se suben: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son cuestionarios que se resuelven en el aula dentro de su ventana, iguales para los tres grupos.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La ACA Final y la auto/coevaluación cierran por grupo.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Revise el suyo en la Presentación del Curso y anótelo hoy en su calendario.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Integridad académica: aquí sí pasa por antiplagio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Todo lo que no es suyo se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cita en APA 7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ideas, datos, tablas, figuras, código y su propio texto de semestres anteriores.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Parafrasear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 reescribir con sus palabras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y citar igual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La cita textual es la excepción, y siempre con página.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Cuenta como plagio: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Copiar y pegar sin comillas ni referencia.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Traducir un texto ajeno y firmarlo como propio.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Reutilizar su trabajo de TG2 sin declararlo (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autoplagio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).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En este curso el documento pasa por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herramienta antiplagio institucional del campus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antes de la sustentación: no es una amenaza, es un paso del cronograma.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El Docente confirma hoy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cómo opera esa revisión en este periodo y si el curso pide adjuntar algún informe.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Si se detecta plagio se activa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debido proceso institucional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y en opción de grado el costo es la titulación, no una nota.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Regla práctica: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anote la fuente en el instante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en que pega algo. Con 50 referencias, reconstruir de memoria es imposible.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Inteligencia artificial generativa: reglas de la casa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Sí se puede usar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para entender un concepto, ordenar la estructura de una sección o pulir la redacción de un párrafo que usted ya escribió.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Se declara.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Una línea al final del documento: qué herramienta usó y para qué. Usarla no es falta; ocultarlo sí.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1225296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Verifique cada referencia: estos modelos inventan autores, títulos y DOIs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, y esa bibliografía va al repositorio institucional. Además, frente a jurados usted defiende cada párrafo: lo que no pueda explicar en voz alta se nota en un minuto.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Herramientas del curso: todas gratis, todas en el navegador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40233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567420"/>
                <a:gridCol w="5226533"/>
                <a:gridCol w="3117581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Herramienta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Para qué la usamos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Cuándo aparece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CDigital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Entrega oficial, materiales, antiplagio institucional y notas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Siempre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Google Docs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Escribir el artículo sobre la plantilla APA CUN, con historial de versiones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Todas las sesiones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Google Académico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Buscar referentes, ver “citado por” y cerrar huecos del marco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Fases de referentes y discusión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SciELO y Redalyc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Fuentes abiertas iberoamericanas para el contexto local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Marco teórico y discusión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Biblioteca CUN (web)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Texto completo de bases suscritas, con login institucional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Cuando el PDF no es abierto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ZoteroBib (zbib.org)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Generar y ordenar las referencias en APA 7 sin instalar nada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Cada vez que cite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Google Slides / Canva free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Póster de divulgación y apoyo visual de la sustentación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Alistamiento y defensa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8521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No se exige instalar nada: ni Office de escritorio, ni Mendeley, ni Zotero de escritorio. Un navegador y su cuenta institucional bastan.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pedir ayuda (y cómo pedirla bien)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Canal oficial: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espacio de mensajes o foro del curso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Ahí queda registro de lo preguntado y lo respondido.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Correo del Docente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(el de la slide *Docente*): novedades personales — incapacidad, cruce de horario, fuerza mayor.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Tiempo de respuesta: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días hábiles y, en todo caso,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antes del siguiente encuentro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el encuentro: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 revisión uno a uno se hace sobre su documento. Llegue con la sección abierta y el párrafo señalado.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buena pregunta trae el texto: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Mal: “profe, ¿cómo hago la discusión?”.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Bien: “tengo este hallazgo y estos dos autores que dicen lo contrario: ¿cómo lo escribo sin contradecirme?”.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En trámites de sustentación y repositorio,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pregunte temprano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los pasos administrativos no se resuelven la víspera.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Acuerdos de convivencia del encuentro virtual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1225296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Puntualidad.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Se empieza a la hora del pie de estas diapositivas: en una hora semanal, diez minutos tarde son la sexta parte de la clase.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Micrófono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apagado mientras alguien expone.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191256"/>
            <a:ext cx="10911535" cy="1225296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300984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Compartir pantalla es parte del curso.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Se proyectan borradores reales, propios y ajenos; la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cámara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se agradece si su conexión lo permite. Nadie se burla de un texto a medio hacer: para eso venimos.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645152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754880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Retroalimentación exigente y respetuosa.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Se comenta el trabajo, nunca a la persona, y siempre con una propuesta concreta. Así es exactamente como pregunta un jurado.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Preguntas frecuentes del primer día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“¿Puedo cambiar de tema?”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No a estas alturas, salvo fuerza mayor hablada con el Docente. TG3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culmina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un proyecto: cambiarlo aquí es no llegar a sustentar.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1225296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“¿50 referencias no es imposible?”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No: se arrastran las de TG2 y se suman las nuevas cada semana. Lo imposible es reunirlas la última semana.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“¿Me sirve lo de TG2?”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Sí: se reutiliza lo bueno y se reescribe lo débil.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389120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49884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“¿La sustentación es en vivo y ante quién?”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Ante jurados, en la fecha que fije su grupo. Se prepara desde ahora: cada sesión escrita es material de esa defensa.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Lo que debe tener listo para la Sesión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Lectura autónoma (obligatoria):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unidades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U1 y U2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del Syllabus —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casos de éxito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retomar el proyecto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(contexto y planteamiento).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Hoy no se dictaron: se leen en casa y se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retoman al abrir la Sesión 02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Dónde está: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ya viene en tu carpeta del curso, en `Sesion 01 - …/` (el PDF y el archivo `Lectura autonoma - Sesion 01.txt` con la cita y el enlace). También queda publicada en CDigital.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Arme su matriz de herencia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un Google Doc llamado `S01_AcuerdoRetoma_Apellido`, con tres columnas: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Reutilizo tal cual · Reescribo · Creo de cero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sección por sección de lo que trae de TG2.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Cuente sus referencias reales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cuántas están citadas hoy en el cuerpo y cuántas le faltan.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Tres compromisos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concretos suyos para las próximas dos semanas.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Súbalo a CDigital antes de la Sesión 02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abra los enunciados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`Clases/Recursos/ACAs/` (artículo y sustentación): traen la ventana de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ACA Final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su grupo.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Cuente las referencias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citadas en el cuerpo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, no las de la lista final: esa diferencia es el trabajo real que queda por delante.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ACUERDOS DE TRABAJO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713232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Entrega oficial: CDigital.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Lo que no esté ahí, no está entregado.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79191"/>
            <a:ext cx="10911535" cy="713232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88920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Traer el avance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escrito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a cada encuentro: se trabaja sobre lo que ya existe.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621024"/>
            <a:ext cx="10911535" cy="713232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730752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Integridad académica: citar siempre en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APA 7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El plagio tiene debido proceso.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 LA PRÓXIMA SESIÓN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Lectura autónoma: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U1–U2 (Casos de éxito · retomar proyecto · contexto y planteamiento) — la retomamos al abrir la Sesión 02.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Revisar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Presentación del Curso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completa (fechas, evaluación, contenido de todas las sesiones).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Abrir los enunciados de `Clases/Recursos/ACAs/`: son la guía escrita de lo que evalúa cada corte.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Ya sabemos qué haremos, cómo se evalúa y quién es quién.</a:t>
            </a:r>
          </a:p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2B2B2B"/>
                </a:solidFill>
                <a:latin typeface="Calibri"/>
              </a:rPr>
              <a:t>Sesión 02: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arranca el contenido del curso.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TRABAJO DE GRADO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