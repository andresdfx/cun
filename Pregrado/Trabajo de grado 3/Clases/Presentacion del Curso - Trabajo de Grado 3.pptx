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TRABAJO DE GRADO 3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Modelos de Innovación — Ingeniería de Sistemas · Código 94532 · 2 créditos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Periodos de referencia: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26P04 / 26V04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desde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 de agosto de 2026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Modalidad: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Virtual — encuentro sincrónico por Google Meet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 confirmado: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Grupos: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54450 / 54466 / 54467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 UNICO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Contacto del 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julian_castanoe@cun.edu.co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Regla de festivo: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si el martes es festivo →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Docente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2148840"/>
            <a:ext cx="8991295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Ingeniero de Sistemas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Candidato a MSc en Inteligencia Artificial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Líder Técnico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Speaker Tecnológico</a:t>
            </a:r>
          </a:p>
        </p:txBody>
      </p:sp>
      <p:pic>
        <p:nvPicPr>
          <p:cNvPr id="5" name="Picture 4" descr="gmail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160520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63239" y="4142232"/>
            <a:ext cx="848837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 i="0">
                <a:solidFill>
                  <a:srgbClr val="007433"/>
                </a:solidFill>
                <a:latin typeface="Calibri"/>
              </a:rPr>
              <a:t>julian_castanoe@cun.edu.co</a:t>
            </a:r>
          </a:p>
        </p:txBody>
      </p:sp>
      <p:pic>
        <p:nvPicPr>
          <p:cNvPr id="7" name="Picture 6" descr="logo_cun_so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523586"/>
            <a:ext cx="1463040" cy="10143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PRESÉNTATE — ROMPEHIELOS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Tablero colaborativo (Padlet)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79"/>
            <a:ext cx="58521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Escanea o abre: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https://padlet.com/andres_dfx/cun-wruz81hmf9k06gd7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Post-it: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nombre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tema del artículo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(1 frase) + expectativa del semestre.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Tablero oficial: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Padlet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(mismo enlace en los 5 cursos).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Ahora (~7 min). Leemos juntos 3–4 notas (sin juzgar).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2927" y="1993391"/>
            <a:ext cx="3328415" cy="388620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presentacion_estudi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655" y="210312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32927" y="5230367"/>
            <a:ext cx="332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0C2340"/>
                </a:solidFill>
                <a:latin typeface="Calibri"/>
              </a:rPr>
              <a:t>Escanea o abre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2927" y="5468112"/>
            <a:ext cx="3328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07433"/>
                </a:solidFill>
                <a:latin typeface="Calibri"/>
              </a:rPr>
              <a:t>https://padlet.com/andres_dfx/cun-wruz81hmf9k06gd7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¿QUÉ ES TRABAJO DE GRADO 3?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Culminación de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opción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artículo resultado de investigación (o obra-creación) + sustentación.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Prerrequisito: Opción de grado II.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Artículo con revisión rigurosa (≥ 50 referencias; extensión no inferior a 4.000 palabras, según Syllabus).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32 h con docente + 64 h de trabajo autónomo.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27632"/>
            <a:ext cx="5341467" cy="4727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1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Presentación del curso · docente · estudiantes · ACAs.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2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Formulación de pregunta, objetivos y título.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3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Estructura del artículo · taller de introducción.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4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Fase I de referentes de investigación.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5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Diseño de instrumento · desarrollo metodológico.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6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Comunidades de práctica y co-creación.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7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Experiencia creativa · análisis de datos.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8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Fase III de referentes · cierre del marco teórico.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0147" y="1627632"/>
            <a:ext cx="5341467" cy="4727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9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Resultados, discusión y relación con referentes.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10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Resumen, palabras clave UNESCO, conclusiones y referencias.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11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Póster · evidencias · verificación antiplagio.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12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Sustentación ante jurados.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13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Entregables para repositorio institucional.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14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Ajustes finales · seguimiento post-sustentación.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100" b="1" i="0">
                <a:solidFill>
                  <a:srgbClr val="2B2B2B"/>
                </a:solidFill>
                <a:latin typeface="Calibri"/>
              </a:rPr>
              <a:t>Sesión 15</a:t>
            </a:r>
            <a:r>
              <a:rPr sz="1100" b="0" i="0">
                <a:solidFill>
                  <a:srgbClr val="2B2B2B"/>
                </a:solidFill>
                <a:latin typeface="Calibri"/>
              </a:rPr>
              <a:t> — Cierre administrativo · recepción (hasta 22 nov).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EVALUACIÓN — CORTE ÚNICO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115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2B2B2B"/>
                </a:solidFill>
                <a:latin typeface="Calibri"/>
              </a:rPr>
              <a:t>Art. 52 · inicio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10/08/2026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· día de clase mar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79"/>
            <a:ext cx="5355183" cy="658368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084831"/>
            <a:ext cx="520887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EV05  ·  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70048"/>
            <a:ext cx="5355183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880359"/>
            <a:ext cx="51357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10/08/2026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19" y="3794759"/>
            <a:ext cx="4715103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977639"/>
            <a:ext cx="51357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22/09/2026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431" y="2011679"/>
            <a:ext cx="5355183" cy="658368"/>
          </a:xfrm>
          <a:prstGeom prst="rect">
            <a:avLst/>
          </a:prstGeom>
          <a:solidFill>
            <a:srgbClr val="324A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9583" y="2084831"/>
            <a:ext cx="520887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EXAM  ·  50%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6431" y="2670048"/>
            <a:ext cx="5355183" cy="222199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6159" y="2880359"/>
            <a:ext cx="51357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INICIO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07433"/>
                </a:solidFill>
                <a:latin typeface="Calibri"/>
              </a:rPr>
              <a:t>29/09/2026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6471" y="3794759"/>
            <a:ext cx="4715103" cy="27432"/>
          </a:xfrm>
          <a:prstGeom prst="rect">
            <a:avLst/>
          </a:prstGeom>
          <a:solidFill>
            <a:srgbClr val="D0D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6159" y="3977639"/>
            <a:ext cx="513572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8F989D"/>
                </a:solidFill>
                <a:latin typeface="Calibri"/>
              </a:rPr>
              <a:t>CIERRE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0C2340"/>
                </a:solidFill>
                <a:latin typeface="Calibri"/>
              </a:rPr>
              <a:t>10/11/2026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56631"/>
            <a:ext cx="10911535" cy="640080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5166359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0" i="0">
                <a:solidFill>
                  <a:srgbClr val="2B2B2B"/>
                </a:solidFill>
                <a:latin typeface="Calibri"/>
              </a:rPr>
              <a:t>EV05 50% + EXAM 50%. Enunciados: Clases/Recursos/ACAs/. Cierre grupos 54466/54467: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22/11/2026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; grupo 54450: </a:t>
            </a:r>
            <a:r>
              <a:rPr sz="1200" b="1" i="0">
                <a:solidFill>
                  <a:srgbClr val="2B2B2B"/>
                </a:solidFill>
                <a:latin typeface="Calibri"/>
              </a:rPr>
              <a:t>15/11/2026</a:t>
            </a:r>
            <a:r>
              <a:rPr sz="1200" b="0" i="0">
                <a:solidFill>
                  <a:srgbClr val="2B2B2B"/>
                </a:solidFill>
                <a:latin typeface="Calibri"/>
              </a:rPr>
              <a:t> (EXAM anticipado).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ALCANCE DE LA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Régimen: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Art. 52 ·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corte único 100%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= EV05 (proceso)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50%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+ EXAM (sustentación)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50%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(syllabus SIAC TG3).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Autoevaluación y coevaluación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con porcentaje propio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(modelo AFI Proyecto I: 4% + 4% según ESP329):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aplican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en esta asignatura según el syllabus SIAC / Art. 52.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No confundir con la autoevaluación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institucional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SIAC (calidad de programas en acreditacion.cun.edu.co): esa no es una nota del curso.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Entregas, rúbricas EV y publicación de notas: solo por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Si Coordinación publica un instrumento formativo sin peso propio, se anuncia en el aula; no inventamos % fuera del syllabus.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 DEL 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Encuentro: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Martes, 5:00 pm – 6:00 pm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El Meet es el mismo enlace para toda la serie.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Martes festivo =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clase autónoma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(avance guiado en el CDigital).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621024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30752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Antes de la sustentación: verificación antiplagio (unidad 12) y póster listo.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RECURSOS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Contacto del Docente: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julian_castanoe@cun.edu.co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 (campus del curso):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Google Meet (mismo enlace toda la serie):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[URL Meet — mismo enlace toda la serie · Trabajo de Grado 3]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Plantilla APA CUN – Proyecto de Grado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(archivo local): `Cursos/Plantilla_APA_CUN_Proyecto de grado.docx`.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URL pública Plantilla APA: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[URL Drive/Moodle de la Plantilla APA CUN —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Enunciados ACA / cortes (estudiantes):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`Clases/Recursos/ACAs/`.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Repositorio: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carga institucional del trabajo de grado al finalizar la sustentación.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Entregas y notas oficiales: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solo por CDigital del 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¡Empezamos!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Nos vemos en el primer encuentro sincrónico: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Martes, 5:00 pm – 6:00 pm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Objetivo del periodo: artículo listo + sustentación ante jurados.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94532 · Trabajo de Grado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64465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F989D"/>
                </a:solidFill>
                <a:latin typeface="Calibri"/>
              </a:rPr>
              <a:t>Inicio 5:10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