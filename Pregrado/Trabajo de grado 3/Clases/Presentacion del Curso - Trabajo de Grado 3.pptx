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8" roundtripDataSignature="AMtx7mgccOJGvM8JtTmy5bdZHX1wjpXX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49AAC5-94BD-47C3-A8FE-DF9A0F37C44A}">
  <a:tblStyle styleId="{2B49AAC5-94BD-47C3-A8FE-DF9A0F37C44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8" Type="http://customschemas.google.com/relationships/presentationmetadata" Target="meta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DE GRADO 3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Modelos de Innovación — Ingeniería de Sistemas · Código 94532 · 2 créditos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Periodos de referencia: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26P04 / 26V04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desde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 de agosto de 2026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Modalidad: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Virtual — encuentro sincrónico por Google Meet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Horario confirmado: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Martes, 5:00 pm – 6:00 pm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inicio efectivo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5:10 pm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Grupos: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54450 / 54466 / 54467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Bloque: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BLOQUE UNICO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festivo: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el martes es festivo →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Líder Técnico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gmail_icon.png" id="96" name="Google Shape;9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41605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julian_castanoe@cun.edu.co</a:t>
            </a:r>
            <a:endParaRPr/>
          </a:p>
        </p:txBody>
      </p:sp>
      <p:pic>
        <p:nvPicPr>
          <p:cNvPr descr="logo_cun_solo.png" id="98" name="Google Shape;9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ROMPEHIELOS — DOS VERDADES Y UNA MENTIRA</a:t>
            </a:r>
            <a:endParaRPr/>
          </a:p>
        </p:txBody>
      </p:sp>
      <p:sp>
        <p:nvSpPr>
          <p:cNvPr id="106" name="Google Shape;106;p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 · Slido · 8 minutos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Entra a slido.com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escribe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el Docente pega en el chat del Meet. Sin cuenta ni instalar nada.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juego: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«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» sobre el Docente. Se proyectan tres frases suyas y votas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cuál de las tres NO es cierta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acertar es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 entre 3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así que arrancamos todos iguales.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rondas (~4 min).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cerrar cada una el Docente revela la mentira y cuenta la historia de la verdad más rara: ahí queda hecha su presentación.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Ronda final (~2 min):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sale la tabla de posiciones y 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primeros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toman el micrófono con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dos verdades y una mentira. Gana quien engañe a más gente. Hablan tres, no 112.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Premio: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revisión 1 a 1 con el Docente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avance del ganador, antes de la primera entrega.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toda la sesión van por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mismo Slido.</a:t>
            </a:r>
            <a:endParaRPr/>
          </a:p>
        </p:txBody>
      </p:sp>
      <p:sp>
        <p:nvSpPr>
          <p:cNvPr id="108" name="Google Shape;108;p3"/>
          <p:cNvSpPr/>
          <p:nvPr/>
        </p:nvSpPr>
        <p:spPr>
          <a:xfrm>
            <a:off x="8332927" y="1993391"/>
            <a:ext cx="3328415" cy="38862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slido.com</a:t>
            </a:r>
            <a:endParaRPr/>
          </a:p>
          <a:p>
            <a:pPr indent="0" lvl="0" marL="0" marR="0" rtl="0" algn="ctr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te lo pega el Docente en 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chat del Meet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[URL Slido — evento del rompehielos pendiente · TRABAJO DE GRADO 3]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ES TRABAJO DE GRADO 3?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Culminación de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opción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artículo resultado de investigación (o obra-creación) + sustentación.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Prerrequisito: Opción de grado II.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Artículo con revisión rigurosa (≥ 50 referencias; extensión no inferior a 4.000 palabras, según Syllabus).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32 h con docente + 64 h de trabajo autónomo.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26" name="Google Shape;126;p5"/>
          <p:cNvSpPr txBox="1"/>
          <p:nvPr/>
        </p:nvSpPr>
        <p:spPr>
          <a:xfrm>
            <a:off x="640080" y="1627632"/>
            <a:ext cx="5341500" cy="39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Presentación del curso · docente · estudiantes · ACAs.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2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Formulación de pregunta, objetivos y título.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3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Estructura del artículo · taller de introducción.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4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Fase I de referentes de investigación.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5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Diseño de instrumento · desarrollo metodológico.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6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Comunidades de práctica y co-creación.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7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Experiencia creativa · análisis de datos.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8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Fase III de referentes · cierre del marco teórico.</a:t>
            </a:r>
            <a:endParaRPr sz="1800"/>
          </a:p>
        </p:txBody>
      </p:sp>
      <p:sp>
        <p:nvSpPr>
          <p:cNvPr id="127" name="Google Shape;127;p5"/>
          <p:cNvSpPr txBox="1"/>
          <p:nvPr/>
        </p:nvSpPr>
        <p:spPr>
          <a:xfrm>
            <a:off x="6210147" y="1627632"/>
            <a:ext cx="5341500" cy="39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9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Resultados, discusión y relación con referentes.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10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Resumen, palabras clave UNESCO, conclusiones y referencias.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11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Póster · evidencias · verificación antiplagio.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12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Sustentación ante jurados.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13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Entregables para repositorio institucional.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14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Ajustes finales · seguimiento post-sustentación.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15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Cierre administrativo · recepción de entregables.</a:t>
            </a:r>
            <a:endParaRPr sz="1800"/>
          </a:p>
        </p:txBody>
      </p:sp>
      <p:sp>
        <p:nvSpPr>
          <p:cNvPr id="128" name="Google Shape;128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EVALUACIÓN — TRES CORTES (ART. 52)</a:t>
            </a:r>
            <a:endParaRPr/>
          </a:p>
        </p:txBody>
      </p:sp>
      <p:sp>
        <p:nvSpPr>
          <p:cNvPr id="135" name="Google Shape;135;p6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Art. 52 · inicio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10/08/2026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día de clase mar</a:t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  ·  30%</a:t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18/08/2026</a:t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15/09/2026</a:t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2  ·  30%</a:t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22/09/2026</a:t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13/10/2026</a:t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  ·  40%</a:t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14/10/2026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10/11/2026</a:t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640080" y="5056631"/>
            <a:ext cx="10911535" cy="640080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30% = Quiz 1 6% + Parcial 1 24% · Corte 2 30% = Quiz 2 9% + Parcial 2 21% · Corte 3 40% = ACA Final 32% + Quiz 3 4% + Autoevaluación 2% + Coevaluación 2% — libro de calificaciones de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Quices y parciales: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cuestionarios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cierran en día de clase (mar).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(tarea/documento) cierra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07/11/2026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Enunciados: Clases/Recursos/ACAs/.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 por grupo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54450: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07/11/2026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54466 y 54467: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07/11/2026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(El cierre de notas es posterior: 54450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15/11/2026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54466/54467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22/11/2026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.)</a:t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CALIFICA — LOS ÍTEMS DEL AULA (CDIGITAL)</a:t>
            </a:r>
            <a:endParaRPr/>
          </a:p>
        </p:txBody>
      </p:sp>
      <p:sp>
        <p:nvSpPr>
          <p:cNvPr id="163" name="Google Shape;163;p7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Libro de calificaciones del aula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(CDigital) · cortes 30% / 30% / 40% · los pesos suman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/>
          </a:p>
        </p:txBody>
      </p:sp>
      <p:graphicFrame>
        <p:nvGraphicFramePr>
          <p:cNvPr id="164" name="Google Shape;164;p7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{2B49AAC5-94BD-47C3-A8FE-DF9A0F37C44A}</a:tableStyleId>
              </a:tblPr>
              <a:tblGrid>
                <a:gridCol w="2220925"/>
                <a:gridCol w="1448425"/>
                <a:gridCol w="1448425"/>
                <a:gridCol w="1351875"/>
                <a:gridCol w="4441875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 del ítem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25/08/2026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13/10/2026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07/11/2026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27/10/2026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10/11/2026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10/11/2026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ALCANCE DE LA EVALUACIÓN</a:t>
            </a:r>
            <a:endParaRPr/>
          </a:p>
        </p:txBody>
      </p:sp>
      <p:sp>
        <p:nvSpPr>
          <p:cNvPr id="172" name="Google Shape;172;p8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Régimen: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Art. 52 ·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cortes 30% / 30% / 40%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según el libro de calificaciones del aula (el Syllabus SIAC 94532 declaraba «corte único 100%»: manda el aula).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corte se compone de ítems concretos del aula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nombre exacto, tipo de actividad, peso y cierre: en la tabla «CÓMO SE CALIFICA» de esta presentación.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Autoevaluación (2%, cuestionario)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coevaluación (2%, foro)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 hacen parte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la nota de este curso: van en el tercer corte y se diligencian/participan en el aula.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quices y parciales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son cuestionarios en CDigital y cierran en día de clase;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una tarea (documento) y cierra en la fecha máxima de recepción.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confundir con la autoevaluación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institucional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SIAC (calidad de programas en acreditacion.cun.edu.co): esa no es una nota del curso.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Entregas, rúbricas y publicación de notas: solo por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un peso o una ventana del aula no coincide con este material,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corrige aquí y se avisa en clase.</a:t>
            </a:r>
            <a:endParaRPr/>
          </a:p>
        </p:txBody>
      </p:sp>
      <p:sp>
        <p:nvSpPr>
          <p:cNvPr id="173" name="Google Shape;173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DEL CURSO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640080" y="1737360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Encuentro: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Martes, 5:00 pm – 6:00 pm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El Meet es el mismo enlace para toda la serie.</a:t>
            </a:r>
            <a:endParaRPr/>
          </a:p>
        </p:txBody>
      </p:sp>
      <p:sp>
        <p:nvSpPr>
          <p:cNvPr id="182" name="Google Shape;182;p9"/>
          <p:cNvSpPr/>
          <p:nvPr/>
        </p:nvSpPr>
        <p:spPr>
          <a:xfrm>
            <a:off x="640080" y="2679191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Martes festivo =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el avance guiado queda en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carpeta de esa sesión en el Drive de clases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(`Clases/Sesion NN - …/`); la entrega y la nota siguen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640080" y="4133087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 de la sustentación: verificación antiplagio (unidad 12) y póster listo.</a:t>
            </a:r>
            <a:endParaRPr/>
          </a:p>
        </p:txBody>
      </p:sp>
      <p:sp>
        <p:nvSpPr>
          <p:cNvPr id="186" name="Google Shape;186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RECURSOS</a:t>
            </a:r>
            <a:endParaRPr/>
          </a:p>
        </p:txBody>
      </p:sp>
      <p:sp>
        <p:nvSpPr>
          <p:cNvPr id="193" name="Google Shape;193;p10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 (campus del curso):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https://cdigital.cun.edu.co/course/view.php?id=112321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Meet (mismo enlace toda la serie):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Meet — mismo enlace toda la serie · Trabajo de Grado 3]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Material de clases (Drive):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Material de clases — carpeta Clases/ en Drive · Trabajo de Grado 3]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aquí está el material de cada sesión, incluida la de una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– Proyecto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(viene en tu carpeta del curso): `Recursos/Plantilla_APA_CUN_Proyecto de grado.docx`.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(en tu carpeta):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`Recursos/Plantilla_APA_CUN_Proyecto de grado.docx`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Enunciados ACA / cortes (estudiantes):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`Clases/Recursos/ACAs/`.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Repositorio: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carga institucional del trabajo de grado al finalizar la sustentación.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Entregas y notas oficiales: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solo por CDigital del curso.</a:t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00" name="Google Shape;20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1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Nos vemos en el primer encuentro sincrónico: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Martes, 5:00 pm – 6:00 pm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del periodo: artículo listo + sustentación ante jurados.</a:t>
            </a:r>
            <a:endParaRPr/>
          </a:p>
        </p:txBody>
      </p:sp>
      <p:sp>
        <p:nvSpPr>
          <p:cNvPr id="203" name="Google Shape;203;p11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94532 · Trabajo de Grado 3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