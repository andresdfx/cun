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12 — SUSTENTACIÓN ANTE JURADOS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Sustentación ante jurados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 minutos que valen un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sustentación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evaluación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trabajo de grado, ante pares y ante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jurados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asignados por la Dirección del Programa.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peso dentro de la evaluación está definido en la Presentación del Curso: revíselo, porque no es un trámite.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desbalance que hay que asumir: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semestre de trabajo se defiende en 10 a 12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Todo lo que no quepa ahí, simplemente no será escuchado.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escena típica: usted expone, los jurados escuchan sin gesticular, y al final vienen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o cuatro preguntas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Muchos trabajos buenos pierden puntos en esas preguntas, no en la exposición.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Dato que tranquiliza: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jurados preguntan casi siempre lo mismo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Se pueden anticipar.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ensayo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la defensa real. Aquí se equivoca uno gratis; allá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Salimos con dos productos: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guion oral cronometrado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preguntas difíciles ya respondidas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 la mano su artículo, su póster y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cronómetro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(el del celular). Hoy el reloj manda.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evalúa realmente el jurado (y qué 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Dominio del 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¿entiende lo que hizo o lo está recitando?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detecta al instante: quien domina explica con sus palabras; quien no, repite frases del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Claridad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¿un jurado de otra línea de énfasis entiende su trabajo?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necesita definir cinco siglas para llegar al problema, perdió claridad.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Coherencia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¿pregunta, objetivos, método, resultados y conclusiones cuentan la misma historia?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Aquí es donde se paga cualquier objetivo huérfano de la Sesión 09.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Capacidad de defensa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¿sostiene sus decisiones cuando lo cuestionan, sin ponerse a la defensiva?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evalúa: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bonitas que sean sus diapositivas, cuántas animaciones tienen, ni cuánto texto lograron caber.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Consecuencia directa: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las diapositivas se apoyan, no se leen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Si usted lee, el jurado concluye que no domina.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evalúa realmente el jurado (y qué no)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frase para memorizar: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slide muestra, la voz explica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Reparto del guion oral: 10–12 minutos, bloque por bloque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86314"/>
                <a:gridCol w="1033724"/>
                <a:gridCol w="689149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Min.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dice exactamente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 y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Por qué importa el problema y cuál fue la pregunta, textual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general y los específicos, sin leerlos de la slide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Enfoque, población o caso, instrumento y por qué ese diseño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Resultados y hallazgos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hallazgos, con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 o 2 datos fuertes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que se recuerden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Discusión y conclusión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significa y la respuesta directa a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Aporte y cierre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le deja al conocimiento y a quién le sirve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tiempo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cuenta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pasarse resta y quedarse muy corto también. El bloque que más se infla siempre es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método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el que más se descuida,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aporte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 un guion oral (no es leer el artículo)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guion oral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texto para decir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texto para leer. Se escribe distinto: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Frases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cortas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de una sola idea. Si al decirla se le acaba el aire, es muy larga.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Voz activa: "medí doce despliegues", no "fueron medidos doce despliegues".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Sin subordinadas encadenadas ni conectores académicos (*por consiguiente*, *en virtud de lo cual*).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Escríbalo en Google Docs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bloques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minuto anotado al margen de cada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Abra fuerte: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primera frase decide si el jurado le presta atención los once minutos siguientes.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Mala apertura: "Buenas tardes, mi nombre es… y voy a hablar de mi trabajo de grado sobre…".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Buena apertura: "En el equipo que estudié, poner una versión en producción tomaba 42 minutos y fallaba una de cada tres veces."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fuerte: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última frase es la que queda sonando cuando empiezan a preguntar.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 un guion oral (no es leer el artículo)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Marque en el guion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o cuatro datos memorizables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dato del problema, el dato del resultado, el número de fuentes, una cita clave.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los primeros dos minutos, palabra por palabra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(00:00)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"Buenas tardes, jurados. Voy a contarles un problema muy concreto: en el equipo de desarrollo que estudié,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poner una versión en producción tomaba 42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dependía de que alguien corriera las pruebas a mano."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(00:25)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"Eso tenía dos costos: tiempo perdido y errores que se colaban cuando había afán."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(00:40)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"De ahí salió mi pregunta de investigación: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¿en qué medida automatizar las pruebas de regresión reduce el tiempo de despliegue en un equipo pequeño?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(01:00)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"Mi objetivo general fue evaluar ese efecto. Para lograrlo me propuse tres objetivos específicos: caracterizar el proceso actual, implementar la suite automatizada y medir el cambio."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(01:30)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"Ahora les cuento cómo lo hice."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transición al bloque de método.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los primeros dos minutos, palabra por palabra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Observe lo que hace el guion y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hace: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Empieza con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dato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con una presentación personal larga.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Enuncia la pregunta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textual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tal como está en el artículo.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objetivos se dicen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tres palabras cada uno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se leen completos de la diapositiva.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Cierra el bloque con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transición explícita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 jurado siempre sabe en qué parte 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preguntas que el jurado hace casi siempre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01173"/>
                <a:gridCol w="2297165"/>
                <a:gridCol w="551319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típica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está evaluando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Respuesta modelo (corta)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eligió ese método?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Coherencia interna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"Porque responde al objetivo específico 2; lo alineé en la matriz de consistencia."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¿Cuáles son las limitaciones?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Honestidad y criterio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tamaño de muestra y el contexto de un solo equipo; por eso no generalizo."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aporta su trabajo?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Conciencia del aporte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"Evidencia local sobre X y un prototipo replicable en equipos similares."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garantiza la validez?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Rigor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"Instrumento alineado a los objetivos y triangulación con datos reales del proceso."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no usó una muestra mayor?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Manejo de la crítica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"Fue una limitación de alcance del periodo; lo dejo planteado como trabajo futuro."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autor sustenta esa afirmación?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Dominio del marco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"X (2022), que reporta el mismo efecto en equipos de menos de diez personas."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 volviera a empezar, ¿qué cambiaría?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Reflexión crítica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"Mediría desde la primera semana; empecé la línea base tarde."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Lleve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tres citas memorizadas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(autor y año). Poder decir "eso lo sostiene X (2022)" en vivo es la señal más fuerte de dominio del marco.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"no sé": la respuesta que salva o hunde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 van a preguntar algo que no midió, no leyó o no previó.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 todos les pasa.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es una falla; es una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Fórmula de tres partes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responder sin inventar: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Reconocimiento breve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"Eso no lo medí en este estudio." (Una frase. Sin disculpas largas.)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Reconducción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"Lo que sí observé fue…" y trae un hallazgo que sí domina.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Proyección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"Sería un trabajo futuro pertinente, porque…".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Respuesta que hunde: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inventar un número, un autor o un resultado. Un jurado con experiencia lo detecta en la repregunta, y ahí sí se acabó la credibilidad.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Respuesta que también hunde: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ponerse a la defensiva —"es que usted no entendió mi trabajo"—.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pregunta parte de un malentendido, se aclara con calma: "Permítame precisar: lo que medí fue…".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Cuando no entienda la pregunta,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pida que se la repitan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preferible a responder otra cosa.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"no sé": la respuesta que salva o hunde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algo simple que funciona: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respire y cuente hasta dos antes de responder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Dos segundos de silencio se leen como reflexión, no como duda.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diapositivas de apoyo: reglas que sí se cumplen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Número razonable para 10–12 minutos: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 8 y 12 diapositivas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Más de eso obliga a correr.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idea por diapositiva.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tiene dos ideas, son dos diapositivas.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Prohibido el párrafo.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hay un párrafo en pantalla, usted lo va a leer y el jurado también: los dos hacen lo mismo y nadie escucha.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Máximo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seis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seis palabras por línea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como norte, no como ley.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diapositiva más valiosa de toda la sustentación es la del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hallazgo con el gráfico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Déle tiempo y no la tape con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Incluya siempre estas cuatro: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método en un esquema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 principal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conclusión/aporte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Deje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diapositiva de reserva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final con datos de detalle (tabla completa, ficha del instrumento).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muestra en la exposición: se saca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solo si un jurado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Ese gesto proyecta preparación.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póster de la sesión anterior ya le resolvió el trabajo de síntesis: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reutilice sus bloques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sustentación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"Leo las diapositivas: así no se me olvida nada."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Las diapositivas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 apoyan, no se leen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jurado evalúa dominio, y leer es la evidencia más clara de que no lo hay. Si teme olvidar, lleve fichas con palabras clave, no párrafos.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"Si me preguntan algo que no sé, improviso algo que suene bien."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846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Nunca invente.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Reconozca en una frase, reconduzca a lo que sí domina y proyéctelo como trabajo futuro. La honestidad breve suma; la invención se descubre en la repregunta.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sustentación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"El tiempo no importa tanto; si me extiendo es porque tengo mucho que decir."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tiempo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 parte de la evaluación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Pasarse muestra falta de síntesis. Ensaye con cronómetro hasta caber en 10–12 minutos con margen.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"Meto todo el artículo en las diapositivas para no dejar nada por fuera."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Diapositivas con párrafos = lectura garantizada. Use frases y visuales;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contenido lo pone su voz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la pantalla.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sustentación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Ensayar en voz alta, de pie y con reloj es la única preparación que de verdad funciona. Leer el guion en silencio no cuenta como ensayo.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del ensayo (lo que haremos ahora mismo)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su guion oral por bloques y ponga el cronómetro del celular a la vista.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Póngase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pie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expóngalo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voz 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completo, sin detenerse a corregir.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pareja anota tres cosas: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tiempo de cada bloque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cuándo usted leyó la slide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no se entendió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terminar, revisen juntos: ¿qué bloque se pasó? Casi siempre es el método o la contextualización.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Recorte ahí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en los resultados. Los resultados son lo que el jurado vino a escuchar.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pareja le hace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preguntas difíciles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lista de preguntas típicas, sin avisar cuáles.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Responda con la fórmula de tres partes. Su pareja anota si usted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inventó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Cambien de rol y repitan el ciclo completo.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Cada uno anota sus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correcciones prioritarias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las aplica en el guion antes de entregar.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Grabarse con la grabadora de voz del celular y escucharse después es incómodo y es, de lejos, el ejercicio que más rápido mejora la exposición.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Guion oral y preguntas anticipadas (20 minutos, en parejas)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Trabajen en parejas y entregue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S12_GuionSustentacion_Apellido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El guion oral por bloques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minutos asignados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cada uno y el tiempo real que le tomó en el ensayo.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Cinco preguntas difíciles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anticipa del jurado,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cada una con su respuesta corta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(máximo cuatro líneas).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las cinco debe ser una pregunta que usted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sabe responder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resuelta con la fórmula de tres partes.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 Las tres correcciones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su pareja le señaló y qué hizo con cada 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Dinámica: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uno sustenta con cronómetro mientras el otro toma notas de tiempo y claridad; a los 10 minutos, cambian.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Guion oral y preguntas anticipadas (20 minutos, en parejas)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guion completo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cabe en 10–12 minutos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cronometrados de verdad, no estimados.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Durante el ensayo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leyó ninguna diapositiva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(su pareja lo certifica).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cinco respuestas son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concretas, cortas y honestas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ninguna inventa un dato.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decir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citas (autor, año)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memoria.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Rúbrica de autoobservación: cómo se ve un ensayo bien hecho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6881"/>
                <a:gridCol w="4134897"/>
                <a:gridCol w="42497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Todavía flojo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Listo para jurados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pasa o no llega; no lo midió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10–12 min cronometrados, con margen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Uso de la slide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lee; le da la espalda al jurado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Mira al frente; la slide solo apoya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Dato fuerte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hay un número memorable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1–2 datos que el jurado repetiría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"Según varios autores…"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Cita 3 autores con apellido y año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Respuesta al no sé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Inventa o se queda callado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Reconoce, reconduce y proyecta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"Bueno, eso sería todo"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Frase de aporte, clara y preparada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Postura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Sentado, voz baja, muletillas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 pie, pausas, ritmo controlado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sustentar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guion 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escrito por bloques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cada bloque tiene su minuto asignado.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cronometré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menos dos veces y cabe en el tiempo con margen.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Puedo enunciar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de investigación de memoria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textual.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Tengo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o 2 datos fuertes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listos para decir sin mirar la pantalla.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Sé responder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elegí ese 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una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Tengo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limitaciones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claras y las digo yo antes de que me las pregunten.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Preparé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preguntas difíciles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respuesta corta.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Memoricé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citas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(autor y año) que sostienen mis afirmaciones clave.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Mis diapositivas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tienen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son entre 8 y 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sustentar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Tengo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diapositiva de reserva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datos de detalle por si preguntan.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Ensayé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pie y en voz alta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leyendo en silencio.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Verifiqué que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aporte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queda dicho de forma explícita en el cierre.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`S12_GuionSustentacion_Apellido` a CDigital — [URL CDigital — campus del curso pendiente].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Ensaye tres veces más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casa: de pie, en voz alta y con reloj. La tercera vez suele ser la primera buena.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Grábese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celular y escúchese: cuente sus muletillas y los momentos donde se apura.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Amplíe su lista de preguntas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cinco a diez; entre más anticipe, menos improvisará.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Repase el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última vez: la pregunta "¿qué autor sustenta eso?" llega casi siempre.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Prepare lo logístico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defensa real: conexión, archivo del PPT en la nube y una copia en PDF por si falla el original.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armamos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entregables para el repositorio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que es donde su artículo queda publicado.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anexos rotulados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 el curso lo exige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el informe de similitud que le haya indicado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12: Sustentación ante jurados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