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06 — Innovación local–internacional · entidades de apoyo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Creatividad y Pensamiento Innovador — Escuela de Ingenierías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06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Innovación local–internacional · entidades de apoyo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CREATIVIDAD Y PENSAMIENTO INNOVADOR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Una semilla buena no basta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Una innovación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rara vez sobrevive sola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. Para pasar de prototipo a impacto necesita cosas que ustedes no tienen todavía.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Capital · mentoría · redes de contactos · infraestructura · marco normativo · clientes.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La metáfora del día: una semilla buena no basta. Necesita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tierra, agua, luz y clima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●   El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ecosistema de innovación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es ese entorno: el conjunto de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actores y reglas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que rodean a un equipo de I+D o a un emprendedor.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Por eso su trabajo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no termina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cuando suben el archivo a CDigital. Termina —de verdad— cuando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alguien de afuera le abre una puerta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a la propuesta.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●   Y para que alguien abra esa puerta, hay que saber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 quién tocarla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qué pedir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cuando abre.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Aviso de calendario, sin rodeos: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esta es la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última sesión antes del cierre de la ACA Final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, y la ACA califica dos cosas de hoy: el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ecosistema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(entidades de apoyo) y el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pitch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●   La próxima sesión ya no alcanza a alimentar la entrega: sirve para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sustentar y consolidar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lo que hoy quede escrito.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Salen de la hora con un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mapa de mínimo 3 entidades reales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con un pedido concreto a cada una, y el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guion del pitch de 60 segundos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cronometrado.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Las fechas exactas de cierre están en CDigital y en la Presentación del Curso. Revíselas hoy mismo, no el fin de semana.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le puede dar el ecosistema (y qué no)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Seis insumos que una propuesta necesita y que casi nunca se consiguen solos: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Capital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dinero para materiales, licencias o dedicación. Rara vez es lo primero que falta.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Mentoría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alguien que ya se equivocó antes y le ahorra tres meses de camino.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Redes de contactos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el acceso a las personas correctas, que suele valer más que el dinero.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Infraestructura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laboratorios, equipos, espacios, datos.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Marco normativo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permisos, avales, respaldo institucional para poder probar.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Clientes o usuarios reales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el insumo más escaso de todos y el que más rápido madura un proyecto.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 que el ecosistema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hace: no valida por usted, no arregla una propuesta sin usuario, y no reemplaza la evidencia.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llega a una entidad sin saber qué problema resuelve, la puerta se abre y no pasa nada.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Antes de buscar plata, pregúntese cuál de los seis insumos es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el que hoy le falta de verdad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Casi nunca es el primero.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misma innovación cambia de escala: local → internacional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297165"/>
                <a:gridCol w="3158602"/>
                <a:gridCol w="2871456"/>
                <a:gridCol w="258431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Escala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se innova ahí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Quién decide y financia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le exigen a usted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Local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(barrio, campus, empresa)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Mejora de un proceso concreto, con usuarios que usted puede ver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institución o el jefe del área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 piloto pequeño y un permiso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Regional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(ciudad, departamento)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Soluciones replicables en varios sitios parecidos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Alcaldías, gobernaciones, cámaras de comercio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Que sirva a más de un caso y se pueda medir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Nacional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Propuestas alineadas con políticas y focos del país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MinCiencias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,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iNNpulsa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, ministerios sectoriales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Formulación formal, indicadores y contrapartida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Internacional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Retos abiertos, cooperación y escalamiento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Programas de cooperación,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OCDE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/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CEPAL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como referencia, corporativos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Inglés, estándares y evidencia comparable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No se sube de escala saltando pasos: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un piloto local bien medido es el pasaporte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para la escala siguiente. Sin él, la postulación nacional se cae en la primera revisión.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Tipos de impacto: por qué le importa a un país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Una entidad no financia "una buena idea": financia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 impacto que puede mostrar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Hay cuatro tipos, y conviene saber cuál es el suyo.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Económico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— ahorro, productividad, empleo, ingresos. El más fácil de medir y el más pedido en convocatorias.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Social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— calidad de vida, acceso, inclusión, tiempo devuelto a las personas.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Ambiental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— consumo de energía, residuos, huella, uso de recursos.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Institucional / de conocimiento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— capacidades nuevas, datos disponibles, procesos que antes no existían.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El caso del laboratorio, tipificado: el impacto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 "una app". 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tiempo de práctica recuperado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(social)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uso más eficiente de equipos ya comprados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(económico).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Regla para escribirlo: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impacto = a quién + qué cambia + en cuánto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"Mejorar la experiencia" no es un impacto; "30 estudiantes recuperan una hora de práctica por semana" sí.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Por qué esto decide una postulación: dos propuestas iguales compiten, y gana la que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nombró su impacto y dijo cómo lo mediría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En su ACA Final, esa frase de impacto es lo que le da sentido al punto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siguiente paso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mapa de entidades: cuatro cuadrantes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139516"/>
                <a:gridCol w="5562743"/>
                <a:gridCol w="320927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Cuadrante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Ejemplos orientativos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suelen ofrecer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Universitario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Unidad de emprendimiento de la CUN · semilleros de investigación · laboratorios y docentes del programa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Mentoría, espacio, validación, contactos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Público / mixto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Cámaras de Comercio · programas de alcaldías y gobernaciones ·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iNNpulsa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MinCiencias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Convocatorias, capital semilla, formación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Privado / redes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Hubs y aceleradoras · centros de desarrollo tecnológico (p. ej.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Cidei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) · comunidades tech · empresas ancla de su sector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Piloto, inversión, red de clientes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Internacional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Programas de cooperación ·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open innovation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de multilatinas · plataformas de retos · marcos de referencia (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OCDE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CEPAL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Retos abiertos, financiación, escalamiento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Es un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mapa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no un directorio. Los programas cambian: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verifiquen el nombre y la vigencia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el día que vayan a escribir. Un nombre mal escrito hunde la credibilidad del documento.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Aprender a preguntar el encaje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Antes de acercarse a cualquier entidad, respóndase una sola pregunta: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¿para qué me sirve ESTA entidad?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Cinco tipos de encaje posibles. Elija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por entidad — no los cinco: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Mentoría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que alguien revise lo que ya hice y me diga dónde está el hueco.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Capital semilla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recursos para una etapa concreta y acotada.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Networking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que me conecten con quien ya trabaja en esto.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Infraestructura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acceso a un espacio, un equipo o unos datos.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Validación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usuarios reales para probar mi MVP en condiciones reales.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 usted no sabe qué pediría, la entidad todavía no le sirve.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No es la entidad la que falla: es que su propuesta aún no sabe qué le falta.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Truco para descubrirlo: vuelva al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MVP y a la prueba de validación de la sesión pasada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¿Qué le faltó para ejecutarla bien?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lo que pide.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"Pedir apoyo" no es un pedido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975873"/>
                <a:gridCol w="3372656"/>
                <a:gridCol w="456300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Pedido vago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Por qué no funciona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Pedido concreto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"Necesito apoyo para mi proyecto"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otro no sabe qué hacer con eso y archiva el correo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"Solicito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20 minutos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para que revisen mi Canvas y mi MVP"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"Quisiera que me ayuden con usuarios"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No dice cuántos, ni cuándo, ni para qué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"Solicito acceso a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10 usuarios por 2 semanas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para probar el flujo"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"Me interesa participar en convocatorias"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Pide información que ya es pública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"Solicito confirmar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fechas y requisitos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de la convocatoria vigente"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"Busco financiación"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Sin monto ni destino, no es evaluable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"Solicito apoyo para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materiales de un piloto de 4 semanas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Un buen pedido cabe en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un correo de 5 líneas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y le permite al otro decir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sí o no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sin tener que preguntar nada más.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mapa de entidades del caso del laboratorio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2011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088170"/>
                <a:gridCol w="2264658"/>
                <a:gridCol w="5558706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Entidad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Tipo de apoyo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le pediría en un correo de 5 líneas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Unidad de emprendimiento de la CUN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Mentoría / pitch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Revisión del Canvas y del pitch, y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5 contactos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de estudiantes usuarios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Área de TI o empresa del sector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Piloto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10 usuarios reales durante 2 semanas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para cronometrar el flujo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Programa público o Cámara de Comercio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Convocatoria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Confirmación de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fechas y requisitos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de postulación vigentes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8404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Fíjense en la tercera columna: cada fila tiene un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pedido concreto, medible y acotado en el tiempo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Ninguna dice "pedir ayuda".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pitch de 60 segundos: qué logra y qué 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 pitch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 contar todo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Es lograr que el otro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quiera una segunda conversación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Nada más.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esto lo tienen claro, el resto es fácil: todo lo que no ayude a conseguir esa segunda charla,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sobra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error número uno, y el más caro: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empezar por la tecnología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"Hicimos una app con inteligencia artificial que..." — nadie se conecta con eso, ni siquiera la gente técnica.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 tecnología entra en el tramo 3,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como medio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nunca como protagonista.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pitch empieza por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la persona y su dolor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Es lo único que todo el mundo entiende sin contexto.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pitch de 60 segundos: qué logra y qué no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Tres reglas de forma: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Una sola idea por tramo.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Si mete dos, se pierden las dos.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Números concretos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cuando los tenga (4 de 5, 30 %, una hora perdida). Un número vale por tres adjetivos.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Termine pidiendo algo.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Un pitch sin pedido deja al otro sin saber qué hacer.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Los cinco tramos del pitch de 60 segundos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069758"/>
                <a:gridCol w="4279033"/>
                <a:gridCol w="1497661"/>
                <a:gridCol w="4065081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Tramo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Contenido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Tiempo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Pregunta que responde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Usuario + dolor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~10 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¿A quién y qué le duele?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Insight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~10 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¿Qué observación lo cambia todo?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Propuesta + tipo de innovación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~15 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¿Qué proponen y qué cambia?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Evidencia breve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~15 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¿Por qué debería creerles?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Pedido / siguiente paso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~10 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¿Qué necesitan de mí ahora?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tramo 4 es el que separa un proyecto de aula de una propuesta creíble: ahí entra su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validación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o su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vigilancia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de la sesión pasada.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el pitch completo, tramo por tramo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Tramo 1 · Usuario + dolor: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"Los estudiantes de Ingeniería pierden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hasta una hora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buscando un laboratorio libre."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Empieza por la persona. Todavía no aparece ninguna tecnología.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Tramo 2 · Insight: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"Al observarlos notamos que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70 % de los choques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se concentra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dos franjas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día."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insight es la observación que uno no esperaba. Es lo que hace que el otro levante la cabeza.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Tramo 3 · Propuesta + tipo: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"Proponemos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asignación automática desde el horario del curso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sin trámite de reserva. Es una innovación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 proceso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Quince segundos, y nombra el tipo. Eso muestra que sabe qué está haciendo.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Tramo 4 · Evidencia: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"En una prueba con 5 estudiantes,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 de 5 completaron el flujo en menos de un minuto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dijeron que lo usarían cada semana."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número real vence a cualquier adjetivo. Aquí es donde su validación paga.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Tramo 5 · Pedido: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"Buscamos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piloto de dos semanas con un curso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para medirlo en condiciones reales."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el pitch completo, tramo por tramo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Sesenta segundos exactos — y empecé por la persona, no por la app.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y respuestas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Listar entidades sin decir qué les pediría.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Una entidad sin un pedido concreto no sirve. ¿Le pide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mentoría, piloto, capital o contactos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Entidades genéricas o inventadas.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Se necesita el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nombre real y correcto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verificado en su sitio. ¿Existe esa entidad y hace lo que usted dice que hace?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Empezar el pitch por la tecnología.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Empiece por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la persona y su dolor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La tecnología va en el tramo 3, como medio.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y respuestas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Pitch de 3 minutos "porque hay mucho que contar".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En 60 s usted no cuenta todo: logra que quieran una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segunda charla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Corte lo demás.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Confundir el producto con el impacto.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"Una app" no es impacto.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 quién + qué cambia + en cuánto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eso sí lo 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Sobre cupos y financiaciones: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el Docente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no maneja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esas convocatorias y no puede prometer cupos ni recursos. Lo que sí se enseña aquí es 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identificarlas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y 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preguntar el encaje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escribir y ensayar su pitch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Abra un documento y escriba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cinco tramos como títulos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uno debajo del otro.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Llene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frase por tramo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Una sola. Si le salen dos, elija la que más se entienda sin contexto.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Léalo en voz alta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cronómetro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(el del celular sirve). Anote el tiempo real.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Casi todos pasan de 90 segundos en el primer intento. Es normal.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Corte, no acelere.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Hablar más rápido no arregla un pitch largo: lo vuelve incomprensible. Empiece cortando adjetivos y explicaciones técnicas del tramo 3.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Repita hasta quedar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entre 55 y 60 segundos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leyendo a ritmo normal.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Ensaye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parejas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el compañero cronometra y luego repite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entendió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no puede repetir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dolor, el valor y el pedido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el problema es el pitch, no el oyente.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(Opcional) Si quiere una diapositiva de apoyo,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Canva free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el navegador.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sola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con el dolor y el número de evidencia.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escribir y ensayar su pitch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Regla final: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memorice la estructura, no el texto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Un pitch recitado suena a discurso; uno estructurado suena a convicción.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· Mapa de entidades + guion del pitch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Individual, con un ensayo en parejas y cronómetro · dos voluntarios hacen el pitch en vivo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 final tiene: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mapa de entidades, su frase de impacto y el guion del pitch de 60 segundos.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1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Complete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Mapa de entidades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mínimo 3 entidades reales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cuadrantes distintos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con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nombre correcto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pedido concreto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 cada una. Verifique el nombre en el sitio de la entidad; si no lo encuentra, esa entidad no entra.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Escriba su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frase de impacto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a quién + qué cambia + en cuánto. Una sola frase.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3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Escriba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guion del pitch de 60 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cinco tramos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Puede bocetarlo en Excalidraw.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4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Ensaye en parejas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cronómetro: quien escucha repite qué entendió y quien habla ajusta.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clase, sin falta: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pasos 1 a 3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Del 4 en adelante puede quedar en trabajo autónomo, pero antes de la próxima sesión.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Si quiere una diapositiva de apoyo: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Canva free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opcional, una sola. El cronómetro no es para presionar, es para descubrir cuánto sobra.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· cómo se revisa y dónde se entrega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Mapa de entidades + guion del pitch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Quedó bien si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—compruébelo usted antes de cerrar el documento—: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 entidades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tienen nombre verificado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pedido concreto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60 segundos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se entienden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dolor, valor y pedido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Su compañero pudo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repetir el pedido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después de escucharlo; si no, el tramo 5 está mal escrito.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 B: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 el guion no cabe en 60 segundos, recorte el tramo 3: casi siempre es el que sobra.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Entrega: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 `S06_EcosistemaPitch_Apellido` (Google Doc o PDF) como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ACA Final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—tarea, 32,8%—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Verifique el estado: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*subido* no es lo mismo que *entregado*. Lo que no esté en el aula, no está entregado.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Antes de entregar: revise usted mismo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Mis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 entidades existen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escribí su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nombre correcto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(lo verifiqué en su sitio), y no son las tres del mismo cuadrante.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Cada entidad tiene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solo tipo de encaje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mentoría, capital, networking, infraestructura o validación.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Cada pedido 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concreto y acotado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dice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cuánto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 qué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por cuánto tiempo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Escribí mi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frase de impacto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 quién + qué cambia + en cuánto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y dije de qué tipo es (económico, social, ambiental o institucional).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Sé decir en qué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escala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está hoy mi propuesta (local, regional, nacional) y cuál sería el paso siguiente.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Mi pitch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empieza por la persona y su dolor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no por la app, la plataforma ni la IA.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Mi pitch tiene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los cinco tramos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y en el tramo 4 hay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número real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salido de mi validación o de mi vigilancia.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El tramo 5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pide algo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el otro puede responder con un sí o un 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Lo cronometré y quedó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60 segundos o menos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leyendo a ritmo normal.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Antes de entregar: revise usted mismo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El archivo se llama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`S06_EcosistemaPitch_Apellido`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está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continuar — la semana en que se cierra la ACA Final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ideas para llevarse de hoy: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1. Una innovación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sobrevive sola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necesita un ecosistema que le dé lo que le falta.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2. Una entidad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sin un pedido concreto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no le sirve todavía.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3. Un pitch se gana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empezando por la persona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por la tecnología.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(a)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Suban su mapa y su guion como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`S06_EcosistemaPitch_Apellido`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https://cdigital.cun.edu.co/course/view.php?id=115463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(b)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Esta es la semana de la ACA Final.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Arme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paquete consolidado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lo que ya tiene: ficha del problema · ficha Oslo · matriz de tipos · Canvas, MVP y validación · tablero de vigilancia · mapa de entidades · guion del pitch.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Nada de esto hay que inventarlo ahora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son documentos que ya existen. Lo que falta 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integrarlos en un solo texto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que el usuario sea el mismo en todos.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(c)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Revisen en CDigital la rúbrica y el espacio de entrega (EV) de la ACA Final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antes de subir, y verifiquen ahí la fecha exacta de cierre. Cerrado el espacio, la nota es la que hay.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continuar — la semana en que se cierra la ACA Final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Próxima sesión — la última: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taller de consolidación y sustentación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Ya no se entrega nada nuevo: cada quien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sustenta su propuesta con el pitch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recibe retroalimentación y se cierra el curso.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Vengan con el pitch ensayado y con el documento abierto. Se habla, no se lee.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RUTA DE ENTREGABLES DEL CURSO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Sin fechas a propósito: aquí va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 qué punto del curso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cierra cada ítem · la ventana exacta la fija CDigital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79"/>
          <a:ext cx="10911533" cy="4297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59113"/>
                <a:gridCol w="2659113"/>
                <a:gridCol w="5593307"/>
              </a:tblGrid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Cierra en la semana de…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Entregable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debes tener listo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ya cerró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Ten leída la unidad del encuadre: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Propuesta de Innovación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e inteligencia emocional.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03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ya cerró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24%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Domina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Design Thinking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dos técnicas de ideación, bloqueadores y ensanchadores.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04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ya cerró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9%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Suma el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Manual de Oslo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: qué cuenta como innovación y cómo se gestiona; el curso acumula.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05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ya cerró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21%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Tipifica tu innovación (producto, proceso, organización, marketing, social) y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justifícala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06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cierra esta semana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Tarea · 32,8%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Sube la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propuesta consolidada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: problema, tipo Oslo, FODA, Canvas, MVP, vigilancia y pitch.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06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cierra esta semana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3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Ten claros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FODA, Canvas y MVP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(verificable) y para qué sirve la vigilancia tecnológica.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07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Autoevaluación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1,6%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Diligénciala tú, y solo tú,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con honestidad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sobre tu participación real.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07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Foro · 1,6%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Publica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tu aporte: valora hechos del trabajo en equipo, no a las personas.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60807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Esta misma tabla va al final de todas las sesiones. La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fecha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de cada ventana está en el enunciado del ítem (`Clases/Recursos/ACAs/`) y en el aula: si el aula y cualquier otro material se contradicen,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manda el aula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06: Innovación local–internacional · entidades de apoyo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CREATIVIDAD Y PENSAMIENTO INNOVADOR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