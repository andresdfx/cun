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Innovación local–internacional · entidades de apoyo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Innovación local–internacional · entidades de apoyo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Una semilla buena no basta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Una innovación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rara vez sobrevive sola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 Para pasar de prototipo a impacto necesita cosas que ustedes no tienen todavía.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Capital · mentoría · redes de contactos · infraestructura · marco normativo · clientes.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La metáfora del día: una semilla buena no basta. Necesita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tierra, agua, luz y clima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ecosistema de innovación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ese entorno: el conjunto de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actores y reglas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que rodean a un equipo de I+D o a un emprendedor.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Por eso su trabajo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 termina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cuando suben el archivo a CDigital. Termina —de verdad— cuando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alguien de afuera le abre una puerta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a la propuesta.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Y para que alguien abra esa puerta, hay que saber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 quién tocarla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qué pedir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cuando abre.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Aviso de calendario, sin rodeos: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esta es la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última sesión antes del cierre de la ACA Final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y la ACA califica dos cosas de hoy: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ecosistema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(entidades de apoyo) y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pitch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La próxima sesión ya no alcanza a alimentar la entrega: sirve para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sustentar y consolidar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que hoy quede escrito.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Salen de la hora con un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mapa de mínimo 3 entidades reales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con un pedido concreto a cada una, y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guion del pitch de 60 segundos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cronometrado.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Las fechas exactas de cierre están en CDigital y en la Presentación del Curso. Revíselas hoy mismo, no el fin de semana.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le puede dar el ecosistema (y qué 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Seis insumos que una propuesta necesita y que casi nunca se consiguen solos: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Capital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dinero para materiales, licencias o dedicación. Rara vez es lo primero que falta.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Mentoría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alguien que ya se equivocó antes y le ahorra tres meses de camino.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Redes de contactos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acceso a las personas correctas, que suele valer más que el dinero.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Infraestructura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laboratorios, equipos, espacios, datos.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Marco normativo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permisos, avales, respaldo institucional para poder probar.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Clientes o usuarios reales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el insumo más escaso de todos y el que más rápido madura un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el ecosistema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hace: no valida por usted, no arregla una propuesta sin usuario, y no reemplaza la evidencia.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llega a una entidad sin saber qué problema resuelve, la puerta se abre y no pasa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Antes de buscar plata, pregúntese cuál de los seis insumos es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 que hoy le falta de verdad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Casi nunca es el primero.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misma innovación cambia de escala: local → internacional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97165"/>
                <a:gridCol w="3158602"/>
                <a:gridCol w="2871456"/>
                <a:gridCol w="258431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Escala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innova ahí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Quién decide y financia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exigen a usted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Local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(barrio, campus, empresa)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Mejora de un proceso concreto, con usuarios que usted puede ver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institución o el jefe del área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piloto pequeño y un permiso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Regional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(ciudad, departamento)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Soluciones replicables en varios sitios parecidos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Alcaldías, gobernaciones, cámaras de comercio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Que sirva a más de un caso y se pueda medir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Nacional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Propuestas alineadas con políticas y focos del país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MinCiencias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iNNpulsa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ministerios sectoriales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Formulación formal, indicadores y contrapartida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Internacional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Retos abiertos, cooperación y escalamiento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Programas de cooperación,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OCDE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/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CEPAL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como referencia, corporativos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Inglés, estándares y evidencia comparable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 se sube de escala saltando pasos: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piloto local bien medido es el pasaporte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para la escala siguiente. Sin él, la postulación nacional se cae en la primera revisión.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Tipos de impacto: por qué le importa a un país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Una entidad no financia "una buena idea": financia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impacto que puede mostrar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Hay cuatro tipos, y conviene saber cuál es el suyo.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Económico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ahorro, productividad, empleo, ingresos. El más fácil de medir y el más pedido en convocatorias.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Social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calidad de vida, acceso, inclusión, tiempo devuelto a las personas.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Ambiental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consumo de energía, residuos, huella, uso de recursos.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Institucional / de conocimiento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capacidades nuevas, datos disponibles, procesos que antes no existían.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El caso del laboratorio, tipificado: el impacto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"una app".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tiempo de práctica recuperado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(social)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uso más eficiente de equipos ya comprados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(económico).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Regla para escribirlo: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impacto = a quién + qué cambia + en cuánto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"Mejorar la experiencia" no es un impacto; "30 estudiantes recuperan una hora de práctica por semana" sí.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Por qué esto decide una postulación: dos propuestas iguales compiten, y gana la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nombró su impacto y dijo cómo lo mediría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En su ACA Final, esa frase de impacto es lo que le da sentido al punto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siguiente paso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mapa de entidades: cuatro cuadrantes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39516"/>
                <a:gridCol w="5562743"/>
                <a:gridCol w="32092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Cuadrante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Ejemplos orientativos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suelen ofrecer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Universitario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Unidad de emprendimiento de la CUN · semilleros de investigación · laboratorios y docentes del programa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Mentoría, espacio, validación, contactos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Público / mixto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Cámaras de Comercio · programas de alcaldías y gobernaciones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iNNpulsa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MinCiencias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Convocatorias, capital semilla, formación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Privado / redes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Hubs y aceleradoras · centros de desarrollo tecnológico (p. ej.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Cidei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) · comunidades tech · empresas ancla de su sector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Piloto, inversión, red de clientes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Internacional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Programas de cooperación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open innovation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de multilatinas · plataformas de retos · marcos de referencia (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OCDE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CEPAL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Retos abiertos, financiación, escalamiento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mapa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no un directorio. Los programas cambian: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verifiquen el nombre y la vigencia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el día que vayan a escribir. Un nombre mal escrito hunde la credibilidad del documento.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Aprender a preguntar el encaje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Antes de acercarse a cualquier entidad, respóndase una sola pregunta: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¿para qué me sirve ESTA entidad?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Cinco tipos de encaje posibles. Elija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entidad — no los cinco: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Mentoría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que alguien revise lo que ya hice y me diga dónde está el hueco.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Capital semilla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recursos para una etapa concreta y acotada.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Networking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que me conecten con quien ya trabaja en 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Infraestructura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acceso a un espacio, un equipo o unos datos.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usuarios reales para probar mi MVP en condiciones reales.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usted no sabe qué pediría, la entidad todavía no le sirve.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es la entidad la que falla: es que su propuesta aún no sabe qué le falta.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Truco para descubrirlo: vuelva al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MVP y a la prueba de validación de la sesión pasada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¿Qué le faltó para ejecutarla bien?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lo que 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"Pedir apoyo" no es un pedido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3372656"/>
                <a:gridCol w="45630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Pedido vago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no funciona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Pedido concreto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"Necesito apoyo para mi proyecto"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otro no sabe qué hacer con eso y archiva el correo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20 minutos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que revisen mi Canvas y mi MVP"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"Quisiera que me ayuden con usuarios"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dice cuántos, ni cuándo, ni para qué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acceso 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10 usuarios por 2 semanas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probar el flujo"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"Me interesa participar en convocatorias"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Pide información que ya es pública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confirmar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fechas y requisitos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la convocatoria vigente"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"Busco financiación"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Sin monto ni destino, no es evaluable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"Solicito apoyo para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materiales de un piloto de 4 semanas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buen pedido cabe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correo de 5 líneas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le permite al otro decir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sí o no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sin tener que preguntar nada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mapa de entidades del caso del laboratorio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88170"/>
                <a:gridCol w="2264658"/>
                <a:gridCol w="555870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Entidad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de apoyo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le pediría en un correo de 5 líneas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Unidad de emprendimiento de la CUN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Mentoría / pitch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Revisión del Canvas y del pitch,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 contactos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estudiantes usuarios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Área de TI o empresa del sector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Piloto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10 usuarios reales durante 2 semanas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cronometrar el flujo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Programa público o Cámara de Comercio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Convocatoria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Confirmación de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fechas y requisitos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postulación vigentes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Fíjense en la tercera columna: cada fila tiene un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pedido concreto, medible y acotado en el tiempo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Ninguna dice "pedir ayuda".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pitch de 60 segundos: qué logra y qué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pitch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contar 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lograr que el otro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quiera una segunda conversación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Nada más.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esto lo tienen claro, el resto es fácil: todo lo que no ayude a conseguir esa segunda charla,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sobra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error número uno, y el más caro: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empezar por la tecnología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"Hicimos una app con inteligencia artificial que..." — nadie se conecta con eso, ni siquiera la gente técnica.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tecnología entra en el tramo 3,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como medio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nunca como protagonista.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pitch empieza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persona y su dolor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lo único que todo el mundo entiende sin contexto.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pitch de 60 segundos: qué logra y qué no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reglas de forma: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sola idea por tramo.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mete dos, se pierden las 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Números concretos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cuando los tenga (4 de 5, 30 %, una hora perdida). Un número vale por tres adjetivos.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Termine pidiendo algo.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pitch sin pedido deja al otro sin saber qué hacer.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cinco tramos del pitch de 60 segundos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9758"/>
                <a:gridCol w="4279033"/>
                <a:gridCol w="1497661"/>
                <a:gridCol w="4065081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Tramo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Usuario + dolor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¿A quién y qué le duele?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Insight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observación lo cambia todo?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Propuesta + tipo de innovación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~15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proponen y qué cambia?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Evidencia breve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~15 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¿Por qué debería creerles?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Pedido / siguiente paso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~10 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necesitan de mí ahora?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tramo 4 es el que separa un proyecto de aula de una propuesta creíble: ahí entra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validación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o su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vigilancia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la sesión pasada.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pitch completo, tramo por tramo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1 · Usuario + dolor: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"Los estudiantes de Ingeniería pierden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hasta una hora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buscando un laboratorio libre."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Empieza por la persona. Todavía no aparece ninguna tecnología.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2 · Insight: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"Al observarlos notamos que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70 % de los choques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concentra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franjas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día."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insight es la observación que uno no esperaba. Es lo que hace que el otro levante la cabeza.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3 · Propuesta + tipo: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"Proponemos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asignación automática desde el horario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sin trámite de reserva. Es una innovación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proceso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Quince segundos, y nombra el tipo. Eso muestra que sabe qué está haciendo.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4 · Evidencia: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"En una prueba con 5 estudiantes,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 de 5 completaron el flujo en menos de un minuto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dijeron que lo usarían cada semana."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número real vence a cualquier adjetivo. Aquí es donde su validación paga.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Tramo 5 · Pedido: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"Buscamos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piloto de dos semanas con un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medirlo en condiciones reales."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el pitch completo, tramo por tramo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Sesenta segundos exactos — y empecé por la persona, no por la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Listar entidades sin decir qué les pediría.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Una entidad sin un pedido concreto no sirve. ¿Le pide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mentoría, piloto, capital o contactos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Entidades genéricas o inventadas.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necesita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nombre real y correcto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verificado en su sitio. ¿Existe esa entidad y hace lo que usted dice que hace?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Empezar el pitch por la tecnología.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Empiece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la persona y su dolor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La tecnología va en el tramo 3, como medio.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Pitch de 3 minutos "porque hay mucho que contar".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60 s usted no cuenta todo: logra que quieran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segunda charla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Corte lo demás.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Confundir el producto con el impacto.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"Una app" no es impacto.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 quién + qué cambia + en cuánto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eso sí lo 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Sobre cupos y financiaciones: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el Docente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maneja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esas convocatorias y no puede prometer cupos ni recursos. Lo que sí se enseña aquí es 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identificarlas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preguntar el encaje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escribir y ensayar su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un documento y escriba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cinco tramos como títulos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uno debajo del otro.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Llene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frase por tramo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Una sola. Si le salen dos, elija la que más se entienda sin contexto.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Léalo en voz alta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cronómetro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(el del celular sirve). Anote el tiempo real.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Casi todos pasan de 90 segundos en el primer intento. Es normal.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Corte, no acelere.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Hablar más rápido no arregla un pitch largo: lo vuelve incomprensible. Empiece cortando adjetivos y explicaciones técnicas del tramo 3.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Repita hasta quedar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 55 y 60 segundos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leyendo a ritmo normal.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Ensaye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parejas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compañero cronometra y luego repite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entendió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puede repetir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dolor, el valor y el pedido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el problema es el pitch, no el oyente.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(Opcional) Si quiere una diapositiva de apoyo,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Canva free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navegador.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el dolor y el número de evidencia.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escribir y ensayar su pitch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final: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memorice la estructura, no el 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Un pitch recitado suena a discurso; uno estructurado suena a convicción.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Mapa de entidades + guion del pitch (23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1 (8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Completen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Mapa de entidades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Google Docs: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mínimo 3 entidades reales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cuadrantes distintos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nombre correcto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pedido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cada una.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Verifiquen el nombre en el sitio de la entidad antes de escribirlo. Si no lo encuentran, esa entidad no entra.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2 (3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Escriban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frase de impacto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 quién + qué cambia + en cuánto. Una sola frase.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3 (6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Escriban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guion del pitch de 60 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siguiendo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cinco tramos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Pueden bocetarlo en Excalidraw.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4 (4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Ensayen en parejas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cronómetro. El que escucha repite qué entendió; el que habla ajusta.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Paso 5 (2 min)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voluntarios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hacen su pitch en vivo y se les toma el tiempo. El resto se sustenta la próxima sesión.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Si quieren una diapositiva de apoyo: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Canva free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opcional, una sola.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 entidades con pedido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+ un guion en el que,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60 segundos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se entienden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dolor, valor y pedido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Verificación en pareja: si su compañero no puede repetir el pedido después de escucharlo, el tramo 5 está mal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cronómetro no es para presionar: es para que descubran cuánto sobra. Casi siempre sobra el tramo 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entidades existen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escribí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correcto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(lo verifiqué en su sitio), y no son las tres del mismo cuadrante.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Cada entidad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tipo de encaje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mentoría, capital, networking, infraestructura o validación.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Cada pedido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concreto y acotado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dice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cuánto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cuánto tiempo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Escribí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frase de impacto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 quién + qué cambia + en cuánto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dije de qué tipo es (económico, social, ambiental o institucional).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Sé decir en qué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escala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 hoy mi propuesta (local, regional, nacional) y cuál sería el paso siguiente.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pitch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empieza por la persona y su dolor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no por la app, la plataforma ni la 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 pitch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cinco tramos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en el tramo 4 hay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número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salido de mi validación o de mi vigilancia.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tramo 5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pide algo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el otro puede responder con un sí o un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Lo cronometré y quedó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60 segundos o menos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leyendo a ritmo normal.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se llama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`S06_EcosistemaPitch_Apellido`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la semana en que se cierra la ACA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Una innovación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sobrevive sola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necesita un ecosistema que le dé lo que le falta.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Una entidad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un pedido concreto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 le sirve todavía.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Un pitch se gana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empezando por la persona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por la tecnología.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su mapa y su guion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`S06_EcosistemaPitch_Apellido`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 es la semana de la ACA Final.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Arme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paquete consolidado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lo que ya tiene: ficha del problema · ficha Oslo · matriz de tipos · Canvas, MVP y validación · tablero de vigilancia · mapa de entidades · guion del pitch.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Nada de esto hay que inventarlo ahora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son documentos que ya existen. Lo que falta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integrarlos en un solo texto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que el usuario sea el mismo en todos.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Revisen en CDigital la rúbrica y el espacio de entrega (EV) de la 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antes de subir, y verifiquen ahí la fecha exacta de cierre. Cerrado el espacio, la nota es la que hay.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la semana en que se cierra la ACA Final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 — la última: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taller de consolidación y sustentación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Ya no se entrega nada nuevo: cada quien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sustenta su propuesta con el pitch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recibe retroalimentación y se cierra el curso.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Vengan con el pitch ensayado y con el documento abierto. Se habla, no se lee.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Innovación local–internacional · entidades de apoyo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