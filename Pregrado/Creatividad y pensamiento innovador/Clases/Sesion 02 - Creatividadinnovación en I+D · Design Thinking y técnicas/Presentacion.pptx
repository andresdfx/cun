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325880" cy="9192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303324"/>
            <a:ext cx="10911535" cy="1476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SESIÓN 02 — Creatividad/innovación en I+D · Design Thinking y técnicas</a:t>
            </a:r>
          </a:p>
          <a:p>
            <a:pPr algn="ctr">
              <a:spcBef>
                <a:spcPts val="800"/>
              </a:spcBef>
            </a:pPr>
            <a:r>
              <a:rPr sz="1600" b="0" i="0">
                <a:solidFill>
                  <a:srgbClr val="CFDDEE"/>
                </a:solidFill>
                <a:latin typeface="Calibri"/>
              </a:rPr>
              <a:t>Creatividad y Pensamiento Innovador — Escuela de Ingenierías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37560"/>
            <a:ext cx="10911535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Sesión 02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Tema: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Creatividad/innovación en I+D · Design Thinking y técnicas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Asignatura: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CREATIVIDAD Y PENSAMIENTO INNOVADOR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El problema que resolvimos... y que nadie tenía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Escena típica de Ingeniería: el equipo entrega un sistema impecable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nadie lo usa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El código estaba bien. El problema estaba mal planteado desde el minuto uno.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Caso del campus: los estudiantes pierden hasta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una hora buscando laboratorio libre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Reflejo del ingeniero: "hago una app de reservas". Solución elegida antes de entender el dolor.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Al observar de verdad: el dolor no era reservar, era la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incertidumbre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 si habrá cupo.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Design Thinking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existe para aguantar ese impulso: primero entender, después resolver.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Hoy salimos con dos productos concretos: un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How Might We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bien redactado y un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banco de mínimo 8 ideas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con 1–2 elegidas.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músculo que entrenamos hoy —abrir muchas opciones y luego cerrar con criterio— lo van a usar toda su vida profesional.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Regla del día: la primera idea que se les ocurra NO es la que van a entregar.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Qué es Design Thinking (y qué NO es)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Design Thinking (DT)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enfoque de resolución de problemas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centrado en las personas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popularizado por la consultora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IDEO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d.school de Stanford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Su idea central es simple pero incómoda para quien viene de Ingeniería: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la solución se pospone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hasta entender al usuario y su problema.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 es lineal, es iterativo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se avanza, se prueba con un usuario, se descubre que el problema estaba mal planteado y se retrocede.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Ese ir y volver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 es fracaso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es el método funcionando.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Lo que DT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es llenar una pared de post-its de colores — los post-its son el envase, no el método.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es una fase de "creatividad" antes del trabajo serio; es el trabajo serio.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reemplaza la Ingeniería: le pone un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destinatario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a la solución técnica.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garantiza acertar: garantiza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descubrir el error barato y temprano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no caro y tarde.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Las cinco etapas del Design Thinking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301752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058780"/>
                <a:gridCol w="3499926"/>
                <a:gridCol w="3705804"/>
                <a:gridCol w="1647024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Etapa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Pregunta que responde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Producto mínimo que deja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Hoy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Empatizar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¿Qué vive y siente el usuario?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Notas de observación o entrevista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Ya lo traen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Definir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¿Cuál es el problema real?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Pregunta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How Might We (HMW)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Foco fuerte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Idear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¿Qué alternativas existen?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Lista amplia, sin juzgar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Foco fuerte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Prototipar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¿Cómo se ve o se toca la idea?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Boceto, storyboard, mock feo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Conceptual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Evaluar / testear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¿Qué aprendimos al mostrarlo?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3 aprendizajes del usuario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Próximas sesiones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84632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No es una escalera: es un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ciclo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 Volver a Definir después de testear es lo normal, no un retroceso.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El doble diamante: abrir y cerrar, dos veces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La imagen que mejor funciona: se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abre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(divergencia) y se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cierra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(convergencia)... y luego se repite.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Diamante 1 — el problema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abro para explorar todo lo que le pasa al usuario; cierro para escoger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un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problema (el HMW).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Diamante 2 — la solución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abro para generar muchas ideas; cierro para escoger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1 o 2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prototiparlas.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error clásico que verán hoy en clase: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converger a los 30 segundos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Alguien propone algo y otro dice "eso no se puede". Ahí mataron la idea antes de que naciera.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Idear juzgando es como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manejar con el freno de mano puesto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La solución no es prohibir el juicio: es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separarlo en el tiempo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"Ahora solo generamos. En cinco minutos filtramos." Los dos momentos son necesarios; mezclarlos no.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Divergir y converger son dos oficios distintos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5" cy="352044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182307"/>
                <a:gridCol w="4364614"/>
                <a:gridCol w="4364614"/>
              </a:tblGrid>
              <a:tr h="502920"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Pensamiento </a:t>
                      </a:r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divergente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Pensamiento </a:t>
                      </a:r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convergente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Objetivo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Ampliar el campo de opciones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Filtrar y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decidir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Qué importa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La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cantidad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; se acepta la rareza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La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calidad del argumento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Regla sagrada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Prohibido juzgar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Criterios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explícitos y visibles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Actitud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"¿Y si además...?"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"¿Con qué criterio la elijo?"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Criterios típicos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Ninguno todavía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Deseabilidad · factibilidad · viabilidad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Señal de que va bien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Aparecen ideas absurdas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Se descarta algo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sin culpa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34924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 i="1">
                <a:solidFill>
                  <a:srgbClr val="2B2B2B"/>
                </a:solidFill>
                <a:latin typeface="Calibri"/>
              </a:rPr>
              <a:t>Deseabilidad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: ¿lo quiere el usuario? ·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Factibilidad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: ¿lo podemos hacer en el semestre? ·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Viabilidad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: ¿se sostiene en el tiempo?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How Might We: la bisagra entre problema y solución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HMW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 la frase que traduce un problema en un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reto accionable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En español: "¿Cómo podríamos...?".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Fórmula: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¿Cómo podríamos [acción] para [usuario] de modo que [resultado deseado]?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Los tres ingredientes son obligatorios: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[usuario]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una persona concreta, no "la sociedad" ni "los usuarios".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[acción]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un verbo de cambio: reducir, evitar, acortar, facilitar, anticipar.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[resultado]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lo que gana esa persona: tiempo, tranquilidad, dinero, seguridad.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Un buen HMW vive en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punto medio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Demasiado amplio: "¿Cómo salvamos la educación?" — no se puede atacar.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Demasiado estrecho: "¿Cómo hacemos un botón de reserva?" — ya contiene la solución.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How Might We: la bisagra entre problema y solución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Prueba rápida: si su HMW menciona una tecnología (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app, IA, sensor, plataforma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), está mal escrito.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HMW mal escrito vs. HMW bien escrito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3" cy="25146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727883"/>
                <a:gridCol w="2727883"/>
                <a:gridCol w="5455767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Versión mal escrita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falla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Versión reescrita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"¿Cómo hacemos una app con IA?"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Empieza por la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tecnología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; ya encerró la respuesta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"¿Cómo podríamos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reducir la incertidumbre de reserva de laboratorio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para que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el estudiante de Ingeniería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no pierda su hora de práctica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?"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"¿Cómo mejoramos la universidad?"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Sin usuario ni dolor;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imposible de atacar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"¿Cómo podríamos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avisar la disponibilidad de equipos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a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quien va a clase de laboratorio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para que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no viaje en vano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?"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"¿Cómo hacemos un botón de reserva?"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Ya es la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solución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disfrazada de pregunta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"¿Cómo podríamos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acortar el trámite de reserva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para que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el estudiante con 10 minutos entre clases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alcance a hacerlo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?"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"¿Cómo ayudamos a los usuarios?"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"Usuarios" no es nadie; "ayudar" no es una acción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"¿Cómo podríamos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evitar los choques de turno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entre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estudiantes de dos cursos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para que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ninguno pierda la práctica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?"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Fíjense: la columna de la derecha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no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dice cómo se resuelve. Deja espacio para muchas soluciones — esa es la señal de un buen HMW.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Ejemplo modelado (1/2): un HMW y diez ideas sin filtrar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HMW del caso: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"¿Cómo podríamos reducir la incertidumbre de reserva de laboratorio para que el estudiante de Ingeniería no pierda su hora de práctica?"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Ahora suelto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diez ideas en voz alta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mezclando serias y disparatadas,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sin juzgar ninguna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1. Tablero de disponibilidad en la puerta del laboratorio.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2. Aviso por WhatsApp cuando se libera un equipo.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3. Reserva por código QR pegado en cada mesa.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4.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Un semáforo gigante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en la entrada: verde = hay cupo. (absurda a propósito)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5. Un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mayordomo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que asigna los equipos. (absurda a propósito)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6. Turnos fijos por curso, como el horario de clases.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7. Lista de espera con aviso automático.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Ejemplo modelado (1/2): un HMW y diez ideas sin filtrar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8.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Asignación automática por horario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sin reservar nada.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9. Foto de la ocupación actualizada cada 15 minutos.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10. Cupo liberado si no llegas en 10 minutos.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Miren la #8: nació de quitarle lo absurdo a la #5.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La idea loca destrabó la seria.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Ejemplo modelado (2/2): convergemos con tres criterios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Ya abrimos. Ahora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cierro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con criterios que escribo a la vista de todos: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1. ¿Cuánto alivia el dolor?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el estudiante deja de perder la hora.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2. ¿La puedo probar este semestre?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con lo que tengo, sin presupuesto.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3. ¿Aprendo rápido si la muestro?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¿en cuántos días tengo respuesta de un usuario?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Idea 8 (asignación automática por horario)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→ alivia mucho, se prueba con una hoja de cálculo, aprendo en una semana.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Pasa.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Idea 3 (reserva por QR)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→ alivia medio, se prototipa en papel, aprendo en dos días.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Pasa como plan B.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Idea 4 (semáforo gigante)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→ alivia poco y cuesta plata que no tengo.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La suelto sin culpa.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Conclusión del ejercicio: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la elección se justifica con criterios, no con gusto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una idea no pasa ningún criterio, descartarla no es perder trabajo: es haber ganado claridad.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Criterio de honestidad: si sus tres criterios dan empate en todo, es que no discriminan. Cámbielos.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SCAMPER: siete preguntas para no quedarse en blanco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402336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264658"/>
                <a:gridCol w="3705804"/>
                <a:gridCol w="4941072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Letra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Pregunta que se hace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Aplicada al caso del laboratorio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— Sustituir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¿Qué pieza puedo reemplazar por otra?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Cambiar la reserva manual por el horario del curso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— Combinar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¿Qué dos cosas junto en una?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Unir la lista de asistencia con la asignación de equipo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— Adaptar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¿Qué copio de otro contexto?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Los turnos del banco: te llega el llamado al celular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M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— Modificar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¿Qué agrando, achico o cambio de forma?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Bloques de 20 minutos en vez de 2 horas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— Poner en otro uso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¿Para qué más sirve lo que ya existe?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Usar el carné de la CUN como llave del equipo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E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— Eliminar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¿Qué paso quito por completo?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Eliminar la reserva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: el sistema asigna solo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R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— Reordenar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¿Qué pasa si invierto el orden?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Primero llego, luego el sistema registra: sin trámite previo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8521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Úsenlo cuando se sequen a las 3 ideas. Cada letra les fuerza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al menos una idea más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— son siete empujones garantizados.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Dos técnicas más para que hable todo el grupo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Brainwriting 6-3-5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la lluvia de ideas silenciosa: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Cada persona escribe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3 ideas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en silencio durante 5 minutos y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pasa la hoja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al de al lado.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El siguiente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no critica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: construye sobre lo que ya está escrito y agrega 3 más.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Por qué funciona: evita que hable solo el extrovertido y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multiplica el volumen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 ideas en minutos.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Analogías de otra industria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la fuente más subestimada de innovación: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Pregunta: "¿Cómo resuelve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otro sector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este mismo dolor?"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Turnos de banco, reservas de restaurante, casilleros de gimnasio, filas del aeropuerto.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Trasplantar una solución probada de otro sector suele ser más rápido que inventar desde cero.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Si trabajan solos, el brainwriting también sirve: escriban 3 ideas, déjenlas 5 minutos y vuelvan a la hoja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sin borrar nada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Errores frecuentes y mitos que hay que desarmar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1225296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"Design Thinking es llenar post-its de colores."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Los post-its son el envase. El método es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entender antes de resolver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e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iterar con el usuario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 Sin usuario, es manualidad.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191256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300984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"Ya sé la solución, ¿para qué idear más?"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Su primera idea es la más obvia — y por eso, la que ya existe. La divergencia le da 2 alternativas mejores en 10 minutos.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389120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49884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"Prototipar es programar la versión 1."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No. Prototipar es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lo más barato que responde su duda más cara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. Un dibujo en Excalidraw es un prototipo válido hoy.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Errores frecuentes y mitos que hay que desarmar (cont.)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"Esa idea es ridícula, no la anoto."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Anótela igual. La idea rara #7 casi siempre destraba la idea seria #8 — como pasó con el mayordomo.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935224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044952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Divergir no es improvisar.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Tiene reglas: cantidad sobre calidad, cero juicio, construir sobre la idea del otro, y una sola conversación a la vez.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133087"/>
            <a:ext cx="10911535" cy="1225296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242816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Herramientas de hoy, todas gratis y en el navegador: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Excalidraw (excalidraw.com, sin cuenta), tldraw, o una plantilla free de Miro. Si Miro pide login, el plan B siempre es Excalidraw.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Paso a paso: su boceto en Excalidraw en 5 minutos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Un prototipo conceptual es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lo mínimo para que otro entienda y opine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No es arte y no es la app.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Abra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excalidraw.com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no pide cuenta, no instala nada, funciona en el navegador.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Escriba arriba su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HMW completo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con la herramienta de texto. Es el título del tablero.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Dibuje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una caja por cada pantalla o momento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del flujo (rectángulo: tecla `R`).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Ejemplo del caso: [Llego al laboratorio] → [El sistema me reconoce] → [Me asigna equipo] → [Trabajo].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4.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Una las cajas con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flechas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(tecla `A`) en el orden en que el usuario las vive.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5.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Marque con otro color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dónde desaparece el dolor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ese es el corazón de su propuesta.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6.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Exporte: menú →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Export image → PNG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Esa imagen es la que sube a CDigital.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Si se traba dibujando: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cajitas y flechas, feo está bien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El criterio no es la estética, es que otro lo entienda sin explicación.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Alternativa igual de válida: un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storyboard de 4 viñetas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dibujado a mano y fotografiado.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TALLER — Ideación sobre su propio problema (22 minutos)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Trabajan sobre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SU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problema, solos o en dúo. Cuatro pasos, en este orden: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Paso 1 (4 min)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· Redacten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su HMW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con la fórmula: ¿Cómo podríamos [acción] para [usuario] de modo que [resultado]?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Paso 2 (8 min)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· Generen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mínimo 8 ideas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sin juzgar ninguna. Si se secan antes de 8, apliquen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SCAMPER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Paso 3 (5 min)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·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Elijan 1 o 2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justifíquenlas con los tres criterios: alivia el dolor · factible este semestre · aprendo rápido.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Paso 4 (5 min)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·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Boceto de 1 minuto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Excalidraw: cajitas y flechas del flujo elegido.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Al final le pido 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tres personas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que lean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solo su HMW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en 20 segundos cada una.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Criterio de éxito verificable: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su HMW menciona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al usuario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el dolor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menciona ninguna tecnología.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en su HMW aparece la palabra app, plataforma, IA o sistema, todavía no está listo: reescríbalo.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Entregable de hoy: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HMW + banco de ideas + captura del boceto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, en un solo archivo.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Antes de entregar: revise usted mismo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☐ Mi HMW nombra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una persona concreta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no "los usuarios" ni "la comunidad".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☐ Mi HMW dice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qué gana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esa persona (tiempo, tranquilidad, dinero, seguridad).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☐ Mi HMW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contiene la palabra app, plataforma, sistema, IA ni sensor.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☐ Tengo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8 ideas o más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escritas,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al menos una es claramente absurda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(señal de que sí divergí).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☐ Ninguna idea fue borrada durante la fase de generación.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☐ Elegí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 o 2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ideas y escribí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por qué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nombrando los tres criterios uno por uno.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☐ Mi boceto tiene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cajas y flechas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se entiende sin que yo lo explique.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☐ El archivo está nombrado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`S02_Ideacion_Apellido`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subido 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Si alguna casilla queda vacía, todavía tiene trabajo — y sabe exactamente cuál.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Para continuar — trabajo autónomo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Tres ideas para llevarse de hoy: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1.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Primero entiendo, después resuelvo.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2.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Divergir y converger son momentos distintos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— no los mezclo.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3. Un buen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HMW mira al usuario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no a la tecnología.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(a)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Suban 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su HMW + banco de ideas + boceto como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`S02_Ideacion_Apellido`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Plataforma: [URL CDigital — campus del curso pendiente]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(b)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Vuelvan al boceto con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una segunda mirada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al día siguiente y mejórenlo: casi siempre sobra un paso.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(c)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Traigan una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clasificación tentativa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su idea en un tipo de innovación: producto, proceso, organización, marketing o social.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No importa si se equivocan al clasificar: la próxima sesión les damos el criterio oficial.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Para continuar — trabajo autónomo (cont.)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Próxima sesión: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Gestión de la innovación con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Manual de Oslo (OCDE)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el idioma común para nombrar lo que están construyendo.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5632704"/>
            <a:ext cx="1371600" cy="9509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737360"/>
            <a:ext cx="10911535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C2340"/>
                </a:solidFill>
                <a:latin typeface="Calibri"/>
              </a:rPr>
              <a:t>Cierre — Sesión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17520"/>
            <a:ext cx="10911535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Sesión 02: Creatividad/innovación en I+D · Design Thinking y técnicas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Siguiente encuentro: continúa el hilo del mismo entregable.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007433"/>
                </a:solidFill>
                <a:latin typeface="Calibri"/>
              </a:rPr>
              <a:t>CREATIVIDAD Y PENSAMIENTO INNOVADOR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CUN</dc:creator>
  <cp:keywords/>
  <dc:description/>
  <cp:lastModifiedBy>CUN</cp:lastModifiedBy>
  <cp:revision>1</cp:revision>
  <dcterms:created xsi:type="dcterms:W3CDTF">2013-01-27T09:14:16Z</dcterms:created>
  <dcterms:modified xsi:type="dcterms:W3CDTF">2013-01-27T09:15:58Z</dcterms:modified>
  <cp:category/>
</cp:coreProperties>
</file>