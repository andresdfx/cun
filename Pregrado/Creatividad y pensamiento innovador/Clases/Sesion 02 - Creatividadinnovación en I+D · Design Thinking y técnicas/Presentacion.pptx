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Creatividad/innovación en I+D · Design Thinking y técnicas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Creatividad/innovación en I+D · Design Thinking y técnicas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problema que resolvimos... y que nadie tenía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Escena típica de Ingeniería: el equipo entrega un sistema impecable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nadie lo usa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código estaba bien. El problema estaba mal planteado desde el minuto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del campus: los estudiantes pierden hasta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hora buscando laboratorio libre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Reflejo del ingeniero: "hago una app de reservas". Solución elegida antes de entender el dolor.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observar de verdad: el dolor no era reservar, era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incertidumbre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si habrá cupo.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Design Thinking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existe para aguantar ese impulso: primero entender, después resolver.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salimos con dos productos concretos: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How Might We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bien redactado y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banco de mínimo 8 ideas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1–2 elegidas.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músculo que entrenamos hoy —abrir muchas opciones y luego cerrar con criterio— lo van a usar toda su vida profesional.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día: la primera idea que se les ocurra NO es la que van a entregar.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Design Thinking (y qué NO 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Design Thinking (DT)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enfoque de resolución de problemas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centrado en las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popularizado por la consultora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d.school de Stanford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idea central es simple pero incómoda para quien viene de Ingeniería: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solución se pospone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hasta entender al usuario y su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lineal, es iterativo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avanza, se prueba con un usuario, se descubre que el problema estaba mal planteado y se retrocede.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ir y volver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fracaso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el método funcionando.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DT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llenar una pared de post-its de colores — los post-its son el envase, no el método.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una fase de "creatividad" antes del trabajo serio; es el trabajo serio.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reemplaza la Ingeniería: le pone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destinatario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la solución técnica.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garantiza acertar: garantiza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descubrir el error barato y temprano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caro y tarde.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cinco etapas del Design Thinking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8780"/>
                <a:gridCol w="3499926"/>
                <a:gridCol w="3705804"/>
                <a:gridCol w="164702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Producto mínimo que deja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Empatizar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vive y siente el usuario?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Notas de observación o entrevista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Ya lo traen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Definir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¿Cuál es el problema real?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How Might We (HMW)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Foco fuerte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Idear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alternativas existen?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Lista amplia, sin juzgar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Foco fuerte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Prototipar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se ve o se toca la idea?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Boceto, storyboard, mock feo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Conceptual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Evaluar / testear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aprendimos al mostrarlo?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aprendizajes del usuario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Próximas sesiones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es una escalera: es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ciclo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Volver a Definir después de testear es lo normal, no un retroceso.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doble diamante: abrir y cerrar, dos veces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imagen que mejor funciona: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(divergencia) y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(convergencia)... y luego se repite.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Diamante 1 — el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abro para explorar todo lo que le pasa al usuario; cierro para escoger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problema (el HMW).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Diamante 2 — la solución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abro para generar muchas ideas; cierro para escoger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 o 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prototiparlas.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clásico que verán hoy en clase: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converger a los 30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Alguien propone algo y otro dice "eso no se puede". Ahí mataron la idea antes de que naciera.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Idear juzgando es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manejar con el freno de mano puesto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solución no es prohibir el juicio: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separarlo en el tiempo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"Ahora solo generamos. En cinco minutos filtramos." Los dos momentos son necesarios; mezclarlos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Divergir y converger son dos oficios distintos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4364614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Pensamiento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divergente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Pensamiento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convergente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Ampliar el campo de opciones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Filtrar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decidir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importa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cantidad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; se acepta la rareza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calidad del argumento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Regla sagrada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Prohibido juzgar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Criterios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explícitos y visibles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Actitud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"¿Y si además...?"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"¿Con qué criterio la elijo?"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Criterios típicos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Ninguno todavía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Deseabilidad · factibilidad · viabilidad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Señal de que va bien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Aparecen ideas absurdas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descarta algo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sin culpa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1">
                <a:solidFill>
                  <a:srgbClr val="2B2B2B"/>
                </a:solidFill>
                <a:latin typeface="Calibri"/>
              </a:rPr>
              <a:t>Deseabilidad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¿lo quiere el usuario? ·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Factibilidad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¿lo podemos hacer en el semestre? ·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Viabilidad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¿se sostiene en el tiempo?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How Might We: la bisagra entre problema y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HMW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la frase que traduce un problema en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reto accionable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En español: "¿Cómo podríamos...?".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Fórmula: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¿Cómo podríamos [acción] para [usuario] de modo que [resultado deseado]?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tres ingredientes son obligatorios: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[usuario]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una persona concreta, no "la sociedad" ni "los usuarios".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[acción]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 verbo de cambio: reducir, evitar, acortar, facilitar, anticipar.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[resultado]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lo que gana esa persona: tiempo, tranquilidad, dinero, seguridad.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buen HMW vive 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punto medio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Demasiado amplio: "¿Cómo salvamos la educación?" — no se puede atacar.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Demasiado estrecho: "¿Cómo hacemos un botón de reserva?" — ya contiene la solución.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How Might We: la bisagra entre problema y solución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rápida: si su HMW menciona una tecnología (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app, IA, sensor, plataforma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), está mal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HMW mal escrito vs. HMW bien escrito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mal escrita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reescrita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hacemos una app con IA?"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tecnología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; ya encerró la respuesta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podríamos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reducir la incertidumbre de reserva de laboratorio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el estudiante de Ingeniería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 pierda su hora de práctica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mejoramos la universidad?"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usuario ni dolor;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imposible de atacar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podríamos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avisar la disponibilidad de equipos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quien va a clase de laboratorio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 viaje en vano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hacemos un botón de reserva?"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Ya es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solución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disfrazada de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podríamos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acortar el trámite de reserva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el estudiante con 10 minutos entre clases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alcance a hacerlo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ayudamos a los usuarios?"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"Usuarios" no es nadie; "ayudar" no es una acción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podríamos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evitar los choques de turno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entre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estudiantes de dos cursos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ninguno pierda la práctica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Fíjense: la columna de la derecha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dice cómo se resuelve. Deja espacio para muchas soluciones — esa es la señal de un buen HMW.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un HMW y diez ideas sin filtrar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HMW del caso: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"¿Cómo podríamos reducir la incertidumbre de reserva de laboratorio para que el estudiante de Ingeniería no pierda su hora de práctica?"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Ahora suelto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diez ideas en voz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mezclando serias y disparatadas,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juzgar ninguna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Tablero de disponibilidad en la puerta del laboratorio.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Aviso por WhatsApp cuando se libera un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Reserva por código QR pegado en cada mesa.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4.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semáforo gigante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entrada: verde = hay cupo. (absurda a propósito)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5.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mayordomo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asigna los equipos. (absurda a propósito)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6. Turnos fijos por curso, como el horario de clases.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7. Lista de espera con aviso automático.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un HMW y diez ideas sin filtrar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8.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Asignación automática por horario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sin reservar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9. Foto de la ocupación actualizada cada 15 minutos.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10. Cupo liberado si no llegas en 10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Miren la #8: nació de quitarle lo absurdo a la #5.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idea loca destrabó la seria.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convergemos con tres criterios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abrimos. Ahora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criterios que escribo a la vista de todos: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¿Cuánto alivia el dolor?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estudiante deja de perder la hora.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¿La puedo probar este semestre?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 lo que tengo, sin presupuesto.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¿Aprendo rápido si la muestro?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¿en cuántos días tengo respuesta de un usuario?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Idea 8 (asignación automática por horario)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alivia mucho, se prueba con una hoja de cálculo, aprendo en una semana.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Idea 3 (reserva por QR)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alivia medio, se prototipa en papel, aprendo en dos días.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Pasa como plan B.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Idea 4 (semáforo gigante)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alivia poco y cuesta plata que no tengo.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suelto sin culpa.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Conclusión del ejercicio: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elección se justifica con criterios, no con gusto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una idea no pasa ningún criterio, descartarla no es perder trabajo: es haber ganado claridad.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Criterio de honestidad: si sus tres criterios dan empate en todo, es que no discriminan. Cámbielos.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SCAMPER: siete preguntas para no quedarse en blanco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64658"/>
                <a:gridCol w="3705804"/>
                <a:gridCol w="49410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Letra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se hace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Aplicada al caso del laboratorio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Sustituir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pieza puedo reemplazar por otra?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Cambiar la reserva manual por el horario del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Combinar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dos cosas junto en una?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Unir la lista de asistencia con la asignación de equipo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Adaptar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copio de otro contexto?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turnos del banco: te llega el llamado al celular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Modificar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agrando, achico o cambio de forma?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Bloques de 20 minutos en vez de 2 horas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Poner en otro uso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¿Para qué más sirve lo que ya existe?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Usar el carné de la CUN como llave del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Eliminar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paso quito por completo?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Eliminar la reserva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el sistema asigna solo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Reordenar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pasa si invierto el orden?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Primero llego, luego el sistema registra: sin trámite previo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Úsenlo cuando se sequen a las 3 ideas. Cada letra les fuerza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al menos una idea más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— son siete empujones garantizados.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Dos técnicas más para que hable todo el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Brainwriting 6-3-5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lluvia de ideas silenciosa: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persona escribe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ideas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silencio durante 5 minutos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pasa la hoja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de al lado.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siguiente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critica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construye sobre lo que ya está escrito y agrega 3 más.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qué funciona: evita que hable solo el extrovertido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multiplica el volumen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ideas en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Analogías de otra industria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fuente más subestimada de innovación: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Pregunta: "¿Cómo resuelve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otro sector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este mismo dolor?"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Turnos de banco, reservas de restaurante, casilleros de gimnasio, filas del aeropuerto.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Trasplantar una solución probada de otro sector suele ser más rápido que inventar desde cero.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trabajan solos, el brainwriting también sirve: escriban 3 ideas, déjenlas 5 minutos y vuelvan a la hoja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borrar 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mitos que hay que desarmar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"Design Thinking es llenar post-its de colores."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Los post-its son el envase. El método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entender antes de resolver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iterar con el usuario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Sin usuario, es manualidad.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sé la solución, ¿para qué idear más?"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Su primera idea es la más obvia — y por eso, la que ya existe. La divergencia le da 2 alternativas mejores en 10 minutos.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"Prototipar es programar la versión 1."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Prototipar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lo más barato que responde su duda más cara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dibujo en Excalidraw es un prototipo válido hoy.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mitos que hay que desarmar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"Esa idea es ridícula, no la anoto."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Anótela igual. La idea rara #7 casi siempre destraba la idea seria #8 — como pasó con el mayordomo.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Divergir no es improvisar.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Tiene reglas: cantidad sobre calidad, cero juicio, construir sobre la idea del otro, y una sola conversación a la 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Herramientas de hoy, todas gratis y en el navegador: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Excalidraw (excalidraw.com, sin cuenta), tldraw, o una plantilla free de Miro. Si Miro pide login, el plan B siempre es Excalidraw.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su boceto en Excalidraw en 5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prototipo conceptual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mínimo para que otro entienda y opine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es arte y no es la app.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excalidraw.com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pide cuenta, no instala nada, funciona en el navegador.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arriba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HMW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herramienta de texto. Es el título del tablero.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Dibuje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caja por cada pantalla o momento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flujo (rectángulo: tecla `R`).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 del caso: [Llego al laboratorio] → [El sistema me reconoce] → [Me asigna equipo] → [Trabajo].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las cajas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flechas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(tecla `A`) en el orden en que el usuario las vive.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con otro color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dónde desaparece el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ese es el corazón de su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Exporte: menú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Export image → PNG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Esa imagen es la que sube a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se traba dibujando: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cajitas y flechas, feo está bien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criterio no es la estética, es que otro lo entienda sin explicación.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Alternativa igual de válida: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storyboard de 4 viñetas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dibujado a mano y fotografiado.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Ideación sobre su propio problema (22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Trabajan sobre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problema, solos o en dúo. Cuatro pasos, en este orden: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 (4 min)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Redacten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HMW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fórmula: ¿Cómo podríamos [acción] para [usuario] de modo que [resultado]?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 (8 min)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Generen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8 ideas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juzgar ninguna. Si se secan antes de 8, apliquen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SCAMPER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 (5 min)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Elijan 1 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justifíquenlas con los tres criterios: alivia el dolor · factible este semestre · aprendo rápido.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 (5 min)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Boceto de 1 minuto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Excalidraw: cajitas y flechas del flujo elegido.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 le pido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lean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su HMW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20 segundos cada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HMW menciona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menciona ninguna tecnología.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su HMW aparece la palabra app, plataforma, IA o sistema, todavía no está listo: reescríbalo.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Entregable de hoy: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HMW + banco de ideas + captura del boceto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en un solo archivo.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HMW nombra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persona concreta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"los usuarios" ni "la comunidad".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HMW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gana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esa persona (tiempo, tranquilidad, dinero, seguridad).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HMW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contiene la palabra app, plataforma, sistema, IA ni sensor.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 ideas o 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escritas,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 es claramente absurda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(señal de que sí divergí).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Ninguna idea fue borrada durante la fase de generación.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Elegí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ideas y escribí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nombrando los tres criterios uno por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boceto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cajas y flechas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se entiende sin que yo lo explique.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está nombrado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`S02_Ideacion_Apellido`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subido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alguna casilla queda vacía, todavía tiene trabajo — y sabe exactamente cuál.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Primero entiendo, después resuelvo.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Divergir y converger son momentos distintos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 los mezclo.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Un buen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HMW mira al usuario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a la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HMW + banco de ideas + boceto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`S02_Ideacion_Apellido`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Vuelvan al boceto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segunda mirada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día siguiente y mejórenlo: casi siempre sobra un paso.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Traigan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clasificación tentativa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idea en un tipo de innovación: producto, proceso, organización, marketing o social.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importa si se equivocan al clasificar: la próxima sesión les damos el criterio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Gestión de la innovación con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Manual de Oslo (OCDE)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idioma común para nombrar lo que están construyendo.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Creatividad/innovación en I+D · Design Thinking y técnicas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