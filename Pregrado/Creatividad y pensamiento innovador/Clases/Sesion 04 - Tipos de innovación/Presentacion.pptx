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TIPOS DE INNOVACIÓN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Tipos de innovación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Una etiqueta no defiende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sesión pasada le pusieron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etiqueta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Oslo a su propuesta: producto, proceso, organización, marketing o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sube la exigencia: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basta con la etiqueta, hay que argumentar por qué ESE tipo y no otro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escena que se van a encontrar en la sustentación: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— "Mi innovación es de producto." — "¿Por qué no de proceso?" — silencio.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silencio no se llena con más entusiasmo: se llena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una segunda escena, igual de común: escribir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"mi innovación es radical"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como adorno, sin un solo dato.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Hoy vamos a ver por qué eso los debilita en vez de fortalecerlos.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Producto de la hora: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comparativa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—su tipo elegido contra una alternativa— con criterios claros y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 escrita de 4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clasificar a argumentar: dos matices que hay que tener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Matiz 1 · Un proyecto tiene capas, pero se defiende un eje.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normal que su propuesta toque varios tipos a la vez.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Tener capas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lo exime de decidir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cuál es el dominante — solo lo obliga a explicar el orden.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la sustentación defiende el eje; los demás tipos entran como "además, esto también...".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Matiz 2 · "Digitalizar" NO define el tipo.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Poner algo en una app no dice nada por sí solo.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Digital es el envase, no el tipo.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Hay que decir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cambia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¿el servicio que recibe el usuario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producto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)?, ¿el método de trabajo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proceso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)?, ¿la coordinación del equipo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organización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que ordena todo el día de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¿qué cambia, para quién, y cómo lo demuestro?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Todas son "una app" — y ninguna es del mismo tipo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51130"/>
                <a:gridCol w="4920888"/>
                <a:gridCol w="213951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 propuesta se describe así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realmente cambia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dominante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"Una app para reservar el laboratorio"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elimina un trámite: el equipo se asigna desde el horario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"Una app que avisa cuándo hay equipo libre"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Aparece un servicio que antes no existía para el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"Una app con el tablero del equipo"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equipo se coordina distinto: quién decide y cuándo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"Una app para inscribirse al semillero"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Cambia el canal de captación y la adopción del programa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"Una app para reportar fallas del barrio"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genera un bien común medible con una entidad pública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Mismo envase, cinco tipos distintos. Si su descripción empieza por "una app que...", todavía no dijo de qué tipo 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segunda dimensión: el grado de la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cambia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 rompe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Son dos dimensiones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independientes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haber una innovación de proceso incremental, y una de proceso radical. Ninguna combinación está prohibida.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Incremental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mejora paso a paso sobre lo que ya existe.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sistema sigue funcionando igual, pero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mejor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más rápido, más barato, con menos errores.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Radical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rompe las reglas del juego o crea una categoría nueva.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Después de ella, el problema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ya no se plantea igual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a veces desaparece un actor completo de la cadena.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de vocabulario más común del salón: usar "radical" como sinónimo de "importante" o "ambicioso".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lo es. Radical es una descripción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estructural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exige mostrar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regla se rompió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Incremental vs. radical, criterio por criterio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9275"/>
                <a:gridCol w="3851130"/>
                <a:gridCol w="3851130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Radical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Naturaleza del cambio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Mejora paso a paso sobre lo existente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Rompe las reglas del juego / crea una categoría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Menor y más predecible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Mayor y más incierto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Evidencia posible en un semestre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se puede medir la mejora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Baja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requiere apuestas grandes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hay que demostrar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Cuánto mejoró, con un número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regla se rompió, con hechos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Reducir 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30%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el tiempo de reserva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modelo que elimina por completo al intermediario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Riesgo típico del estudiante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Subestimarla ("es poquito")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Declararla sin evidencia ("es revolucionario")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semestre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una innovación incremental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bien ejecutada y medida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casi siempre es más defendible que una "radical" sin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Por qué no idolatrar lo radical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Muchos escriben "mi innovación es radical"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adorno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esperando que suene mejor. Consigue lo contrario.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sustentación, quien dice "radical" recibe la pregunta: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"¿qué regla del juego rompe y con qué evidencia?"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respuesta, la propuesta entera pierde credibilidad — incluso las partes que sí estaban bien.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radical sin datos es solo una ilusión ambiciosa.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Mientras tanto, esto sí se puede sostener con evidencia real en un semestre: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"Bajé el tiempo del trámite de 4 minutos a 50 segundos, medido con 5 usuarios y cronómetro."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logro real, verificable y defendible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Y es incremental.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Reformulación honesta si su idea es ambiciosa: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"incremental ambiciosa"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y está perfectamente bien.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práctica: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declare el grado que pueda demostrar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que suene mejor.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prueba de realidad: contexto socio-económico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innovación que ignora sus restricciones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por más elegante que sea la ingeniería.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Ingeniería es frecuente enamorarse de la arquitectura y olvidar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nadie paga o la norma no lo permite, no se implementa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comparar tipos, ubique cuatro cosas: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¿Quién paga?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usuario, una empresa, el Estado, la publicidad... o nadie, y entonces hay que decir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se sostiene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¿Quién usa?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puede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ser el mismo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paga. En la CUN, el estudiante usa y la institución sostiene.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¿Qué restricción real hay?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tiempo, dinero,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conectividad,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cultura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(la gente ya tiene su arreglo casero y no lo suelta).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¿Qué beneficio socio-económico genera?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ahorro, empleo, inclusión, reducción de riesgo.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las cuatro respuestas caben en una línea cada una, su propuesta ya está anclada a la realidad.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Una innovación sin modelo de sostenibilidad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hobby caro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Contestar "¿quién paga?" no la vuelve mercantil: la vuelve viable.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Comparar con criterios, no con gusto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Comparar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significa una sola cosa: poner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mismos criterios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las dos opciones y puntuar ambas.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cinco criterios que usamos hoy (alto / medio / bajo):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Impacto en el dolor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¿cuánto alivia el problema del usuario que identificaron?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Esfuerzo / costo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¿cuánto trabajo, dinero y permisos exige? (aquí bajo es mejor)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 posible este semestre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¿puedo mostrar un dato real antes de que termine el curso?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Riesgo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¿qué tan probable es que se caiga por algo fuera de mi control? (aquí bajo es mejor)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Beneficio socio-económico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¿qué gana el entorno, más allá de mi usuario directo?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conclusión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sale de la comparación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 la preferencia.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Señal de que su matriz no sirve: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todas las casillas dan igual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 nada discrimina, no comparó — describió.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matriz del caso del laboratorio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6414"/>
                <a:gridCol w="4117560"/>
                <a:gridCol w="41175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A: Proceso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 (asignación automática)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B: Producto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 (app nueva de reservas)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Impacto en el dolor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el estudiante no vuelve a buscar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también resuelve la búsqueda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Esfuerzo / costo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Bajo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se prueba con el horario y una hoja de cálculo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hay que construir y mantener una app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Evidencia este semestre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5 usuarios y cronómetro en una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Media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sin app funcional no hay medición real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Bajo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si falla, se vuelve al método anterior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depende de permisos, datos y adopción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Beneficio socio-económico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Medio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ahorra horas de laboratorio al campus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Medio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mismo ahorro, con más inversión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impacto equivalente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el tipo A gana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esfuerzo, evidencia y riesgo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Ahí está la decisión — y no la tomó el gusto.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la conclusión (texto modelo, 4 líneas)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conclusión no repite la tabla: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explica de dónde sale la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Así se ve la del caso: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"Elijo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A (proceso)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Con los mismos cinco criterios, A y B empatan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impacto en el dolor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beneficio socio-económico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 diferencia está en los otros tres: A exige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menos esfuerzo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permite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 medible este semestre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menor riesgo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quedarse sin datos."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"Descarto el tipo B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porque sea peor idea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sino porque en un semestre no alcanzo a construirlo ni a medirlo."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"Declaro el grado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incremental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mejoro un proceso existente y espero demostrarlo con la reducción de tiempo del trámite."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Estructura que pueden copiar: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qué elijo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qué empatan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qué criterios gana el elegido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qué descarto el otro sin descalificarlo.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Nunca escriban "me gusta más", "me parece más innovador" ni "es lo que domino". Ninguna de las tres es un criterio.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innovación es radical"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(como adorno). ¿Qué regla del juego rompe y con qué evidencia? Si no la tiene,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incremental ambiciosa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y está bien.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"Es innovación porque es digital / usa IA."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Digital es el envase. ¿Qué cambia para el usuario: el servicio, el proceso o la coordinación?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Comparar "porque me gusta más uno".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gusto no es criterio. Ponga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mismos 5 criterios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ambos y deje que decida la comparación.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Olvidar quién paga y quién usa.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innovación sin modelo de sostenibilidad es un hobby caro. Agregue esa fila a la matriz.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Puntuar todo igual.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todo empata, su comparación no discrimina. Sea honesto: ¿dónde difieren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 verdad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las dos opciones?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Descartar no es despreciar.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tipo B puede ser excelente y aun así no caber en un semestre. Dígalo así en la conclusión: gana claridad y credibilidad.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arme su matriz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Herramienta: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 Excalidraw), gratis y en el navegador. Toma menos de lo que parece.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Documento nuevo → menú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Insertar → Tabla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columnas × 7 filas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Fila 1: deje la primera celda vacía;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A (mi elección)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B (alternativa descartada)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Columna 1, filas 2 a 6: escriba sus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criterios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uno por fila.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propuesta depende de un permiso o de una norma,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cambie un criterio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"restricción normativa": la matriz es suya.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fila por fila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columna por columna. Así compara lo mismo contra lo mismo y evita inflar su favorita.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solo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alto / medio / 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Y anote entre paréntesis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ese valor: "Bajo (no requiero permisos)".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Debajo de la tabla, escriba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 de 4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estructura modelo.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Compartir → "Cualquiera con el enlace" → o descargue en PDF y suba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Matriz comparativa de su propuesta (21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Armen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comparativa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elegido 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contra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alternativo que descartaron 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0–3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Nombren A y B, y declaren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(incremental / radical) con una razón.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3–8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5 criterios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las filas. Uno de ellos debe tocar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contexto socio-económico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(quién paga / quién usa / restricción).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8–15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Puntúen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alto / medio / 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ambas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columnas, fila por fila, con el porqué entre paréntesis.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15–21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 de 4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siguiendo la estructura: elijo / empatan en / gana en / descarto porque.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su conclusión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la tabla completa.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conclusión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 al menos dos criterios de la tabla por su nombre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contiene la frase "me gusta más" ni equivalentes.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Segunda verificación: si tapo la conclusión, ¿alguien más llegaría a la misma decisión leyendo solo la tabla? Si sí, está bien hecha.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matriz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criterios o 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escritos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puntuar.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Puntué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las dos columnas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filas — no dejé casillas vacías en la opción descartada.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todas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mis filas dan el mismo resultado: la matriz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 discrimina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Al menos un criterio toca el contexto: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quién paga, quién usa o qué restricción hay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Declaré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(incremental / radical) y puedo decir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qué evidencia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sostengo.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conclusión menciona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criterios por su nombre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adjetivos.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conclusión explica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descarto 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descalificarlo.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`S04_MatrizTipos_Apellido`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honestidad: si al llenar la matriz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ganó la opción 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cámbiese a B. Eso no es perder: es que el método funcionó.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dice qué cambia;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dice cuánto rompe. Son dimensiones distintas.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Incremental bien medido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vence a radical sin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Se compara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con gusto.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su matriz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`S04_MatrizTipos_Apellido`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Preparen un listado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5 supuestos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su propuesta da por verdaderos.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supuesto es algo que usted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cree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ha comprobado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que si fuera falso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tumbaría el proyecto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Ejemplos del caso: "el estudiante estaría dispuesto a registrarse", "la ocupación real sigue el horario oficial", "el laboratorio permitiría el piloto".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Escríbanlos como afirmaciones, no como preguntas — así se pueden poner a prueba.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Análisis de negocios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FODA, Business Model Canvas, MVP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cómo validar el supuesto más riesgoso.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Tipos de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