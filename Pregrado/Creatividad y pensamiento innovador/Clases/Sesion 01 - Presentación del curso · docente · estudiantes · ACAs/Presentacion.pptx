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325880" cy="9192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303324"/>
            <a:ext cx="10911535" cy="1476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SESIÓN 01 — PRESENTACIÓN DEL CURSO</a:t>
            </a:r>
          </a:p>
          <a:p>
            <a:pPr algn="ctr">
              <a:spcBef>
                <a:spcPts val="800"/>
              </a:spcBef>
            </a:pPr>
            <a:r>
              <a:rPr sz="1600" b="0" i="0">
                <a:solidFill>
                  <a:srgbClr val="CFDDEE"/>
                </a:solidFill>
                <a:latin typeface="Calibri"/>
              </a:rPr>
              <a:t>Creatividad y Pensamiento Innovador — Escuela de Ingenierías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37560"/>
            <a:ext cx="10911535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Sesión 01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· Sesión de encuadre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Hoy: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el curso · el Docente · ustedes · las ACAs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Asignatura: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CREATIVIDAD Y PENSAMIENTO INNOVADOR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AGENDA DE HOY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Sesión de encuadre — hoy no vemos tema; el contenido arranca en la Sesión 02.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79"/>
            <a:ext cx="10911535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El curso: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qué se trata, cómo trabajamos y qué se llevan al final.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El Docente: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quién los acompaña y cómo contactarlo.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Ustedes: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nos presentamos en el tablero colaborativo.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Las ACAs: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qué se entrega, cuánto pesa y dónde se sube.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Acuerdos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trabajo y el primer encargo autónomo.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Docente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2148840"/>
            <a:ext cx="8991295" cy="1874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Ingeniero de Sistemas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Candidato a MSc en Inteligencia Artificial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Líder Técnico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Speaker Tecnológico</a:t>
            </a:r>
          </a:p>
        </p:txBody>
      </p:sp>
      <p:pic>
        <p:nvPicPr>
          <p:cNvPr id="5" name="Picture 4" descr="gmail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0" y="4160520"/>
            <a:ext cx="292608" cy="2926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063239" y="4142232"/>
            <a:ext cx="8488375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 i="0">
                <a:solidFill>
                  <a:srgbClr val="007433"/>
                </a:solidFill>
                <a:latin typeface="Calibri"/>
              </a:rPr>
              <a:t>julian_castanoe@cun.edu.co</a:t>
            </a:r>
          </a:p>
        </p:txBody>
      </p:sp>
      <p:pic>
        <p:nvPicPr>
          <p:cNvPr id="7" name="Picture 6" descr="logo_cun_sol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5523586"/>
            <a:ext cx="1463040" cy="101437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PRESÉNTATE — ROMPEHIELOS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Preséntate: quién eres y qué esperas del curso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79"/>
            <a:ext cx="58521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Escanea o abre: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https://padlet.com/andres_dfx/cun-wruz81hmf9k06gd7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En un post-it escribe: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nombre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+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expectativa del curso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o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tema de interés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(1 frase).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Tablero oficial: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Padlet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(mismo enlace en los 5 cursos).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Ahora (~7 min). Leemos juntos 3–4 notas (sin juzgar).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332927" y="1993391"/>
            <a:ext cx="3328415" cy="3886200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qr_presentacion_estudian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42655" y="2103120"/>
            <a:ext cx="3108960" cy="31089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332927" y="5230367"/>
            <a:ext cx="33284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0C2340"/>
                </a:solidFill>
                <a:latin typeface="Calibri"/>
              </a:rPr>
              <a:t>Escanea o abre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32927" y="5468112"/>
            <a:ext cx="332841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007433"/>
                </a:solidFill>
                <a:latin typeface="Calibri"/>
              </a:rPr>
              <a:t>https://padlet.com/andres_dfx/cun-wruz81hmf9k06gd7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LAS ACAs — QUÉ SE EVALÚA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Entrega oficial: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CDigital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2011679"/>
          <a:ext cx="10911533" cy="20116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993453"/>
                <a:gridCol w="7763976"/>
                <a:gridCol w="1154104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ACA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entregas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Peso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ACA 1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Corte 1 · Problema–oportunidad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30%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ACA 2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Corte 2 · Validación de la propuesta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30%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ACA 3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Corte 3 · Propuesta de Innovación final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40%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416052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Enunciado completo y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fechas exactas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: `Clases/Recursos/ACAs/` y la Presentación del Curso.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Cómo trabajamos: una hora juntos, el resto por su cuenta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curso son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 créditos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unas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32 horas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acompañamiento y unas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64 horas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trabajo autónomo.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Traducción honesta: lo que decide su nota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 pasa en la hora de clase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pasa entre semana.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encuentro sincrónico es de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una hora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No alcanza para dictar todo y además hacer el taller.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Por eso trabajamos en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aula invertida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usted llega leído y la hora se usa para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aplicar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no para leerle diapositivas.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Antes del encuentro: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leer el material de la unidad publicado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Durante el encuentro: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un ejemplo modelado por el Docente + taller sobre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su propia propuesta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+ preguntas.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Después del encuentro: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terminar el avance de la semana y guardarlo para el paquete del corte.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Traiga siempre su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documento de trabajo abierto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se trabaja sobre lo que ya está escrito, no sobre lo que recuerda.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Regla del curso: cada sesión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alimenta el mismo documento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 Aquí ningún taller es una isla.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Mapa del curso: las 7 sesiones de un vistazo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5" cy="402336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283710"/>
                <a:gridCol w="5134840"/>
                <a:gridCol w="4492985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Sesión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Tema del encuentro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sale de esa sesión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01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(hoy)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Encuadre: el curso, el Docente, ustedes y las ACAs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Reglas claras + encargo de lectura autónoma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02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Creatividad e innovación en I+D ·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Design Thinking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y técnicas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Su reto bien planteado y un banco de ideas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03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Gestión de la innovación (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Manual de Oslo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/ OCDE)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Su propuesta clasificada y justificada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04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Tipos de innovación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Cuadro comparativo aplicado a su caso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05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Análisis de negocios · validación de la propuesta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FODA, Canvas y MVP de su propuesta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06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Vigilancia tecnológica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Tablero de señales, fuentes e implicaciones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07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Innovación local–internacional · entidades de apoyo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Mapa de entidades + pitch de 60 segundos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8521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Ocho unidades del Syllabus en siete encuentros: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U1–U2 se leen de forma autónoma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y las retomamos al abrir la Sesión 02.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Qué se llevan al final: la Propuesta de Innovación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Este curso tiene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 solo producto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una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Propuesta de Innovación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escrita, construida por partes desde hoy.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No es un ensayo *sobre* innovación: es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su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propuesta, sobre un problema real, con un usuario concreto.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documento final responde, en este orden: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problema → usuario → propuesta de valor → tipo de innovación → validación → vigilancia → siguiente paso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Extensión orientativa: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8–12 páginas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más un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pitch de una página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Para qué le sirve cuando el curso termine: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Es la base de una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idea de emprendimiento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o de un proyecto de mejora dentro de la empresa donde trabaja.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Es material real para una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entrevista de trabajo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muestra criterio, no solo herramientas.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Puede ser la semilla de su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opción de grado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o de una postulación a una convocatoria de apoyo.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Si al terminar solo tiene un archivo para la nota, desperdició el semestre.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Las tres ACAs: qué se entrega en cada corte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20116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375403"/>
                <a:gridCol w="5501614"/>
                <a:gridCol w="4034517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ACA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entrega exactamente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se evalúa ahí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ACA 1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Corte 1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Ficha problema–oportunidad + mapa de bloqueadores y ensanchadores + síntesis de ideación (3–6 págs.).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Que el problema sea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real, observable y de alguien concreto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ACA 2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Corte 2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Propuesta tipificada + cuadro comparativo +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FODA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,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Canvas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y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MVP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+ sustentación breve (6–10 págs.).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Que la propuesta esté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clasificada y validada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, no solo descrita.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ACA 3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Corte 3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Propuesta consolidada + vigilancia tecnológica + entidades de apoyo +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pitch de 1 página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(8–12 págs.).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Que el hilo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cierre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: del problema al siguiente paso, sin saltos.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38404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Enunciado completo, rúbrica y fechas de cada ACA: `Clases/Recursos/ACAs/` y el espacio de entrega en CDigital.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Qué separa un entregable fuerte de uno flojo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352044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650484"/>
                <a:gridCol w="4492985"/>
                <a:gridCol w="4768065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Aspecto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Entregable flojo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Entregable fuerte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Usuario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“la sociedad”, “las empresas”, “los usuarios”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Una persona concreta, en un contexto concreto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Problema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Se deduce de la solución que ya había elegido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Se describe con un síntoma que se puede observar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Evidencia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“todo el mundo sabe que…”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Un dato, una observación o una frase del usuario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Fuentes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Copiadas de un blog sin autor ni fecha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Citadas en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APA 7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y verificables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Avance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Escrito la noche anterior, de una sola pieza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Se nota el hilo de varias sesiones encima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Presentación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Sin formato, sin títulos, sin numerar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Plantilla APA CUN, ordenado y legible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34924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El Docente no evalúa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cuánto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escribió: evalúa si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se entiende, se sostiene y avanzó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respecto al corte anterior.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Cómo se entrega: paso a paso en CDigital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Escriba en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plantilla APA CUN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(`Clases/Recursos/`): ábrala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Google Docs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trabaje ahí. No necesita Office instalado.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Abra el enunciado del ACA en `Clases/Recursos/ACAs/` y marque su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checklist de criterios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antes de dar por cerrado el texto.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Exporte 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PDF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salvo que el enunciado pida otro formato.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4.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Nombre el archivo así: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CRE_ACA1_Apellido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(cambie el número del ACA y su apellido).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5.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Suba el archivo al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espacio de entrega del corte en 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no al foro y no al chat del encuentro.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6.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Verifique que quedó cargado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ábralo desde la plataforma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un archivo vacío o corrupto cuenta como no entregado.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Entrega oficial = CDigital.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No se reciben trabajos por correo, por WhatsApp ni por mensaje privado.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¿Se le complicó la fecha? Se habla con el Docente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antes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del cierre del espacio, nunca después. Cerrado el espacio, la nota es la que hay.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Lo que no esté en CDigital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no está entregado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, por más que exista en su computador.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Integridad académica: la línea que no se cruza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Todo lo que no sea suyo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se cita en APA 7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: texto, datos, imágenes, código y también las ideas que resumió con sus palabras. Citar no le resta mérito: demuestra que leyó.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35224"/>
            <a:ext cx="10911535" cy="1225296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044952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Cuenta como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plagio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copiar y pegar sin comillas ni fuente, parafrasear sin citar, traducir un texto ajeno y presentarlo como propio, o entregar un trabajo comprado o hecho por otra persona.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389120"/>
            <a:ext cx="10911535" cy="1225296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498848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Si aparece plagio, el caso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no se arregla entre usted y el Docente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: sigue el conducto que fija el Reglamento Estudiantil de la CUN. Por eso conviene preguntar antes, no explicar después.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IA generativa: se usa, se declara y se verifica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La IA generativa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está prohibida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este curso: está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regulada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Es una herramienta más, como el buscador.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Declárela.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Al final del documento, una nota corta: qué herramienta usó, para qué y qué hizo usted con la salida.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Declararlo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 baja la nota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 Ocultarlo sí es una falta de integridad académica.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Verifique toda cita que le entregue la IA.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El error número uno son las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referencias inventadas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autor y año que suenan bien y no existen.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no logró abrir el documento original en Scholar, SciELO o Redalyc, esa fuente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 entra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en su entregable.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La IA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puede hacer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lo que este curso evalúa: observar a un usuario real, elegir un problema y defender un criterio propio.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Un texto impecable sobre un problema que usted nunca miró se cae en la primera pregunta del Docente.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Usted firma el entregable: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responde por cada frase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la haya escrito usted o una herramienta.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Buen uso: pedirle que le discuta el problema o le ordene ideas. Mal uso: pedirle el entregable y copiarlo sin leer.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Herramientas del curso: gratis y desde el navegador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402336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842500"/>
                <a:gridCol w="4859759"/>
                <a:gridCol w="3209275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Herramienta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Para qué la usamos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Cuenta / acceso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CDigital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Material, anuncios, foro y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entrega oficial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de las ACAs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Login institucional CUN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Google Docs / Slides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Escribir la propuesta y armar el pitch (plantilla APA CUN)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Cuenta CUN o Gmail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Excalidraw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(excalidraw.com)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Bocetos, mapas y diagramas: feos pero claros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Sin cuenta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Canvanizer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Business Model Canvas de su propuesta (Corte 2)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Gratis en el navegador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Scholar · SciELO · Redalyc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Buscar fuentes serias, antecedentes y referentes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Sin cuenta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ZoteroBib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(zbib.org)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Armar las referencias en APA 7 sin instalar nada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Sin cuenta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Canva free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(opcional)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Una diapositiva de pitch presentable, si la quiere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Cuenta gratuita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8521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Regla del curso: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nada de pagar ni de instalar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 Si una herramienta le pide tarjeta, no es la que estamos pidiendo.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Cómo pedir ayuda (y recibir respuesta pronto)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 el encuentro: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los últimos minutos son para dudas. Es el canal más rápido y el que menos se usa.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Foro del curso en CDigital: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para dudas que le sirven a todo el grupo (formato, entrega, alcance de un ACA).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Lo que se pregunta en el foro queda respondido para los demás; por eso se responde primero ahí.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Correo institucional del Docente: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para lo personal (una situación particular, una nota, una dificultad).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Asunto sugerido: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EI004 – su nombre – el tema en cuatro palabras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 Sin asunto claro, la respuesta tarda más.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Tiempo de respuesta: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días hábiles, normalmente entre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24 y 48 horas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No hay atención de madrugada ni domingo.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Formule la duda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concreta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qué intentó, qué parte no le cuadra y qué necesita decidir.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“No entendí nada” no se puede responder. “No sé si mi usuario es el estudiante o el laboratorista” sí.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Escribir la víspera de la entrega es válido, pero a esa hora ya no queda tiempo de arreglar mucho.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Acuerdos de convivencia del encuentro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Puntualidad: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empezamos a la hora en punto y dura una hora. Quien llega tarde entra sin interrumpir.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Nombre real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la sala: si no sé quién es, no puedo registrar su participación ni llamarlo por su nombre.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Micrófono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silencio por defecto y abierto para participar.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Cámara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bienvenida, no obligatoria.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no puede abrir cámara ni micrófono, participe por el chat. Lo que no funciona es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estar conectado y ausente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Participar es parte del método: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aquí se piensa en voz alta y se muestran borradores a medio hacer.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Ninguna idea se ridiculiza. Las ideas se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critican con criterio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; a las personas no se las critica.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Respeto en el foro: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se responde a la idea, no a quien la escribió, y no se publican datos ni capturas de terceros.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Si el encuentro se graba, se avisa al inicio y la grabación queda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para quien no pudo conectarse.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Para la Sesión 02: lectura autónoma y qué traer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Lectura autónoma (obligatoria):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unidades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U1–U2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del Syllabus — *Propuesta de Innovación* y *creatividad e inteligencia emocional*.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●   Las retomamos en los primeros minutos de la Sesión 02: se repasan, no se dictan completas.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Dónde está: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ya viene en tu carpeta del curso, en `Sesion 01 - …/` (el PDF `Lectura autonoma - Design Thinking en la universidad (REDIE 2020).pdf` y el archivo `Lectura autonoma - Sesion 01.txt` con la cita, el enlace y qué traer). También queda publicada en CDigital.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●   Léalas con una pregunta en la mano: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¿qué de esto me sirve para el problema que voy a elegir?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Abra el enunciado de la ACA 1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en `Clases/Recursos/ACAs/` y léalo entero, checklist incluido.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Traiga escrito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(con tres líneas basta): un problema real que le moleste,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a quién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le pasa y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dónde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lo vio.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●   No traiga una solución: traiga un problema. La solución es el trabajo del resto del curso.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Cree su documento de trabajo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en Google Docs con la plantilla APA CUN y déjelo listo para escribir encima.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Use la ficha del curso: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en `Sesion 01 - …/` están `Ficha_problema_oportunidad.docx` (la plantilla que se llena) y `Ejemplo_ficha_modelo.html` (un ejemplo ya diligenciado, ábralo en el navegador). Esa ficha se reutiliza como insumo de la ACA 1.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Para la Sesión 02: lectura autónoma y qué traer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Sesión 02: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*Creatividad e innovación en I+D · Design Thinking y técnicas* — se trabaja sobre lo que usted traiga.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Sin un problema propio, la Sesión 02 se le vuelve teoría. Con un problema propio, sale de ella con su reto ya planteado.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Preguntas del primer día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¿Esta materia se pierde fácil?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No, si entrega. Se pierde por no entregar y por dejarlo todo para el Corte 3, que pesa el 40%.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35224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044952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¿Puedo trabajar solo o en grupo?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Puede trabajar en dúo si comparten el mismo problema, pero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cada uno entrega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su documento en CDigital.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133087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242816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¿Sirve un trabajo de otro semestre?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Puede partir de un proyecto suyo si lo declara y lo lleva más lejos. Volver a entregar lo mismo es autoplagio.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5330952"/>
            <a:ext cx="10911535" cy="713232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5440680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¿Necesito saber programar o diseñar?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No. Aquí se evalúa criterio, no herramientas.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ACUERDOS DE TRABAJO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713232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Entrega oficial: CDigital.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Lo que no esté ahí, no está entregado.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679191"/>
            <a:ext cx="10911535" cy="713232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788920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Traer el avance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escrito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a cada encuentro: se trabaja sobre lo que ya existe.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621024"/>
            <a:ext cx="10911535" cy="713232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730752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Integridad académica: citar siempre en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APA 7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 El plagio tiene debido proceso.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PARA LA PRÓXIMA SESIÓN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Lectura autónoma: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U1–U2 (Propuesta de Innovación · creatividad e inteligencia emocional) — la retomamos al abrir la Sesión 02.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Revisar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Presentación del Curso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completa (fechas, evaluación, contenido de todas las sesiones).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Abrir el enunciado de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ACA 1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`Clases/Recursos/ACAs/` y leerlo entero.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5632704"/>
            <a:ext cx="1371600" cy="9509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737360"/>
            <a:ext cx="10911535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C2340"/>
                </a:solidFill>
                <a:latin typeface="Calibri"/>
              </a:rPr>
              <a:t>Cierre — Sesión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17520"/>
            <a:ext cx="10911535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Ya sabemos qué haremos, cómo se evalúa y quién es quién.</a:t>
            </a:r>
          </a:p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2B2B2B"/>
                </a:solidFill>
                <a:latin typeface="Calibri"/>
              </a:rPr>
              <a:t>Sesión 02: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arranca el contenido del curso.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007433"/>
                </a:solidFill>
                <a:latin typeface="Calibri"/>
              </a:rPr>
              <a:t>CREATIVIDAD Y PENSAMIENTO INNOVADOR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CUN</dc:creator>
  <cp:keywords/>
  <dc:description/>
  <cp:lastModifiedBy>CUN</cp:lastModifiedBy>
  <cp:revision>1</cp:revision>
  <dcterms:created xsi:type="dcterms:W3CDTF">2013-01-27T09:14:16Z</dcterms:created>
  <dcterms:modified xsi:type="dcterms:W3CDTF">2013-01-27T09:15:58Z</dcterms:modified>
  <cp:category/>
</cp:coreProperties>
</file>