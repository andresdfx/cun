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1325880" cy="91927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303324"/>
            <a:ext cx="10911535" cy="14764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07 — Innovación local–internacional · entidades de apoyo</a:t>
            </a:r>
          </a:p>
          <a:p>
            <a:pPr algn="ctr">
              <a:spcBef>
                <a:spcPts val="800"/>
              </a:spcBef>
            </a:pPr>
            <a:r>
              <a:rPr sz="1600" b="0" i="0">
                <a:solidFill>
                  <a:srgbClr val="CFDDEE"/>
                </a:solidFill>
                <a:latin typeface="Calibri"/>
              </a:rPr>
              <a:t>Creatividad y Pensamiento Innovador — Escuela de Ingenierías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37560"/>
            <a:ext cx="10911535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Sesión 07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Innovación local–internacional · entidades de apoyo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CREATIVIDAD Y PENSAMIENTO INNOVADOR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Una semilla buena no basta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Una innovación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rara vez sobrevive sola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 Para pasar de prototipo a impacto necesita cosas que ustedes no tienen todavía.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Capital · mentoría · redes de contactos · infraestructura · marco normativo · clientes.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La metáfora del día: una semilla buena no basta. Necesita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tierra, agua, luz y clima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El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ecosistema de innovación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es ese entorno: el conjunto de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actores y reglas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que rodean a un equipo de I+D o a un emprendedor.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Por eso su trabajo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termina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cuando suben el archivo a CDigital.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Termina —de verdad— cuando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alguien de afuera le abre una puerta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a la propuesta.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Y para que alguien abra esa puerta, hay que saber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 quién tocarla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qué pedir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cuando abre.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Salen de la hora con dos cosas: un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mapa de mínimo 3 entidades reales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con un pedido concreto a cada una, y un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pitch de 60 segundos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ensayado y cronometrado.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Qué le puede dar el ecosistema (y qué no)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Seis insumos que una propuesta necesita y que casi nunca se consiguen solos: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Capital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dinero para materiales, licencias o dedicación. Rara vez es lo primero que falta.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Mentoría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alguien que ya se equivocó antes y le ahorra tres meses de camino.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Redes de contactos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el acceso a las personas correctas, que suele valer más que el dinero.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Infraestructura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laboratorios, equipos, espacios, datos.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Marco normativo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permisos, avales, respaldo institucional para poder probar.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Clientes o usuarios reales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el insumo más escaso de todos y el que más rápido madura un proyecto.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Lo que el ecosistema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hace: no valida por usted, no arregla una propuesta sin usuario, y no reemplaza la evidencia.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Si llega a una entidad sin saber qué problema resuelve, la puerta se abre y no pasa nada.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Antes de buscar plata, pregúntese cuál de los seis insumos es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el que hoy le falta de verdad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. Casi nunca es el primero.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El mapa de entidades: cuatro cuadrantes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4" cy="2514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139516"/>
                <a:gridCol w="5562743"/>
                <a:gridCol w="3209275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Cuadrante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Ejemplos orientativos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Qué suelen ofrecer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Universitario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Unidad de emprendimiento de la CUN · semilleros de investigación · laboratorios y docentes del programa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Mentoría, espacio, validación, contactos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Público / mixto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Cámaras de Comercio · programas de alcaldías y gobernaciones · </a:t>
                      </a: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iNNpulsa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· </a:t>
                      </a: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Minciencias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Convocatorias, capital semilla, formación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Privado / redes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Hubs y aceleradoras · comunidades tech · empresas ancla de su sector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Piloto, inversión, red de clientes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Internacional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Programas de cooperación · </a:t>
                      </a: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open innovation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de multilatinas · plataformas de retos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Retos abiertos, financiación, escalamiento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Es un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mapa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, no un directorio. Los programas cambian: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verifiquen el nombre y la vigencia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el día que vayan a escribir.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Aprender a preguntar el encaje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Antes de acercarse a cualquier entidad, respóndase una sola pregunta: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¿para qué me sirve ESTA entidad?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Cinco tipos de encaje posibles. Elija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uno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por entidad — no los cinco: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Mentoría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que alguien revise lo que ya hice y me diga dónde está el hueco.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Capital semilla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recursos para una etapa concreta y acotada.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Networking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que me conecten con quien ya trabaja en esto.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Infraestructura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acceso a un espacio, un equipo o unos datos.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Validación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usuarios reales para probar mi MVP en condiciones reales.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Si usted no sabe qué pediría, la entidad todavía no le sirve.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No es la entidad la que falla: es que su propuesta aún no sabe qué le falta.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Truco para descubrirlo: vuelva a su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MVP y a su prueba de validación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 ¿Qué le faltó para ejecutarla bien?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Eso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es lo que pide.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"Pedir apoyo" no es un pedido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4" cy="2514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975873"/>
                <a:gridCol w="3372656"/>
                <a:gridCol w="4563005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Pedido vago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Por qué no funciona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Pedido concreto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"Necesito apoyo para mi proyecto"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El otro no sabe qué hacer con eso y archiva el correo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"Solicito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20 minutos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para que revisen mi Canvas y mi MVP"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"Quisiera que me ayuden con usuarios"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No dice cuántos, ni cuándo, ni para qué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"Solicito acceso a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10 usuarios por 2 semanas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para probar el flujo"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"Me interesa participar en convocatorias"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Pide información que ya es pública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"Solicito confirmar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fechas y requisitos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de la convocatoria vigente"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"Busco financiación"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Sin monto ni destino, no es evaluable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"Solicito apoyo para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materiales de un piloto de 4 semanas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Un buen pedido cabe en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un correo de 5 líneas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y le permite al otro decir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sí o no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sin tener que preguntar nada más.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Ejemplo modelado: mapa de entidades del caso del laboratorio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4" cy="20116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088170"/>
                <a:gridCol w="2264658"/>
                <a:gridCol w="5558706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Entidad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Tipo de apoyo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Qué le pediría en un correo de 5 líneas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Unidad de emprendimiento de la CUN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Mentoría / pitch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Revisión del Canvas y del pitch, y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5 contactos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de estudiantes usuarios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Área de TI o empresa del sector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Piloto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10 usuarios reales durante 2 semanas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para cronometrar el flujo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Programa público o Cámara de Comercio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Convocatoria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Confirmación de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fechas y requisitos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de postulación vigentes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38404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Fíjense en la tercera columna: cada fila tiene un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pedido concreto, medible y acotado en el tiempo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. Ninguna dice "pedir ayuda".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El pitch de 60 segundos: qué logra y qué 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Un pitch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es contar todo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 Es lograr que el otro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quiera una segunda conversación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 Nada más.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Si esto lo tienen claro, el resto es fácil: todo lo que no ayude a conseguir esa segunda charla,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sobra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El error número uno, y el más caro: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empezar por la tecnología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"Hicimos una app con inteligencia artificial que..." — nadie se conecta con eso, ni siquiera la gente técnica.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La tecnología entra en el tramo 3,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como medio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nunca como protagonista.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El pitch empieza por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la persona y su dolor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 Es lo único que todo el mundo entiende sin contexto.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El pitch de 60 segundos: qué logra y qué no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Tres reglas de forma: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Una sola idea por tramo.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Si mete dos, se pierden las dos.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Números concretos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cuando los tenga (4 de 5, 30%, una hora perdida). Un número vale por tres adjetivos.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Termine pidiendo algo.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Un pitch sin pedido deja al otro sin saber qué hacer.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Los cinco tramos del pitch de 60 segundos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3" cy="30175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69758"/>
                <a:gridCol w="4279033"/>
                <a:gridCol w="1497661"/>
                <a:gridCol w="4065081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Tramo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Contenido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Tiempo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Pregunta que responde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Usuario + dolor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~10 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¿A quién y qué le duele?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Insight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~10 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¿Qué observación lo cambia todo?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Propuesta + tipo de innovación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~15 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¿Qué proponen y qué cambia?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Evidencia breve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~15 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¿Por qué debería creerles?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Pedido / siguiente paso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~10 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¿Qué necesitan de mí ahora?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84632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El tramo 4 es el que separa un proyecto de aula de una propuesta creíble: ahí entra su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validación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o su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vigilancia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Ejemplo modelado: el pitch completo, tramo por tramo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Tramo 1 · Usuario + dolor: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"Los estudiantes de Ingeniería pierden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hasta una hora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buscando un laboratorio libre."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Empieza por la persona. Todavía no aparece ninguna tecnología.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Tramo 2 · Insight: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"Al observarlos notamos que el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70% de los choques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se concentra 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dos franjas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del día."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El insight es la observación que uno no esperaba. Es lo que hace que el otro levante la cabeza.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Tramo 3 · Propuesta + tipo: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"Proponemos una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asignación automática desde el horario del curso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sin trámite de reserva. Es una innovación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 proceso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."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Quince segundos, y nombra el tipo. Eso muestra que sabe qué está haciendo.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Tramo 4 · Evidencia: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"En una prueba con 5 estudiantes,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4 de 5 completaron el flujo en menos de un minuto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dijeron que lo usarían cada semana."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Un número real vence a cualquier adjetivo. Aquí es donde su validación paga.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Ejemplo modelado: el pitch completo, tramo por tramo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Tramo 5 · Pedido: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"Buscamos un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piloto de dos semanas con un curso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para medirlo en condiciones reales."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Concreto, acotado y fácil de responder con un sí o un no.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Sesenta segundos exactos — y empecé por la persona, no por la app.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Errores frecuentes y respuestas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969264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Listar entidades sin decir qué les pediría.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Una entidad sin un pedido concreto no sirve. ¿Le pide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mentoría, piloto, capital o contactos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35224"/>
            <a:ext cx="10911535" cy="969264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044952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Empezar el pitch por la tecnología.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Empiece por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la persona y su dolor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 La tecnología va en el tramo 3, como medio.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133087"/>
            <a:ext cx="10911535" cy="969264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242816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Pitch de 3 minutos "porque hay mucho que contar".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En 60 s usted no cuenta todo: logra que quieran una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segunda charla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 Corte lo demás.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Errores frecuentes y respuestas (cont.)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969264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Entidades genéricas o inventadas.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Se necesita el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nombre real y correcto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 ¿Existe esa entidad y hace lo que usted dice que hace?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35224"/>
            <a:ext cx="10911535" cy="969264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044952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Cerrar el curso sin saber qué falta.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Diga explícitamente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qué está listo y qué falta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 Eso es madurez de proyecto, no debilidad.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133087"/>
            <a:ext cx="10911535" cy="1225296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242816"/>
            <a:ext cx="104543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Sobre cupos y financiaciones: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el Docente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no maneja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esas convocatorias y no puede prometer cupos ni recursos. Lo que sí se enseña aquí es a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identificarlas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y a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preguntar el encaje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Paso a paso: escribir y ensayar su 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1.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Abra un documento y escriba los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cinco tramos como títulos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uno debajo del otro.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2.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Llene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una frase por tramo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 Una sola. Si le salen dos, elija la que más se entienda sin contexto.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3.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Léalo en voz alta con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cronómetro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(el del celular sirve). Anote el tiempo real.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Casi todos pasan de 90 segundos en el primer intento. Es normal.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4.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Corte, no acelere.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Hablar más rápido no arregla un pitch largo: lo vuelve incomprensible.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Empiece cortando adjetivos y explicaciones técnicas del tramo 3.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5.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Repita hasta quedar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 55 y 60 segundos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leyendo a ritmo normal.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6.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Ensaye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 parejas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el compañero cronometra y luego repite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qué entendió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Si no puede repetir el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dolor, el valor y el pedido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el problema es el pitch, no el oyente.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Paso a paso: escribir y ensayar su pitch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7.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(Opcional) Si quiere una diapositiva de apoyo,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Canva free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 el navegador.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Una sola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con el dolor y el número de evidencia.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Regla final: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memorice la estructura, no el texto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 Un pitch recitado suena a discurso; uno estructurado suena a convicción.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TALLER — Mapa de entidades + pitch de 60 s (23 minutos)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Paso 1 (7 min)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· Completen su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Mapa de entidades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en Google Docs: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mínimo 3 entidades reales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con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nombre correcto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y un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pedido concreto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a cada una.</a:t>
            </a:r>
          </a:p>
          <a:p>
            <a:pPr lvl="1"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●   Verifiquen el nombre en el sitio de la entidad antes de escribirlo. Un nombre mal escrito hunde la credibilidad del documento.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Paso 2 (7 min)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· Escriban el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guion del pitch de 60 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siguiendo los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cinco tramos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 Pueden bocetarlo en Excalidraw.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Paso 3 (6 min)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·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Ensayen en parejas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con cronómetro. El que escucha repite qué entendió; el que habla ajusta.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Paso 4 (3 min)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·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Cuatro voluntarios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hacen su pitch en vivo y se les toma el tiempo.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Si quieren una diapositiva de apoyo: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Canva free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opcional, una sola.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Criterio de éxito verificable: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60 segundos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se entienden las tres cosas —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dolor, valor y pedido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y hay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3 entidades con pedido concreto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●   Verificación en pareja: si su compañero no puede repetir el pedido después de escucharlo, el tramo 5 está mal escrito.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El cronómetro no es para presionar: es para que descubran cuánto sobra. Casi siempre sobra el tramo 3.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Antes de entregar: revise usted mismo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☐ Mis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3 entidades existen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escribí su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nombre correcto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(lo verifiqué en su sitio).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☐ Cada entidad tiene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un solo tipo de encaje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mentoría, capital, networking, infraestructura o validación.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☐ Cada pedido es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concreto y acotado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dice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cuánto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 qué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por cuánto tiempo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☐ Mi pitch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empieza por la persona y su dolor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no por la app, la plataforma ni la IA.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☐ Mi pitch tiene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los cinco tramos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uno por uno, y ninguno se comió al otro.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☐ En el tramo 4 hay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un número real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salido de mi validación o de mi vigilancia.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☐ El tramo 5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pide algo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que el otro puede responder con un sí o un no.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☐ Lo cronometré y quedó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 60 segundos o menos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leyendo a ritmo normal.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☐ Sé decir, en una frase,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qué está listo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 mi propuesta y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qué falta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Antes de entregar: revise usted mismo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☐ El archivo se llama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`S08_EcosistemaPitch_Apellido`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está 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CDigital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El hilo completo de su Propuesta de Innovación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Miren de dónde vienen. Su propuesta ya no es una ocurrencia: es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un argumento con evidencia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Partieron de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un problema real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y de un usuario con un dolor concreto.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Lo convirtieron en un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How Might We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y en un banco de ideas del que eligieron con criterios.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Le pusieron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nombre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con el Manual de Oslo: un tipo dominante, justificado.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Lo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argumentaron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contra una alternativa, con una matriz y una conclusión escrita.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Lo pusieron a prueba con un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Canvas, un MVP y una validación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con criterio fijado de antemano.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Lo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contrastaron con el entorno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en un tablero de vigilancia, y ajustaron.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Y hoy lo conectaron con el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afuera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entidades reales y un pitch de 60 segundos.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Cada pieza de esa lista es un documento que ya existe.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Nada de esto hay que inventarlo ahora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hay que consolidarlo.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 — cierre y paquete consolidado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Tres ideas para llevarse de hoy: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1. Una innovación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no sobrevive sola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necesita un ecosistema que le dé lo que le falta.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2. Una entidad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sin un pedido concreto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no le sirve todavía.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3. Un pitch se gana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empezando por la persona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no por la tecnología.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Trabajo autónomo de cierre: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suban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CDigital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paquete consolidado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que pida el corte, como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`S08_EcosistemaPitch_Apellido`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Ficha del problema · Ficha Oslo · Matriz de tipos · Canvas y MVP con la validación · Tablero de vigilancia · Mapa de entidades · Guion del pitch.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Plataforma: [URL CDigital — campus del curso pendiente]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Revisen en CDigital las rúbricas y los espacios de entrega (EV) del corte final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antes de subir: ahí está el formato exacto que se espera.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Y un último consejo para después del curso: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escriban uno de esos correos de cinco líneas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 La propuesta ya está lista para que alguien de afuera la lea.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 — cierre y paquete consolidado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Cualquier duda administrativa, por el canal del curso.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Gracias por el trabajo de todo el ciclo.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— Sesión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Sesión 07: Innovación local–internacional · entidades de apoyo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CREATIVIDAD Y PENSAMIENTO INNOVADOR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