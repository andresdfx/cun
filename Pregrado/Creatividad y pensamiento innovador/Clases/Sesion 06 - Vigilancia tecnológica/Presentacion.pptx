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1325880" cy="9192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303324"/>
            <a:ext cx="10911535" cy="14764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06 — VIGILANCIA TECNOLÓGICA</a:t>
            </a:r>
          </a:p>
          <a:p>
            <a:pPr algn="ctr">
              <a:spcBef>
                <a:spcPts val="800"/>
              </a:spcBef>
            </a:pPr>
            <a:r>
              <a:rPr sz="1600" b="0" i="0">
                <a:solidFill>
                  <a:srgbClr val="CFDDEE"/>
                </a:solidFill>
                <a:latin typeface="Calibri"/>
              </a:rPr>
              <a:t>Creatividad y Pensamiento Innovador — Escuela de Ingenierías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37560"/>
            <a:ext cx="10911535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06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Vigilancia tecnológica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CREATIVIDAD Y PENSAMIENTO INNOVADOR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Su MVP no vive en una burbuja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La sesión pasada probaron su MVP con usuarios. Hoy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levantamos la vista del prototipo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miramos el entorno.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Tres cosas que pasan cuando nadie mira afuera: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reinventa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algo que ya existe, gratis y documentado, y se pierden semanas del semestre.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No se nota que una tecnología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acaba de volverse viable o barata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y la propuesta nace desactualizada.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Aparece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una norma o una política institucional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al final, cuando ya no hay tiempo de ajustar nada.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Caso concreto: un equipo diseña su sistema de turnos por completo y en la semana 12 descubre que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el laboratorio exige autorización escrita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para cualquier piloto.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Esa información estaba publicada desde el principio. Nadie fue a buscarla.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Producto de la hora: un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tablero de mínimo 3 señales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—lo más importante—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una decisión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tomada a partir de ellas.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Qué es la vigilancia tecnológica (y qué NO 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Vigilancia tecnológica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proceso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sistemático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capturar, filtrar, analizar y usar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información sobre tecnologías, competidores, normas y tendencias, con un fin concreto: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decidir mejor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La palabra que carga todo el peso es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sistemático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No es leer el artículo que apareció en el celular. Es un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método repetible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con fuentes definidas y registro.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Lo que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 vigilancia: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es "me informé". Buscar en internet un rato es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curiosidad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no vigilancia.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es acumular enlaces en un documento. Eso es un archivo, no un tablero.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es leer solo lo que confirma lo que ya pensaba.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La prueba de fuego, en una sola pregunta: ¿cambió alguna decisión de su propuesta?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después de mirar el entorno usted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no ajustó ni confirmó nada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no vigiló: leyó.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El ciclo mínimo: Observar → Analizar → Comunicar → Usar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1. Observar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buscar en fuentes definidas de antemano, no en lo que aparezca.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Decida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antes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dónde va a mirar: académico, patentes, mercado, normativa. Si no, terminará donde lo lleve el algoritmo.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2. Analizar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separar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hallazgo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(lo que dice la fuente) de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implicación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(lo que significa para usted).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Casi todo el mundo se queda en el hallazgo. El valor está en la implicación.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3. Comunicar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dejarlo escrito de forma que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otro lo entienda sin explicación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su tablero solo lo entiende usted, no comunicó: tomó apuntes.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4. Usar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convertirlo en un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ajuste concreto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de alcance, de usuario, de tecnología o de riesgo.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Este paso es el que casi siempre falta, y es el único que justifica los tres anteriores.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Los cuatro pasos caben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una hora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por señal. La disciplina no es el tiempo: es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saltarse el paso 4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Informarse vs. vigilar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35204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626851"/>
                <a:gridCol w="3839243"/>
                <a:gridCol w="4445440"/>
              </a:tblGrid>
              <a:tr h="502920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Informarse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Vigilar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Cuándo ocurre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Cuando algo aparece por casualidad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En un momento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planeado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, con fuentes definidas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Qué se busca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Lo que resulte interesante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Respuesta a una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pregunta concreta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del proyecto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Qué queda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Un enlace guardado o nada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Una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ficha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con fuente, fecha e implicación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Cómo se sabe que sirvió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Uno "se enteró"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Cambió o confirmó una decisión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Frecuencia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Aleatoria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Repetible: se puede volver a hacer igual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Resultado en el proyecto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Ninguno visible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Ajuste de alcance, usuario, tecnología o riesgo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34924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La diferencia no está en cuánto se lee. Está en si al final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hay una decisión escrita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Cuatro frentes de señal y dónde buscarlos (todo gratis, en el navegador)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5" cy="2514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25565"/>
                <a:gridCol w="5776695"/>
                <a:gridCol w="3209275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Tipo de señal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Fuentes gratis / web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Pregunta que responde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Tecnología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Google Scholar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(scholar.google.com) ·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Google Patents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(patents.google.com) · repositorios de GitHub · documentación oficial de estándares (IEEE)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¿Qué se volvió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posible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o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barato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Mercado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Reportes públicos · listas de precios · notas de adopción · portales de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datos abiertos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¿Quién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ya paga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por esto y cuánto?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Normativa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Leyes y resoluciones · políticas institucionales · sitios de entidades públicas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¿Qué me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limita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o me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habilita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Social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Hábitos y demografía · quejas públicas en redes y prensa · foros de usuarios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¿Qué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cambió en el usuario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?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El error más común es mirar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solo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el frente tecnológico. Las propuestas de estudiantes suelen morir por el frente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normativo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, que nadie revisó.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Google Scholar: cómo buscar sin ahogarse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Google Scholar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(scholar.google.com) da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estado del arte académico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qué se ha estudiado y qué se encontró.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Regla 1 · Busque el PROBLEMA, no su solución.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Mal: "app de reservas CUN" — no existe literatura de su app.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Bien: "gestión de turnos laboratorio universitario" — ahí sí hay estudios.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Regla 2 · Pruebe en inglés.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El volumen de resultados se multiplica.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"laboratory scheduling system", "resource booking higher education".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Regla 3 · Use comillas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para frases exactas: `"laboratory scheduling"` evita resultados sueltos.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Regla 4 · Filtre por año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el panel izquierdo ("Desde 2020"). Una señal tecnológica de hace 15 años ya no es señal.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Google Scholar: cómo buscar sin ahogarse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Regla 5 · Mire "Citado por"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si un artículo tiene muchas citas, es una referencia central del tema.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Y desde ahí puede saltar a trabajos más recientes que lo citan.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Copie siempre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título + autor + año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Sin esos tres datos, lo que encontró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es evidencia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Google Patents: encontrar algo parecido es una buena noticia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Google Patents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(patents.google.com) muestra soluciones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ya documentadas o protegidas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muchísimas más de las que uno imagina.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La reacción típica del estudiante al encontrar algo parecido: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"mi idea murió"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Es exactamente al revés.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Ahora usted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sabe contra qué compite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y eso antes no lo sabía.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Y queda obligado a responder la pregunta que sí importa: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¿en qué se diferencia la mía?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Cómo se usa en 5 minutos: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Busque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con las palabras del problema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no con el nombre de su proyecto.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Filtre por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fecha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para ver qué es reciente y qué es viejo.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Lea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solo el resumen (abstract)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 las figuras. No hace falta leer las reivindicaciones completas.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Revise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"Similar documents"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al final de la ficha: ahí aparece el vecindario completo de su idea.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Google Patents: encontrar algo parecido es una buena noticia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Lo que escribe en su ficha no es "existe algo parecido", sino: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"existe X; mi diferencia está en Y"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Si en clase alguna búsqueda profunda muestra un aviso de "tráfico inusual", se continúa en el navegador normal — no se instala nada.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La ficha de señal: cinco campos, ni uno más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Cada señal se registra en una ficha mínima —en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Google Docs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— para que sirva a la decisión y no al archivo.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1. Título de la señal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una frase suya que diga qué encontró, no el título del documento original.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2. Fuente + fecha + enlace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los tres.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Sin fecha ni autor, no vale.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Una fuente sin fecha puede estar describiendo un mundo que ya no existe.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3. Hallazgo en 2 líneas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resumen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 sus palabras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Copiar el abstract entero no es resumir.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4. Implicación para MI propuesta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el campo que decide si la ficha sirve. Tres salidas posibles: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Confirma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sigo igual, y ahora con respaldo para sustentarlo.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Obliga a pivotar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cambio alcance, usuario o tecnología.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Es un riesgo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no cambio hoy, pero lo anoto y lo vigilo.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La ficha de señal: cinco campos, ni uno más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5. Nivel de confianza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alto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(fuente oficial o revisada por pares) ·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medio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(reporte o nota técnica seria) ·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bajo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(blog, foro, testimonio suelto).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Confianza baja no invalida la señal: solo indica que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todavía no puede decidir sola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Ejemplo modelado: dos fichas del caso del laboratorio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5" cy="30175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25565"/>
                <a:gridCol w="4492985"/>
                <a:gridCol w="4492985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Campo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Señal 1 (académica)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Señal 2 (patente)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Título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Los sistemas de turnos reducen el tiempo muerto de laboratorio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Ya existe reserva de espacios por código QR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Fuente + fecha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Artículo sobre gestión de turnos en laboratorios universitarios, Google Scholar, 2021 (autor y enlace copiados)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Patente de sistema de reserva por QR, Google Patents, 2019 (número y enlace copiados)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Hallazgo (2 líneas)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La mayor pérdida no está en reservar, sino en los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choques de horario entre cursos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El registro por QR ya está documentado como solución de reserva de espacios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Implicación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Confirma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el problema, pero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desplaza el foco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: atacar los choques, no el trámite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Obliga a pivotar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: mi diferencia debe estar en la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asignación automática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, no en el registro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Confianza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Alta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— publicación académica con revisión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Alta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— documento oficial de patente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84632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Miren la fila de implicación: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las dos señales cambiaron algo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. Una movió el foco del problema; la otra movió la diferencia de la solución.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Eso es vigilar.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Errores frecuentes y respuestas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"Ya vigilé: leí un artículo."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¿Cambió alguna decisión de su propuesta? Si no, se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informó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, no vigiló.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35224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44952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"Encontré una patente igual, mi idea murió."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Al contrario: ahora sabe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contra qué compite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 ¿En qué se diferencia la suya?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33087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242816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Pegar un enlace sin fecha ni autor.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Una fuente sin fecha ni autor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no es evidencia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 Busque quién lo dice y cuándo.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Errores frecuentes y respuestas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"Hay muchas apps parecidas."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"Parecidas" no es análisis. ¿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En qué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se parecen y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en qué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se diferencia usted?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35224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44952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Vigilancia decorativa.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Si su tablero no ajusta alcance, usuario, tecnología ni riesgo, todavía no sirve para nada.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33087"/>
            <a:ext cx="10911535" cy="969264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242816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"No encuentro nada."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Cambie las palabras: busque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el problema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, no su solución. Y pruebe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en inglés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en Scholar.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Paso a paso: arme su tablero de vigilancia en Google Docs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1.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Documento nuevo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Google Docs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Título: `Tablero de vigilancia — [su propuesta]`.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2.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Escriba primero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la pregunta que quiere responder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Sin pregunta, la búsqueda se dispersa.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Ejemplo: "¿Qué soluciones de asignación de recursos ya existen y qué las limita?"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Inserte una tabla de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5 columnas × 4 filas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señal · fuente y fecha · hallazgo · implicación · confianza.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4.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Abra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scholar.google.com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patents.google.com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pestañas aparte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no cierre el documento.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5.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Por cada búsqueda útil,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pegue de una vez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título, autor, año y enlace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antes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 seguir leyendo.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no lo hace en el momento, después no encuentra de dónde salió. Le pasa a todo el mundo.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6.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Llene la columna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implicación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inmediatamente, con la fuente todavía abierta.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7.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Al final, subraye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la señal que le obligó a ajustar algo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escriba abajo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decisión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una frase.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Paso a paso: arme su tablero de vigilancia en Google Docs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8.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Descargue en PDF o comparta el enlace, y súbalo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CDigital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TALLER — Tablero de vigilancia de su tema (22 minutos)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Abran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Google Scholar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Google Patents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otra pestaña y armen su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Tablero de vigilancia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Google Docs.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Mínimo 3 fichas de señal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cada una con: título · fuente con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fecha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enlace · hallazgo en 2 líneas ·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implicación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· nivel de confianza.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Minutos 0–3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· Escriban la pregunta de búsqueda y armen la tabla vacía.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Minutos 3–10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· Señal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tecnológica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busquen en Scholar y/o Patents. Copien título, autor y año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 el momento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Minutos 10–16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· Señales de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otro frente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mercado, normativa o social. No las tres del mismo lado.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Minutos 16–22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· Llenen las implicaciones y escriban abajo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su decisión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Al menos una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señal debe obligarlos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ajustar algo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alcance, usuario, tecnología o riesgo.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Al final,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dos personas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comparten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solo la implicación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 una señal — no el hallazgo.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 verificable: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 señales con fuente y fecha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+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1 decisión explícita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escrita en una frase que empiece por "Ajusto..." o "Confirmo...".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Si una ficha no cambia ni confirma nada, bórrela y busque otra. Una ficha inútil ocupa el lugar de una que sí decide.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Antes de entregar: revise usted mismo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☐ Tengo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 fichas o más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y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todas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son del frente tecnológico.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☐ Cada ficha tiene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autor, fecha y enlace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Ninguna dice solo "lo vi en internet".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☐ Ninguna de mis fuentes tiene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más de 5 años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sin que yo explique por qué sigue vigente.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☐ Mis hallazgos están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 mis palabras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en 2 líneas. No pegué ningún abstract completo.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☐ Cada ficha dice si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confirma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obliga a pivotar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es un riesgo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☐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Al menos una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señal cambió algo real de mi propuesta, y puedo señalar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qué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cambió.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☐ Escribí mi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decisión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una frase, al final del tablero.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☐ Si encontré algo parecido a mi idea, escribí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 qué me diferencio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no lo escondí.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☐ El archivo se llama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`S07_Vigilancia_Apellido`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está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CDigital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Antes de entregar: revise usted mismo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Prueba final: si le entrego mi tablero a un compañero, ¿sabría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qué decisión tomé y por qué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? Si no, falta la implicación.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 — trabajo autónomo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Tres ideas para llevarse de hoy: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1. Vigilar es un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sistema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no una lectura suelta.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2. Una fuente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sin fecha ni autor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no es evidencia.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3. Si la señal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no cambia una decisión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no sirvió.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(a)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Pulan su tablero y súbanlo como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`S07_Vigilancia_Apellido`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CDigital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Plataforma: [URL CDigital — campus del curso pendiente]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(b)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Preparen un listado de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mínimo 3 entidades de apoyo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—con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nombre correcto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— a las que podrían acercarse.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Piensen en cuatro frentes: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universitario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(unidad de emprendimiento, semilleros),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público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privado / redes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internacional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Para cada una, anoten en una línea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qué creen que le pedirían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 Si no saben qué pedir, esa entidad todavía no les sirve.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 — trabajo autónomo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Próxima sesión — la última: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innovación local–internacional,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entidades de apoyo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pitch de 60 segundos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cronometrado. Vengan preparados para hablar.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06: Vigilancia tecnológica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CREATIVIDAD Y PENSAMIENTO INNOVADOR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