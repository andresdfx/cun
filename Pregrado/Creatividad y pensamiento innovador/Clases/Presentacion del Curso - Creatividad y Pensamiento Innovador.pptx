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CREATIVIDAD Y PENSAMIENTO INNOVADOR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Escuela de Ingenierías · Código EI004 · 2 créditos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Periodo de referencia: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26V04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 de agosto de 2026 – 27 de septiembre de 2026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Modalidad: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Virtual — encuentro sincrónico por Google Meet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Horario confirmado: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Miércoles, 5:00 pm – 6:00 pm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efectivo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5:10 pm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Grupo: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54408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Bloque: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PRIMER BLOQUE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Área oferente: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Unidad de Emprendimiento e Innovación (C-EMP)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Regla de festivo: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el miércoles es festivo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Tablero colaborativo (Padlet)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Post-it: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expectativa del curso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tema/problema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de interés (1 frase).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¿QUÉ ES ESTA ASIGNATURA?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Identificar tus habilidades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creatividad e innovación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aplicarlas a mejorar una realidad observada (producto, proceso u organización).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Hilo conductor: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Propuesta de Innovación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anunciada desde la semana 1.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32 h con docente + 64 h de trabajo autónomo y colaborativo.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CONTENIDO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27632"/>
            <a:ext cx="10911535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Presentación del curso · docente · estudiantes · ACAs.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Creatividad/innovación en I+D · Design Thinking y técnicas.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Gestión de la innovación (Manual de Oslo / OCDE).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Tipos de innovación.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5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Análisis de negocios · validación de la propuesta.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Vigilancia tecnológica.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7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Innovación local–internacional · entidades de apoyo.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EVALUACIÓN — CORTES (ART. 52)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Periodo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26V04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10/08/2026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cierre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27/09/2026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79"/>
            <a:ext cx="3503066" cy="658368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1  ·  30%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10/08/2026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19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19/08/2026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4314" y="2011679"/>
            <a:ext cx="3503066" cy="658368"/>
          </a:xfrm>
          <a:prstGeom prst="rect">
            <a:avLst/>
          </a:prstGeom>
          <a:solidFill>
            <a:srgbClr val="324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7466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2  ·  30%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4314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4042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26/08/2026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4354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4042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02/09/2026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8548" y="2011679"/>
            <a:ext cx="3503066" cy="658368"/>
          </a:xfrm>
          <a:prstGeom prst="rect">
            <a:avLst/>
          </a:prstGeom>
          <a:solidFill>
            <a:srgbClr val="4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1700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3  ·  40%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8548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8276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09/09/2026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68588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8276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16/09/2026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56631"/>
            <a:ext cx="10911535" cy="640080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5166359"/>
            <a:ext cx="1054577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2B2B2B"/>
                </a:solidFill>
                <a:latin typeface="Calibri"/>
              </a:rPr>
              <a:t>Corte 1 = 30% · Corte 2 = 30% · Corte 3 = 40%. Enunciados: Clases/Recursos/ACAs/. Fechas = día de clase (mié).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ALCANCE DE LA EVALUACIÓN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Régimen: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Art. 52 del Reglamento Estudiantil ·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Corte 1 = 30% · Corte 2 = 30% · Corte 3 = 40%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(desglose EV: confirmar en CDigital / syllabus SIAC EI004).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Autoevaluación y coevaluación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 porcentaje propio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(modelo AFI Proyecto I: 4% + 4% según ESP329):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aplican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esta asignatura según el syllabus SIAC / Art. 52.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No confundir con la autoevaluación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institucional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SIAC (calidad de programas en acreditacion.cun.edu.co): esa no es una nota del curso.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Entregas, rúbricas EV y publicación de notas: solo por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Si Coordinación publica un instrumento formativo sin peso propio, se anuncia en el aula; no inventamos % fuera del syllabus.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DEL CURSO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Encuentro sincrónico: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Miércoles, 5:00 pm – 6:00 pm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por Google Meet.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Festivo en día de clase =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(actividad en el CDigital), no cancelación.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La Propuesta de Innovación se explica desde el día 1 y se valida/sustenta hacia la unidad 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 (campus del curso):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Meet (mismo enlace toda la serie):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Meet — mismo enlace toda la serie · Creatividad]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–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(viene en tu carpeta del curso): `Recursos/Plantilla_APA_CUN_Proyecto de grado.docx`.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(en tu carpeta):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`Recursos/Plantilla_APA_CUN_Proyecto de grado.docx`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Enunciados ACA / cortes (estudiantes):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`Clases/Recursos/ACAs/`.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Herramientas típicas: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Design Thinking, Canvas, Journey Map, MVP, vigilancia tecnológica.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Entregas y notas oficiales: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solo por CDigital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Nos vemos en el primer encuentro sincrónico: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Miércoles, 5:00 pm – 6:00 pm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Piensa desde ya en un problema real que quieras mejorar con innovación.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EI004 · Creatividad y Pensamiento Innovador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