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CREATIVIDAD Y PENSAMIENTO INNOVADOR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Escuela de Ingenierías · Código EI004 · 2 créditos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Periodo de referencia: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26V04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 de agosto de 2026 – 27 de septiembre de 2026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Modalidad: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Virtual — encuentro sincrónico por Google Meet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 confirmado: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Miércoles, 5:00 pm – 6:00 pm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inicio efectivo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5:10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Grupo: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54408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PRIMER BLOQUE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Contacto del 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julian_castanoe@cun.edu.co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Área oferente: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Unidad de Emprendimiento e Innovación (C-EMP)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Regla de festivo: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el miércoles es festivo →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clase autónoma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148840"/>
            <a:ext cx="8991295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Ingeniero de Sistemas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Líder Técnico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Speaker Tecnológico</a:t>
            </a:r>
          </a:p>
        </p:txBody>
      </p:sp>
      <p:pic>
        <p:nvPicPr>
          <p:cNvPr id="5" name="Picture 4" descr="gmail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160520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39" y="4142232"/>
            <a:ext cx="848837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007433"/>
                </a:solidFill>
                <a:latin typeface="Calibri"/>
              </a:rPr>
              <a:t>julian_castanoe@cun.edu.co</a:t>
            </a:r>
          </a:p>
        </p:txBody>
      </p:sp>
      <p:pic>
        <p:nvPicPr>
          <p:cNvPr id="7" name="Picture 6" descr="logo_cun_s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523586"/>
            <a:ext cx="1463040" cy="1014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ROMPEHIELOS — DOS VERDADES Y UNA MENTIRA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Dos verdades y una mentira · Slido · 8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58521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Entra a slido.com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escribe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código del evento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que el Docente pega en el chat del Meet. Sin cuenta ni instalar nada.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El juego: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«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dos verdades y una mentira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» sobre el Docente. Se proyectan tres frases suyas y votas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cuál de las tres NO es cierta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acertar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1 entre 3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así que arrancamos todos iguales.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Tres rondas (~4 min).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Al cerrar cada una el Docente revela la mentira y cuenta la historia de la verdad más rara: ahí queda hecha su presentación.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Ronda final (~2 min):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sale la tabla de posiciones y los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tres primeros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toman el micrófono con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sus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dos verdades y una mentira. Gana quien engañe a más gente. Hablan tres, no 50.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Premio: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revisión 1 a 1 con el Docente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del avance del ganador, antes de la primera entrega.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Las preguntas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 toda la sesión van por el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Q&amp;A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del mismo Slido.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2927" y="1993391"/>
            <a:ext cx="3328415" cy="38862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4095" y="2606039"/>
            <a:ext cx="2926079" cy="2103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7433"/>
                </a:solidFill>
                <a:latin typeface="Calibri"/>
              </a:rPr>
              <a:t>slido.com</a:t>
            </a:r>
          </a:p>
          <a:p>
            <a:pPr algn="ctr">
              <a:spcBef>
                <a:spcPts val="1400"/>
              </a:spcBef>
            </a:pPr>
            <a:r>
              <a:rPr sz="1300" b="0" i="0">
                <a:solidFill>
                  <a:srgbClr val="0C2340"/>
                </a:solidFill>
                <a:latin typeface="Calibri"/>
              </a:rPr>
              <a:t>El </a:t>
            </a:r>
            <a:r>
              <a:rPr sz="1300" b="1" i="0">
                <a:solidFill>
                  <a:srgbClr val="0C2340"/>
                </a:solidFill>
                <a:latin typeface="Calibri"/>
              </a:rPr>
              <a:t>código del evento</a:t>
            </a:r>
            <a:r>
              <a:rPr sz="1300" b="0" i="0">
                <a:solidFill>
                  <a:srgbClr val="0C2340"/>
                </a:solidFill>
                <a:latin typeface="Calibri"/>
              </a:rPr>
              <a:t> te lo pega el Docente en el </a:t>
            </a:r>
            <a:r>
              <a:rPr sz="1300" b="1" i="0">
                <a:solidFill>
                  <a:srgbClr val="0C2340"/>
                </a:solidFill>
                <a:latin typeface="Calibri"/>
              </a:rPr>
              <a:t>chat del Meet</a:t>
            </a:r>
            <a:r>
              <a:rPr sz="1300" b="0" i="0">
                <a:solidFill>
                  <a:srgbClr val="0C2340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2927" y="5230367"/>
            <a:ext cx="3328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433"/>
                </a:solidFill>
                <a:latin typeface="Calibri"/>
              </a:rPr>
              <a:t>[URL Slido — evento del rompehielos pendiente · CREATIVIDAD Y PENSAMIENTO INNOVADOR]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¿QUÉ ES ESTA ASIGNATURA?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Identificar tus habilidades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creatividad 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aplicarlas a mejorar una realidad observada (producto, proceso u organización).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Hilo conductor: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Propuesta de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anunciada desde la semana 1.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32 h con docente + 64 h de trabajo autónomo y colaborativo.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27632"/>
            <a:ext cx="10911535" cy="4727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1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Presentación del curso · docente · estudiantes · ACAs.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2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Creatividad/innovación en I+D · Design Thinking y técnicas.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3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Gestión de la innovación (Manual de Oslo / OCDE).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4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Tipos de innovación.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5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Validación de la propuesta · vigilancia tecnológica.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6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Innovación local–internacional · entidades de apoyo.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Sesión 7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Taller de consolidación y sustentación de la propuesta.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EVALUACIÓN — CORTES (ART. 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Periodo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26V04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inicio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10/08/2026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cierre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27/09/2026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79"/>
            <a:ext cx="3503066" cy="65836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084831"/>
            <a:ext cx="33567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Corte 1  ·  30%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70048"/>
            <a:ext cx="3503066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88035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12/08/2026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794759"/>
            <a:ext cx="2862986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97763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26/08/2026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4314" y="2011679"/>
            <a:ext cx="3503066" cy="658368"/>
          </a:xfrm>
          <a:prstGeom prst="rect">
            <a:avLst/>
          </a:prstGeom>
          <a:solidFill>
            <a:srgbClr val="32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7466" y="2084831"/>
            <a:ext cx="33567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Corte 2  ·  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4314" y="2670048"/>
            <a:ext cx="3503066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4042" y="288035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27/08/2026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4354" y="3794759"/>
            <a:ext cx="2862986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4042" y="397763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09/09/2026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8548" y="2011679"/>
            <a:ext cx="3503066" cy="658368"/>
          </a:xfrm>
          <a:prstGeom prst="rect">
            <a:avLst/>
          </a:prstGeom>
          <a:solidFill>
            <a:srgbClr val="4A7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1700" y="2084831"/>
            <a:ext cx="335676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Corte 3  ·  40%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8548" y="2670048"/>
            <a:ext cx="3503066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8276" y="288035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10/09/2026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8588" y="3794759"/>
            <a:ext cx="2862986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8276" y="3977639"/>
            <a:ext cx="328361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27/09/2026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56631"/>
            <a:ext cx="10911535" cy="640080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5166359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2B2B2B"/>
                </a:solidFill>
                <a:latin typeface="Calibri"/>
              </a:rPr>
              <a:t>Corte 1 30% = Quiz 1 6% + Parcial 1 24% · Corte 2 30% = Quiz 2 9% + Parcial 2 21% · Corte 3 40% = ACA Final 32,8% + Quiz 3 4% + Autoevaluación 1,6% + Coevaluación 1,6% — libro de calificaciones de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. Quices y parciales: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cuestionarios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que cierran en día de clase (mié).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(tarea/documento) cierra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19/09/2026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. Enunciados: Clases/Recursos/ACAs/.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CALIFICA — LOS ÍTEMS DEL AULA (CDIGITAL)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B2B2B"/>
                </a:solidFill>
                <a:latin typeface="Calibri"/>
              </a:rPr>
              <a:t>Libro de calificaciones del aula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(CDigital) · cortes 30% / 30% / 40% · los pesos suman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79"/>
          <a:ext cx="10911531" cy="4297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220931"/>
                <a:gridCol w="1448433"/>
                <a:gridCol w="1448433"/>
                <a:gridCol w="1351871"/>
                <a:gridCol w="4441863"/>
              </a:tblGrid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Ítem en CDigital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Corte (peso)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Peso del ítem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 (30%)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19/08/2026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1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 (30%)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24%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26/08/2026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2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 (30%)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02/09/2026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Parcial 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 (30%)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09/09/2026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ACA Final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Tarea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32,8%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19/09/2026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Quiz 3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16/09/2026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Autoevaluación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Cuestionario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1,6%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27/09/2026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Coevaluación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Foro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 (40%)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1,6%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27/09/2026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ALCANCE DE LA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Régimen: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Art. 52 del Reglamento Estudiantil ·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Corte 1 = 30% · Corte 2 = 30% · Corte 3 = 40%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Cada corte se compone de ítems concretos del aula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nombre exacto, tipo de actividad, peso y cierre: en la tabla «CÓMO SE CALIFICA» de esta presentación.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Autoevaluación (1,6%, cuestionario)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coevaluación (1,6%, foro)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sí hacen parte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 la nota de este curso: van en el tercer corte y se diligencian/participan en el aula.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Los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quices y parciales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son cuestionarios en CDigital y cierran en día de clase;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una tarea (documento) y cierra en la fecha máxima de recepción.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No confundir con la autoevaluación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institucional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SIAC (calidad de programas en acreditacion.cun.edu.co): esa no es una nota del curso.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Entregas, rúbricas y publicación de notas: solo por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Si un peso o una ventana del aula no coincide con este material,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manda el aula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se corrige aquí y se avisa en clase.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DEL 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Encuentro sincrónico: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Miércoles, 5:00 pm – 6:00 pm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por Google Meet.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Festivo en día de clase =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clase autónoma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no cancelación: la actividad y el material quedan en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carpeta de esa sesión en el Drive de clases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(`Clases/Sesion NN - …/`); la entrega y la nota siguen en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La Propuesta de Innovación se explica desde el día 1 y se valida/sustenta hacia la unidad 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Contacto del Docente: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julian_castanoe@cun.edu.co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 (campus del curso):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https://cdigital.cun.edu.co/course/view.php?id=115463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Meet (mismo enlace toda la serie):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[URL Meet — mismo enlace toda la serie · Creatividad]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Material de clases (Drive):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[URL Material de clases — carpeta Clases/ en Drive · Creatividad]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aquí está el material de cada sesión, incluida la de una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clase autónoma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– Proyecto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(viene en tu carpeta del curso): `Recursos/Plantilla_APA_CUN_Proyecto de grado.docx`.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(en tu carpeta):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`Recursos/Plantilla_APA_CUN_Proyecto de grado.docx`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Enunciados ACA / cortes (estudiantes):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`Clases/Recursos/ACAs/`.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Herramientas típicas: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Design Thinking, Canvas, Journey Map, MVP, vigilancia tecnológica.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Entregas y notas oficiales: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solo por CDigital del curso.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¡Empezamos!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Nos vemos en el primer encuentro sincrónico: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Miércoles, 5:00 pm – 6:00 pm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Piensa desde ya en un problema real que quieras mejorar con innovación.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EI004 · 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