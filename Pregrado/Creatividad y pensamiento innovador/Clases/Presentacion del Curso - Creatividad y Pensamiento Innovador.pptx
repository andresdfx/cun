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8" roundtripDataSignature="AMtx7mhm4wUKIpyQmn3HDp3svbN9DOot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B154F1-D96A-40CF-8D90-B27A64D0B9E9}">
  <a:tblStyle styleId="{8DB154F1-D96A-40CF-8D90-B27A64D0B9E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CREATIVIDAD Y PENSAMIENTO INNOVADOR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Escuela de Ingenierías · Código EI004 · 2 créditos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 de referencia: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26V04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 de agosto de 2026 – 27 de septiembre de 2026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Modalidad: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Virtual — encuentro sincrónico por Google Meet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Horario confirmado: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Miércoles, 5:00 pm – 6:00 pm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efectivo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5:10 pm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Grupo: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54408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PRIMER BLOQUE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Área oferente: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Unidad de Emprendimiento e Innovación (C-EMP)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festivo: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el miércoles es festivo →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gmail_icon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41605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98" name="Google Shape;9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700" cy="118860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40080" y="0"/>
            <a:ext cx="90828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ROMPEHIELOS — DOS VERDADES Y UNA MENTIRA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640080" y="1280160"/>
            <a:ext cx="109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 · Slido · 8 minutos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4466327" y="2606050"/>
            <a:ext cx="3026400" cy="27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juego: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«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» sobre el Docente. Se proyectan tres frases suyas y votas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 de las tres NO es cierta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acertar es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 entre 3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así que arrancamos todos iguales.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Premio: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revisión 1 a 1 con el Docente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avance del ganador, antes de la primera entrega.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toda la sesión van por el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mismo Slido.</a:t>
            </a:r>
            <a:endParaRPr sz="1600"/>
          </a:p>
        </p:txBody>
      </p:sp>
      <p:sp>
        <p:nvSpPr>
          <p:cNvPr id="108" name="Google Shape;108;p3"/>
          <p:cNvSpPr txBox="1"/>
          <p:nvPr/>
        </p:nvSpPr>
        <p:spPr>
          <a:xfrm>
            <a:off x="11094415" y="6446520"/>
            <a:ext cx="54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3">
            <a:alphaModFix/>
          </a:blip>
          <a:srcRect b="4663" l="5574" r="13059" t="5490"/>
          <a:stretch/>
        </p:blipFill>
        <p:spPr>
          <a:xfrm>
            <a:off x="4251950" y="2001375"/>
            <a:ext cx="3575375" cy="357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ES ESTA ASIGNATURA?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640080" y="1691639"/>
            <a:ext cx="10911600" cy="25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Identificar tus habilidades de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creatividad e innovación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aplicarlas a mejorar una realidad observada (producto, proceso u organización).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Hilo conductor: una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Propuesta de Innovación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anunciada desde la semana 1.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32 h con docente + 64 h de trabajo autónomo y colaborativo.</a:t>
            </a:r>
            <a:endParaRPr sz="3000"/>
          </a:p>
        </p:txBody>
      </p:sp>
      <p:sp>
        <p:nvSpPr>
          <p:cNvPr id="117" name="Google Shape;117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24" name="Google Shape;124;p5"/>
          <p:cNvSpPr txBox="1"/>
          <p:nvPr/>
        </p:nvSpPr>
        <p:spPr>
          <a:xfrm>
            <a:off x="640080" y="1627632"/>
            <a:ext cx="10911600" cy="43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Presentación del curso · docente · estudiantes · ACAs.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2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Creatividad/innovación en I+D · Design Thinking y técnicas.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3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Gestión de la innovación (Manual de Oslo / OCDE).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4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Tipos de innovación.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5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Validación de la propuesta · vigilancia tecnológica.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6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Innovación local–internacional · entidades de apoyo.</a:t>
            </a:r>
            <a:endParaRPr sz="30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7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Taller de consolidación y sustentación de la propuesta.</a:t>
            </a:r>
            <a:endParaRPr sz="3000"/>
          </a:p>
        </p:txBody>
      </p:sp>
      <p:sp>
        <p:nvSpPr>
          <p:cNvPr id="125" name="Google Shape;125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EVALUACIÓN — CORTES (ART. 52)</a:t>
            </a:r>
            <a:endParaRPr/>
          </a:p>
        </p:txBody>
      </p:sp>
      <p:sp>
        <p:nvSpPr>
          <p:cNvPr id="132" name="Google Shape;132;p6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26V04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10/08/2026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cierre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27/09/2026</a:t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  ·  30%</a:t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12/08/2026</a:t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26/08/2026</a:t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2  ·  30%</a:t>
            </a: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27/08/2026</a:t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09/09/2026</a:t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  ·  40%</a:t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10/09/2026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27/09/2026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640080" y="5056631"/>
            <a:ext cx="10911535" cy="640080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Quices y parciales: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cuestionarios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cierran en día de clase (mié).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(tarea/documento) cierra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19/09/2026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Enunciados: Clases/Recursos/ACAs/.</a:t>
            </a:r>
            <a:endParaRPr/>
          </a:p>
        </p:txBody>
      </p:sp>
      <p:sp>
        <p:nvSpPr>
          <p:cNvPr id="153" name="Google Shape;153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CALIFICA — LOS ÍTEMS DEL AULA (CDIGITAL)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Libro de calificaciones del aula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(CDigital) · cortes 30% / 30% / 40%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/>
          </a:p>
        </p:txBody>
      </p:sp>
      <p:graphicFrame>
        <p:nvGraphicFramePr>
          <p:cNvPr id="161" name="Google Shape;161;p7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{8DB154F1-D96A-40CF-8D90-B27A64D0B9E9}</a:tableStyleId>
              </a:tblPr>
              <a:tblGrid>
                <a:gridCol w="2220925"/>
                <a:gridCol w="1448425"/>
                <a:gridCol w="1448425"/>
                <a:gridCol w="1351875"/>
                <a:gridCol w="4441875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 del ítem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2" name="Google Shape;162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ALCANCE DE LA EVALUACIÓN</a:t>
            </a:r>
            <a:endParaRPr/>
          </a:p>
        </p:txBody>
      </p:sp>
      <p:sp>
        <p:nvSpPr>
          <p:cNvPr id="169" name="Google Shape;169;p8"/>
          <p:cNvSpPr txBox="1"/>
          <p:nvPr/>
        </p:nvSpPr>
        <p:spPr>
          <a:xfrm>
            <a:off x="640080" y="1691639"/>
            <a:ext cx="10911600" cy="81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Régimen: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Art. 52 del Reglamento Estudiantil ·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= 30% · Corte 2 = 30% · Corte 3 = 40%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corte se compone de ítems concretos del aula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nombre exacto, tipo de actividad, peso y cierre: en la tabla «CÓMO SE CALIFICA» de esta presentación.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Autoevaluación (1,6%, cuestionario)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(1,6%, foro)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 hacen parte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 nota de este curso: van en el tercer corte y se diligencian/participan en el aula.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Los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quices y parciales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son cuestionarios en CDigital y cierran en día de clase; la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una tarea (documento) y cierra en la fecha máxima de recepción.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confundir con la autoevaluación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institucional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SIAC (calidad de programas en acreditacion.cun.edu.co): esa no es una nota del curso.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Entregas, rúbricas y publicación de notas: solo por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30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un peso o una ventana del aula no coincide con este material, </a:t>
            </a:r>
            <a:r>
              <a:rPr b="1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0" lang="en-US" sz="30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corrige aquí y se avisa en clase.</a:t>
            </a:r>
            <a:endParaRPr sz="3000"/>
          </a:p>
        </p:txBody>
      </p:sp>
      <p:sp>
        <p:nvSpPr>
          <p:cNvPr id="170" name="Google Shape;170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DEL CURSO</a:t>
            </a:r>
            <a:endParaRPr/>
          </a:p>
        </p:txBody>
      </p:sp>
      <p:sp>
        <p:nvSpPr>
          <p:cNvPr id="177" name="Google Shape;177;p9"/>
          <p:cNvSpPr/>
          <p:nvPr/>
        </p:nvSpPr>
        <p:spPr>
          <a:xfrm>
            <a:off x="640080" y="1737360"/>
            <a:ext cx="10911535" cy="713232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Encuentro sincrónico: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Miércoles, 5:00 pm – 6:00 pm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 Google Meet.</a:t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640080" y="2679191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868680" y="278892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Festivo en día de clase =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cancelación: la actividad y el material quedan en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carpeta de esa sesión en el Drive de clases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(`Clases/Sesion NN - …/`); la entrega y la nota siguen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640080" y="4133087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Propuesta de Innovación se explica desde el día 1 y se valida/sustenta hacia la unidad 6.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RECURSOS</a:t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640080" y="1691639"/>
            <a:ext cx="10911600" cy="390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 (campus del curso):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https://cdigital.cun.edu.co/course/view.php?id=115463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Meet (mismo enlace toda la serie):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Meet — mismo enlace toda la serie · Creatividad]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Material de clases (Drive):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Material de clases — carpeta Clases/ en Drive · Creatividad]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aquí está el material de cada sesión, incluida la de una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– Proyecto de Grado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(viene en tu carpeta del curso): `Recursos/Plantilla_APA_CUN_Proyecto de grado.docx`.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(en tu carpeta):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`Recursos/Plantilla_APA_CUN_Proyecto de grado.docx`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Enunciados ACA / cortes (estudiantes):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`Clases/Recursos/ACAs/`.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Herramientas típicas: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Design Thinking, Canvas, Journey Map, MVP, vigilancia tecnológica.</a:t>
            </a:r>
            <a:endParaRPr sz="15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Entregas y notas oficiales: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solo por CDigital del curso.</a:t>
            </a:r>
            <a:endParaRPr sz="1500"/>
          </a:p>
        </p:txBody>
      </p:sp>
      <p:sp>
        <p:nvSpPr>
          <p:cNvPr id="191" name="Google Shape;191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197" name="Google Shape;1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1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199" name="Google Shape;199;p11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Nos vemos en el primer encuentro sincrónico: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Miércoles, 5:00 pm – 6:00 pm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Piensa desde ya en un problema real que quieras mejorar con innovación.</a:t>
            </a:r>
            <a:endParaRPr/>
          </a:p>
        </p:txBody>
      </p:sp>
      <p:sp>
        <p:nvSpPr>
          <p:cNvPr id="200" name="Google Shape;200;p11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EI004 · Creatividad y Pensamiento Innovador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