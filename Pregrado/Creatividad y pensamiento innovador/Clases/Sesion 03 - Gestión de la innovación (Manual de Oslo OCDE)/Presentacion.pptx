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30" roundtripDataSignature="AMtx7miNdk8wPU06+Z7pPaz7rGd2k4E66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841625E-6445-47C0-AA29-46D15B9DDC22}">
  <a:tblStyle styleId="{A841625E-6445-47C0-AA29-46D15B9DDC22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0" Type="http://customschemas.google.com/relationships/presentationmetadata" Target="metadata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2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p2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2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6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6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7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8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8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9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9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30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30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30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30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3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3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3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3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3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3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2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32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32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3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3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3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3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33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3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3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3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34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3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3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3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5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5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3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3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3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2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_cun_solo.png" id="86" name="Google Shape;8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274320"/>
            <a:ext cx="1325880" cy="919277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SESIÓN 03 — Gestión de la innovación (Manual de Oslo / OCDE)</a:t>
            </a:r>
            <a:endParaRPr/>
          </a:p>
          <a:p>
            <a:pPr indent="0" lvl="0" marL="0" marR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CFDDEE"/>
                </a:solidFill>
                <a:latin typeface="Calibri"/>
                <a:ea typeface="Calibri"/>
                <a:cs typeface="Calibri"/>
                <a:sym typeface="Calibri"/>
              </a:rPr>
              <a:t>Creatividad y Pensamiento Innovador — Escuela de Ingenierías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640080" y="3337560"/>
            <a:ext cx="10911600" cy="149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03</a:t>
            </a:r>
            <a:endParaRPr sz="27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Tema:</a:t>
            </a:r>
            <a:r>
              <a:rPr b="0" i="0" lang="en-US" sz="2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Gestión de la innovación (Manual de Oslo / OCDE)</a:t>
            </a:r>
            <a:endParaRPr sz="27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Asignatura:</a:t>
            </a:r>
            <a:r>
              <a:rPr b="0" i="0" lang="en-US" sz="2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CREATIVIDAD Y PENSAMIENTO INNOVADOR</a:t>
            </a:r>
            <a:endParaRPr sz="27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Tener ideas es barato; convertirlas en valor, no</a:t>
            </a:r>
            <a:endParaRPr/>
          </a:p>
        </p:txBody>
      </p:sp>
      <p:sp>
        <p:nvSpPr>
          <p:cNvPr id="95" name="Google Shape;95;p2"/>
          <p:cNvSpPr txBox="1"/>
          <p:nvPr/>
        </p:nvSpPr>
        <p:spPr>
          <a:xfrm>
            <a:off x="640080" y="1691639"/>
            <a:ext cx="10911600" cy="2662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La creatividad produce chispas. La </a:t>
            </a:r>
            <a:r>
              <a:rPr b="1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gestión</a:t>
            </a: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decide </a:t>
            </a:r>
            <a:r>
              <a:rPr b="1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cuáles chispas se vuelven fuego y cuáles se apagan a tiempo</a:t>
            </a: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5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Escena real en Ingeniería: proyectos técnicamente brillantes que mueren porque </a:t>
            </a:r>
            <a:r>
              <a:rPr b="1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nadie gestionó el ritmo de validación</a:t>
            </a: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500"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No murieron por falta de talento. Murieron porque nadie preguntó a tiempo "¿esto le importa a alguien?".</a:t>
            </a:r>
            <a:endParaRPr sz="15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Segundo problema: cuando decimos "esto es innovador", cada quien entiende algo distinto.</a:t>
            </a:r>
            <a:endParaRPr sz="1500"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Sin un lenguaje común, la discusión se vuelve una pelea de opiniones.</a:t>
            </a:r>
            <a:endParaRPr sz="15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Hoy resolvemos las dos cosas: </a:t>
            </a:r>
            <a:r>
              <a:rPr b="1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gestión mínima</a:t>
            </a: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(quién hace qué esta semana) y un </a:t>
            </a:r>
            <a:r>
              <a:rPr b="1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idioma común</a:t>
            </a: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para nombrar su innovación.</a:t>
            </a:r>
            <a:endParaRPr sz="15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Producto de la hora: una </a:t>
            </a:r>
            <a:r>
              <a:rPr b="1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Ficha Oslo</a:t>
            </a: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 su propuesta — tipo dominante, novedad, valor y dos actividades con fecha.</a:t>
            </a:r>
            <a:endParaRPr sz="1500"/>
          </a:p>
        </p:txBody>
      </p:sp>
      <p:sp>
        <p:nvSpPr>
          <p:cNvPr id="96" name="Google Shape;96;p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3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Qué significa "gestionar" la innovación</a:t>
            </a:r>
            <a:endParaRPr/>
          </a:p>
        </p:txBody>
      </p:sp>
      <p:sp>
        <p:nvSpPr>
          <p:cNvPr id="103" name="Google Shape;103;p3"/>
          <p:cNvSpPr txBox="1"/>
          <p:nvPr/>
        </p:nvSpPr>
        <p:spPr>
          <a:xfrm>
            <a:off x="640080" y="1691639"/>
            <a:ext cx="10911600" cy="330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Gestionar la innovación</a:t>
            </a: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= el conjunto de </a:t>
            </a:r>
            <a:r>
              <a:rPr b="1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decisiones, procesos y roles</a:t>
            </a: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que permiten pasar de ideas a </a:t>
            </a:r>
            <a:r>
              <a:rPr b="1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valor</a:t>
            </a: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 forma </a:t>
            </a:r>
            <a:r>
              <a:rPr b="1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repetible</a:t>
            </a: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500"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La palabra clave es </a:t>
            </a:r>
            <a:r>
              <a:rPr b="1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repetible</a:t>
            </a: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: acertar una vez es suerte; acertar con método es gestión.</a:t>
            </a:r>
            <a:endParaRPr sz="15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Lo que gestionar </a:t>
            </a:r>
            <a:r>
              <a:rPr b="1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NO</a:t>
            </a: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es:</a:t>
            </a:r>
            <a:endParaRPr sz="1500"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</a:t>
            </a:r>
            <a:r>
              <a:rPr b="1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No</a:t>
            </a: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es tener un departamento mágico de innovación en el organigrama.</a:t>
            </a:r>
            <a:endParaRPr sz="1500"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</a:t>
            </a:r>
            <a:r>
              <a:rPr b="1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No</a:t>
            </a: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es una lluvia de ideas los viernes por la tarde.</a:t>
            </a:r>
            <a:endParaRPr sz="1500"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</a:t>
            </a:r>
            <a:r>
              <a:rPr b="1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No</a:t>
            </a: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es hacer más reuniones. Una reunión </a:t>
            </a:r>
            <a:r>
              <a:rPr b="1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sin decisión</a:t>
            </a: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no gestiona nada.</a:t>
            </a:r>
            <a:endParaRPr sz="1500"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</a:t>
            </a:r>
            <a:r>
              <a:rPr b="1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No</a:t>
            </a: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es medir actividad ("hicimos 40 reuniones"): eso mide movimiento, no avance.</a:t>
            </a:r>
            <a:endParaRPr sz="15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Lo que sí es, en una frase: </a:t>
            </a:r>
            <a:r>
              <a:rPr b="1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imponer un ritmo de aprendizaje</a:t>
            </a: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priorizar, prototipar barato, medir, decidir.</a:t>
            </a:r>
            <a:endParaRPr sz="15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Y la decisión más difícil de todas: </a:t>
            </a:r>
            <a:r>
              <a:rPr b="1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decidir cuándo parar</a:t>
            </a: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una idea que no funciona.</a:t>
            </a:r>
            <a:endParaRPr sz="1500"/>
          </a:p>
        </p:txBody>
      </p:sp>
      <p:sp>
        <p:nvSpPr>
          <p:cNvPr id="104" name="Google Shape;104;p3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4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4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Las cuatro preguntas que se hace un gestor de innovación</a:t>
            </a:r>
            <a:endParaRPr/>
          </a:p>
        </p:txBody>
      </p:sp>
      <p:sp>
        <p:nvSpPr>
          <p:cNvPr id="111" name="Google Shape;111;p4"/>
          <p:cNvSpPr txBox="1"/>
          <p:nvPr/>
        </p:nvSpPr>
        <p:spPr>
          <a:xfrm>
            <a:off x="640080" y="1691639"/>
            <a:ext cx="10911600" cy="311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1. ¿Qué problema priorizamos... y cuáles dejamos ir?</a:t>
            </a:r>
            <a:endParaRPr sz="1500"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Priorizar no es hacer una lista: es </a:t>
            </a:r>
            <a:r>
              <a:rPr b="1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renunciar</a:t>
            </a: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explícitamente a algo. Si todo es prioritario, nada lo es.</a:t>
            </a:r>
            <a:endParaRPr sz="15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2. ¿Con qué recursos contamos de verdad?</a:t>
            </a:r>
            <a:endParaRPr sz="1500"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Tiempo, datos, personas, dinero. En este curso el recurso escaso es </a:t>
            </a:r>
            <a:r>
              <a:rPr b="1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el tiempo del semestre</a:t>
            </a: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5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3. ¿Cómo medimos aprendizaje, no actividad?</a:t>
            </a:r>
            <a:endParaRPr sz="1500"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Actividad: "hablé con 3 personas". Aprendizaje: "descubrí que el 70% ya tiene su propio arreglo casero".</a:t>
            </a:r>
            <a:endParaRPr sz="15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4. ¿Cuándo paramos?</a:t>
            </a:r>
            <a:endParaRPr sz="1500"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Definir la señal de parada </a:t>
            </a:r>
            <a:r>
              <a:rPr b="1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antes</a:t>
            </a: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 empezar evita el proyecto zombi que nadie se atreve a enterrar.</a:t>
            </a:r>
            <a:endParaRPr sz="15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Aplicado a ustedes esta semana: elijan </a:t>
            </a:r>
            <a:r>
              <a:rPr b="1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un</a:t>
            </a: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problema, con </a:t>
            </a:r>
            <a:r>
              <a:rPr b="1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dos</a:t>
            </a: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actividades fechadas, y digan </a:t>
            </a:r>
            <a:r>
              <a:rPr b="1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qué van a aprender</a:t>
            </a: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con ellas.</a:t>
            </a:r>
            <a:endParaRPr sz="1500"/>
          </a:p>
        </p:txBody>
      </p:sp>
      <p:sp>
        <p:nvSpPr>
          <p:cNvPr id="112" name="Google Shape;112;p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113" name="Google Shape;113;p4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Gestionar no es burocracia: es la disciplina de decidir con la información que sí se tiene.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5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El Manual de Oslo: el idioma común de la innovación</a:t>
            </a:r>
            <a:endParaRPr/>
          </a:p>
        </p:txBody>
      </p:sp>
      <p:sp>
        <p:nvSpPr>
          <p:cNvPr id="120" name="Google Shape;120;p5"/>
          <p:cNvSpPr txBox="1"/>
          <p:nvPr/>
        </p:nvSpPr>
        <p:spPr>
          <a:xfrm>
            <a:off x="640080" y="1691639"/>
            <a:ext cx="10911600" cy="321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</a:t>
            </a: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  El </a:t>
            </a:r>
            <a:r>
              <a:rPr b="1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Manual de Oslo</a:t>
            </a: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es el documento de referencia de la </a:t>
            </a:r>
            <a:r>
              <a:rPr b="1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OCDE</a:t>
            </a: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(Organización para la Cooperación y el Desarrollo Económicos).</a:t>
            </a:r>
            <a:endParaRPr sz="1500"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Orienta cómo </a:t>
            </a:r>
            <a:r>
              <a:rPr b="1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medir y clasificar</a:t>
            </a: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la innovación en empresas y en sistemas económicos completos.</a:t>
            </a:r>
            <a:endParaRPr sz="1500"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Es lo que permite que un país compare sus cifras de innovación con otro </a:t>
            </a:r>
            <a:r>
              <a:rPr b="1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usando las mismas definiciones</a:t>
            </a: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5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En este curso </a:t>
            </a:r>
            <a:r>
              <a:rPr b="1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no</a:t>
            </a: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lo usamos como norma contable ni estadística. Lo usamos como </a:t>
            </a:r>
            <a:r>
              <a:rPr b="1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taxonomía</a:t>
            </a: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: un vocabulario.</a:t>
            </a:r>
            <a:endParaRPr sz="1500"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¿Para qué? Para dejar de discutir en abstracto si algo "es innovador o no".</a:t>
            </a:r>
            <a:endParaRPr sz="1500"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En vez de eso decimos </a:t>
            </a:r>
            <a:r>
              <a:rPr b="1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de qué tipo</a:t>
            </a: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es. La discusión se vuelve concreta y verificable.</a:t>
            </a:r>
            <a:endParaRPr sz="15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Nota de versión:</a:t>
            </a: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la edición más reciente (2018) agrupa todo en </a:t>
            </a:r>
            <a:r>
              <a:rPr b="1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producto</a:t>
            </a: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y </a:t>
            </a:r>
            <a:r>
              <a:rPr b="1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proceso de negocio</a:t>
            </a: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500"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En el curso mantenemos </a:t>
            </a:r>
            <a:r>
              <a:rPr b="1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cinco categorías</a:t>
            </a: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porque son más fáciles de usar como vocabulario y porque nos interesa visibilizar el impacto </a:t>
            </a:r>
            <a:r>
              <a:rPr b="1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social</a:t>
            </a: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500"/>
          </a:p>
        </p:txBody>
      </p:sp>
      <p:sp>
        <p:nvSpPr>
          <p:cNvPr id="121" name="Google Shape;121;p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6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6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Los cinco tipos de innovación (taxonomía del curso)</a:t>
            </a:r>
            <a:endParaRPr/>
          </a:p>
        </p:txBody>
      </p:sp>
      <p:graphicFrame>
        <p:nvGraphicFramePr>
          <p:cNvPr id="128" name="Google Shape;128;p6"/>
          <p:cNvGraphicFramePr/>
          <p:nvPr/>
        </p:nvGraphicFramePr>
        <p:xfrm>
          <a:off x="640080" y="169163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{A841625E-6445-47C0-AA29-46D15B9DDC22}</a:tableStyleId>
              </a:tblPr>
              <a:tblGrid>
                <a:gridCol w="1558800"/>
                <a:gridCol w="2597975"/>
                <a:gridCol w="2944375"/>
                <a:gridCol w="3810375"/>
              </a:tblGrid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Tipo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Qué cambia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Señal de que "sí es" ese tipo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Ejemplo en Ingeniería / negocio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Producto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Un bien o servicio nuevo o mejorado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El usuario </a:t>
                      </a:r>
                      <a:r>
                        <a:rPr b="1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percibe una función nueva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Módulo o servicio digital que resuelve un dolor concreto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Proceso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El método de producción o de entrega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Baja el </a:t>
                      </a:r>
                      <a:r>
                        <a:rPr b="1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tiempo, el error o el costo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Automatizar las pruebas o el despliegue de software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Organización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Prácticas, roles y relaciones de trabajo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El equipo se coordina distinto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Pasar de sprints caóticos a Kanban con rituales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Marketing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Diseño, precio, promoción o canal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Cambia la </a:t>
                      </a:r>
                      <a:r>
                        <a:rPr b="1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adopción</a:t>
                      </a: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o el posicionamiento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Nuevo canal de onboarding para un servicio digital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Social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El valor público o comunitario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Mejora un </a:t>
                      </a:r>
                      <a:r>
                        <a:rPr b="1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bien común medible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App gratuita que articula a la comunidad con la alcaldía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9" name="Google Shape;129;p6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La columna del medio es la que decide. No pregunte "¿de qué tipo se ve?"; pregunte </a:t>
            </a:r>
            <a:r>
              <a:rPr b="1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"¿qué cambia realmente?"</a:t>
            </a: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  <p:sp>
        <p:nvSpPr>
          <p:cNvPr id="130" name="Google Shape;130;p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7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7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El caso difícil: ¿producto o proceso?</a:t>
            </a:r>
            <a:endParaRPr/>
          </a:p>
        </p:txBody>
      </p:sp>
      <p:graphicFrame>
        <p:nvGraphicFramePr>
          <p:cNvPr id="137" name="Google Shape;137;p7"/>
          <p:cNvGraphicFramePr/>
          <p:nvPr/>
        </p:nvGraphicFramePr>
        <p:xfrm>
          <a:off x="640080" y="169163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{A841625E-6445-47C0-AA29-46D15B9DDC22}</a:tableStyleId>
              </a:tblPr>
              <a:tblGrid>
                <a:gridCol w="4735200"/>
                <a:gridCol w="3499925"/>
                <a:gridCol w="2676425"/>
              </a:tblGrid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Pregunta de desempate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 la respuesta es...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Entonces es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¿El usuario ve algo que antes no existía?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Sí, una función nueva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Producto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¿Lo que cambia es cuánto tarda o cuánto falla?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Sí, el mismo servicio pero más rápido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Proceso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¿Cambió lo que se entrega o cómo se entrega?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Qué</a:t>
                      </a: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se entrega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Producto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¿Cambió lo que se entrega o cómo se entrega?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Cómo</a:t>
                      </a: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se entrega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Proceso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¿El cambio lo notaría alguien de afuera?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Solo lo nota el equipo interno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Proceso</a:t>
                      </a: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u </a:t>
                      </a:r>
                      <a:r>
                        <a:rPr b="1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organización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¿Lo que cambió fue quién decide y con quién habla?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Sí, la coordinación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Organización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38" name="Google Shape;138;p7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Truco: si su propuesta se puede describir sin nombrar una función nueva, casi seguro </a:t>
            </a:r>
            <a:r>
              <a:rPr b="1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no</a:t>
            </a: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es producto.</a:t>
            </a:r>
            <a:endParaRPr/>
          </a:p>
        </p:txBody>
      </p:sp>
      <p:sp>
        <p:nvSpPr>
          <p:cNvPr id="139" name="Google Shape;139;p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8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Las dos condiciones que casi todos olvidan</a:t>
            </a:r>
            <a:endParaRPr/>
          </a:p>
        </p:txBody>
      </p:sp>
      <p:sp>
        <p:nvSpPr>
          <p:cNvPr id="146" name="Google Shape;146;p8"/>
          <p:cNvSpPr txBox="1"/>
          <p:nvPr/>
        </p:nvSpPr>
        <p:spPr>
          <a:xfrm>
            <a:off x="640080" y="1691639"/>
            <a:ext cx="10911600" cy="329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Oslo exige </a:t>
            </a:r>
            <a:r>
              <a:rPr b="1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dos</a:t>
            </a: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cosas para que algo pueda llamarse innovación. Faltando una, no cuenta.</a:t>
            </a:r>
            <a:endParaRPr sz="15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1. Novedad</a:t>
            </a: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algo </a:t>
            </a:r>
            <a:r>
              <a:rPr b="1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nuevo o significativamente mejorado</a:t>
            </a: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500"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Y aquí viene el alivio: novedad </a:t>
            </a:r>
            <a:r>
              <a:rPr b="1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no</a:t>
            </a: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significa "único en el mundo".</a:t>
            </a:r>
            <a:endParaRPr sz="1500"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Basta con que sea nuevo </a:t>
            </a:r>
            <a:r>
              <a:rPr b="1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para la firma</a:t>
            </a: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b="1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para el campus</a:t>
            </a: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b="1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para su área</a:t>
            </a: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o </a:t>
            </a:r>
            <a:r>
              <a:rPr b="1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para su usuario</a:t>
            </a: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500"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"Significativamente mejorado" tampoco es un adjetivo: implica poder decir </a:t>
            </a:r>
            <a:r>
              <a:rPr b="1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en qué</a:t>
            </a: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y </a:t>
            </a:r>
            <a:r>
              <a:rPr b="1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cuánto</a:t>
            </a: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5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2. Implementación</a:t>
            </a: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</a:t>
            </a:r>
            <a:r>
              <a:rPr b="1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 puso en marcha</a:t>
            </a: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salió del papel.</a:t>
            </a:r>
            <a:endParaRPr sz="1500"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Una idea en una presentación </a:t>
            </a:r>
            <a:r>
              <a:rPr b="1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no es</a:t>
            </a: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una innovación: es una </a:t>
            </a:r>
            <a:r>
              <a:rPr b="1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intención</a:t>
            </a: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500"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Por eso en este curso deben apuntar, como mínimo, a un </a:t>
            </a:r>
            <a:r>
              <a:rPr b="1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prototipo o piloto pequeño</a:t>
            </a: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que demuestre que la idea existe fuera del documento.</a:t>
            </a:r>
            <a:endParaRPr sz="15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Frase para memorizar: </a:t>
            </a:r>
            <a:r>
              <a:rPr b="1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sin novedad e implementación, sigue siendo una idea, no una innovación.</a:t>
            </a:r>
            <a:endParaRPr sz="1500"/>
          </a:p>
        </p:txBody>
      </p:sp>
      <p:sp>
        <p:nvSpPr>
          <p:cNvPr id="147" name="Google Shape;147;p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9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9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Ejemplo modelado: clasificamos tres casos en vivo</a:t>
            </a:r>
            <a:endParaRPr/>
          </a:p>
        </p:txBody>
      </p:sp>
      <p:sp>
        <p:nvSpPr>
          <p:cNvPr id="154" name="Google Shape;154;p9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Caso 1 · Una empresa pasa de sprints caóticos a Kanban con rituales.</a:t>
            </a:r>
            <a:endParaRPr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¿Producto nuevo? No. ¿Tecnología nueva? Tampoco. Lo que cambió es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cómo se coordina la gente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→ Dominante: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Organización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 Secundario: proceso (los tiempos de entrega también bajan).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Caso 2 · Una universidad lanza un chatbot de matrícula.</a:t>
            </a:r>
            <a:endParaRPr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Aparece un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servicio que antes no existía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y que el usuario usa directamente.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→ Dominante: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Producto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(servicio digital). Secundario: proceso (menos carga en ventanilla).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Caso 3 · App gratuita para reportar huecos en las vías, articulada con la alcaldía.</a:t>
            </a:r>
            <a:endParaRPr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Sí, hay una app. Pero lo importante es el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bien común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: conectar ciudadanos con la entidad que repara.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→ Dominante: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Social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 Secundario: producto (la app es el vehículo, no el eje).</a:t>
            </a:r>
            <a:endParaRPr/>
          </a:p>
        </p:txBody>
      </p:sp>
      <p:sp>
        <p:nvSpPr>
          <p:cNvPr id="155" name="Google Shape;155;p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0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0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Ejemplo modelado: clasificamos tres casos en vivo (cont.)</a:t>
            </a:r>
            <a:endParaRPr/>
          </a:p>
        </p:txBody>
      </p:sp>
      <p:sp>
        <p:nvSpPr>
          <p:cNvPr id="162" name="Google Shape;162;p10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Fíjense en el patrón: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la tecnología visible casi nunca decide el tipo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 Decide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qué cambió para quién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  <p:sp>
        <p:nvSpPr>
          <p:cNvPr id="163" name="Google Shape;163;p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1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Dominante y secundario: sí hay capas, pero hay que decidir</a:t>
            </a:r>
            <a:endParaRPr/>
          </a:p>
        </p:txBody>
      </p:sp>
      <p:sp>
        <p:nvSpPr>
          <p:cNvPr id="170" name="Google Shape;170;p11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Casi toda propuesta real tiene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varios tipos a la vez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 Eso es normal y no es un problema.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El problema es usar las capas como excusa para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no decidir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: "es de todos los tipos" no es una respuesta.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Tipo dominante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= el eje que usted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defiende en la sustentación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Prueba: si le quita ese cambio a su propuesta,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la propuesta pierde el sentido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Tipo secundario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= un matiz que enriquece, pero que podría desaparecer sin matar la idea.</a:t>
            </a:r>
            <a:endParaRPr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Va en la ficha como una línea, no como un empate.</a:t>
            </a:r>
            <a:endParaRPr/>
          </a:p>
        </p:txBody>
      </p:sp>
      <p:sp>
        <p:nvSpPr>
          <p:cNvPr id="171" name="Google Shape;171;p1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Dominante y secundario: sí hay capas, pero hay que decidir (cont.)</a:t>
            </a:r>
            <a:endParaRPr/>
          </a:p>
        </p:txBody>
      </p:sp>
      <p:sp>
        <p:nvSpPr>
          <p:cNvPr id="178" name="Google Shape;178;p12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Por qué importa decidir:</a:t>
            </a:r>
            <a:endParaRPr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Fija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qué evidencia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tiene que buscar (un producto se valida distinto que un proceso).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Fija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qué métrica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demuestra el valor (¿función nueva usada? ¿minutos ahorrados? ¿personas beneficiadas?).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Fija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el relato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con el que va a defender el proyecto: un eje, no cinco.</a:t>
            </a:r>
            <a:endParaRPr/>
          </a:p>
        </p:txBody>
      </p:sp>
      <p:sp>
        <p:nvSpPr>
          <p:cNvPr id="179" name="Google Shape;179;p1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3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3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Errores frecuentes y respuestas</a:t>
            </a:r>
            <a:endParaRPr/>
          </a:p>
        </p:txBody>
      </p:sp>
      <p:sp>
        <p:nvSpPr>
          <p:cNvPr id="186" name="Google Shape;186;p13"/>
          <p:cNvSpPr/>
          <p:nvPr/>
        </p:nvSpPr>
        <p:spPr>
          <a:xfrm>
            <a:off x="640080" y="1737360"/>
            <a:ext cx="10911535" cy="969264"/>
          </a:xfrm>
          <a:prstGeom prst="roundRect">
            <a:avLst>
              <a:gd fmla="val 16667" name="adj"/>
            </a:avLst>
          </a:prstGeom>
          <a:solidFill>
            <a:srgbClr val="FBE4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3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⚠️ Importante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"Innovación = tecnología nueva, ¿no?"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No. Cambiar la forma de coordinar un equipo (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organización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) o de entregar (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proceso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) es innovación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sin ningún gadget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  <p:sp>
        <p:nvSpPr>
          <p:cNvPr id="188" name="Google Shape;188;p13"/>
          <p:cNvSpPr/>
          <p:nvPr/>
        </p:nvSpPr>
        <p:spPr>
          <a:xfrm>
            <a:off x="640080" y="2935224"/>
            <a:ext cx="10911535" cy="969264"/>
          </a:xfrm>
          <a:prstGeom prst="roundRect">
            <a:avLst>
              <a:gd fmla="val 16667" name="adj"/>
            </a:avLst>
          </a:prstGeom>
          <a:solidFill>
            <a:srgbClr val="FBE4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3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⚠️ Importante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"Mi proyecto es de todos los tipos."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Puede tener capas, pero elija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uno dominante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 En sustentación se defiende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un eje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no cinco a la vez.</a:t>
            </a:r>
            <a:endParaRPr/>
          </a:p>
        </p:txBody>
      </p:sp>
      <p:sp>
        <p:nvSpPr>
          <p:cNvPr id="190" name="Google Shape;190;p13"/>
          <p:cNvSpPr/>
          <p:nvPr/>
        </p:nvSpPr>
        <p:spPr>
          <a:xfrm>
            <a:off x="640080" y="4133087"/>
            <a:ext cx="10911535" cy="1225296"/>
          </a:xfrm>
          <a:prstGeom prst="roundRect">
            <a:avLst>
              <a:gd fmla="val 16667" name="adj"/>
            </a:avLst>
          </a:prstGeom>
          <a:solidFill>
            <a:srgbClr val="FBE4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3"/>
          <p:cNvSpPr txBox="1"/>
          <p:nvPr/>
        </p:nvSpPr>
        <p:spPr>
          <a:xfrm>
            <a:off x="868680" y="4242816"/>
            <a:ext cx="10454335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⚠️ Importante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"Es un producto tech"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cuando el cambio real es de flujo. Pregunta de desempate: ¿el usuario ve una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función nueva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o el proceso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tarda menos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? Si es lo segundo, es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proceso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  <p:sp>
        <p:nvSpPr>
          <p:cNvPr id="192" name="Google Shape;192;p13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13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14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4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Errores frecuentes y respuestas (cont.)</a:t>
            </a:r>
            <a:endParaRPr/>
          </a:p>
        </p:txBody>
      </p:sp>
      <p:sp>
        <p:nvSpPr>
          <p:cNvPr id="199" name="Google Shape;199;p14"/>
          <p:cNvSpPr/>
          <p:nvPr/>
        </p:nvSpPr>
        <p:spPr>
          <a:xfrm>
            <a:off x="640080" y="1737360"/>
            <a:ext cx="10911535" cy="969264"/>
          </a:xfrm>
          <a:prstGeom prst="roundRect">
            <a:avLst>
              <a:gd fmla="val 16667" name="adj"/>
            </a:avLst>
          </a:prstGeom>
          <a:solidFill>
            <a:srgbClr val="FBE4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⚠️ Importante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"Gestionar es hacer más reuniones."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Gestionar es imponer un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ritmo de aprendizaje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: prototipar, medir, decidir. Una reunión sin decisión no gestiona nada.</a:t>
            </a:r>
            <a:endParaRPr/>
          </a:p>
        </p:txBody>
      </p:sp>
      <p:sp>
        <p:nvSpPr>
          <p:cNvPr id="201" name="Google Shape;201;p14"/>
          <p:cNvSpPr/>
          <p:nvPr/>
        </p:nvSpPr>
        <p:spPr>
          <a:xfrm>
            <a:off x="640080" y="2935224"/>
            <a:ext cx="10911535" cy="969264"/>
          </a:xfrm>
          <a:prstGeom prst="roundRect">
            <a:avLst>
              <a:gd fmla="val 16667" name="adj"/>
            </a:avLst>
          </a:prstGeom>
          <a:solidFill>
            <a:srgbClr val="FBE4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4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⚠️ Importante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"Ya lo pensé bien, con eso basta."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Oslo pide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implementación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 Sin un piloto o un prototipo, usted sigue teniendo una idea.</a:t>
            </a:r>
            <a:endParaRPr/>
          </a:p>
        </p:txBody>
      </p:sp>
      <p:sp>
        <p:nvSpPr>
          <p:cNvPr id="203" name="Google Shape;203;p14"/>
          <p:cNvSpPr/>
          <p:nvPr/>
        </p:nvSpPr>
        <p:spPr>
          <a:xfrm>
            <a:off x="640080" y="4133087"/>
            <a:ext cx="10911535" cy="969264"/>
          </a:xfrm>
          <a:prstGeom prst="roundRect">
            <a:avLst>
              <a:gd fmla="val 16667" name="adj"/>
            </a:avLst>
          </a:prstGeom>
          <a:solidFill>
            <a:srgbClr val="FDEC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4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💡 Aclaración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Novedad no es originalidad absoluta.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Nueva para su campus, su área o su usuario ya cuenta. Lo que no cuenta es "nuevo" sin decir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para quién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  <p:sp>
        <p:nvSpPr>
          <p:cNvPr id="205" name="Google Shape;205;p1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14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5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5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Paso a paso: cómo llenar su Ficha Oslo</a:t>
            </a:r>
            <a:endParaRPr/>
          </a:p>
        </p:txBody>
      </p:sp>
      <p:sp>
        <p:nvSpPr>
          <p:cNvPr id="212" name="Google Shape;212;p15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Se hace en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Google Docs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o en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Excalidraw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gratis y en el navegador. Seis campos, en este orden: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1. Tipo dominante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· Escriba el tipo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y una frase de justificación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que empiece por "porque lo que cambia es...".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2. Tipo secundario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(opcional) · Una sola línea. Si duda, déjelo vacío antes que empatar.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3. Novedad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· Complete la frase: "Es nuevo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para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______ porque antes ______ y ahora ______".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4. Valor esperado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· Una frase sobre lo que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gana el usuario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: tiempo, dinero, tranquilidad, seguridad.</a:t>
            </a:r>
            <a:endParaRPr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Ojo: el valor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no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es la característica técnica. "Usa un algoritmo de asignación" no es valor; "no pierde su hora de práctica" sí.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5. Dos actividades de gestión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· Cada una con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responsable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y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fecha real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 Una actividad sin fecha es un deseo, no gestión.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6. Riesgo #1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· La cosa que, si sale mal,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detiene el proyecto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 Una sola, la más peligrosa.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Regla de escritura: si un campo sirve igual para cualquier proyecto del salón, está mal escrito.</a:t>
            </a:r>
            <a:endParaRPr/>
          </a:p>
        </p:txBody>
      </p:sp>
      <p:sp>
        <p:nvSpPr>
          <p:cNvPr id="213" name="Google Shape;213;p1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15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16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6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Ficha Oslo modelo — caso del laboratorio</a:t>
            </a:r>
            <a:endParaRPr/>
          </a:p>
        </p:txBody>
      </p:sp>
      <p:graphicFrame>
        <p:nvGraphicFramePr>
          <p:cNvPr id="220" name="Google Shape;220;p16"/>
          <p:cNvGraphicFramePr/>
          <p:nvPr/>
        </p:nvGraphicFramePr>
        <p:xfrm>
          <a:off x="640080" y="169163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{A841625E-6445-47C0-AA29-46D15B9DDC22}</a:tableStyleId>
              </a:tblPr>
              <a:tblGrid>
                <a:gridCol w="2353475"/>
                <a:gridCol w="8558075"/>
              </a:tblGrid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Campo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Contenido de la ficha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Tipo dominante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Proceso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— porque lo que cambia no es un servicio nuevo, sino el </a:t>
                      </a: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método de asignación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se elimina el trámite de reserva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Tipo secundario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Producto (aparece una pantalla de consulta, pero es el vehículo, no el eje)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Novedad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Nueva </a:t>
                      </a: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para el campus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antes cada docente asignaba a mano en su cuaderno; ahora se asigna desde el horario del curso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Valor esperado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El estudiante </a:t>
                      </a: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deja de perder hasta una hora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por semana buscando equipo libre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Actividad 1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Levantar el horario real de ocupación de 2 laboratorios — responsable: yo — semana 1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Actividad 2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Probar el flujo en papel con 5 estudiantes y cronómetro — responsable: yo + 1 compañero — semana 2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Riesgo #1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Que la ocupación real no siga el horario oficial: si el desfase es alto, la asignación automática falla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1" name="Google Shape;221;p16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Observen las actividades: tienen </a:t>
            </a:r>
            <a:r>
              <a:rPr b="1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verbo, alcance, responsable y momento</a:t>
            </a: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 Eso es gestión mínima, y cabe en dos líneas.</a:t>
            </a:r>
            <a:endParaRPr/>
          </a:p>
        </p:txBody>
      </p:sp>
      <p:sp>
        <p:nvSpPr>
          <p:cNvPr id="222" name="Google Shape;222;p1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16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7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17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TALLER · Ficha Oslo de su propuesta</a:t>
            </a:r>
            <a:endParaRPr/>
          </a:p>
        </p:txBody>
      </p:sp>
      <p:sp>
        <p:nvSpPr>
          <p:cNvPr id="229" name="Google Shape;229;p17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Individual · el Docente lee tres fichas en voz alta al cerrar</a:t>
            </a:r>
            <a:endParaRPr/>
          </a:p>
        </p:txBody>
      </p:sp>
      <p:sp>
        <p:nvSpPr>
          <p:cNvPr id="230" name="Google Shape;230;p17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Al final tiene: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la Ficha Oslo de su propuesta con los seis campos llenos.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Paso 1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· Abra la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Ficha Oslo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en Google Docs o Excalidraw, con sus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seis campos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Paso 2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· Decida el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tipo dominante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y escriba la justificación empezando por «porque lo que cambia es…».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Paso 3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· Escriba la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novedad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—¿nueva para quién?— y el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valor esperado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en una frase,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desde el usuario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no desde la técnica.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Paso 4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· Añada el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tipo secundario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si lo hay, las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dos actividades de gestión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con responsable y fecha, y el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riesgo #1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Paso 5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· Relea y borre toda frase que sirva para cualquier proyecto.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En clase, sin falta: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los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pasos 1 a 3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 Del 4 en adelante puede quedar en trabajo autónomo, pero antes de la próxima sesión.</a:t>
            </a:r>
            <a:endParaRPr/>
          </a:p>
        </p:txBody>
      </p:sp>
      <p:sp>
        <p:nvSpPr>
          <p:cNvPr id="231" name="Google Shape;231;p1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17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8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8"/>
          <p:cNvSpPr txBox="1"/>
          <p:nvPr/>
        </p:nvSpPr>
        <p:spPr>
          <a:xfrm>
            <a:off x="926605" y="394263"/>
            <a:ext cx="908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TALLER · cómo se revi</a:t>
            </a:r>
            <a:r>
              <a:rPr b="1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</a:t>
            </a: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</a:t>
            </a:r>
            <a:endParaRPr/>
          </a:p>
        </p:txBody>
      </p:sp>
      <p:sp>
        <p:nvSpPr>
          <p:cNvPr id="238" name="Google Shape;238;p18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Ficha Oslo de su propuesta</a:t>
            </a:r>
            <a:endParaRPr/>
          </a:p>
        </p:txBody>
      </p:sp>
      <p:sp>
        <p:nvSpPr>
          <p:cNvPr id="239" name="Google Shape;239;p18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Quedó bien si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—compruébelo usted antes de cerrar el documento—:</a:t>
            </a:r>
            <a:endParaRPr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El tipo dominante está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justificado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con una razón, no solo nombrado.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Las dos actividades de gestión tienen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responsable y fecha real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No queda ninguna frase que sirva igual para otro proyecto.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Plan B: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Si duda entre dos tipos, use la tabla de desempate: ¿lo que cambia es una función nueva, o el mismo resultado con menos tiempo o menos error?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Hoy no se sube nada al aula: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guarde `S03_FichaOslo_Apellido` (Google Doc o PDF) en su Drive y tráigalo a la próxima sesión. Es un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avance formativo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se revisa en clase.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Esto alimenta: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ACA Final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—tarea, 32,8%—, el documento que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sí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recibe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CDigital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; cierra en la semana de la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06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  <p:sp>
        <p:nvSpPr>
          <p:cNvPr id="240" name="Google Shape;240;p1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18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9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9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Antes de entregar: revise usted mismo</a:t>
            </a:r>
            <a:endParaRPr/>
          </a:p>
        </p:txBody>
      </p:sp>
      <p:sp>
        <p:nvSpPr>
          <p:cNvPr id="247" name="Google Shape;247;p19"/>
          <p:cNvSpPr txBox="1"/>
          <p:nvPr/>
        </p:nvSpPr>
        <p:spPr>
          <a:xfrm>
            <a:off x="640080" y="1691639"/>
            <a:ext cx="10911600" cy="286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 Escribí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un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tipo dominante, no dos ni cinco.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Mi justificación empieza por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"porque lo que cambia es..."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y nombra el cambio concreto.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En "novedad" digo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para quién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es nuevo (mi área, mi campus, mi usuario) — no escribí "es único".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 Mi "valor" está escrito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desde el usuario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y no menciona ninguna característica técnica.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 Mis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dos actividades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tienen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verbo + responsable + fecha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 Ninguna dice solo "investigar".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 Mi riesgo #1 es de verdad el que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tumbaría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el proyecto, no un inconveniente menor.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 Releí la ficha buscando frases genéricas y las reescribí.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Prueba final: si le muestro su ficha a un compañero, ¿sabría decir de qué se trata su proyecto? Si no, falta concreción.</a:t>
            </a:r>
            <a:endParaRPr/>
          </a:p>
        </p:txBody>
      </p:sp>
      <p:sp>
        <p:nvSpPr>
          <p:cNvPr id="248" name="Google Shape;248;p1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19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20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20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Para continuar — trabajo autónomo</a:t>
            </a:r>
            <a:endParaRPr/>
          </a:p>
        </p:txBody>
      </p:sp>
      <p:sp>
        <p:nvSpPr>
          <p:cNvPr id="255" name="Google Shape;255;p20"/>
          <p:cNvSpPr txBox="1"/>
          <p:nvPr/>
        </p:nvSpPr>
        <p:spPr>
          <a:xfrm>
            <a:off x="640080" y="1691639"/>
            <a:ext cx="10911600" cy="221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Tres ideas para llevarse de hoy:</a:t>
            </a:r>
            <a:endParaRPr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1. Gestionar innovación es imponer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ritmo y criterio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no hacer más reuniones.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2. El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Manual de Oslo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nos da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cinco tipos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para hablar el mismo idioma.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3. Sin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novedad e implementación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sigue siendo una idea, no una innovación.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Traigan un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cuadro comparativo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 su tipo elegido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contra un tipo alternativo que descartaron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explicando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por qué no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Ejemplo: "elegí proceso y descarté producto, porque el usuario no recibe una función nueva sino el mismo servicio más rápido".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Ese cuadro es exactamente el punto de partida de la próxima sesión, así que llévenlo escrito.</a:t>
            </a:r>
            <a:endParaRPr/>
          </a:p>
        </p:txBody>
      </p:sp>
      <p:sp>
        <p:nvSpPr>
          <p:cNvPr id="256" name="Google Shape;256;p2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20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2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21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Para continuar — trabajo autónomo (cont.)</a:t>
            </a:r>
            <a:endParaRPr/>
          </a:p>
        </p:txBody>
      </p:sp>
      <p:sp>
        <p:nvSpPr>
          <p:cNvPr id="263" name="Google Shape;263;p21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Próxima sesión: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Tipos de innovación a fondo —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incremental vs. radical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y cómo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argumentar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su elección con criterios.</a:t>
            </a:r>
            <a:endParaRPr/>
          </a:p>
        </p:txBody>
      </p:sp>
      <p:sp>
        <p:nvSpPr>
          <p:cNvPr id="264" name="Google Shape;264;p2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21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2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2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RUTA DE ENTREGABLES DEL CURSO</a:t>
            </a:r>
            <a:endParaRPr/>
          </a:p>
        </p:txBody>
      </p:sp>
      <p:sp>
        <p:nvSpPr>
          <p:cNvPr id="271" name="Google Shape;271;p22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Sin fechas a propósito: aquí va </a:t>
            </a:r>
            <a:r>
              <a:rPr b="1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en qué punto del curso</a:t>
            </a: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cierra cada ítem · la ventana exacta la fija CDigital</a:t>
            </a:r>
            <a:endParaRPr/>
          </a:p>
        </p:txBody>
      </p:sp>
      <p:graphicFrame>
        <p:nvGraphicFramePr>
          <p:cNvPr id="272" name="Google Shape;272;p22"/>
          <p:cNvGraphicFramePr/>
          <p:nvPr/>
        </p:nvGraphicFramePr>
        <p:xfrm>
          <a:off x="640080" y="201167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{A841625E-6445-47C0-AA29-46D15B9DDC22}</a:tableStyleId>
              </a:tblPr>
              <a:tblGrid>
                <a:gridCol w="2659125"/>
                <a:gridCol w="2659125"/>
                <a:gridCol w="5593300"/>
              </a:tblGrid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Cierra en la semana de…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Entregable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Qué debes tener listo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</a:tr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Sesión 02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ya cerró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Quiz 1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Cuestionario · 6%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Ten leída la unidad del encuadre: </a:t>
                      </a: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Propuesta de Innovación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e inteligencia emocional.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Sesión 03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cierra esta semana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Parcial 1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Cuestionario · 24%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Domina </a:t>
                      </a: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Design Thinking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dos técnicas de ideación, bloqueadores y ensanchadores.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Sesión 04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pendiente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Quiz 2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Cuestionario · 9%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Suma el </a:t>
                      </a: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Manual de Oslo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qué cuenta como innovación y cómo se gestiona; el curso acumula.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Sesión 05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pendiente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Parcial 2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Cuestionario · 21%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Tipifica tu innovación (producto, proceso, organización, marketing, social) y </a:t>
                      </a: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justifícala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Sesión 06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pendiente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ACA Final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Tarea · 32,8%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Sube la </a:t>
                      </a: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propuesta consolidada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problema, tipo Oslo, FODA, Canvas, MVP, vigilancia y pitch.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Sesión 06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pendiente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Quiz 3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Cuestionario · 4%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Ten claros </a:t>
                      </a: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FODA, Canvas y MVP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(verificable) y para qué sirve la vigilancia tecnológica.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Sesión 07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pendiente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Autoevaluación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Cuestionario · 1,6%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Diligénciala tú, y solo tú, </a:t>
                      </a: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 honestidad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sobre tu participación real.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Sesión 07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pendiente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Coevaluación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Foro · 1,6%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Publica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tu aporte: valora hechos del trabajo en equipo, no a las personas.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73" name="Google Shape;273;p22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Esta misma tabla va al final de todas las sesiones. La </a:t>
            </a:r>
            <a:r>
              <a:rPr b="1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fecha</a:t>
            </a: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 cada ventana está en el enunciado del ítem (`Clases/Recursos/ACAs/`) y en el aula: si el aula y cualquier otro material se contradicen, </a:t>
            </a:r>
            <a:r>
              <a:rPr b="1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manda el aula</a:t>
            </a: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  <p:sp>
        <p:nvSpPr>
          <p:cNvPr id="274" name="Google Shape;274;p2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22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23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_cun_solo.png" id="280" name="Google Shape;280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62895" y="5632704"/>
            <a:ext cx="1371600" cy="950976"/>
          </a:xfrm>
          <a:prstGeom prst="rect">
            <a:avLst/>
          </a:prstGeom>
          <a:noFill/>
          <a:ln>
            <a:noFill/>
          </a:ln>
        </p:spPr>
      </p:pic>
      <p:sp>
        <p:nvSpPr>
          <p:cNvPr id="281" name="Google Shape;281;p2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Cierre — Sesión 03</a:t>
            </a:r>
            <a:endParaRPr/>
          </a:p>
        </p:txBody>
      </p:sp>
      <p:sp>
        <p:nvSpPr>
          <p:cNvPr id="282" name="Google Shape;282;p23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03: Gestión de la innovación (Manual de Oslo / OCDE)</a:t>
            </a:r>
            <a:endParaRPr/>
          </a:p>
          <a:p>
            <a:pPr indent="0" lvl="0" marL="0" marR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Siguiente encuentro: continúa el hilo del mismo entregable.</a:t>
            </a:r>
            <a:endParaRPr/>
          </a:p>
        </p:txBody>
      </p:sp>
      <p:sp>
        <p:nvSpPr>
          <p:cNvPr id="283" name="Google Shape;283;p23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007433"/>
                </a:solidFill>
                <a:latin typeface="Calibri"/>
                <a:ea typeface="Calibri"/>
                <a:cs typeface="Calibri"/>
                <a:sym typeface="Calibri"/>
              </a:rPr>
              <a:t>CREATIVIDAD Y PENSAMIENTO INNOVADOR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>CUN</dc:creator>
</cp:coreProperties>
</file>