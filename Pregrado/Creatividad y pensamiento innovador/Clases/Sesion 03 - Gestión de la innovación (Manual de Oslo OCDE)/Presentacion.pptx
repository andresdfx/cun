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03 — Gestión de la innovación (Manual de Oslo / OCDE)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Gestión de la innovación (Manual de Oslo / OCDE)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Tener ideas es barato; convertirlas en valor,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sesión pasada salieron con un banco de ideas y una o dos elegidas. Eso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chispa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creatividad produce chispas.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gestión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decide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cuáles chispas se vuelven fuego y cuáles se apagan a tiempo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Escena real en Ingeniería: proyectos técnicamente brillantes que mueren porque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nadie gestionó el ritmo de validación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murieron por falta de talento. Murieron porque nadie preguntó a tiempo "¿esto le importa a alguien?".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Segundo problema: cuando decimos "esto es innovador", cada quien entiende algo distinto.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Sin un lenguaje común, la discusión se vuelve una pelea de opiniones.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resolvemos las dos cosas: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gestión mínima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(quién hace qué esta semana) y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idioma común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nombrar su innovación.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Producto de la hora: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Ficha Oslo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su propuesta — tipo dominante, novedad, valor y dos actividades con fecha.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significa "gestionar" la innovación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Gestionar la innovación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el conjunto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decisiones, procesos y roles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permiten pasar de ideas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valor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forma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repetible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palabra clave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repetible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acertar una vez es suerte; acertar con método es gestión.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gestionar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tener un departamento mágico de innovación en el organigrama.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una lluvia de ideas los viernes por la tarde.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hacer más reuniones. Una reunión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sin decisión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no gestiona nada.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medir actividad ("hicimos 40 reuniones"): eso mide movimiento, no avance.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sí es, en una frase: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imponer un ritmo de aprendizaje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priorizar, prototipar barato, medir, decidir.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la decisión más difícil de todas: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decidir cuándo parar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idea que no funciona.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cuatro preguntas que se hace un gestor de innovación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¿Qué problema priorizamos... y cuáles dejamos ir?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Priorizar no es hacer una lista: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renunciar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explícitamente a algo. Si todo es prioritario, nada lo 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¿Con qué recursos contamos de verdad?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Tiempo, datos, personas, dinero. En este curso el recurso escaso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el tiempo del semestre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¿Cómo medimos aprendizaje, no actividad?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Actividad: "hablé con 3 personas". Aprendizaje: "descubrí que el 70% ya tiene su propio arreglo casero".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¿Cuándo paramos?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Definir la señal de parada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empezar evita el proyecto zombi que nadie se atreve a enterrar.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Aplicado a ustedes esta semana: elijan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problema,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actividades fechadas, y digan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van a aprender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ellas.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Gestionar no es burocracia: es la disciplina de decidir con la información que sí se tiene.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Manual de Oslo: el idioma común de la innovación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Manual de Oslo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el documento de referencia de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OCDE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(Organización para la Cooperación y el Desarrollo Económicos).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Orienta cómo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medir y clasificar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innovación en empresas y en sistemas económicos completos.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lo que permite que un país compare sus cifras de innovación con otro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usando las mismas definiciones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este curso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 usamos como norma contable ni estadística. Lo usamos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taxonomía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un vocabulario.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¿Para qué? Para dejar de discutir en abstracto si algo "es innovador o no".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En vez de eso decimos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 qué tipo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es. La discusión se vuelve concreta y verificable.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Nota de versión: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edición más reciente (2018) agrupa todo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producto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proceso de negocio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En el curso mantenemos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cinco categorías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porque son más fáciles de usar como vocabulario y porque nos interesa visibilizar el impacto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social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Los cinco tipos de innovación (taxonomía del curso)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8790"/>
                <a:gridCol w="2597984"/>
                <a:gridCol w="2944382"/>
                <a:gridCol w="381037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cambia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Señal de que "sí es" ese tipo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 en Ingeniería / negocio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bien o servicio nuevo o mejorado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usuario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percibe una función nueva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Módulo o servicio digital que resuelve un dolor concreto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Proceso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método de producción o de entrega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Baja el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tiempo, el error o el costo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Automatizar las pruebas o el despliegue de software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Organización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Prácticas, roles y relaciones de trabajo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El equipo se coordina distinto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Pasar de sprints caóticos a Kanban con rituales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Diseño, precio, promoción o canal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Cambia la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adopción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o el posicionamiento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Nuevo canal de onboarding para un servicio digital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valor público o comunitario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Mejora un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bien común medible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App gratuita que articula a la comunidad con la alcaldía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 columna del medio es la que decide. No pregunte "¿de qué tipo se ve?"; pregunte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"¿qué cambia realmente?"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caso difícil: ¿producto o proceso?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735194"/>
                <a:gridCol w="3499926"/>
                <a:gridCol w="267641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de desempate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 la respuesta es...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Entonces es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¿El usuario ve algo que antes no existía?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Sí, una función nueva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¿Lo que cambia es cuánto tarda o cuánto falla?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Sí, el mismo servicio pero más rápido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Proceso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¿Cambió lo que se entrega o cómo se entrega?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Qué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se entrega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¿Cambió lo que se entrega o cómo se entrega?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Cómo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se entrega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Proceso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¿El cambio lo notaría alguien de afuera?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Solo lo nota el equipo interno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Proceso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u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organización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¿Lo que cambió fue quién decide y con quién habla?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Sí, la coordinación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Organización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Truco: si su propuesta se puede describir sin nombrar una función nueva, casi seguro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es producto.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dos condiciones que casi todos olvidan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Oslo exige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cosas para que algo pueda llamarse innovación. Faltando una, no cuenta.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Novedad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algo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nuevo o significativamente mejorado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aquí viene el alivio: novedad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significa "único en el mundo".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Basta con que sea nuevo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para la firma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para el campus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para su área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para su usuario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"Significativamente mejorado" tampoco es un adjetivo: implica poder decir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 qué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cuánto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Implementación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 puso en marcha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salió del papel.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Una idea en una presentación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una innovación: es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intención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Por eso en este curso deben apuntar, como mínimo, a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prototipo o piloto pequeño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demuestre que la idea existe fuera del documento.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Frase para memorizar: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sin novedad e implementación, sigue siendo una idea, no una innovación.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clasificamos tres casos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Caso 1 · Una empresa pasa de sprints caóticos a Kanban con rituales.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¿Producto nuevo? No. ¿Tecnología nueva? Tampoco. Lo que cambió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cómo se coordina la gente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→ Dominante: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Organización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Secundario: proceso (los tiempos de entrega también bajan).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Caso 2 · Una universidad lanza un chatbot de matrícula.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Aparece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servicio que antes no existía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que el usuario usa directamente.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→ Dominante: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Producto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(servicio digital). Secundario: proceso (menos carga en ventanilla).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Caso 3 · App gratuita para reportar huecos en las vías, articulada con la alcaldía.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Sí, hay una app. Pero lo importante es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bien común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conectar ciudadanos con la entidad que repara.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→ Dominante: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Social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Secundario: producto (la app es el vehículo, no el eje).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clasificamos tres casos en vivo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Fíjense en el patrón: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tecnología visible casi nunca decide el tipo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Decide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cambió para quién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Dominante y secundario: sí hay capas, pero hay que decidir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Casi toda propuesta real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varios tipos a la vez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Eso es normal y no es un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problema es usar las capas como excusa para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decidir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"es de todos los tipos" no es una respuesta.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Tipo dominante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el eje que usted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defiende en la sustentación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Prueba: si le quita ese cambio a su propuesta,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la propuesta pierde el sentido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Tipo secundario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un matiz que enriquece, pero que podría desaparecer sin matar la idea.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Va en la ficha como una línea, no como un empate.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Dominante y secundario: sí hay capas, pero hay que decidir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qué importa decidir: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Fija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qué evidencia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tiene que buscar (un producto se valida distinto que un proceso).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Fija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qué métrica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demuestra el valor (¿función nueva usada? ¿minutos ahorrados? ¿personas beneficiadas?).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Fija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el relato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el que va a defender el proyecto: un eje, no cinco.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y respuestas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"Innovación = tecnología nueva, ¿no?"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No. Cambiar la forma de coordinar un equipo (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organización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) o de entregar (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proceso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) es innovación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sin ningún gadget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"Mi proyecto es de todos los tipos."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Puede tener capas, pero elija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uno dominante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En sustentación se defiende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un eje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no cinco a la vez.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"Es un producto tech"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cuando el cambio real es de flujo. Pregunta de desempate: ¿el usuario ve una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función nueva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o el proceso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tarda menos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? Si es lo segundo,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proceso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y respuestas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"Gestionar es hacer más reuniones."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Gestionar es imponer un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ritmo de aprendizaje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prototipar, medir, decidir. Una reunión sin decisión no gestiona nada.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"Ya lo pensé bien, con eso basta."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Oslo pide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implementación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Sin un piloto o un prototipo, usted sigue teniendo una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Novedad no es originalidad absoluta.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Nueva para su campus, su área o su usuario ya cuenta. Lo que no cuenta es "nuevo" sin decir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para quién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cómo llenar su Ficha Oslo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hace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Excalidraw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gratis y en el navegador. Seis campos, en este orden: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Tipo dominante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Escriba el tipo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y una frase de justificación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empiece por "porque lo que cambia es...".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Tipo secundario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(opcional) · Una sola línea. Si duda, déjelo vacío antes que empatar.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Novedad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Complete la frase: "Es nuevo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______ porque antes ______ y ahora ______".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Valor esperado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Una frase sobre lo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gana el usuario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tiempo, dinero, tranquilidad, seguridad.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Ojo: el valor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la característica técnica. "Usa un algoritmo de asignación" no es valor; "no pierde su hora de práctica" sí.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 Dos actividades de gestión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Cada una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responsable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fecha real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Una actividad sin fecha es un deseo, no gestión.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 Riesgo #1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La cosa que, si sale mal,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detiene el proyecto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Una sola, la más peligrosa.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de escritura: si un campo sirve igual para cualquier proyecto del salón, está mal escrito.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Ficha Oslo modelo — caso del laboratorio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53468"/>
                <a:gridCol w="855806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Contenido de la ficha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Tipo dominante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Proceso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— porque lo que cambia no es un servicio nuevo, sino el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método de asignación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: se elimina el trámite de reserva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Tipo secundario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Producto (aparece una pantalla de consulta, pero es el vehículo, no el eje)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Novedad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Nueva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para el campus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: antes cada docente asignaba a mano en su cuaderno; ahora se asigna desde el horario del curso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Valor esperado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estudiante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deja de perder hasta una hora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por semana buscando equipo libre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Actividad 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Levantar el horario real de ocupación de 2 laboratorios — responsable: yo — semana 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Actividad 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Probar el flujo en papel con 5 estudiantes y cronómetro — responsable: yo + 1 compañero — semana 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Riesgo #1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Que la ocupación real no siga el horario oficial: si el desfase es alto, la asignación automática falla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Observen las actividades: tienen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verbo, alcance, responsable y momento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Eso es gestión mínima, y cabe en dos líneas.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Ficha Oslo de su propuesta (20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Completen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Ficha Oslo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su propuesta en Google Docs o Excalidraw, con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seis campos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(1)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tipo dominante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(2) tipo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secundario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opcional · (3)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novedad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¿nueva para quién? · (4)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valor esperado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una frase · (5)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dos actividades de gestión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responsable y fecha · (6)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riesgo #1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Minutos 0–6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Decidan el tipo dominante y escriban la justificación con "porque lo que cambia es...".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Minutos 6–12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Novedad y valor. Escriban el valor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desde el usuario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desde la técnica.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Minutos 12–18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Las dos actividades, con nombre y fecha, y el riesgo #1.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Minutos 18–20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Relean y borren toda frase que sirva para cualquier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 final leo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fichas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voz alta y corregimos juntos las clasificaciones dudosas.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verificable: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tipo dominante está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justificado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una razón (no solo nombrado)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y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las dos actividades tienen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fecha real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duda entre dos tipos, use la tabla de desempate: ¿función nueva, o menos tiempo/error?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Antes de entregar: revise usted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Escribí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tipo dominante, no dos ni cinco.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justificación empieza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"porque lo que cambia es..."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nombra el cambio concreto.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En "novedad" digo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para quién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nuevo (mi área, mi campus, mi usuario) — no escribí "es único".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"valor" está escrito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desde el usuario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no menciona ninguna característica técnica.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actividades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tienen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verbo + responsable + fecha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Ninguna dice solo "investigar".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riesgo #1 es de verdad el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tumbaría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proyecto, no un inconveniente menor.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Releí la ficha buscando frases genéricas y las reescribí.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El archivo se llama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`S03_FichaOslo_Apellido`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está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final: si le muestro su ficha a un compañero, ¿sabría decir de qué se trata su proyecto? Si no, falta concreción.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ideas para llevarse de hoy: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1. Gestionar innovación es imponer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ritmo y criterio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hacer más reuniones.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2.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Manual de Oslo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nos da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cinco tipos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para hablar el mismo idioma.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3. Sin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novedad e implementación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sigue siendo una idea, no una innovación.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(a)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Suban su ficha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`S03_FichaOslo_Apellido`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Plataforma: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(b)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Traigan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cuadro comparativo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su tipo elegido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contra un tipo alternativo que descartaron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explicando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qué 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Ejemplo: "elegí proceso y descarté producto, porque el usuario no recibe una función nueva sino el mismo servicio más rápido".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cuadro es exactamente el punto de partida de la próxima sesión, así que llévenlo escrito.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Tipos de innovación a fondo —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incremental vs. radical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cómo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argumentar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 elección con criterios.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03: Gestión de la innovación (Manual de Oslo / OCDE)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