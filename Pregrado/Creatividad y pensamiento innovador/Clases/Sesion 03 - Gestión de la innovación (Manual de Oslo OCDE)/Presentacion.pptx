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Gestión de la innovación (Manual de Oslo / OCDE)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Gestión de la innovación (Manual de Oslo / OCDE)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Tener ideas es barato; convertirlas en valor,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salieron con un banco de ideas y una o dos elegidas. 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chispa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creatividad produce chispas.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cuáles chispas se vuelven fuego y cuáles se apagan a 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real en Ingeniería: proyectos técnicamente brillantes que mueren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gestionó el ritmo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murieron por falta de talento. Murieron porque nadie preguntó a tiempo "¿esto le importa a alguien?".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problema: cuando decimos "esto es innovador", cada quien entiende algo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un lenguaje común, la discusión se vuelve una pelea de opiniones.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resolvemos las dos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mínima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hace qué esta semana)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idioma común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nombrar su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— tipo dominante, novedad, valor y dos actividades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"gestionar"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Gestionar la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conjunto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decisiones, procesos y roles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permiten pasar de ideas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palabra clave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acertar una vez es suerte; acertar con método es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gestionar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tener un departamento mágico de innovación en el organigrama.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lluvia de ideas los viernes por la tarde.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hacer más reuniones. Una reunión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gestiona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medir actividad ("hicimos 40 reuniones"): eso mide movimiento, no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es, en una frase: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imponer un ritmo de aprendizaje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priorizar, prototipar barato, medir,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decisión más difícil de todas: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cuándo 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idea que no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preguntas que se hace un gestor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¿Qué problema priorizamos... y cuáles dejamos ir?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Priorizar no es hacer una lista: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renunciar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explícitamente a algo. Si todo es prioritario, nada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¿Con qué recursos contamos de verdad?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Tiempo, datos, personas, dinero. En este curso el recurso escaso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tiempo del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¿Cómo medimos aprendizaje, no actividad?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Actividad: "hablé con 3 personas". Aprendizaje: "descubrí que el 70% ya tiene su propio arreglo casero".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¿Cuándo paramos?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Definir la señal de parada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empezar evita el proyecto zombi que nadie se atreve a enterrar.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Aplicado a ustedes esta semana: elijan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actividades fechadas, y digan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van a aprender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Gestionar no es burocracia: es la disciplina de decidir con la información que sí se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Manual de Oslo: el idioma común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de referencia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(Organización para la Cooperación y el Desarrollo Económicos).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Orienta cómo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medir y clasificar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innovación en empresas y en sistemas económicos completos.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permite que un país compare sus cifras de innovación con otro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usando las mismas definiciones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usamos como norma contable ni estadística. Lo usamos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taxonomía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vocabulario.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qué? Para dejar de discutir en abstracto si algo "es innovador o no".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vez de eso decimos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qué 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es. La discusión se vuelve concreta y verificable.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Nota de versión: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edición más reciente (2018) agrupa todo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de negocio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el curso mantenemos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son más fáciles de usar como vocabulario y porque nos interesa visibilizar el impacto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tipos de innovación (taxonomía del curso)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8790"/>
                <a:gridCol w="2597984"/>
                <a:gridCol w="2944382"/>
                <a:gridCol w="38103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"sí es" ese 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Ingeniería / negocio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bien o servicio nuevo o mejorado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usuario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percibe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Módulo o servicio digital que resuelve un dolor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de producción 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 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tiempo, el error o el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las pruebas o el despliegue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Prácticas, roles y relaciones de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Pasar de sprints caóticos a Kanban con rituales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Diseño, precio, promoción o canal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o el posicionamiento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Nuevo canal de onboarding para un servicio digital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valor público o comunitario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bien común medible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App gratuita que articula a la comunidad con la alcaldía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columna del medio es la que decide. No pregunte "¿de qué tipo se ve?"; pregunte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"¿qué cambia realmente?"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caso difícil: ¿producto o proceso?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35194"/>
                <a:gridCol w="3499926"/>
                <a:gridCol w="26764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desempate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es...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Entonces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ve algo que antes no existía?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cambia es cuánto tarda o cuánto falla?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el mismo servicio pero más rápido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cambio lo notaría alguien 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lo nota el equipo interno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cambió fue quién decide y con quién habla?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la coordinación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su propuesta se puede describir sin nombrar una función nueva, casi seguro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condiciones que casi todos olvidan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Oslo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cosas para que algo pueda llamarse innovación. Faltando una, no cuenta.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nuevo o significativamente mejorado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aquí viene el alivio: novedad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"único en el mundo".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Basta con que sea nuevo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área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"Significativamente mejorado" tampoco es un adjetivo: implica poder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Implementación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puso en marcha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salió del papel.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idea en una presentación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innovación: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en este curso deben apuntar, como mínimo, a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o piloto pequeño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demuestre que la idea existe fuera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novedad e implementación, sigue siendo una idea, no una innovación.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1 · Una empresa pasa de sprints caóticos a Kanban con rituales.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¿Producto nuevo? No. ¿Tecnología nueva? Tampoco. Lo que cambió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coordina la gente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proceso (los tiempos de entrega también bajan).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2 · Una universidad lanza un chatbot de matrícula.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servicio que antes no existía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el usuario usa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(servicio digital). Secundario: proceso (menos carga en ventanilla).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3 · App gratuita para reportar huecos en las vías, articulada con la alcaldía.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Sí, hay una app. Pero lo importante es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bien común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conectar ciudadanos con la entidad que repara.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producto (la app es el vehículo, no el eje).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 en el patrón: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tecnología visible casi nunca decide el 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Decide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cambió 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Casi toda propuesta real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varios tipos a la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es normal y no es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es usar las capas como excusa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decidir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"es de todos los tipos" no es una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eje que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defiende en la 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si le quita ese cambio a su propuesta,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propuesta pierde el sentido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matiz que enriquece, pero que podría desaparecer sin matar la idea.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 en la ficha como una línea, no como un empate.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 decidir: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tiene que buscar (un producto se valida distinto que un proceso).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métrica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demuestra el valor (¿función nueva usada? ¿minutos ahorrados? ¿personas beneficiadas?).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que va a defender el proyecto: un eje, no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"Innovación = tecnología nueva, ¿no?"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Cambiar la forma de coordinar un equipo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o de entregar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es innovación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sin ningún gadget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proyecto es de todos los tipos."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tener capas, pero elija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uno dominante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sustentación se defiende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 eje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cinco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un producto tech"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cuando el cambio real es de flujo. Pregunta de desempate: ¿el usuario ve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función nueva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el proceso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tarda menos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 Si es lo segundo,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"Gestionar es hacer más reuniones."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Gestionar es imponer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ritmo de aprendizaje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prototipar, medir, decidir. Una reunión sin decisión no gestiona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lo pensé bien, con eso basta."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Oslo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implementación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un piloto o un prototipo, usted sigue teniendo una idea.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Novedad no es originalidad absoluta.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Nueva para su campus, su área o su usuario ya cuenta. Lo que no cuenta es "nuevo" sin decir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llenar su Ficha Oslo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gratis y en el navegador. Seis campos,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una frase de justificación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empiece por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· Una sola línea. Si duda, déjelo vacío antes que empatar.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la frase: "Es nuevo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______ porque antes ______ y ahora ______".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Valor esperado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Una frase sobre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tiempo, dinero, tranquilidad, seguridad.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el valor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característica técnica. "Usa un algoritmo de asignación" no es valor; "no pierde su hora de práctica"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Dos actividades de gestión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Cada una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actividad sin fecha es un deseo, no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Riesgo #1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cosa que, si sale mal,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detiene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sola, la más peligrosa.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escritura: si un campo sirve igual para cualquier proyecto del salón,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Ficha Oslo modelo —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53468"/>
                <a:gridCol w="855806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 de la ficha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porque lo que cambia no es un servicio nuevo, sino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 de asignación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se elimina el trámite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secundario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Producto (aparece una pantalla de consulta, pero es el vehículo, no el eje)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Novedad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Nueva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para el campus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antes cada docente asignaba a mano en su cuaderno; ahora se asigna desde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Valor esperado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estudiante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deja de perder hasta una hora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semana buscando equipo libre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Levantar el horario real de ocupación de 2 laboratorios — responsable: yo — semana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Probar el flujo en papel con 5 estudiantes y cronómetro — responsable: yo + 1 compañero — semana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Riesgo #1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ocupación real no siga el horario oficial: si el desfase es alto, la asignación automática falla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Observen las actividades: tienen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verbo, alcance, responsable y momento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Eso es gestión mínima, y cabe en dos líneas.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 Oslo de su propuesta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Completen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en Google Docs o Excalidraw,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campos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(1)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(2) tipo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secundario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opcional · (3)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¿nueva para quién? · (4)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valor esperado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· (5)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actividades de 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responsable y fecha · (6)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 #1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Decidan el tipo dominante y escriban la justificación con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6–12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Novedad y valor. Escriban el valor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12–18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Las dos actividades, con nombre y fecha, y el riesgo #1.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18–20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Relean y borren toda frase que sirva para cualquier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leo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 y corregimos juntos las clasificaciones dudosas.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tipo dominante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justificado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una razón (no solo nombrado)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dos actividades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duda entre dos tipos, use la tabla de desempate: ¿función nueva, o menos tiempo/error?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 dominante, no dos ni cinco.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justificación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"porque lo que cambia es..."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nombra el cambio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"novedad" digo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nuevo (mi área, mi campus, mi usuario) — no escribí "es único".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"valor" está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menciona ninguna característica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responsable +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"investigar".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riesgo #1 es de verdad el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tumbaría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proyecto, no un inconveniente menor.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Releí la ficha buscando frases genéricas y las reescribí.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muestro su ficha a un compañero, ¿sabría decir de qué se trata su proyecto? Si no, falta concreción.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Gestionar innovación es imponer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 y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hacer más reuniones.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nos 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tipos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hablar el mismo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 e implementación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sigue siendo una idea, no una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ficha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cuadro comparativo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tipo elegido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un tipo alternativo que descartaron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explicando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"elegí proceso y descarté producto, porque el usuario no recibe una función nueva sino el mismo servicio más rápido".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cuadro es exactamente el punto de partida de la próxima sesión, así que llévenlo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Tipos de innovación a fondo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 vs. 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elección con criterios.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Gestión de la innovación (Manual de Oslo / OCDE)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