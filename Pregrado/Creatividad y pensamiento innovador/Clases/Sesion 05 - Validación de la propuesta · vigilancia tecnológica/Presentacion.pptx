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05 — Validación de la propuesta · vigilancia tecnológica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Creatividad y Pensamiento Innovador — Escuela de Ingenierías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05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Validación de la propuesta · vigilancia tecnológica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Hoy la propuesta se pone a prueba: por dentro y por fuera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Hasta ahora su propuesta está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bien argumentada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tiene usuario, tipo, grado y criterios.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Pero sigue apoyada en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cosas que ustedes creen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que nadie ha comprobado, y en un entorno que nadie ha mirado.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Ejemplo del caso del laboratorio: todo el proyecto se sostiene sobre una creencia —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"el estudiante sí registraría su turno"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—.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Y sobre un silencio: nadie averiguó si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eso ya existe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si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el laboratorio permite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un piloto.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La sesión tiene dos mitades y las dos terminan en lo mismo: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decisión escrita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Por dentro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FODA, Canvas y MVP: poner a prueba el supuesto más riesgoso.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Por fuera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— vigilancia tecnológica: contrastar la propuesta con lo que ya existe, lo que la norma permite y lo que el usuario cambió.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Por qué las dos hoy y no en dos semanas: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ACA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califica validación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vigilancia, y cierra antes de la última sesión del curso.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Salen de la hora con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mini-Canvas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 en 5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prueba con criterio medible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tablero de mínimo 2 señales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su implicación.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Es una sesión doble (U6 + U7 del Syllabus). Lo que no alcance en clase queda como trabajo autónomo de esta misma semana: la ACA Final no espera.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FODA: la radiografía rápida (y su única regla)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FODA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=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ortalezas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portunidades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ebilidades ·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menazas. También lo verán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DAFO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división que casi todos confunden: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Fortalezas y Debilidades son INTERNAS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dependen de usted y de su equipo. Puede cambiarlas.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Oportunidades y Amenazas son EXTERNAS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están en el entorno. Solo puede aprovecharlas o cubrirse.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Error típico: poner "falta de presupuesto de la universidad" como debilidad. No es interna: es una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amenaza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Regla de oro, única e innegociable: cada ítem debe ser específico y verificable.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Mal: "Fortaleza: somos creativos." — no se puede comprobar, no decide nada.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Bien: "Fortaleza: tenemos acceso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30 usuarios del laboratorio esta semana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." — concreto y comprobable.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FODA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6 bullets bien escritos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vale más que uno de 20 frases genéricas: su función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decidir dónde apoyarse y qué vigilar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FODA: la versión que no sirve y la que sí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24785"/>
                <a:gridCol w="3839243"/>
                <a:gridCol w="464750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Cuadrante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vacía (no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Versión verificable (sí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Fortaleza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(interna)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"Somos creativos y comprometidos"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"Tengo acceso 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30 usuarios del laboratorio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esta semana"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Debilidad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(interna)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"Nos falta experiencia"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Nadie del equipo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ha hecho una entrevista de usuario antes"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Oportunidad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(externa)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"Hay mucha tecnología disponible"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campus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ya publica el horario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laboratorios en un archivo abierto"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Amenaza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(externa)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"Puede haber competencia"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"El laboratorio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exige autorización escrita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para cualquier piloto"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rápida: si un compañero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 puede comprobar su frase esta semana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todavía es un adjetivo, no un dato. Fíjense en las dos filas externas: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ya son señales de vigilancia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Business Model Canvas: cuatro bloques, no nueve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Business Model Canvas (BMC)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de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Alexander Osterwalder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es un lienzo de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9 bloques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que describe, en una página, cómo una propuesta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crea, entrega y captura valor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Aviso importante: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hoy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vamos a llenar los nueve, ni falta que hace. Un Canvas a medias pero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concreto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decide más que uno completo lleno de frases generales.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Los cuatro de hoy, y cómo se llenan bien: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Segmento de clientes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una persona concreta, no una categoría. Vago: "estudiantes". Concreto: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estudiantes de Ingeniería de 4º semestre que cursan laboratorio los martes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Propuesta de valor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lo que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gana el usuario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lo que hace su sistema. Vago: "una plataforma de gestión de turnos". Concreto: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llegas y ya tienes equipo asignado; dejas de perder tu hora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Canales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el camino real hasta esa persona. Vago: "redes sociales". Concreto: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docente lo anuncia al inicio del laboratorio; el aviso llega por 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Actividades clave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lo que hay que hacer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sí o sí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Vago: "desarrollar el sistema". Concreto: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conseguir el horario real de ocupación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 y "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obtener el permiso del laboratorio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".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Regla de escritura para los cuatro: si la frase le sirve igual a otro proyecto del salón,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todavía no es su Canvas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–   Herramienta: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Canvanizer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(canvanizer.com/new/business-model-canvas), gratis y en el navegador.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Excalidraw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una tabla en Google Docs también valen.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nueve bloques del Canvas y su pregunta clave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511"/>
                <a:gridCol w="3147558"/>
                <a:gridCol w="5455767"/>
                <a:gridCol w="16786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clave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Segmento de clientes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¿Para quién es? ¿Quién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usa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Propuesta de valor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dolor alivia o qué gana el usuario?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Canales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llega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la propuesta al usuario?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Relación con el cliente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¿Cómo se capta y se retiene?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Autónomo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Actividades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hay que hacer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sí o sí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Obligatorio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Recursos clave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necesita: datos, gente, infraestructura?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Autónomo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Socios clave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¿Quién ayuda desde afuera?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Autónomo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Estructura de costos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cuesta? (aunque sea cualitativo)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Autónomo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Los nueve bloques del Canvas y su pregunta clave (cont.)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1005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29511"/>
                <a:gridCol w="3147558"/>
                <a:gridCol w="5455767"/>
                <a:gridCol w="16786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clave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Hoy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Fuentes de ingreso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¿Quién paga o cómo se sostiene si es social?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Autónomo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8346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Los cuatro obligatorios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aclaran la propuesta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Los otros cinco se llenan esta semana, en casa: el bloque 7 (socios clave) es justo el puente con la próxima sesión.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MVP: la maqueta, no el edificio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MVP = Producto Mínimo Viable.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versión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más pequeña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permite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aprender de un usuario real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analogía que hay que recordar: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construyan el edificio entero para saber si alguien quiere vivir ahí; armen la maqueta que responde la duda más cara.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el MVP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"la app fea pero completa".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"la fase 1 del software grande".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una versión reducida en funciones pero igual de costosa en tiempo.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pregunta que responde un MVP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 "¿funciona el código?". Es: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"¿esto le importa a alguien?"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Consecuencia práctica: un MVP puede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tener nada de software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Y sigue siendo un MVP válido.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Definición operativa que pueden usar hoy: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más barato que responde su duda más cara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MVP baratos que sí caben en un semestre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82307"/>
                <a:gridCol w="3769439"/>
                <a:gridCol w="3769439"/>
                <a:gridCol w="119034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MVP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En qué consiste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pregunta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Costo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Landing page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página con la promesa y un botón de lista de espera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¿Cuánta gente se anota? ¿A alguien le interesa?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tarde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Prototipo clicable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Pantallas enlazadas entre sí, sin backend ni datos reales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¿La persona entiende el flujo sin que yo se lo explique?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2–3 horas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Piloto "concierge"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Usted hace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 mano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lo que después haría el sistema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¿El usuario valora el resultado, aunque sea manual?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semana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Storyboard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4 viñetas del antes/durante/después, mostradas a 5 usuarios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¿Reconocen el dolor? ¿La solución les hace sentido?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1 hora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piloto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concierge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es el más subestimado: prueba el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valor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antes de escribir una sola línea de código.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cadena de validación, con el caso resuelto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Validar no es "mostrarle la idea a alguien". Es una cadena corta: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Supuesto → Riesgo si es falso → Prueba → Criterio de éxito → Decisión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1. Supuesto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algo que cree y no ha comprobado. Se escribe como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afirmación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*"Los estudiantes registrarían la reserva si el flujo toma menos de 1 minuto."*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2. Riesgo si es falso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qué se cae. *"Nadie usa el sistema y el problema del laboratorio sigue igual."* Por eso este supuesto va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primero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si falla, todo lo demás sobra.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3. Prueba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acción concreta, con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cuántas personas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qué hacen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cuánto dura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*"5 estudiantes cronometran el registro en un prototipo en papel, sin ayuda mía."*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4. Criterio de éxito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el número que decide, y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 fija ANTES de probar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*"≥ 4 de 5 terminan en menos de 60 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y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dicen que lo usarían cada semana."*</a:t>
            </a:r>
          </a:p>
          <a:p>
            <a:pPr lvl="1">
              <a:spcAft>
                <a:spcPts val="600"/>
              </a:spcAft>
            </a:pPr>
            <a:r>
              <a:rPr sz="1200" b="0" i="0">
                <a:solidFill>
                  <a:srgbClr val="2B2B2B"/>
                </a:solidFill>
                <a:latin typeface="Calibri"/>
              </a:rPr>
              <a:t>●   Si lo fija después, va a "ver lo que quiere ver". Ese sesgo no se vence con buena voluntad: se vence con anticipación.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5. Decisión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—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seguir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pivotar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parar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*"Si 3 de 5 → no pasa: pivoto el flujo."* Las tres son resultados válidos del método.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Y una advertencia: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se valida con opiniones de amigos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Sus amigos no son el segmento y no le van a decir que no.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2B2B2B"/>
                </a:solidFill>
                <a:latin typeface="Calibri"/>
              </a:rPr>
              <a:t>–   Lo importante del ejemplo: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el criterio se escribió antes de la prueba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Por eso el resultado obliga, en vez de acomodarse.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"Voy a validar mi idea" no es una prueba. Esta cadena, con números, sí lo 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Criterios de éxito: el que no sirve y el que sí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75873"/>
                <a:gridCol w="3174264"/>
                <a:gridCol w="47613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 que NO sirve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qué falla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 reescrito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a la gente le guste"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"Gustar" no se observa ni se cuenta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de 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dicen que lo usarían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la próxima semana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sea fácil de usar"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Sin umbral, cualquier resultado "pasa"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 de 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terminan el flujo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en menos de 60 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sin ayuda"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muchos se interesen"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"Muchos" no es un número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 menos 15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de 40 dejan su correo en la lista de espera"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"Que funcione bien"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Mide el sistema, no al usuario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"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Ningún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usuario pregunta '¿y ahora qué hago?' durante la prueba"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Fórmula: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[cuántos] de [cuántos]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hacen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[qué acción observable]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en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[qué condición]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Si su criterio no cabe en esa fórmula, todavía es un deseo.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Segunda mitad: su MVP no vive en una burbuja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Ya sabe cómo probar su propuesta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por dentro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Ahora hay que levantar la vista del prototipo y mirar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el entorno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cosas que pasan cuando nadie mira afuera: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reinventa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algo que ya existe, gratis y documentado, y se pierden semanas del semestre.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se nota que una tecnología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acaba de volverse viable o barata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y la propuesta nace desactualizada.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Aparece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norma o una política institucional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final, cuando ya no hay tiempo de ajustar nada.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Vigilancia tecnológica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proceso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sistemático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capturar, filtrar, analizar y usar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información sobre tecnologías, competidores, normas y tendencias, con un fin concreto: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decidir mejor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palabra que carga todo el peso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sistemático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No es leer el artículo que apareció en el celular: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 repetible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fuentes definidas y registro.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es: no es "me informé"; no es acumular enlaces en un documento; no es leer solo lo que confirma lo que ya pensaba.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La prueba de fuego, en una pregunta: ¿cambió alguna decisión de su propuesta?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Si no ajustó ni confirmó nada, no vigiló: leyó.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Informarse vs. vigilar, y el ciclo de cuatro pasos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26851"/>
                <a:gridCol w="3839243"/>
                <a:gridCol w="4445440"/>
              </a:tblGrid>
              <a:tr h="502920">
                <a:tc>
                  <a:txBody>
                    <a:bodyPr/>
                    <a:lstStyle/>
                    <a:p>
                      <a:pPr algn="l"/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Informarse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Vigilar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1. Observar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Cuando algo aparece por casualidad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 un momento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planeado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con fuentes definidas de antemano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2. Analizar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lee y se sigue de largo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Se separa el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hallazgo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(lo que dice la fuente) de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implicación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(lo que significa para usted)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3. Comunicar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enlace guardado, o nada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ficha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que otro entiende sin explicación: fuente, fecha, implicación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4. Usar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Ningún efecto visible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ajuste concreto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de alcance, usuario, tecnología o riesgo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Frecuencia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Aleatoria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Repetible: se puede volver a hacer igual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Cómo se sabe que sirvió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Uno "se enteró"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Cambió o confirmó una decisión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paso 4 es el que casi siempre falta, y es el único que justifica los tres anteriores. La diferencia no está en cuánto se lee: está en si al final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hay una decisión escrita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Cuatro frentes de señal y dónde buscarlos (todo gratis, en el navegador)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5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25565"/>
                <a:gridCol w="5776695"/>
                <a:gridCol w="320927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Tipo de señal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Fuentes gratis / web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Pregunta que responde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Tecnología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Scholar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(scholar.google.com) ·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Google Patents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(patents.google.com) · repositorios de GitHub · documentación oficial de estándares (IEEE)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se volvió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posible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barato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Mercado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Reportes públicos · listas de precios · notas de adopción · portales de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datos abiertos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¿Quién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ya paga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por esto y cuánto?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Normativa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Leyes y resoluciones · políticas institucionales · sitios de entidades públicas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me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limita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 o me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habilita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Hábitos y demografía · quejas públicas en redes y prensa · foros de usuarios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¿Qué </a:t>
                      </a:r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cambió en el usuario</a:t>
                      </a:r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error más común es mirar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solo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el frente tecnológico. Las propuestas de estudiantes suelen morir por el frente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normativo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, que nadie revisó.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Scholar y Patents: cómo buscar sin ahogarse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Scholar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estado del arte académico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se ha estudiado y qué se encontró.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Busque el PROBLEMA, no su solución.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Mal: "app de reservas CUN". Bien: "gestión de turnos laboratorio universitario".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Pruebe en inglés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("laboratory scheduling system"),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use comillas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para frases exactas y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filtre por año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("Desde 2020") en el panel izquierdo.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Mire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"Citado por"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si un artículo tiene muchas citas es una referencia central, y desde ahí salta a lo más reciente.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Patents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muestra soluciones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ya documentadas o protegidas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muchísimas más de las que uno imagina.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La reacción típica al encontrar algo parecido es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"mi idea murió"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Es exactamente al revés: ahora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sabe contra qué compite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Busque con las palabras del problema, filtre por fecha, lea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solo el resumen y las figuras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, y revise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"Similar documents"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al final de la ficha.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Lo que escribe no es "existe algo parecido", sino: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"existe X; mi diferencia está en Y"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En los dos: copie siempre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 + autor/número + año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Sin esos tres datos, lo que encontró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es evidencia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alguna búsqueda muestra un aviso de "tráfico inusual", se continúa en el navegador normal — no se instala nada.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ficha de señal: cinco campos, con el ejemplo resuelto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3" cy="30175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27883"/>
                <a:gridCol w="4091825"/>
                <a:gridCol w="4091825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Campo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1 (académica)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Señal 2 (patente)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1. Título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(frase suya, no la del documento)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Los sistemas de turnos reducen el tiempo muerto de laboratorio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Ya existe reserva de espacios por código QR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2. Fuente + fecha + enlace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(los tres; sin fecha ni autor, no vale)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Artículo sobre gestión de turnos en laboratorios universitarios, Google Scholar, 2021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Patente de sistema de reserva por QR, Google Patents, 2019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3. Hallazgo en 2 líneas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(con sus palabras)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mayor pérdida no está en reservar, sino en los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choques de horario entre cursos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registro por QR ya está documentado como solución de reserva de espacios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4. Implicación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(confirma · obliga a pivotar · es un riesgo)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Confirma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el problema, pero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desplaza el foco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atacar los choques, no el trámite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Obliga a pivotar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: mi diferencia debe estar en la </a:t>
                      </a:r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asignación automática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, no en el registro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5. Confianza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(alta · media · baja)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publicación académica con revisión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Alta</a:t>
                      </a:r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 — documento oficial de patente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84632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Miren la fila 4: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las dos señales cambiaron algo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Una movió el foco del problema; la otra movió la diferencia de la solución.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Eso es vigilar.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Confianza baja no invalida la señal: solo indica que todavía no puede decidir sola.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"Mi FODA: fortaleza, somos creativos."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Eso no se verifica. Cámbielo por un hecho: "acceso a 30 usuarios esta semana".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"El MVP es la app terminada pero sin diseño."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No. El MVP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lo más barato que responde su duda más cara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una landing o un prototipo en papel sirven.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validé: a mis amigos les gustó."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Sus amigos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son el segmento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no le van a decir que no. Pruebe con usuarios reales y un criterio medible.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y respuestas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"Ya vigilé: leí un artículo."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¿Cambió alguna decisión de su propuesta? Si no, 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informó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no vigiló.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"Encontré una patente igual, mi idea murió."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Al contrario: ahora sabe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contra qué compite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 ¿En qué se diferencia la suya?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Que la prueba falle es un buen resultado.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Descubrir en la semana 3 que el supuesto era falso vale mucho más que descubrirlo el día de la sustentación.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un solo documento con las dos mitades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Documento nuevo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Google Docs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`Validación y vigilancia — [su propuesta]`. Dos títulos dentro: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A. 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B. Vigilancia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escriba su FODA de máximo 6 bullets, con la división interna/externa correcta.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Abra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canvanizer.com/new/business-model-canvas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El lienzo trae los nueve bloques: llene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 de valor → segmento → canales → actividades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ese orden. Una nota por idea, no párrafos.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Guarde el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enlace de compartir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o tome una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captura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 y péguela en el documento.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su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 en 5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qué es lo mínimo que va a mostrar, a quién y cuándo.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cadena de validación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completa: supuesto · riesgo · prueba · criterio · decisión. El criterio,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probar.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escriba primero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la pregunta que quiere responder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 vigilancia. Sin pregunta, la búsqueda se dispersa.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7.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Inserte una tabla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 columnas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(señal · fuente y fecha · hallazgo · implicación · confianza) y ábrala junto 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scholar.google.com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patents.google.com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pestañas aparte.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8.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Pegue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título, autor, año y enlace en el momento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—después no encuentra de dónde salió— y llene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implicación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la fuente todavía abierta.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Paso a paso: un solo documento con las dos mitades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9.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con una frase que empiece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"Ajusto..."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"Confirmo..."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descargue en PDF y súbalo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Validar por dentro y por fuera (25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Bloque A · Por dentro (13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(1)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FODA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máximo 6 bullets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todos verificables, con interna/externa bien separadas.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Canvas mínimo en Canvanizer: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 de valor, segmento, canales y actividades clave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(3)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 en 5 líneas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prueba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su supuesto más riesgoso con criterio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numérico u observable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Bloque B · Por fuera (12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(4)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Escriban la pregunta de vigilancia y busquen en Scholar y/o Patents.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Mínimo 2 fichas de señal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frentes distintos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las dos tecnológicas— con fuente,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fecha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hallazgo, implicación y confianza.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(5 min)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(6)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Escriban abajo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en una frase.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(2 min)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Al final,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dos personas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comparten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la implicación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una señal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solo el criterio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 su prueba — no el documento completo.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— Validar por dentro y por fuera (25 minutos)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una prueba con criterio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se puede medir hoy mismo y podría fallar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 señales con fuente y fecha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produjeron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 decisión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escrita.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se pierde llenando los nueve bloques del Canvas, deténgase: hoy solo cuatro. Si una ficha no cambia ni confirma nada, bórrela: ocupa el lugar de una que sí decide.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Mi FODA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máximo 6 bullets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cada uno se puede comprobar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esta semana, con lo interno y lo externo bien separados.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Mi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propuesta de valor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dice lo que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gana el usuario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mi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segmento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nombra a la persona con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rol + situación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Mi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se puede hacer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esta semana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requiere programar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nada todavía.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Elegí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supuesto y puedo explicar por qué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el más riesgoso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mi criterio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número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lo escribí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probar.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Mi prueba dice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 cuántas personas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cuánto dura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Tengo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 fichas de señal o más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todas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son del frente tecnológico.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Cada ficha tiene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autor, fecha y enlace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Ninguna dice solo "lo vi en internet", y ninguna pasa de 5 años sin que yo explique por qué sigue vigente.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Cada ficha dice si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confirma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obliga a pivotar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es un riesgo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y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al menos una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cambió algo real de mi propuesta.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☐ Si encontré algo parecido a mi idea, escribí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 qué me diferencio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no lo escondí.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Antes de entregar: revise usted mismo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☐ El archivo se llama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`S05_ValidacionVigilancia_Apellido`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Prueba final: si le entrego este documento a un compañero, ¿sabría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qué decidí y por qué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? Si no, falta la implicación.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ideas para llevarse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1.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MVP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 la maqueta que responde la duda más cara,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el edificio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2. Validar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supuesto → prueba → criterio →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con el criterio fijado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antes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3. Vigilar es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sistema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si la señal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no cambia una decisión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no sirvió.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Suban su documento como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`S05_ValidacionVigilancia_Apellido`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[URL CDigital — campus del curso pendiente]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Ejecuten la prueba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—aunque sea con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usuarios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 y anoten lo que pasó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tal cual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incluso si el criterio no se cumplió. Ese dato es el más valioso que van a tener.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Completen el tablero hasta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 señales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llenen los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cinco bloques restantes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Canvas. Empiecen por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socios clave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el puente con la próxima sesión.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Preparen un listado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mínimo 3 entidades de apoyo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—con el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nombre correcto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— a las que podrían acercarse: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universitarias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públicas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privadas/redes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internacionales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Para cada una, anoten en una línea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qué creen que le pedirían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Si no saben qué pedir, esa entidad todavía no les sirve.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 — trabajo autónomo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Próxima sesión: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innovación local–internacional, entidades de apoyo y el pitch de 60 segundos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Es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última antes del cierre de la ACA Final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vengan con la propuesta lista para conectarla con el afuera.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05: Validación de la propuesta · vigilancia tecnológica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