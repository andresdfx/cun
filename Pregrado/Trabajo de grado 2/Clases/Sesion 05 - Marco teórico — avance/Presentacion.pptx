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92608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926080"/>
            <a:ext cx="12191695" cy="73152"/>
          </a:xfrm>
          <a:prstGeom prst="rect">
            <a:avLst/>
          </a:prstGeom>
          <a:solidFill>
            <a:srgbClr val="007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cun_so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1325880" cy="91927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1303324"/>
            <a:ext cx="10911535" cy="14764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SESIÓN 05 — MARCO TEÓRICO — AVANCE</a:t>
            </a:r>
          </a:p>
          <a:p>
            <a:pPr algn="ctr">
              <a:spcBef>
                <a:spcPts val="800"/>
              </a:spcBef>
            </a:pPr>
            <a:r>
              <a:rPr sz="1600" b="0" i="0">
                <a:solidFill>
                  <a:srgbClr val="CFDDEE"/>
                </a:solidFill>
                <a:latin typeface="Calibri"/>
              </a:rPr>
              <a:t>Trabajo de Grado 2 — Modelos de Innovación (Ing. Sistemas)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337560"/>
            <a:ext cx="10911535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Sesión 05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Tema: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Marco teórico — avance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Asignatura: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TRABAJO DE GRADO 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La sección donde más se rellena por miedo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El marco teórico es la sección más larga del avance y, casi siempre, la más floja.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Razón: se escribe con miedo a "quedar corto", y el miedo se llena con definiciones que nadie pidió.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Resultado típico: ocho páginas donde el lector no encuentra ninguna idea que sirva para responder la pregunta.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Un evaluador detecta el relleno en un minuto: busca si cada párrafo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hace algo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por la investigación.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Regla del día: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cada cita debe trabajar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 Si una cita no ayuda a responder la pregunta, sobra —por prestigioso que sea el autor—.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Hoy se sale con dos productos: un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mapa de constructos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y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una a dos páginas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de marco donde cada párrafo cierra conectando con la pregunta.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Insumos sobre la mesa: la pregunta de la sesión 02 y las cuatro fichas de antecedentes de la sesión 04.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Qué es —y qué no es— el marco teórico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el conjunto de teorías, modelos y conceptos que hacen falta para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entender y responder su pregunta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Es el lente con el que usted mira el problema; sin lente, todo lo que vea después es opinión.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No es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un collage de definiciones bonitas encontradas en internet.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No es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un resumen de los antecedentes: esos ya se hicieron y son estudios previos, no teoría.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No es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un capítulo de libro de texto: no hay que explicar el área entera, solo lo que su pregunta exige.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Prueba de necesidad, párrafo por párrafo: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"¿qué parte de mi pregunta ilumina esto?"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Si la respuesta es "ninguna", se borra sin negociar.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Si la respuesta es "la palabra X de mi pregunta", entonces ese párrafo tiene lugar y se queda.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Cita que trabaja frente a cita que adorna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4" cy="201168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3117581"/>
                <a:gridCol w="2659113"/>
                <a:gridCol w="5134840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Párrafo que adorna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Por qué no sirve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Párrafo que trabaja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"Según la RAE, un algoritmo es un conjunto ordenado de operaciones."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Definición general que no cambia nada en el proyecto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"La clasificación supervisada asigna categorías a partir de ejemplos etiquetados (Autor, 2023); en este proyecto, esos ejemplos son el histórico de tickets ya categorizados."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"La inteligencia artificial ha revolucionado el mundo moderno."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Afirmación de relleno, sin fuente ni consecuencia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"El desempeño de estos modelos depende del balance entre categorías (Autor, 2022), lo que anticipa un problema con las categorías poco frecuentes de la empresa X."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"Existen muchos tipos de aprendizaje automático: supervisado, no supervisado…"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Enumeración de catálogo: no elige ninguno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"Se opta por el enfoque supervisado porque el área ya cuenta con categorías definidas por los analistas (Autor, 2021)."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384048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Fórmula del párrafo que trabaja: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idea del autor + cita + para qué me sirve en MI proyecto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. Las tres partes, siempre.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El constructo: la unidad con la que se arma el marco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Constructo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= un concepto clave que aparece en su pregunta y que necesita explicación teórica para entenderse.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Cómo se extraen, en dos minutos: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1.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Escriba su pregunta en una línea.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2.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Subraye los sustantivos técnicos, no las palabras de relleno.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3.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Agrupe los sinónimos: si "modelo" y "clasificador" apuntan a lo mismo, es un solo constructo.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En la pregunta de los tickets quedan tres: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clasificación supervisada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gestión de mesa de ayuda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y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tiempo de atención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El marco se ordena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por constructo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para cada uno, qué dicen las fuentes y para qué lo necesito.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Nunca por autor ("Pérez dice… López dice…") ni por orden cronológico: eso produce un listado, no un argumento.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Mapa de constructos del caso de los tickets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3" cy="201168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750807"/>
                <a:gridCol w="1558790"/>
                <a:gridCol w="3300968"/>
                <a:gridCol w="3300968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Constructo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Cuántas fuentes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Para qué lo necesito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Se conecta con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Clasificación supervisada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2 o 3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Fundamenta el método que se propone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El objetivo específico de diseñar el modelo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Gestión de mesa de ayuda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1 o 2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Explica el proceso donde vive el problema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El objetivo de caracterizar el flujo actual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Tiempo de atención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1 o 2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Define la variable que se va a medir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El objetivo de comparar tiempos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384048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Este mapa se hace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antes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 de escribir un solo párrafo. Es el esqueleto del marco: sin él se escribe a ciegas.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La regla de los tres constructos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Tres constructos bien desarrollados valen más que ocho superficiales.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En un avance no hay espacio para más.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Si le salen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ocho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el problema no es el marco: es que la pregunta quedó sin delimitar. Vuelva a la pregunta.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Si le salen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menos de dos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la pregunta es demasiado sencilla o falta precisión técnica en su redacción.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Extensión razonable por constructo: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dos a cuatro párrafos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cada uno con al menos una cita.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Cada constructo se cierra con una frase de enlace hacia la pregunta: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"Esta noción es la que permite, en el presente proyecto, definir qué se considerará una clasificación correcta."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Orden sugerido de presentación: del constructo más general al más específico de su caso.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Prueba final: si borra un constructo y la pregunta se sigue entendiendo completa, ese constructo sobraba.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Ejemplo modelado: un párrafo de marco, escrito completo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Constructo: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clasificación supervisada.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"La clasificación supervisada es una tarea de aprendizaje automático en la que un modelo aprende a asignar categorías a partir de ejemplos previamente etiquetados (Autor, 2023). A diferencia de los enfoques no supervisados, requiere un histórico ya categorizado, condición que la mesa de ayuda de la empresa X cumple porque los analistas asignan una categoría a cada ticket."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"Diversos trabajos reportan que el desempeño de estos modelos desciende cuando las categorías están desbalanceadas (Autor, 2022), es decir, cuando unas pocas concentran la mayoría de los registros.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En este proyecto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esa advertencia obliga a revisar la distribución de categorías antes de proponer el modelo."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Anatomía de lo anterior: cada oración con su idea y su cita; la última frase amarra la teoría con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su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proyecto.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Ninguna oración está ahí para llenar espacio: las dos hacen avanzar el argumento.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Observe también que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no hay resultados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el marco discute teoría, no hallazgos propios.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Repita esta misma estructura con los otros dos constructos y el marco queda armado.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Parafrasear, citar textual y copiar: no son lo mismo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4" cy="251460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750807"/>
                <a:gridCol w="5134840"/>
                <a:gridCol w="3025887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Modo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Cómo se hace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Cuándo se usa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Paráfrasis</a:t>
                      </a:r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 (lo normal)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Se lee, se cierra la fuente y se escribe con palabras propias + (Autor, año)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En el 90 % del marco teórico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Cita textual corta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Frase entre comillas + (Autor, año, p. 45)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Solo para definiciones clave que no conviene reformular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Cita en bloque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40 palabras o más: párrafo aparte, con sangría y sin comillas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Excepcional; una en todo el avance ya es mucho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Copiar sin citar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No existe como opción: es plagio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Nunca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434340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Técnica infalible para parafrasear: lea,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cierre la pestaña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 y escriba de memoria. Si no puede escribirlo sin mirar, no lo entendió todavía.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Citar en el texto en APA 7: los cuatro casos que va a usar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Forma entre paréntesis: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"…el desempeño desciende con categorías desbalanceadas (Ramírez, 2022)."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Forma narrativa: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"Ramírez (2022) reporta que el desempeño desciende…"  → úsela cuando el autor importa.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Dos autores: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siempre los dos, unidos por "y" en el texto: Ramírez y Gómez (2022).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Tres o más autores: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primer apellido seguido de et al. desde la primera vez: Ramírez et al. (2022).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Cita textual: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las comillas y el número de página son obligatorios: (Ramírez, 2022, p. 45).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Todo lo citado en el texto debe aparecer en Referencias, y todo lo que está en Referencias debe estar citado.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Una referencia que nadie citó es una alarma: parece bibliografía inflada.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Genere cada entrada en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ZoteroBib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(zbib.org) con estilo APA 7 y revísela a mano antes de pegarla.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Lo que más se corrige en esta sesión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11535" cy="969264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"Copio párrafos y después veo si cito."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— Eso es plagio, y el hábito se corrige ahora: en el trabajo final la entrega pasa por la revisión de similitud institucional del aula.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935224"/>
            <a:ext cx="10911535" cy="969264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3044952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"El marco es pegar todas las definiciones que encuentre."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— Cada cita debe ayudar a responder la pregunta. Si no lo hace, se borra.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4133087"/>
            <a:ext cx="10911535" cy="969264"/>
          </a:xfrm>
          <a:prstGeom prst="roundRect">
            <a:avLst/>
          </a:prstGeom>
          <a:solidFill>
            <a:srgbClr val="FDE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4242816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💡 Aclaración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"Organizo el marco autor por autor."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— Organícelo por constructos: para cada concepto clave, qué dicen las fuentes y para qué lo necesita.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Lo que más se corrige en esta sesión (cont.)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11535" cy="969264"/>
          </a:xfrm>
          <a:prstGeom prst="roundRect">
            <a:avLst/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ℹ️ Nota institucional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"Tengo siete constructos."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— Se dispersó. Vuelva a la pregunta y quédese con los tres conceptos centrales; el resto no es marco, es antojo.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Paso a paso: del mapa al párrafo, en el navegador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1.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Escriba su pregunta en la parte superior del documento y subraye los sustantivos técnicos.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2.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Elija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tres constructos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y póngalos como subtítulos con el estilo Título 2 de la plantilla.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3.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Haga la tabla del mapa: constructo → fuentes → para qué lo necesito (Insertar → Tabla, 3 columnas).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4.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Busque en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Google Académico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cada constructo por separado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no el tema completo.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Buscar "clasificación supervisada" y "gestión de mesa de ayuda" por aparte trae fuentes precisas; buscar todo junto trae ruido.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5.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Complete la tabla con dos o tres fuentes por constructo antes de redactar nada.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6.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Convierta cada fila en párrafos: idea + cita + frase de conexión con su pregunta.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7.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Genere las referencias en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ZoteroBib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revíselas y péguelas en la sección Referencias en orden alfabético.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Herramienta opcional para visualizar el mapa: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Excalidraw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 o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tldraw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, gratis y en el navegador.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TALLER · Dejar el marco arrancado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1153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0" i="0">
                <a:solidFill>
                  <a:srgbClr val="2B2B2B"/>
                </a:solidFill>
                <a:latin typeface="Calibri"/>
              </a:rPr>
              <a:t>Individual · el Docente revisa constructo por constructo y corrige paráfrasis dudosas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011679"/>
            <a:ext cx="10911535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Al final tiene: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sus tres constructos, el mapa constructo → fuentes → para qué, y una a dos páginas de marco.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Paso 1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· Defina sus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tres constructos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a partir de la pregunta, subrayándolos en ella.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Paso 2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· Arme el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mapa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constructo → fuentes → para qué lo necesito.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Paso 3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· Redacte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una a dos páginas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de marco, parafraseando y citando en APA 7.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Paso 4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· Cierre cada constructo con una frase que lo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conecte con su pregunta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En clase, sin falta: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los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pasos 1 a 2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 Del 3 en adelante puede quedar en trabajo autónomo, pero antes de la próxima sesión.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TALLER · cómo se revisa y dónde se entrega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1153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0" i="0">
                <a:solidFill>
                  <a:srgbClr val="2B2B2B"/>
                </a:solidFill>
                <a:latin typeface="Calibri"/>
              </a:rPr>
              <a:t>Dejar el marco arrancado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011679"/>
            <a:ext cx="10911535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Quedó bien si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—compruébelo usted antes de cerrar el documento—: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Todo párrafo tiene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al menos una cita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Todo párrafo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termina conectando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con la pregunta.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Autocontrol rápido: cuente los párrafos sin cita. Deben ser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cero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Plan B: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Si no le salen tres constructos, subraye los sustantivos de su pregunta: los constructos están ahí, no en la bibliografía.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Hoy no se sube nada al aula: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guarde `S05_MarcoTeorico_Apellido` (Google Doc o PDF) en su Drive y tráigalo a la próxima sesión. Es un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avance formativo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se revisa en clase.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Esto alimenta: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ACA Final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—tarea, 32,8%—, el documento que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sí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recibe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CDigital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; cierra en la semana de la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Sesión 11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Autoevaluación antes de subir el archivo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Los constructos son exactamente tres y todos aparecen en la pregunta.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El mapa está completo: cada constructo tiene fuentes y una razón de uso.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El marco está organizado por constructo, no por autor ni por fecha.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Cada párrafo tiene al menos una cita en APA 7.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Ninguna frase quedó igual a la del autor sin comillas y sin página.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Cada constructo cierra con una frase que lo conecta con la pregunta.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Toda referencia citada está en la lista, y toda la lista está citada.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El archivo se llama `S05_MarcoTeorico_Apellido`.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Trabajo autónomo y qué viene la próxima sesión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Entrega: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suba `S05_MarcoTeorico_Apellido` 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CDigital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con el mapa y el avance de marco.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https://cdigital.cun.edu.co/course/view.php?id=129268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Autónomo 1: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complete el tercer constructo hasta dejarlo con dos párrafos citados.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Autónomo 2: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relea el marco buscando párrafos sin cita y decida: o los cita, o los borra.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Autónomo 3: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anote los cuatro términos que su marco usa todo el tiempo sin haberlos definido: son el insumo de la próxima clase.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Próxima sesión: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se cierra el marco referencial con lo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conceptual y lo contextual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definiciones operativas y el escenario real, acotado.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Traiga esa lista de términos: se convierte directo en la tabla de definiciones.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RUTA DE ENTREGABLES DEL CURSO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1153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0" i="0">
                <a:solidFill>
                  <a:srgbClr val="2B2B2B"/>
                </a:solidFill>
                <a:latin typeface="Calibri"/>
              </a:rPr>
              <a:t>Sin fechas a propósito: aquí va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en qué punto del curso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cierra cada ítem · la ventana exacta la fija CDigital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2011679"/>
          <a:ext cx="10911533" cy="429768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659113"/>
                <a:gridCol w="2659113"/>
                <a:gridCol w="5593307"/>
              </a:tblGrid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Cierra en la semana de…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Entregable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Qué debes tener listo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Sesión 03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ya cerró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Quiz 1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Cuestionario · 6%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Ten formulados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pregunta, objetivos y título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provisional.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Sesión 05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cierra esta semana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Parcial 1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Cuestionario · 24%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Repasa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estructura APA CUN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y antecedentes Fase I, más pregunta, objetivos y título.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Sesión 07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pendiente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Quiz 2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Cuestionario · 9%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Distingue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marco teórico, conceptual y contextual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y cómo se articulan con tu pregunta.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Sesión 08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pendiente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Parcial 2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Cuestionario · 21%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Repasa los tres marcos y el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diseño metodológico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: enfoque, tipo, alcance y diseño.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Sesión 10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pendiente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Quiz 3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Cuestionario · 4%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Ten claros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instrumentos y plan de análisis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propuestos y la integración del avance.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Sesión 11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pendiente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ACA Final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Tarea · 32,8%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Sube el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avance consolidado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en plantilla APA CUN, integrado y listo para TG3.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Sesión 11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pendiente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Autoevaluación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Cuestionario · 1,6%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Diligénciala tú, de forma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individual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, valorando tu participación real.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Sesión 11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pendiente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Coevaluación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Foro · 1,6%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Publica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tu aporte: valora hechos del trabajo del equipo, nunca a las personas.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0080" y="60807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Esta misma tabla va al final de todas las sesiones. La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fecha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 de cada ventana está en el enunciado del ítem (`Clases/Recursos/ACAs/`) y en el aula: si el aula y cualquier otro material se contradicen,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manda el aula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7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cun_so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2895" y="5632704"/>
            <a:ext cx="1371600" cy="95097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1737360"/>
            <a:ext cx="10911535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 i="0">
                <a:solidFill>
                  <a:srgbClr val="0C2340"/>
                </a:solidFill>
                <a:latin typeface="Calibri"/>
              </a:rPr>
              <a:t>Cierre — Sesión 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017520"/>
            <a:ext cx="10911535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Sesión 05: Marco teórico — avance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Siguiente encuentro: continúa el hilo del mismo entregable.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754880"/>
            <a:ext cx="1091153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 i="0">
                <a:solidFill>
                  <a:srgbClr val="007433"/>
                </a:solidFill>
                <a:latin typeface="Calibri"/>
              </a:rPr>
              <a:t>TRABAJO DE GRADO 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CUN</dc:creator>
  <cp:keywords/>
  <dc:description/>
  <cp:lastModifiedBy>CUN</cp:lastModifiedBy>
  <cp:revision>1</cp:revision>
  <dcterms:created xsi:type="dcterms:W3CDTF">2013-01-27T09:14:16Z</dcterms:created>
  <dcterms:modified xsi:type="dcterms:W3CDTF">2013-01-27T09:15:58Z</dcterms:modified>
  <cp:category/>
</cp:coreProperties>
</file>