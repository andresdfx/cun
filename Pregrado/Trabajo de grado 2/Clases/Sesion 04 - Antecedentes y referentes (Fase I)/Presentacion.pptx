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92608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926080"/>
            <a:ext cx="12191695" cy="73152"/>
          </a:xfrm>
          <a:prstGeom prst="rect">
            <a:avLst/>
          </a:prstGeom>
          <a:solidFill>
            <a:srgbClr val="007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_cun_solo.png"/>
          <p:cNvPicPr>
            <a:picLocks noChangeAspect="1"/>
          </p:cNvPicPr>
          <p:nvPr/>
        </p:nvPicPr>
        <p:blipFill>
          <a:blip r:embed="rId2"/>
          <a:stretch>
            <a:fillRect/>
          </a:stretch>
        </p:blipFill>
        <p:spPr>
          <a:xfrm>
            <a:off x="457200" y="274320"/>
            <a:ext cx="1325880" cy="919277"/>
          </a:xfrm>
          <a:prstGeom prst="rect">
            <a:avLst/>
          </a:prstGeom>
        </p:spPr>
      </p:pic>
      <p:sp>
        <p:nvSpPr>
          <p:cNvPr id="5" name="TextBox 4"/>
          <p:cNvSpPr txBox="1"/>
          <p:nvPr/>
        </p:nvSpPr>
        <p:spPr>
          <a:xfrm>
            <a:off x="640080" y="1303324"/>
            <a:ext cx="10911535" cy="1476451"/>
          </a:xfrm>
          <a:prstGeom prst="rect">
            <a:avLst/>
          </a:prstGeom>
          <a:noFill/>
        </p:spPr>
        <p:txBody>
          <a:bodyPr wrap="square" anchor="ctr" lIns="0" rIns="0" tIns="0" bIns="0">
            <a:spAutoFit/>
          </a:bodyPr>
          <a:lstStyle/>
          <a:p>
            <a:pPr algn="ctr"/>
            <a:r>
              <a:rPr sz="3400" b="1" i="0">
                <a:solidFill>
                  <a:srgbClr val="FFFFFF"/>
                </a:solidFill>
                <a:latin typeface="Calibri"/>
              </a:rPr>
              <a:t>SESIÓN 04 — ANTECEDENTES Y REFERENTES (FASE I)</a:t>
            </a:r>
          </a:p>
          <a:p>
            <a:pPr algn="ctr">
              <a:spcBef>
                <a:spcPts val="800"/>
              </a:spcBef>
            </a:pPr>
            <a:r>
              <a:rPr sz="1600" b="0" i="0">
                <a:solidFill>
                  <a:srgbClr val="CFDDEE"/>
                </a:solidFill>
                <a:latin typeface="Calibri"/>
              </a:rPr>
              <a:t>Trabajo de Grado 2 — Modelos de Innovación (Ing. Sistemas)</a:t>
            </a:r>
          </a:p>
        </p:txBody>
      </p:sp>
      <p:sp>
        <p:nvSpPr>
          <p:cNvPr id="6" name="TextBox 5"/>
          <p:cNvSpPr txBox="1"/>
          <p:nvPr/>
        </p:nvSpPr>
        <p:spPr>
          <a:xfrm>
            <a:off x="640080" y="3337560"/>
            <a:ext cx="10911535" cy="2651760"/>
          </a:xfrm>
          <a:prstGeom prst="rect">
            <a:avLst/>
          </a:prstGeom>
          <a:noFill/>
        </p:spPr>
        <p:txBody>
          <a:bodyPr wrap="square" anchor="t" lIns="0" rIns="0" tIns="0" bIns="0">
            <a:spAutoFit/>
          </a:bodyPr>
          <a:lstStyle/>
          <a:p>
            <a:pPr>
              <a:spcAft>
                <a:spcPts val="800"/>
              </a:spcAft>
            </a:pPr>
            <a:r>
              <a:rPr sz="1500" b="1" i="0">
                <a:solidFill>
                  <a:srgbClr val="2B2B2B"/>
                </a:solidFill>
                <a:latin typeface="Calibri"/>
              </a:rPr>
              <a:t>Sesión 04</a:t>
            </a:r>
          </a:p>
          <a:p>
            <a:pPr>
              <a:spcAft>
                <a:spcPts val="800"/>
              </a:spcAft>
            </a:pPr>
            <a:r>
              <a:rPr sz="1500" b="1" i="0">
                <a:solidFill>
                  <a:srgbClr val="2B2B2B"/>
                </a:solidFill>
                <a:latin typeface="Calibri"/>
              </a:rPr>
              <a:t>Tema:</a:t>
            </a:r>
            <a:r>
              <a:rPr sz="1500" b="0" i="0">
                <a:solidFill>
                  <a:srgbClr val="2B2B2B"/>
                </a:solidFill>
                <a:latin typeface="Calibri"/>
              </a:rPr>
              <a:t> Antecedentes y referentes (Fase I)</a:t>
            </a:r>
          </a:p>
          <a:p>
            <a:pPr>
              <a:spcAft>
                <a:spcPts val="800"/>
              </a:spcAft>
            </a:pPr>
            <a:r>
              <a:rPr sz="1500" b="1" i="0">
                <a:solidFill>
                  <a:srgbClr val="2B2B2B"/>
                </a:solidFill>
                <a:latin typeface="Calibri"/>
              </a:rPr>
              <a:t>Asignatura:</a:t>
            </a:r>
            <a:r>
              <a:rPr sz="1500" b="0" i="0">
                <a:solidFill>
                  <a:srgbClr val="2B2B2B"/>
                </a:solidFill>
                <a:latin typeface="Calibri"/>
              </a:rPr>
              <a:t> TRABAJO DE GRADO 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Antes de escribir su solución: ¿alguien ya la intentó?</a:t>
            </a:r>
          </a:p>
        </p:txBody>
      </p:sp>
      <p:sp>
        <p:nvSpPr>
          <p:cNvPr id="4" name="TextBox 3"/>
          <p:cNvSpPr txBox="1"/>
          <p:nvPr/>
        </p:nvSpPr>
        <p:spPr>
          <a:xfrm>
            <a:off x="640080" y="1691639"/>
            <a:ext cx="10911535" cy="4617720"/>
          </a:xfrm>
          <a:prstGeom prst="rect">
            <a:avLst/>
          </a:prstGeom>
          <a:noFill/>
        </p:spPr>
        <p:txBody>
          <a:bodyPr wrap="square" anchor="t" lIns="0" rIns="0" tIns="0" bIns="0">
            <a:spAutoFit/>
          </a:bodyPr>
          <a:lstStyle/>
          <a:p>
            <a:pPr>
              <a:spcAft>
                <a:spcPts val="1000"/>
              </a:spcAft>
            </a:pPr>
            <a:r>
              <a:rPr sz="1600" b="0" i="0">
                <a:solidFill>
                  <a:srgbClr val="2B2B2B"/>
                </a:solidFill>
                <a:latin typeface="Calibri"/>
              </a:rPr>
              <a:t>–   Escena frecuente en Ingeniería de Sistemas: se invierten semanas en una idea y aparece un artículo de 2021 que ya la probó… y que además dice por qué falló.</a:t>
            </a:r>
          </a:p>
          <a:p>
            <a:pPr lvl="1">
              <a:spcAft>
                <a:spcPts val="600"/>
              </a:spcAft>
            </a:pPr>
            <a:r>
              <a:rPr sz="1500" b="0" i="0">
                <a:solidFill>
                  <a:srgbClr val="2B2B2B"/>
                </a:solidFill>
                <a:latin typeface="Calibri"/>
              </a:rPr>
              <a:t>●   Ese artículo no le quita el proyecto: le ahorra el error y le da vocabulario técnico.</a:t>
            </a:r>
          </a:p>
          <a:p>
            <a:pPr>
              <a:spcAft>
                <a:spcPts val="1000"/>
              </a:spcAft>
            </a:pPr>
            <a:r>
              <a:rPr sz="1600" b="0" i="0">
                <a:solidFill>
                  <a:srgbClr val="2B2B2B"/>
                </a:solidFill>
                <a:latin typeface="Calibri"/>
              </a:rPr>
              <a:t>–   </a:t>
            </a:r>
            <a:r>
              <a:rPr sz="1600" b="1" i="0">
                <a:solidFill>
                  <a:srgbClr val="2B2B2B"/>
                </a:solidFill>
                <a:latin typeface="Calibri"/>
              </a:rPr>
              <a:t>Antecedentes</a:t>
            </a:r>
            <a:r>
              <a:rPr sz="1600" b="0" i="0">
                <a:solidFill>
                  <a:srgbClr val="2B2B2B"/>
                </a:solidFill>
                <a:latin typeface="Calibri"/>
              </a:rPr>
              <a:t> = estudios previos que abordaron un problema parecido al suyo: qué hicieron, cómo y qué encontraron.</a:t>
            </a:r>
          </a:p>
          <a:p>
            <a:pPr>
              <a:spcAft>
                <a:spcPts val="1000"/>
              </a:spcAft>
            </a:pPr>
            <a:r>
              <a:rPr sz="1600" b="0" i="0">
                <a:solidFill>
                  <a:srgbClr val="2B2B2B"/>
                </a:solidFill>
                <a:latin typeface="Calibri"/>
              </a:rPr>
              <a:t>–   Sirven para dos cosas muy concretas:</a:t>
            </a:r>
          </a:p>
          <a:p>
            <a:pPr lvl="1">
              <a:spcAft>
                <a:spcPts val="600"/>
              </a:spcAft>
            </a:pPr>
            <a:r>
              <a:rPr sz="1500" b="0" i="0">
                <a:solidFill>
                  <a:srgbClr val="2B2B2B"/>
                </a:solidFill>
                <a:latin typeface="Calibri"/>
              </a:rPr>
              <a:t>●   </a:t>
            </a:r>
            <a:r>
              <a:rPr sz="1500" b="1" i="0">
                <a:solidFill>
                  <a:srgbClr val="2B2B2B"/>
                </a:solidFill>
                <a:latin typeface="Calibri"/>
              </a:rPr>
              <a:t>Demostrar que su problema es real</a:t>
            </a:r>
            <a:r>
              <a:rPr sz="1500" b="0" i="0">
                <a:solidFill>
                  <a:srgbClr val="2B2B2B"/>
                </a:solidFill>
                <a:latin typeface="Calibri"/>
              </a:rPr>
              <a:t> y que otros ya lo reconocieron.</a:t>
            </a:r>
          </a:p>
          <a:p>
            <a:pPr lvl="1">
              <a:spcAft>
                <a:spcPts val="600"/>
              </a:spcAft>
            </a:pPr>
            <a:r>
              <a:rPr sz="1500" b="0" i="0">
                <a:solidFill>
                  <a:srgbClr val="2B2B2B"/>
                </a:solidFill>
                <a:latin typeface="Calibri"/>
              </a:rPr>
              <a:t>●   </a:t>
            </a:r>
            <a:r>
              <a:rPr sz="1500" b="1" i="0">
                <a:solidFill>
                  <a:srgbClr val="2B2B2B"/>
                </a:solidFill>
                <a:latin typeface="Calibri"/>
              </a:rPr>
              <a:t>No repetir lo ya hecho</a:t>
            </a:r>
            <a:r>
              <a:rPr sz="1500" b="0" i="0">
                <a:solidFill>
                  <a:srgbClr val="2B2B2B"/>
                </a:solidFill>
                <a:latin typeface="Calibri"/>
              </a:rPr>
              <a:t> y, sobre todo, ubicar el </a:t>
            </a:r>
            <a:r>
              <a:rPr sz="1500" b="1" i="0">
                <a:solidFill>
                  <a:srgbClr val="2B2B2B"/>
                </a:solidFill>
                <a:latin typeface="Calibri"/>
              </a:rPr>
              <a:t>vacío</a:t>
            </a:r>
            <a:r>
              <a:rPr sz="1500" b="0" i="0">
                <a:solidFill>
                  <a:srgbClr val="2B2B2B"/>
                </a:solidFill>
                <a:latin typeface="Calibri"/>
              </a:rPr>
              <a:t> que su proyecto viene a llenar.</a:t>
            </a:r>
          </a:p>
          <a:p>
            <a:pPr>
              <a:spcAft>
                <a:spcPts val="1000"/>
              </a:spcAft>
            </a:pPr>
            <a:r>
              <a:rPr sz="1600" b="0" i="0">
                <a:solidFill>
                  <a:srgbClr val="2B2B2B"/>
                </a:solidFill>
                <a:latin typeface="Calibri"/>
              </a:rPr>
              <a:t>–   Hoy se sale con </a:t>
            </a:r>
            <a:r>
              <a:rPr sz="1600" b="1" i="0">
                <a:solidFill>
                  <a:srgbClr val="2B2B2B"/>
                </a:solidFill>
                <a:latin typeface="Calibri"/>
              </a:rPr>
              <a:t>cuatro fichas</a:t>
            </a:r>
            <a:r>
              <a:rPr sz="1600" b="0" i="0">
                <a:solidFill>
                  <a:srgbClr val="2B2B2B"/>
                </a:solidFill>
                <a:latin typeface="Calibri"/>
              </a:rPr>
              <a:t> de antecedentes bien hechas y un </a:t>
            </a:r>
            <a:r>
              <a:rPr sz="1600" b="1" i="0">
                <a:solidFill>
                  <a:srgbClr val="2B2B2B"/>
                </a:solidFill>
                <a:latin typeface="Calibri"/>
              </a:rPr>
              <a:t>párrafo puente</a:t>
            </a:r>
            <a:r>
              <a:rPr sz="1600" b="0" i="0">
                <a:solidFill>
                  <a:srgbClr val="2B2B2B"/>
                </a:solidFill>
                <a:latin typeface="Calibri"/>
              </a:rPr>
              <a:t> que las hila.</a:t>
            </a:r>
          </a:p>
          <a:p>
            <a:pPr>
              <a:spcAft>
                <a:spcPts val="1000"/>
              </a:spcAft>
            </a:pPr>
            <a:r>
              <a:rPr sz="1600" b="0" i="0">
                <a:solidFill>
                  <a:srgbClr val="2B2B2B"/>
                </a:solidFill>
                <a:latin typeface="Calibri"/>
              </a:rPr>
              <a:t>–   El flujo detallado de búsqueda y citación está en la guía práctica de herramientas de la carpeta del curso.</a:t>
            </a:r>
          </a:p>
        </p:txBody>
      </p:sp>
      <p:sp>
        <p:nvSpPr>
          <p:cNvPr id="5" name="TextBox 4"/>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Las tres piezas del marco referencial no son lo mismo</a:t>
            </a:r>
          </a:p>
        </p:txBody>
      </p:sp>
      <p:graphicFrame>
        <p:nvGraphicFramePr>
          <p:cNvPr id="4" name="Table 3"/>
          <p:cNvGraphicFramePr>
            <a:graphicFrameLocks noGrp="1"/>
          </p:cNvGraphicFramePr>
          <p:nvPr/>
        </p:nvGraphicFramePr>
        <p:xfrm>
          <a:off x="640080" y="1691639"/>
          <a:ext cx="10911533" cy="2514600"/>
        </p:xfrm>
        <a:graphic>
          <a:graphicData uri="http://schemas.openxmlformats.org/drawingml/2006/table">
            <a:tbl>
              <a:tblPr>
                <a:tableStyleId>{2D5ABB26-0587-4C30-8999-92F81FD0307C}</a:tableStyleId>
              </a:tblPr>
              <a:tblGrid>
                <a:gridCol w="2017258"/>
                <a:gridCol w="2659113"/>
                <a:gridCol w="2934194"/>
                <a:gridCol w="3300968"/>
              </a:tblGrid>
              <a:tr h="502920">
                <a:tc>
                  <a:txBody>
                    <a:bodyPr/>
                    <a:lstStyle/>
                    <a:p>
                      <a:pPr algn="l"/>
                      <a:r>
                        <a:rPr sz="1300" b="1" i="0">
                          <a:solidFill>
                            <a:srgbClr val="FFFFFF"/>
                          </a:solidFill>
                          <a:latin typeface="Calibri"/>
                        </a:rPr>
                        <a:t>Pieza</a:t>
                      </a:r>
                    </a:p>
                  </a:txBody>
                  <a:tcPr anchor="ctr" marL="109728" marR="91440" marT="36576" marB="36576">
                    <a:solidFill>
                      <a:srgbClr val="0C2340"/>
                    </a:solidFill>
                  </a:tcPr>
                </a:tc>
                <a:tc>
                  <a:txBody>
                    <a:bodyPr/>
                    <a:lstStyle/>
                    <a:p>
                      <a:pPr algn="l"/>
                      <a:r>
                        <a:rPr sz="1300" b="1" i="0">
                          <a:solidFill>
                            <a:srgbClr val="FFFFFF"/>
                          </a:solidFill>
                          <a:latin typeface="Calibri"/>
                        </a:rPr>
                        <a:t>Qué contiene</a:t>
                      </a:r>
                    </a:p>
                  </a:txBody>
                  <a:tcPr anchor="ctr" marL="109728" marR="91440" marT="36576" marB="36576">
                    <a:solidFill>
                      <a:srgbClr val="0C2340"/>
                    </a:solidFill>
                  </a:tcPr>
                </a:tc>
                <a:tc>
                  <a:txBody>
                    <a:bodyPr/>
                    <a:lstStyle/>
                    <a:p>
                      <a:pPr algn="l"/>
                      <a:r>
                        <a:rPr sz="1300" b="1" i="0">
                          <a:solidFill>
                            <a:srgbClr val="FFFFFF"/>
                          </a:solidFill>
                          <a:latin typeface="Calibri"/>
                        </a:rPr>
                        <a:t>Pregunta que responde</a:t>
                      </a:r>
                    </a:p>
                  </a:txBody>
                  <a:tcPr anchor="ctr" marL="109728" marR="91440" marT="36576" marB="36576">
                    <a:solidFill>
                      <a:srgbClr val="0C2340"/>
                    </a:solidFill>
                  </a:tcPr>
                </a:tc>
                <a:tc>
                  <a:txBody>
                    <a:bodyPr/>
                    <a:lstStyle/>
                    <a:p>
                      <a:pPr algn="l"/>
                      <a:r>
                        <a:rPr sz="1300" b="1" i="0">
                          <a:solidFill>
                            <a:srgbClr val="FFFFFF"/>
                          </a:solidFill>
                          <a:latin typeface="Calibri"/>
                        </a:rPr>
                        <a:t>Ejemplo del caso tickets</a:t>
                      </a:r>
                    </a:p>
                  </a:txBody>
                  <a:tcPr anchor="ctr" marL="109728" marR="91440" marT="36576" marB="36576">
                    <a:solidFill>
                      <a:srgbClr val="0C2340"/>
                    </a:solidFill>
                  </a:tcPr>
                </a:tc>
              </a:tr>
              <a:tr h="502920">
                <a:tc>
                  <a:txBody>
                    <a:bodyPr/>
                    <a:lstStyle/>
                    <a:p>
                      <a:pPr algn="l"/>
                      <a:r>
                        <a:rPr sz="1200" b="1" i="0">
                          <a:solidFill>
                            <a:srgbClr val="2B2B2B"/>
                          </a:solidFill>
                          <a:latin typeface="Calibri"/>
                        </a:rPr>
                        <a:t>Antecedentes</a:t>
                      </a:r>
                    </a:p>
                  </a:txBody>
                  <a:tcPr anchor="ctr" marL="109728" marR="91440" marT="36576" marB="36576">
                    <a:solidFill>
                      <a:srgbClr val="FFFFFF"/>
                    </a:solidFill>
                  </a:tcPr>
                </a:tc>
                <a:tc>
                  <a:txBody>
                    <a:bodyPr/>
                    <a:lstStyle/>
                    <a:p>
                      <a:pPr algn="l"/>
                      <a:r>
                        <a:rPr sz="1200" b="0" i="0">
                          <a:solidFill>
                            <a:srgbClr val="2B2B2B"/>
                          </a:solidFill>
                          <a:latin typeface="Calibri"/>
                        </a:rPr>
                        <a:t>Estudios previos parecidos al suyo</a:t>
                      </a:r>
                    </a:p>
                  </a:txBody>
                  <a:tcPr anchor="ctr" marL="109728" marR="91440" marT="36576" marB="36576">
                    <a:solidFill>
                      <a:srgbClr val="FFFFFF"/>
                    </a:solidFill>
                  </a:tcPr>
                </a:tc>
                <a:tc>
                  <a:txBody>
                    <a:bodyPr/>
                    <a:lstStyle/>
                    <a:p>
                      <a:pPr algn="l"/>
                      <a:r>
                        <a:rPr sz="1200" b="0" i="0">
                          <a:solidFill>
                            <a:srgbClr val="2B2B2B"/>
                          </a:solidFill>
                          <a:latin typeface="Calibri"/>
                        </a:rPr>
                        <a:t>¿Quién ya hizo algo así y qué halló?</a:t>
                      </a:r>
                    </a:p>
                  </a:txBody>
                  <a:tcPr anchor="ctr" marL="109728" marR="91440" marT="36576" marB="36576">
                    <a:solidFill>
                      <a:srgbClr val="FFFFFF"/>
                    </a:solidFill>
                  </a:tcPr>
                </a:tc>
                <a:tc>
                  <a:txBody>
                    <a:bodyPr/>
                    <a:lstStyle/>
                    <a:p>
                      <a:pPr algn="l"/>
                      <a:r>
                        <a:rPr sz="1200" b="0" i="0">
                          <a:solidFill>
                            <a:srgbClr val="2B2B2B"/>
                          </a:solidFill>
                          <a:latin typeface="Calibri"/>
                        </a:rPr>
                        <a:t>Un estudio que clasificó tickets con aprendizaje automático en 2022</a:t>
                      </a:r>
                    </a:p>
                  </a:txBody>
                  <a:tcPr anchor="ctr" marL="109728" marR="91440" marT="36576" marB="36576">
                    <a:solidFill>
                      <a:srgbClr val="FFFFFF"/>
                    </a:solidFill>
                  </a:tcPr>
                </a:tc>
              </a:tr>
              <a:tr h="502920">
                <a:tc>
                  <a:txBody>
                    <a:bodyPr/>
                    <a:lstStyle/>
                    <a:p>
                      <a:pPr algn="l"/>
                      <a:r>
                        <a:rPr sz="1200" b="1" i="0">
                          <a:solidFill>
                            <a:srgbClr val="2B2B2B"/>
                          </a:solidFill>
                          <a:latin typeface="Calibri"/>
                        </a:rPr>
                        <a:t>Marco teórico</a:t>
                      </a:r>
                    </a:p>
                  </a:txBody>
                  <a:tcPr anchor="ctr" marL="109728" marR="91440" marT="36576" marB="36576">
                    <a:solidFill>
                      <a:srgbClr val="F2F2F2"/>
                    </a:solidFill>
                  </a:tcPr>
                </a:tc>
                <a:tc>
                  <a:txBody>
                    <a:bodyPr/>
                    <a:lstStyle/>
                    <a:p>
                      <a:pPr algn="l"/>
                      <a:r>
                        <a:rPr sz="1200" b="0" i="0">
                          <a:solidFill>
                            <a:srgbClr val="2B2B2B"/>
                          </a:solidFill>
                          <a:latin typeface="Calibri"/>
                        </a:rPr>
                        <a:t>Teorías y modelos de fondo</a:t>
                      </a:r>
                    </a:p>
                  </a:txBody>
                  <a:tcPr anchor="ctr" marL="109728" marR="91440" marT="36576" marB="36576">
                    <a:solidFill>
                      <a:srgbClr val="F2F2F2"/>
                    </a:solidFill>
                  </a:tcPr>
                </a:tc>
                <a:tc>
                  <a:txBody>
                    <a:bodyPr/>
                    <a:lstStyle/>
                    <a:p>
                      <a:pPr algn="l"/>
                      <a:r>
                        <a:rPr sz="1200" b="0" i="0">
                          <a:solidFill>
                            <a:srgbClr val="2B2B2B"/>
                          </a:solidFill>
                          <a:latin typeface="Calibri"/>
                        </a:rPr>
                        <a:t>¿Con qué teoría entiendo el fenómeno?</a:t>
                      </a:r>
                    </a:p>
                  </a:txBody>
                  <a:tcPr anchor="ctr" marL="109728" marR="91440" marT="36576" marB="36576">
                    <a:solidFill>
                      <a:srgbClr val="F2F2F2"/>
                    </a:solidFill>
                  </a:tcPr>
                </a:tc>
                <a:tc>
                  <a:txBody>
                    <a:bodyPr/>
                    <a:lstStyle/>
                    <a:p>
                      <a:pPr algn="l"/>
                      <a:r>
                        <a:rPr sz="1200" b="0" i="0">
                          <a:solidFill>
                            <a:srgbClr val="2B2B2B"/>
                          </a:solidFill>
                          <a:latin typeface="Calibri"/>
                        </a:rPr>
                        <a:t>Qué es y cómo funciona la clasificación supervisada</a:t>
                      </a:r>
                    </a:p>
                  </a:txBody>
                  <a:tcPr anchor="ctr" marL="109728" marR="91440" marT="36576" marB="36576">
                    <a:solidFill>
                      <a:srgbClr val="F2F2F2"/>
                    </a:solidFill>
                  </a:tcPr>
                </a:tc>
              </a:tr>
              <a:tr h="502920">
                <a:tc>
                  <a:txBody>
                    <a:bodyPr/>
                    <a:lstStyle/>
                    <a:p>
                      <a:pPr algn="l"/>
                      <a:r>
                        <a:rPr sz="1200" b="1" i="0">
                          <a:solidFill>
                            <a:srgbClr val="2B2B2B"/>
                          </a:solidFill>
                          <a:latin typeface="Calibri"/>
                        </a:rPr>
                        <a:t>Marco conceptual</a:t>
                      </a:r>
                    </a:p>
                  </a:txBody>
                  <a:tcPr anchor="ctr" marL="109728" marR="91440" marT="36576" marB="36576">
                    <a:solidFill>
                      <a:srgbClr val="FFFFFF"/>
                    </a:solidFill>
                  </a:tcPr>
                </a:tc>
                <a:tc>
                  <a:txBody>
                    <a:bodyPr/>
                    <a:lstStyle/>
                    <a:p>
                      <a:pPr algn="l"/>
                      <a:r>
                        <a:rPr sz="1200" b="0" i="0">
                          <a:solidFill>
                            <a:srgbClr val="2B2B2B"/>
                          </a:solidFill>
                          <a:latin typeface="Calibri"/>
                        </a:rPr>
                        <a:t>Definiciones operativas de sus términos</a:t>
                      </a:r>
                    </a:p>
                  </a:txBody>
                  <a:tcPr anchor="ctr" marL="109728" marR="91440" marT="36576" marB="36576">
                    <a:solidFill>
                      <a:srgbClr val="FFFFFF"/>
                    </a:solidFill>
                  </a:tcPr>
                </a:tc>
                <a:tc>
                  <a:txBody>
                    <a:bodyPr/>
                    <a:lstStyle/>
                    <a:p>
                      <a:pPr algn="l"/>
                      <a:r>
                        <a:rPr sz="1200" b="0" i="0">
                          <a:solidFill>
                            <a:srgbClr val="2B2B2B"/>
                          </a:solidFill>
                          <a:latin typeface="Calibri"/>
                        </a:rPr>
                        <a:t>¿Qué significa exactamente cada palabra en MI proyecto?</a:t>
                      </a:r>
                    </a:p>
                  </a:txBody>
                  <a:tcPr anchor="ctr" marL="109728" marR="91440" marT="36576" marB="36576">
                    <a:solidFill>
                      <a:srgbClr val="FFFFFF"/>
                    </a:solidFill>
                  </a:tcPr>
                </a:tc>
                <a:tc>
                  <a:txBody>
                    <a:bodyPr/>
                    <a:lstStyle/>
                    <a:p>
                      <a:pPr algn="l"/>
                      <a:r>
                        <a:rPr sz="1200" b="0" i="0">
                          <a:solidFill>
                            <a:srgbClr val="2B2B2B"/>
                          </a:solidFill>
                          <a:latin typeface="Calibri"/>
                        </a:rPr>
                        <a:t>"Tiempo de atención" = minutos entre apertura y cierre</a:t>
                      </a:r>
                    </a:p>
                  </a:txBody>
                  <a:tcPr anchor="ctr" marL="109728" marR="91440" marT="36576" marB="36576">
                    <a:solidFill>
                      <a:srgbClr val="FFFFFF"/>
                    </a:solidFill>
                  </a:tcPr>
                </a:tc>
              </a:tr>
              <a:tr h="502920">
                <a:tc>
                  <a:txBody>
                    <a:bodyPr/>
                    <a:lstStyle/>
                    <a:p>
                      <a:pPr algn="l"/>
                      <a:r>
                        <a:rPr sz="1200" b="1" i="0">
                          <a:solidFill>
                            <a:srgbClr val="2B2B2B"/>
                          </a:solidFill>
                          <a:latin typeface="Calibri"/>
                        </a:rPr>
                        <a:t>Marco contextual</a:t>
                      </a:r>
                    </a:p>
                  </a:txBody>
                  <a:tcPr anchor="ctr" marL="109728" marR="91440" marT="36576" marB="36576">
                    <a:solidFill>
                      <a:srgbClr val="F2F2F2"/>
                    </a:solidFill>
                  </a:tcPr>
                </a:tc>
                <a:tc>
                  <a:txBody>
                    <a:bodyPr/>
                    <a:lstStyle/>
                    <a:p>
                      <a:pPr algn="l"/>
                      <a:r>
                        <a:rPr sz="1200" b="0" i="0">
                          <a:solidFill>
                            <a:srgbClr val="2B2B2B"/>
                          </a:solidFill>
                          <a:latin typeface="Calibri"/>
                        </a:rPr>
                        <a:t>El escenario real y acotado</a:t>
                      </a:r>
                    </a:p>
                  </a:txBody>
                  <a:tcPr anchor="ctr" marL="109728" marR="91440" marT="36576" marB="36576">
                    <a:solidFill>
                      <a:srgbClr val="F2F2F2"/>
                    </a:solidFill>
                  </a:tcPr>
                </a:tc>
                <a:tc>
                  <a:txBody>
                    <a:bodyPr/>
                    <a:lstStyle/>
                    <a:p>
                      <a:pPr algn="l"/>
                      <a:r>
                        <a:rPr sz="1200" b="0" i="0">
                          <a:solidFill>
                            <a:srgbClr val="2B2B2B"/>
                          </a:solidFill>
                          <a:latin typeface="Calibri"/>
                        </a:rPr>
                        <a:t>¿Dónde ocurre esto exactamente?</a:t>
                      </a:r>
                    </a:p>
                  </a:txBody>
                  <a:tcPr anchor="ctr" marL="109728" marR="91440" marT="36576" marB="36576">
                    <a:solidFill>
                      <a:srgbClr val="F2F2F2"/>
                    </a:solidFill>
                  </a:tcPr>
                </a:tc>
                <a:tc>
                  <a:txBody>
                    <a:bodyPr/>
                    <a:lstStyle/>
                    <a:p>
                      <a:pPr algn="l"/>
                      <a:r>
                        <a:rPr sz="1200" b="0" i="0">
                          <a:solidFill>
                            <a:srgbClr val="2B2B2B"/>
                          </a:solidFill>
                          <a:latin typeface="Calibri"/>
                        </a:rPr>
                        <a:t>El área de soporte TI de la empresa X</a:t>
                      </a:r>
                    </a:p>
                  </a:txBody>
                  <a:tcPr anchor="ctr" marL="109728" marR="91440" marT="36576" marB="36576">
                    <a:solidFill>
                      <a:srgbClr val="F2F2F2"/>
                    </a:solidFill>
                  </a:tcPr>
                </a:tc>
              </a:tr>
            </a:tbl>
          </a:graphicData>
        </a:graphic>
      </p:graphicFrame>
      <p:sp>
        <p:nvSpPr>
          <p:cNvPr id="5" name="TextBox 4"/>
          <p:cNvSpPr txBox="1"/>
          <p:nvPr/>
        </p:nvSpPr>
        <p:spPr>
          <a:xfrm>
            <a:off x="640080" y="4343400"/>
            <a:ext cx="10911535" cy="548640"/>
          </a:xfrm>
          <a:prstGeom prst="rect">
            <a:avLst/>
          </a:prstGeom>
          <a:noFill/>
        </p:spPr>
        <p:txBody>
          <a:bodyPr wrap="square" anchor="t" lIns="0" rIns="0" tIns="0" bIns="0">
            <a:spAutoFit/>
          </a:bodyPr>
          <a:lstStyle/>
          <a:p>
            <a:r>
              <a:rPr sz="1200" b="0" i="1">
                <a:solidFill>
                  <a:srgbClr val="2B2B2B"/>
                </a:solidFill>
                <a:latin typeface="Calibri"/>
              </a:rPr>
              <a:t>Hoy solo se trabaja la primera fila. Confundir antecedentes con teoría es el error que más devoluciones genera en esta sección.</a:t>
            </a:r>
          </a:p>
        </p:txBody>
      </p:sp>
      <p:sp>
        <p:nvSpPr>
          <p:cNvPr id="6" name="TextBox 5"/>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Qué cuenta como antecedente y qué no</a:t>
            </a:r>
          </a:p>
        </p:txBody>
      </p:sp>
      <p:sp>
        <p:nvSpPr>
          <p:cNvPr id="4" name="TextBox 3"/>
          <p:cNvSpPr txBox="1"/>
          <p:nvPr/>
        </p:nvSpPr>
        <p:spPr>
          <a:xfrm>
            <a:off x="640080" y="1691639"/>
            <a:ext cx="10911535" cy="4617720"/>
          </a:xfrm>
          <a:prstGeom prst="rect">
            <a:avLst/>
          </a:prstGeom>
          <a:noFill/>
        </p:spPr>
        <p:txBody>
          <a:bodyPr wrap="square" anchor="t" lIns="0" rIns="0" tIns="0" bIns="0">
            <a:spAutoFit/>
          </a:bodyPr>
          <a:lstStyle/>
          <a:p>
            <a:pPr>
              <a:spcAft>
                <a:spcPts val="1000"/>
              </a:spcAft>
            </a:pPr>
            <a:r>
              <a:rPr sz="1600" b="0" i="0">
                <a:solidFill>
                  <a:srgbClr val="2B2B2B"/>
                </a:solidFill>
                <a:latin typeface="Calibri"/>
              </a:rPr>
              <a:t>–   </a:t>
            </a:r>
            <a:r>
              <a:rPr sz="1600" b="1" i="0">
                <a:solidFill>
                  <a:srgbClr val="2B2B2B"/>
                </a:solidFill>
                <a:latin typeface="Calibri"/>
              </a:rPr>
              <a:t>Sí cuentan:</a:t>
            </a:r>
            <a:r>
              <a:rPr sz="1600" b="0" i="0">
                <a:solidFill>
                  <a:srgbClr val="2B2B2B"/>
                </a:solidFill>
                <a:latin typeface="Calibri"/>
              </a:rPr>
              <a:t> artículos de revistas académicas, tesis y trabajos de grado, ponencias de congresos, informes técnicos de entidades reconocidas.</a:t>
            </a:r>
          </a:p>
          <a:p>
            <a:pPr lvl="1">
              <a:spcAft>
                <a:spcPts val="600"/>
              </a:spcAft>
            </a:pPr>
            <a:r>
              <a:rPr sz="1500" b="0" i="0">
                <a:solidFill>
                  <a:srgbClr val="2B2B2B"/>
                </a:solidFill>
                <a:latin typeface="Calibri"/>
              </a:rPr>
              <a:t>●   Todos tienen algo en común: dicen </a:t>
            </a:r>
            <a:r>
              <a:rPr sz="1500" b="1" i="0">
                <a:solidFill>
                  <a:srgbClr val="2B2B2B"/>
                </a:solidFill>
                <a:latin typeface="Calibri"/>
              </a:rPr>
              <a:t>qué método usaron</a:t>
            </a:r>
            <a:r>
              <a:rPr sz="1500" b="0" i="0">
                <a:solidFill>
                  <a:srgbClr val="2B2B2B"/>
                </a:solidFill>
                <a:latin typeface="Calibri"/>
              </a:rPr>
              <a:t> y </a:t>
            </a:r>
            <a:r>
              <a:rPr sz="1500" b="1" i="0">
                <a:solidFill>
                  <a:srgbClr val="2B2B2B"/>
                </a:solidFill>
                <a:latin typeface="Calibri"/>
              </a:rPr>
              <a:t>qué encontraron</a:t>
            </a:r>
            <a:r>
              <a:rPr sz="1500" b="0" i="0">
                <a:solidFill>
                  <a:srgbClr val="2B2B2B"/>
                </a:solidFill>
                <a:latin typeface="Calibri"/>
              </a:rPr>
              <a:t>.</a:t>
            </a:r>
          </a:p>
          <a:p>
            <a:pPr>
              <a:spcAft>
                <a:spcPts val="1000"/>
              </a:spcAft>
            </a:pPr>
            <a:r>
              <a:rPr sz="1600" b="0" i="0">
                <a:solidFill>
                  <a:srgbClr val="2B2B2B"/>
                </a:solidFill>
                <a:latin typeface="Calibri"/>
              </a:rPr>
              <a:t>–   </a:t>
            </a:r>
            <a:r>
              <a:rPr sz="1600" b="1" i="0">
                <a:solidFill>
                  <a:srgbClr val="2B2B2B"/>
                </a:solidFill>
                <a:latin typeface="Calibri"/>
              </a:rPr>
              <a:t>No cuentan como antecedente:</a:t>
            </a:r>
            <a:r>
              <a:rPr sz="1600" b="0" i="0">
                <a:solidFill>
                  <a:srgbClr val="2B2B2B"/>
                </a:solidFill>
                <a:latin typeface="Calibri"/>
              </a:rPr>
              <a:t> blogs, videos de opinión, páginas comerciales de productos, ni respuestas de un asistente de inteligencia artificial.</a:t>
            </a:r>
          </a:p>
          <a:p>
            <a:pPr lvl="1">
              <a:spcAft>
                <a:spcPts val="600"/>
              </a:spcAft>
            </a:pPr>
            <a:r>
              <a:rPr sz="1500" b="0" i="0">
                <a:solidFill>
                  <a:srgbClr val="2B2B2B"/>
                </a:solidFill>
                <a:latin typeface="Calibri"/>
              </a:rPr>
              <a:t>●   Un texto sin método verificable no es un estudio previo; es una opinión.</a:t>
            </a:r>
          </a:p>
          <a:p>
            <a:pPr>
              <a:spcAft>
                <a:spcPts val="1000"/>
              </a:spcAft>
            </a:pPr>
            <a:r>
              <a:rPr sz="1600" b="0" i="0">
                <a:solidFill>
                  <a:srgbClr val="2B2B2B"/>
                </a:solidFill>
                <a:latin typeface="Calibri"/>
              </a:rPr>
              <a:t>–   </a:t>
            </a:r>
            <a:r>
              <a:rPr sz="1600" b="1" i="0">
                <a:solidFill>
                  <a:srgbClr val="2B2B2B"/>
                </a:solidFill>
                <a:latin typeface="Calibri"/>
              </a:rPr>
              <a:t>Ventana temporal recomendada: últimos 5 años</a:t>
            </a:r>
            <a:r>
              <a:rPr sz="1600" b="0" i="0">
                <a:solidFill>
                  <a:srgbClr val="2B2B2B"/>
                </a:solidFill>
                <a:latin typeface="Calibri"/>
              </a:rPr>
              <a:t>, salvo que sea un trabajo fundacional del área.</a:t>
            </a:r>
          </a:p>
          <a:p>
            <a:pPr lvl="1">
              <a:spcAft>
                <a:spcPts val="600"/>
              </a:spcAft>
            </a:pPr>
            <a:r>
              <a:rPr sz="1500" b="0" i="0">
                <a:solidFill>
                  <a:srgbClr val="2B2B2B"/>
                </a:solidFill>
                <a:latin typeface="Calibri"/>
              </a:rPr>
              <a:t>●   En tecnología, un estudio de hace diez años describe un estado del arte que ya no existe.</a:t>
            </a:r>
          </a:p>
          <a:p>
            <a:pPr>
              <a:spcAft>
                <a:spcPts val="1000"/>
              </a:spcAft>
            </a:pPr>
            <a:r>
              <a:rPr sz="1600" b="0" i="0">
                <a:solidFill>
                  <a:srgbClr val="2B2B2B"/>
                </a:solidFill>
                <a:latin typeface="Calibri"/>
              </a:rPr>
              <a:t>–   Un antecedente debe </a:t>
            </a:r>
            <a:r>
              <a:rPr sz="1600" b="1" i="0">
                <a:solidFill>
                  <a:srgbClr val="2B2B2B"/>
                </a:solidFill>
                <a:latin typeface="Calibri"/>
              </a:rPr>
              <a:t>parecerse a su proyecto</a:t>
            </a:r>
            <a:r>
              <a:rPr sz="1600" b="0" i="0">
                <a:solidFill>
                  <a:srgbClr val="2B2B2B"/>
                </a:solidFill>
                <a:latin typeface="Calibri"/>
              </a:rPr>
              <a:t> en al menos una de tres cosas: el problema, el método o el tipo de organización.</a:t>
            </a:r>
          </a:p>
          <a:p>
            <a:pPr lvl="1">
              <a:spcAft>
                <a:spcPts val="600"/>
              </a:spcAft>
            </a:pPr>
            <a:r>
              <a:rPr sz="1500" b="0" i="0">
                <a:solidFill>
                  <a:srgbClr val="2B2B2B"/>
                </a:solidFill>
                <a:latin typeface="Calibri"/>
              </a:rPr>
              <a:t>●   Si no se parece en ninguna, es lectura interesante, pero no es antecedente suyo.</a:t>
            </a:r>
          </a:p>
        </p:txBody>
      </p:sp>
      <p:sp>
        <p:nvSpPr>
          <p:cNvPr id="5" name="TextBox 4"/>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La ficha de antecedente: cinco campos, ninguno opcional</a:t>
            </a:r>
          </a:p>
        </p:txBody>
      </p:sp>
      <p:graphicFrame>
        <p:nvGraphicFramePr>
          <p:cNvPr id="4" name="Table 3"/>
          <p:cNvGraphicFramePr>
            <a:graphicFrameLocks noGrp="1"/>
          </p:cNvGraphicFramePr>
          <p:nvPr/>
        </p:nvGraphicFramePr>
        <p:xfrm>
          <a:off x="640080" y="1691639"/>
          <a:ext cx="10911534" cy="3017520"/>
        </p:xfrm>
        <a:graphic>
          <a:graphicData uri="http://schemas.openxmlformats.org/drawingml/2006/table">
            <a:tbl>
              <a:tblPr>
                <a:tableStyleId>{2D5ABB26-0587-4C30-8999-92F81FD0307C}</a:tableStyleId>
              </a:tblPr>
              <a:tblGrid>
                <a:gridCol w="2750807"/>
                <a:gridCol w="4676372"/>
                <a:gridCol w="3484355"/>
              </a:tblGrid>
              <a:tr h="502920">
                <a:tc>
                  <a:txBody>
                    <a:bodyPr/>
                    <a:lstStyle/>
                    <a:p>
                      <a:pPr algn="l"/>
                      <a:r>
                        <a:rPr sz="1300" b="1" i="0">
                          <a:solidFill>
                            <a:srgbClr val="FFFFFF"/>
                          </a:solidFill>
                          <a:latin typeface="Calibri"/>
                        </a:rPr>
                        <a:t>Campo</a:t>
                      </a:r>
                    </a:p>
                  </a:txBody>
                  <a:tcPr anchor="ctr" marL="109728" marR="91440" marT="36576" marB="36576">
                    <a:solidFill>
                      <a:srgbClr val="0C2340"/>
                    </a:solidFill>
                  </a:tcPr>
                </a:tc>
                <a:tc>
                  <a:txBody>
                    <a:bodyPr/>
                    <a:lstStyle/>
                    <a:p>
                      <a:pPr algn="l"/>
                      <a:r>
                        <a:rPr sz="1300" b="1" i="0">
                          <a:solidFill>
                            <a:srgbClr val="FFFFFF"/>
                          </a:solidFill>
                          <a:latin typeface="Calibri"/>
                        </a:rPr>
                        <a:t>Pregunta que responde</a:t>
                      </a:r>
                    </a:p>
                  </a:txBody>
                  <a:tcPr anchor="ctr" marL="109728" marR="91440" marT="36576" marB="36576">
                    <a:solidFill>
                      <a:srgbClr val="0C2340"/>
                    </a:solidFill>
                  </a:tcPr>
                </a:tc>
                <a:tc>
                  <a:txBody>
                    <a:bodyPr/>
                    <a:lstStyle/>
                    <a:p>
                      <a:pPr algn="l"/>
                      <a:r>
                        <a:rPr sz="1300" b="1" i="0">
                          <a:solidFill>
                            <a:srgbClr val="FFFFFF"/>
                          </a:solidFill>
                          <a:latin typeface="Calibri"/>
                        </a:rPr>
                        <a:t>Extensión sugerida</a:t>
                      </a:r>
                    </a:p>
                  </a:txBody>
                  <a:tcPr anchor="ctr" marL="109728" marR="91440" marT="36576" marB="36576">
                    <a:solidFill>
                      <a:srgbClr val="0C2340"/>
                    </a:solidFill>
                  </a:tcPr>
                </a:tc>
              </a:tr>
              <a:tr h="502920">
                <a:tc>
                  <a:txBody>
                    <a:bodyPr/>
                    <a:lstStyle/>
                    <a:p>
                      <a:pPr algn="l"/>
                      <a:r>
                        <a:rPr sz="1200" b="0" i="0">
                          <a:solidFill>
                            <a:srgbClr val="2B2B2B"/>
                          </a:solidFill>
                          <a:latin typeface="Calibri"/>
                        </a:rPr>
                        <a:t>Referencia en APA 7</a:t>
                      </a:r>
                    </a:p>
                  </a:txBody>
                  <a:tcPr anchor="ctr" marL="109728" marR="91440" marT="36576" marB="36576">
                    <a:solidFill>
                      <a:srgbClr val="FFFFFF"/>
                    </a:solidFill>
                  </a:tcPr>
                </a:tc>
                <a:tc>
                  <a:txBody>
                    <a:bodyPr/>
                    <a:lstStyle/>
                    <a:p>
                      <a:pPr algn="l"/>
                      <a:r>
                        <a:rPr sz="1200" b="0" i="0">
                          <a:solidFill>
                            <a:srgbClr val="2B2B2B"/>
                          </a:solidFill>
                          <a:latin typeface="Calibri"/>
                        </a:rPr>
                        <a:t>¿De dónde salió?</a:t>
                      </a:r>
                    </a:p>
                  </a:txBody>
                  <a:tcPr anchor="ctr" marL="109728" marR="91440" marT="36576" marB="36576">
                    <a:solidFill>
                      <a:srgbClr val="FFFFFF"/>
                    </a:solidFill>
                  </a:tcPr>
                </a:tc>
                <a:tc>
                  <a:txBody>
                    <a:bodyPr/>
                    <a:lstStyle/>
                    <a:p>
                      <a:pPr algn="l"/>
                      <a:r>
                        <a:rPr sz="1200" b="0" i="0">
                          <a:solidFill>
                            <a:srgbClr val="2B2B2B"/>
                          </a:solidFill>
                          <a:latin typeface="Calibri"/>
                        </a:rPr>
                        <a:t>Una línea, generada en ZoteroBib</a:t>
                      </a:r>
                    </a:p>
                  </a:txBody>
                  <a:tcPr anchor="ctr" marL="109728" marR="91440" marT="36576" marB="36576">
                    <a:solidFill>
                      <a:srgbClr val="FFFFFF"/>
                    </a:solidFill>
                  </a:tcPr>
                </a:tc>
              </a:tr>
              <a:tr h="502920">
                <a:tc>
                  <a:txBody>
                    <a:bodyPr/>
                    <a:lstStyle/>
                    <a:p>
                      <a:pPr algn="l"/>
                      <a:r>
                        <a:rPr sz="1200" b="0" i="0">
                          <a:solidFill>
                            <a:srgbClr val="2B2B2B"/>
                          </a:solidFill>
                          <a:latin typeface="Calibri"/>
                        </a:rPr>
                        <a:t>Objetivo del estudio</a:t>
                      </a:r>
                    </a:p>
                  </a:txBody>
                  <a:tcPr anchor="ctr" marL="109728" marR="91440" marT="36576" marB="36576">
                    <a:solidFill>
                      <a:srgbClr val="F2F2F2"/>
                    </a:solidFill>
                  </a:tcPr>
                </a:tc>
                <a:tc>
                  <a:txBody>
                    <a:bodyPr/>
                    <a:lstStyle/>
                    <a:p>
                      <a:pPr algn="l"/>
                      <a:r>
                        <a:rPr sz="1200" b="0" i="0">
                          <a:solidFill>
                            <a:srgbClr val="2B2B2B"/>
                          </a:solidFill>
                          <a:latin typeface="Calibri"/>
                        </a:rPr>
                        <a:t>¿Qué buscaban los autores?</a:t>
                      </a:r>
                    </a:p>
                  </a:txBody>
                  <a:tcPr anchor="ctr" marL="109728" marR="91440" marT="36576" marB="36576">
                    <a:solidFill>
                      <a:srgbClr val="F2F2F2"/>
                    </a:solidFill>
                  </a:tcPr>
                </a:tc>
                <a:tc>
                  <a:txBody>
                    <a:bodyPr/>
                    <a:lstStyle/>
                    <a:p>
                      <a:pPr algn="l"/>
                      <a:r>
                        <a:rPr sz="1200" b="0" i="0">
                          <a:solidFill>
                            <a:srgbClr val="2B2B2B"/>
                          </a:solidFill>
                          <a:latin typeface="Calibri"/>
                        </a:rPr>
                        <a:t>Una o dos líneas, con sus palabras</a:t>
                      </a:r>
                    </a:p>
                  </a:txBody>
                  <a:tcPr anchor="ctr" marL="109728" marR="91440" marT="36576" marB="36576">
                    <a:solidFill>
                      <a:srgbClr val="F2F2F2"/>
                    </a:solidFill>
                  </a:tcPr>
                </a:tc>
              </a:tr>
              <a:tr h="502920">
                <a:tc>
                  <a:txBody>
                    <a:bodyPr/>
                    <a:lstStyle/>
                    <a:p>
                      <a:pPr algn="l"/>
                      <a:r>
                        <a:rPr sz="1200" b="0" i="0">
                          <a:solidFill>
                            <a:srgbClr val="2B2B2B"/>
                          </a:solidFill>
                          <a:latin typeface="Calibri"/>
                        </a:rPr>
                        <a:t>Método</a:t>
                      </a:r>
                    </a:p>
                  </a:txBody>
                  <a:tcPr anchor="ctr" marL="109728" marR="91440" marT="36576" marB="36576">
                    <a:solidFill>
                      <a:srgbClr val="FFFFFF"/>
                    </a:solidFill>
                  </a:tcPr>
                </a:tc>
                <a:tc>
                  <a:txBody>
                    <a:bodyPr/>
                    <a:lstStyle/>
                    <a:p>
                      <a:pPr algn="l"/>
                      <a:r>
                        <a:rPr sz="1200" b="0" i="0">
                          <a:solidFill>
                            <a:srgbClr val="2B2B2B"/>
                          </a:solidFill>
                          <a:latin typeface="Calibri"/>
                        </a:rPr>
                        <a:t>¿Cómo lo hicieron? (enfoque, muestra, técnica)</a:t>
                      </a:r>
                    </a:p>
                  </a:txBody>
                  <a:tcPr anchor="ctr" marL="109728" marR="91440" marT="36576" marB="36576">
                    <a:solidFill>
                      <a:srgbClr val="FFFFFF"/>
                    </a:solidFill>
                  </a:tcPr>
                </a:tc>
                <a:tc>
                  <a:txBody>
                    <a:bodyPr/>
                    <a:lstStyle/>
                    <a:p>
                      <a:pPr algn="l"/>
                      <a:r>
                        <a:rPr sz="1200" b="0" i="0">
                          <a:solidFill>
                            <a:srgbClr val="2B2B2B"/>
                          </a:solidFill>
                          <a:latin typeface="Calibri"/>
                        </a:rPr>
                        <a:t>Dos líneas</a:t>
                      </a:r>
                    </a:p>
                  </a:txBody>
                  <a:tcPr anchor="ctr" marL="109728" marR="91440" marT="36576" marB="36576">
                    <a:solidFill>
                      <a:srgbClr val="FFFFFF"/>
                    </a:solidFill>
                  </a:tcPr>
                </a:tc>
              </a:tr>
              <a:tr h="502920">
                <a:tc>
                  <a:txBody>
                    <a:bodyPr/>
                    <a:lstStyle/>
                    <a:p>
                      <a:pPr algn="l"/>
                      <a:r>
                        <a:rPr sz="1200" b="0" i="0">
                          <a:solidFill>
                            <a:srgbClr val="2B2B2B"/>
                          </a:solidFill>
                          <a:latin typeface="Calibri"/>
                        </a:rPr>
                        <a:t>Hallazgo principal</a:t>
                      </a:r>
                    </a:p>
                  </a:txBody>
                  <a:tcPr anchor="ctr" marL="109728" marR="91440" marT="36576" marB="36576">
                    <a:solidFill>
                      <a:srgbClr val="F2F2F2"/>
                    </a:solidFill>
                  </a:tcPr>
                </a:tc>
                <a:tc>
                  <a:txBody>
                    <a:bodyPr/>
                    <a:lstStyle/>
                    <a:p>
                      <a:pPr algn="l"/>
                      <a:r>
                        <a:rPr sz="1200" b="0" i="0">
                          <a:solidFill>
                            <a:srgbClr val="2B2B2B"/>
                          </a:solidFill>
                          <a:latin typeface="Calibri"/>
                        </a:rPr>
                        <a:t>¿Qué encontraron?</a:t>
                      </a:r>
                    </a:p>
                  </a:txBody>
                  <a:tcPr anchor="ctr" marL="109728" marR="91440" marT="36576" marB="36576">
                    <a:solidFill>
                      <a:srgbClr val="F2F2F2"/>
                    </a:solidFill>
                  </a:tcPr>
                </a:tc>
                <a:tc>
                  <a:txBody>
                    <a:bodyPr/>
                    <a:lstStyle/>
                    <a:p>
                      <a:pPr algn="l"/>
                      <a:r>
                        <a:rPr sz="1200" b="0" i="0">
                          <a:solidFill>
                            <a:srgbClr val="2B2B2B"/>
                          </a:solidFill>
                          <a:latin typeface="Calibri"/>
                        </a:rPr>
                        <a:t>Dos líneas; incluya el dato si lo hay</a:t>
                      </a:r>
                    </a:p>
                  </a:txBody>
                  <a:tcPr anchor="ctr" marL="109728" marR="91440" marT="36576" marB="36576">
                    <a:solidFill>
                      <a:srgbClr val="F2F2F2"/>
                    </a:solidFill>
                  </a:tcPr>
                </a:tc>
              </a:tr>
              <a:tr h="502920">
                <a:tc>
                  <a:txBody>
                    <a:bodyPr/>
                    <a:lstStyle/>
                    <a:p>
                      <a:pPr algn="l"/>
                      <a:r>
                        <a:rPr sz="1200" b="1" i="0">
                          <a:solidFill>
                            <a:srgbClr val="2B2B2B"/>
                          </a:solidFill>
                          <a:latin typeface="Calibri"/>
                        </a:rPr>
                        <a:t>Aporte a mi proyecto</a:t>
                      </a:r>
                    </a:p>
                  </a:txBody>
                  <a:tcPr anchor="ctr" marL="109728" marR="91440" marT="36576" marB="36576">
                    <a:solidFill>
                      <a:srgbClr val="FFFFFF"/>
                    </a:solidFill>
                  </a:tcPr>
                </a:tc>
                <a:tc>
                  <a:txBody>
                    <a:bodyPr/>
                    <a:lstStyle/>
                    <a:p>
                      <a:pPr algn="l"/>
                      <a:r>
                        <a:rPr sz="1200" b="1" i="0">
                          <a:solidFill>
                            <a:srgbClr val="2B2B2B"/>
                          </a:solidFill>
                          <a:latin typeface="Calibri"/>
                        </a:rPr>
                        <a:t>¿Para qué me sirve a mí?</a:t>
                      </a:r>
                    </a:p>
                  </a:txBody>
                  <a:tcPr anchor="ctr" marL="109728" marR="91440" marT="36576" marB="36576">
                    <a:solidFill>
                      <a:srgbClr val="FFFFFF"/>
                    </a:solidFill>
                  </a:tcPr>
                </a:tc>
                <a:tc>
                  <a:txBody>
                    <a:bodyPr/>
                    <a:lstStyle/>
                    <a:p>
                      <a:pPr algn="l"/>
                      <a:r>
                        <a:rPr sz="1200" b="0" i="0">
                          <a:solidFill>
                            <a:srgbClr val="2B2B2B"/>
                          </a:solidFill>
                          <a:latin typeface="Calibri"/>
                        </a:rPr>
                        <a:t>Una línea, obligatoria</a:t>
                      </a:r>
                    </a:p>
                  </a:txBody>
                  <a:tcPr anchor="ctr" marL="109728" marR="91440" marT="36576" marB="36576">
                    <a:solidFill>
                      <a:srgbClr val="FFFFFF"/>
                    </a:solidFill>
                  </a:tcPr>
                </a:tc>
              </a:tr>
            </a:tbl>
          </a:graphicData>
        </a:graphic>
      </p:graphicFrame>
      <p:sp>
        <p:nvSpPr>
          <p:cNvPr id="5" name="TextBox 4"/>
          <p:cNvSpPr txBox="1"/>
          <p:nvPr/>
        </p:nvSpPr>
        <p:spPr>
          <a:xfrm>
            <a:off x="640080" y="4846320"/>
            <a:ext cx="10911535" cy="548640"/>
          </a:xfrm>
          <a:prstGeom prst="rect">
            <a:avLst/>
          </a:prstGeom>
          <a:noFill/>
        </p:spPr>
        <p:txBody>
          <a:bodyPr wrap="square" anchor="t" lIns="0" rIns="0" tIns="0" bIns="0">
            <a:spAutoFit/>
          </a:bodyPr>
          <a:lstStyle/>
          <a:p>
            <a:r>
              <a:rPr sz="1200" b="0" i="1">
                <a:solidFill>
                  <a:srgbClr val="2B2B2B"/>
                </a:solidFill>
                <a:latin typeface="Calibri"/>
              </a:rPr>
              <a:t>Sin la última línea la ficha es decorativa: se convierte en una lista de lecturas, no en un argumento. Empiécela siempre con "Me aporta…".</a:t>
            </a:r>
          </a:p>
        </p:txBody>
      </p:sp>
      <p:sp>
        <p:nvSpPr>
          <p:cNvPr id="6" name="TextBox 5"/>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Nacional e internacional: por qué la mezcla es obligatoria</a:t>
            </a:r>
          </a:p>
        </p:txBody>
      </p:sp>
      <p:sp>
        <p:nvSpPr>
          <p:cNvPr id="4" name="TextBox 3"/>
          <p:cNvSpPr txBox="1"/>
          <p:nvPr/>
        </p:nvSpPr>
        <p:spPr>
          <a:xfrm>
            <a:off x="640080" y="1691639"/>
            <a:ext cx="10911535" cy="4617720"/>
          </a:xfrm>
          <a:prstGeom prst="rect">
            <a:avLst/>
          </a:prstGeom>
          <a:noFill/>
        </p:spPr>
        <p:txBody>
          <a:bodyPr wrap="square" anchor="t" lIns="0" rIns="0" tIns="0" bIns="0">
            <a:spAutoFit/>
          </a:bodyPr>
          <a:lstStyle/>
          <a:p>
            <a:pPr>
              <a:spcAft>
                <a:spcPts val="1000"/>
              </a:spcAft>
            </a:pPr>
            <a:r>
              <a:rPr sz="1600" b="0" i="0">
                <a:solidFill>
                  <a:srgbClr val="2B2B2B"/>
                </a:solidFill>
                <a:latin typeface="Calibri"/>
              </a:rPr>
              <a:t>–   </a:t>
            </a:r>
            <a:r>
              <a:rPr sz="1600" b="1" i="0">
                <a:solidFill>
                  <a:srgbClr val="2B2B2B"/>
                </a:solidFill>
                <a:latin typeface="Calibri"/>
              </a:rPr>
              <a:t>Fuente nacional o local</a:t>
            </a:r>
            <a:r>
              <a:rPr sz="1600" b="0" i="0">
                <a:solidFill>
                  <a:srgbClr val="2B2B2B"/>
                </a:solidFill>
                <a:latin typeface="Calibri"/>
              </a:rPr>
              <a:t> → demuestra </a:t>
            </a:r>
            <a:r>
              <a:rPr sz="1600" b="1" i="0">
                <a:solidFill>
                  <a:srgbClr val="2B2B2B"/>
                </a:solidFill>
                <a:latin typeface="Calibri"/>
              </a:rPr>
              <a:t>pertinencia</a:t>
            </a:r>
            <a:r>
              <a:rPr sz="1600" b="0" i="0">
                <a:solidFill>
                  <a:srgbClr val="2B2B2B"/>
                </a:solidFill>
                <a:latin typeface="Calibri"/>
              </a:rPr>
              <a:t>: que el problema también ocurre en el contexto colombiano.</a:t>
            </a:r>
          </a:p>
          <a:p>
            <a:pPr lvl="1">
              <a:spcAft>
                <a:spcPts val="600"/>
              </a:spcAft>
            </a:pPr>
            <a:r>
              <a:rPr sz="1500" b="0" i="0">
                <a:solidFill>
                  <a:srgbClr val="2B2B2B"/>
                </a:solidFill>
                <a:latin typeface="Calibri"/>
              </a:rPr>
              <a:t>●   Sin ella, el lector pregunta "¿y eso aplica aquí?" y el proyecto pierde justificación.</a:t>
            </a:r>
          </a:p>
          <a:p>
            <a:pPr>
              <a:spcAft>
                <a:spcPts val="1000"/>
              </a:spcAft>
            </a:pPr>
            <a:r>
              <a:rPr sz="1600" b="0" i="0">
                <a:solidFill>
                  <a:srgbClr val="2B2B2B"/>
                </a:solidFill>
                <a:latin typeface="Calibri"/>
              </a:rPr>
              <a:t>–   </a:t>
            </a:r>
            <a:r>
              <a:rPr sz="1600" b="1" i="0">
                <a:solidFill>
                  <a:srgbClr val="2B2B2B"/>
                </a:solidFill>
                <a:latin typeface="Calibri"/>
              </a:rPr>
              <a:t>Fuente internacional</a:t>
            </a:r>
            <a:r>
              <a:rPr sz="1600" b="0" i="0">
                <a:solidFill>
                  <a:srgbClr val="2B2B2B"/>
                </a:solidFill>
                <a:latin typeface="Calibri"/>
              </a:rPr>
              <a:t> → trae el </a:t>
            </a:r>
            <a:r>
              <a:rPr sz="1600" b="1" i="0">
                <a:solidFill>
                  <a:srgbClr val="2B2B2B"/>
                </a:solidFill>
                <a:latin typeface="Calibri"/>
              </a:rPr>
              <a:t>estado del arte</a:t>
            </a:r>
            <a:r>
              <a:rPr sz="1600" b="0" i="0">
                <a:solidFill>
                  <a:srgbClr val="2B2B2B"/>
                </a:solidFill>
                <a:latin typeface="Calibri"/>
              </a:rPr>
              <a:t>: los métodos y resultados más recientes del área.</a:t>
            </a:r>
          </a:p>
          <a:p>
            <a:pPr lvl="1">
              <a:spcAft>
                <a:spcPts val="600"/>
              </a:spcAft>
            </a:pPr>
            <a:r>
              <a:rPr sz="1500" b="0" i="0">
                <a:solidFill>
                  <a:srgbClr val="2B2B2B"/>
                </a:solidFill>
                <a:latin typeface="Calibri"/>
              </a:rPr>
              <a:t>●   Sin ella, el proyecto parece atrasado frente a lo que ya se hace en el mundo.</a:t>
            </a:r>
          </a:p>
          <a:p>
            <a:pPr>
              <a:spcAft>
                <a:spcPts val="1000"/>
              </a:spcAft>
            </a:pPr>
            <a:r>
              <a:rPr sz="1600" b="0" i="0">
                <a:solidFill>
                  <a:srgbClr val="2B2B2B"/>
                </a:solidFill>
                <a:latin typeface="Calibri"/>
              </a:rPr>
              <a:t>–   Buscar solo en español limita el volumen disponible; buscar solo en inglés desconecta del contexto local.</a:t>
            </a:r>
          </a:p>
          <a:p>
            <a:pPr>
              <a:spcAft>
                <a:spcPts val="1000"/>
              </a:spcAft>
            </a:pPr>
            <a:r>
              <a:rPr sz="1600" b="0" i="0">
                <a:solidFill>
                  <a:srgbClr val="2B2B2B"/>
                </a:solidFill>
                <a:latin typeface="Calibri"/>
              </a:rPr>
              <a:t>–   Dónde buscar, todo gratis y desde el navegador:</a:t>
            </a:r>
          </a:p>
          <a:p>
            <a:pPr lvl="1">
              <a:spcAft>
                <a:spcPts val="600"/>
              </a:spcAft>
            </a:pPr>
            <a:r>
              <a:rPr sz="1500" b="0" i="0">
                <a:solidFill>
                  <a:srgbClr val="2B2B2B"/>
                </a:solidFill>
                <a:latin typeface="Calibri"/>
              </a:rPr>
              <a:t>●   </a:t>
            </a:r>
            <a:r>
              <a:rPr sz="1500" b="1" i="0">
                <a:solidFill>
                  <a:srgbClr val="2B2B2B"/>
                </a:solidFill>
                <a:latin typeface="Calibri"/>
              </a:rPr>
              <a:t>Google Académico</a:t>
            </a:r>
            <a:r>
              <a:rPr sz="1500" b="0" i="0">
                <a:solidFill>
                  <a:srgbClr val="2B2B2B"/>
                </a:solidFill>
                <a:latin typeface="Calibri"/>
              </a:rPr>
              <a:t> (scholar.google.com) — el barrido más amplio, ideal para arrancar.</a:t>
            </a:r>
          </a:p>
          <a:p>
            <a:pPr lvl="1">
              <a:spcAft>
                <a:spcPts val="600"/>
              </a:spcAft>
            </a:pPr>
            <a:r>
              <a:rPr sz="1500" b="0" i="0">
                <a:solidFill>
                  <a:srgbClr val="2B2B2B"/>
                </a:solidFill>
                <a:latin typeface="Calibri"/>
              </a:rPr>
              <a:t>●   </a:t>
            </a:r>
            <a:r>
              <a:rPr sz="1500" b="1" i="0">
                <a:solidFill>
                  <a:srgbClr val="2B2B2B"/>
                </a:solidFill>
                <a:latin typeface="Calibri"/>
              </a:rPr>
              <a:t>SciELO</a:t>
            </a:r>
            <a:r>
              <a:rPr sz="1500" b="0" i="0">
                <a:solidFill>
                  <a:srgbClr val="2B2B2B"/>
                </a:solidFill>
                <a:latin typeface="Calibri"/>
              </a:rPr>
              <a:t> y </a:t>
            </a:r>
            <a:r>
              <a:rPr sz="1500" b="1" i="0">
                <a:solidFill>
                  <a:srgbClr val="2B2B2B"/>
                </a:solidFill>
                <a:latin typeface="Calibri"/>
              </a:rPr>
              <a:t>Redalyc</a:t>
            </a:r>
            <a:r>
              <a:rPr sz="1500" b="0" i="0">
                <a:solidFill>
                  <a:srgbClr val="2B2B2B"/>
                </a:solidFill>
                <a:latin typeface="Calibri"/>
              </a:rPr>
              <a:t> — producción académica iberoamericana y colombiana, en español.</a:t>
            </a:r>
          </a:p>
          <a:p>
            <a:pPr lvl="1">
              <a:spcAft>
                <a:spcPts val="600"/>
              </a:spcAft>
            </a:pPr>
            <a:r>
              <a:rPr sz="1500" b="0" i="0">
                <a:solidFill>
                  <a:srgbClr val="2B2B2B"/>
                </a:solidFill>
                <a:latin typeface="Calibri"/>
              </a:rPr>
              <a:t>●   </a:t>
            </a:r>
            <a:r>
              <a:rPr sz="1500" b="1" i="0">
                <a:solidFill>
                  <a:srgbClr val="2B2B2B"/>
                </a:solidFill>
                <a:latin typeface="Calibri"/>
              </a:rPr>
              <a:t>Bases de datos de la biblioteca CUN</a:t>
            </a:r>
            <a:r>
              <a:rPr sz="1500" b="0" i="0">
                <a:solidFill>
                  <a:srgbClr val="2B2B2B"/>
                </a:solidFill>
                <a:latin typeface="Calibri"/>
              </a:rPr>
              <a:t> — con su usuario institucional, acceso a texto completo.</a:t>
            </a:r>
          </a:p>
        </p:txBody>
      </p:sp>
      <p:sp>
        <p:nvSpPr>
          <p:cNvPr id="5" name="TextBox 4"/>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6</a:t>
            </a:r>
          </a:p>
        </p:txBody>
      </p:sp>
      <p:sp>
        <p:nvSpPr>
          <p:cNvPr id="6" name="TextBox 5"/>
          <p:cNvSpPr txBox="1"/>
          <p:nvPr/>
        </p:nvSpPr>
        <p:spPr>
          <a:xfrm>
            <a:off x="640080" y="5943600"/>
            <a:ext cx="9997135" cy="457200"/>
          </a:xfrm>
          <a:prstGeom prst="rect">
            <a:avLst/>
          </a:prstGeom>
          <a:noFill/>
        </p:spPr>
        <p:txBody>
          <a:bodyPr wrap="square" anchor="t" lIns="0" rIns="0" tIns="0" bIns="0">
            <a:spAutoFit/>
          </a:bodyPr>
          <a:lstStyle/>
          <a:p>
            <a:r>
              <a:rPr sz="1200" b="0" i="1">
                <a:solidFill>
                  <a:srgbClr val="2B2B2B"/>
                </a:solidFill>
                <a:latin typeface="Calibri"/>
              </a:rPr>
              <a:t>Mínimo del entregable: al menos una fuente nacional o local y al menos una internacional.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Cómo se busca de verdad: consultas que sí traen resultados</a:t>
            </a:r>
          </a:p>
        </p:txBody>
      </p:sp>
      <p:sp>
        <p:nvSpPr>
          <p:cNvPr id="4" name="TextBox 3"/>
          <p:cNvSpPr txBox="1"/>
          <p:nvPr/>
        </p:nvSpPr>
        <p:spPr>
          <a:xfrm>
            <a:off x="640080" y="1691639"/>
            <a:ext cx="10911535" cy="4617720"/>
          </a:xfrm>
          <a:prstGeom prst="rect">
            <a:avLst/>
          </a:prstGeom>
          <a:noFill/>
        </p:spPr>
        <p:txBody>
          <a:bodyPr wrap="square" anchor="t" lIns="0" rIns="0" tIns="0" bIns="0">
            <a:spAutoFit/>
          </a:bodyPr>
          <a:lstStyle/>
          <a:p>
            <a:pPr>
              <a:spcAft>
                <a:spcPts val="1000"/>
              </a:spcAft>
            </a:pPr>
            <a:r>
              <a:rPr sz="1600" b="0" i="0">
                <a:solidFill>
                  <a:srgbClr val="2B2B2B"/>
                </a:solidFill>
                <a:latin typeface="Calibri"/>
              </a:rPr>
              <a:t>–   </a:t>
            </a:r>
            <a:r>
              <a:rPr sz="1600" b="1" i="0">
                <a:solidFill>
                  <a:srgbClr val="2B2B2B"/>
                </a:solidFill>
                <a:latin typeface="Calibri"/>
              </a:rPr>
              <a:t>Extraiga 3 a 5 palabras clave de su pregunta.</a:t>
            </a:r>
            <a:r>
              <a:rPr sz="1600" b="0" i="0">
                <a:solidFill>
                  <a:srgbClr val="2B2B2B"/>
                </a:solidFill>
                <a:latin typeface="Calibri"/>
              </a:rPr>
              <a:t> No busque la pregunta completa: los buscadores académicos no la entienden.</a:t>
            </a:r>
          </a:p>
          <a:p>
            <a:pPr lvl="1">
              <a:spcAft>
                <a:spcPts val="600"/>
              </a:spcAft>
            </a:pPr>
            <a:r>
              <a:rPr sz="1500" b="0" i="0">
                <a:solidFill>
                  <a:srgbClr val="2B2B2B"/>
                </a:solidFill>
                <a:latin typeface="Calibri"/>
              </a:rPr>
              <a:t>●   De "¿en qué medida un clasificador supervisado reduce el tiempo de clasificación de tickets?" salen: clasificación · tickets · soporte · aprendizaje supervisado.</a:t>
            </a:r>
          </a:p>
          <a:p>
            <a:pPr>
              <a:spcAft>
                <a:spcPts val="1000"/>
              </a:spcAft>
            </a:pPr>
            <a:r>
              <a:rPr sz="1600" b="0" i="0">
                <a:solidFill>
                  <a:srgbClr val="2B2B2B"/>
                </a:solidFill>
                <a:latin typeface="Calibri"/>
              </a:rPr>
              <a:t>–   </a:t>
            </a:r>
            <a:r>
              <a:rPr sz="1600" b="1" i="0">
                <a:solidFill>
                  <a:srgbClr val="2B2B2B"/>
                </a:solidFill>
                <a:latin typeface="Calibri"/>
              </a:rPr>
              <a:t>Comillas</a:t>
            </a:r>
            <a:r>
              <a:rPr sz="1600" b="0" i="0">
                <a:solidFill>
                  <a:srgbClr val="2B2B2B"/>
                </a:solidFill>
                <a:latin typeface="Calibri"/>
              </a:rPr>
              <a:t> para frase exacta: "clasificación de tickets" trae menos resultados y mucho mejores.</a:t>
            </a:r>
          </a:p>
          <a:p>
            <a:pPr>
              <a:spcAft>
                <a:spcPts val="1000"/>
              </a:spcAft>
            </a:pPr>
            <a:r>
              <a:rPr sz="1600" b="0" i="0">
                <a:solidFill>
                  <a:srgbClr val="2B2B2B"/>
                </a:solidFill>
                <a:latin typeface="Calibri"/>
              </a:rPr>
              <a:t>–   </a:t>
            </a:r>
            <a:r>
              <a:rPr sz="1600" b="1" i="0">
                <a:solidFill>
                  <a:srgbClr val="2B2B2B"/>
                </a:solidFill>
                <a:latin typeface="Calibri"/>
              </a:rPr>
              <a:t>Filtro de años</a:t>
            </a:r>
            <a:r>
              <a:rPr sz="1600" b="0" i="0">
                <a:solidFill>
                  <a:srgbClr val="2B2B2B"/>
                </a:solidFill>
                <a:latin typeface="Calibri"/>
              </a:rPr>
              <a:t> en el panel izquierdo de Google Académico: desde hace cinco años.</a:t>
            </a:r>
          </a:p>
          <a:p>
            <a:pPr>
              <a:spcAft>
                <a:spcPts val="1000"/>
              </a:spcAft>
            </a:pPr>
            <a:r>
              <a:rPr sz="1600" b="0" i="0">
                <a:solidFill>
                  <a:srgbClr val="2B2B2B"/>
                </a:solidFill>
                <a:latin typeface="Calibri"/>
              </a:rPr>
              <a:t>–   </a:t>
            </a:r>
            <a:r>
              <a:rPr sz="1600" b="1" i="0">
                <a:solidFill>
                  <a:srgbClr val="2B2B2B"/>
                </a:solidFill>
                <a:latin typeface="Calibri"/>
              </a:rPr>
              <a:t>Traduzca los términos al inglés</a:t>
            </a:r>
            <a:r>
              <a:rPr sz="1600" b="0" i="0">
                <a:solidFill>
                  <a:srgbClr val="2B2B2B"/>
                </a:solidFill>
                <a:latin typeface="Calibri"/>
              </a:rPr>
              <a:t> y repita la búsqueda: ticket classification, help desk, supervised learning.</a:t>
            </a:r>
          </a:p>
          <a:p>
            <a:pPr lvl="1">
              <a:spcAft>
                <a:spcPts val="600"/>
              </a:spcAft>
            </a:pPr>
            <a:r>
              <a:rPr sz="1500" b="0" i="0">
                <a:solidFill>
                  <a:srgbClr val="2B2B2B"/>
                </a:solidFill>
                <a:latin typeface="Calibri"/>
              </a:rPr>
              <a:t>●   Casi siempre hay tres veces más literatura en inglés sobre el mismo problema.</a:t>
            </a:r>
          </a:p>
          <a:p>
            <a:pPr>
              <a:spcAft>
                <a:spcPts val="1000"/>
              </a:spcAft>
            </a:pPr>
            <a:r>
              <a:rPr sz="1600" b="0" i="0">
                <a:solidFill>
                  <a:srgbClr val="2B2B2B"/>
                </a:solidFill>
                <a:latin typeface="Calibri"/>
              </a:rPr>
              <a:t>–   Si la búsqueda trae </a:t>
            </a:r>
            <a:r>
              <a:rPr sz="1600" b="1" i="0">
                <a:solidFill>
                  <a:srgbClr val="2B2B2B"/>
                </a:solidFill>
                <a:latin typeface="Calibri"/>
              </a:rPr>
              <a:t>miles</a:t>
            </a:r>
            <a:r>
              <a:rPr sz="1600" b="0" i="0">
                <a:solidFill>
                  <a:srgbClr val="2B2B2B"/>
                </a:solidFill>
                <a:latin typeface="Calibri"/>
              </a:rPr>
              <a:t> de resultados, está muy amplia: agregue el contexto (sector, tipo de organización).</a:t>
            </a:r>
          </a:p>
          <a:p>
            <a:pPr>
              <a:spcAft>
                <a:spcPts val="1000"/>
              </a:spcAft>
            </a:pPr>
            <a:r>
              <a:rPr sz="1600" b="0" i="0">
                <a:solidFill>
                  <a:srgbClr val="2B2B2B"/>
                </a:solidFill>
                <a:latin typeface="Calibri"/>
              </a:rPr>
              <a:t>–   Si trae </a:t>
            </a:r>
            <a:r>
              <a:rPr sz="1600" b="1" i="0">
                <a:solidFill>
                  <a:srgbClr val="2B2B2B"/>
                </a:solidFill>
                <a:latin typeface="Calibri"/>
              </a:rPr>
              <a:t>cero</a:t>
            </a:r>
            <a:r>
              <a:rPr sz="1600" b="0" i="0">
                <a:solidFill>
                  <a:srgbClr val="2B2B2B"/>
                </a:solidFill>
                <a:latin typeface="Calibri"/>
              </a:rPr>
              <a:t>, está muy estrecha: quite la palabra más específica y vuelva a intentar.</a:t>
            </a:r>
          </a:p>
        </p:txBody>
      </p:sp>
      <p:sp>
        <p:nvSpPr>
          <p:cNvPr id="5" name="TextBox 4"/>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Lectura estratégica: no se lee el artículo completo</a:t>
            </a:r>
          </a:p>
        </p:txBody>
      </p:sp>
      <p:sp>
        <p:nvSpPr>
          <p:cNvPr id="4" name="TextBox 3"/>
          <p:cNvSpPr txBox="1"/>
          <p:nvPr/>
        </p:nvSpPr>
        <p:spPr>
          <a:xfrm>
            <a:off x="640080" y="1691639"/>
            <a:ext cx="10911535" cy="4617720"/>
          </a:xfrm>
          <a:prstGeom prst="rect">
            <a:avLst/>
          </a:prstGeom>
          <a:noFill/>
        </p:spPr>
        <p:txBody>
          <a:bodyPr wrap="square" anchor="t" lIns="0" rIns="0" tIns="0" bIns="0">
            <a:spAutoFit/>
          </a:bodyPr>
          <a:lstStyle/>
          <a:p>
            <a:pPr>
              <a:spcAft>
                <a:spcPts val="1000"/>
              </a:spcAft>
            </a:pPr>
            <a:r>
              <a:rPr sz="1600" b="0" i="0">
                <a:solidFill>
                  <a:srgbClr val="2B2B2B"/>
                </a:solidFill>
                <a:latin typeface="Calibri"/>
              </a:rPr>
              <a:t>–   </a:t>
            </a:r>
            <a:r>
              <a:rPr sz="1600" b="1" i="0">
                <a:solidFill>
                  <a:srgbClr val="2B2B2B"/>
                </a:solidFill>
                <a:latin typeface="Calibri"/>
              </a:rPr>
              <a:t>Paso 1 — resumen (abstract):</a:t>
            </a:r>
            <a:r>
              <a:rPr sz="1600" b="0" i="0">
                <a:solidFill>
                  <a:srgbClr val="2B2B2B"/>
                </a:solidFill>
                <a:latin typeface="Calibri"/>
              </a:rPr>
              <a:t> en 30 segundos decide si el artículo se parece a su problema. Si no, se descarta sin culpa.</a:t>
            </a:r>
          </a:p>
          <a:p>
            <a:pPr>
              <a:spcAft>
                <a:spcPts val="1000"/>
              </a:spcAft>
            </a:pPr>
            <a:r>
              <a:rPr sz="1600" b="0" i="0">
                <a:solidFill>
                  <a:srgbClr val="2B2B2B"/>
                </a:solidFill>
                <a:latin typeface="Calibri"/>
              </a:rPr>
              <a:t>–   </a:t>
            </a:r>
            <a:r>
              <a:rPr sz="1600" b="1" i="0">
                <a:solidFill>
                  <a:srgbClr val="2B2B2B"/>
                </a:solidFill>
                <a:latin typeface="Calibri"/>
              </a:rPr>
              <a:t>Paso 2 — conclusiones:</a:t>
            </a:r>
            <a:r>
              <a:rPr sz="1600" b="0" i="0">
                <a:solidFill>
                  <a:srgbClr val="2B2B2B"/>
                </a:solidFill>
                <a:latin typeface="Calibri"/>
              </a:rPr>
              <a:t> ahí está el hallazgo principal, escrito por los propios autores.</a:t>
            </a:r>
          </a:p>
          <a:p>
            <a:pPr>
              <a:spcAft>
                <a:spcPts val="1000"/>
              </a:spcAft>
            </a:pPr>
            <a:r>
              <a:rPr sz="1600" b="0" i="0">
                <a:solidFill>
                  <a:srgbClr val="2B2B2B"/>
                </a:solidFill>
                <a:latin typeface="Calibri"/>
              </a:rPr>
              <a:t>–   </a:t>
            </a:r>
            <a:r>
              <a:rPr sz="1600" b="1" i="0">
                <a:solidFill>
                  <a:srgbClr val="2B2B2B"/>
                </a:solidFill>
                <a:latin typeface="Calibri"/>
              </a:rPr>
              <a:t>Paso 3 — método:</a:t>
            </a:r>
            <a:r>
              <a:rPr sz="1600" b="0" i="0">
                <a:solidFill>
                  <a:srgbClr val="2B2B2B"/>
                </a:solidFill>
                <a:latin typeface="Calibri"/>
              </a:rPr>
              <a:t> solo si el artículo sobrevivió a los pasos 1 y 2. Ahí saca enfoque, muestra y técnica.</a:t>
            </a:r>
          </a:p>
          <a:p>
            <a:pPr>
              <a:spcAft>
                <a:spcPts val="1000"/>
              </a:spcAft>
            </a:pPr>
            <a:r>
              <a:rPr sz="1600" b="0" i="0">
                <a:solidFill>
                  <a:srgbClr val="2B2B2B"/>
                </a:solidFill>
                <a:latin typeface="Calibri"/>
              </a:rPr>
              <a:t>–   </a:t>
            </a:r>
            <a:r>
              <a:rPr sz="1600" b="1" i="0">
                <a:solidFill>
                  <a:srgbClr val="2B2B2B"/>
                </a:solidFill>
                <a:latin typeface="Calibri"/>
              </a:rPr>
              <a:t>Paso 4 — referencias del artículo:</a:t>
            </a:r>
            <a:r>
              <a:rPr sz="1600" b="0" i="0">
                <a:solidFill>
                  <a:srgbClr val="2B2B2B"/>
                </a:solidFill>
                <a:latin typeface="Calibri"/>
              </a:rPr>
              <a:t> la mina de oro. Los autores ya hicieron la búsqueda por usted.</a:t>
            </a:r>
          </a:p>
          <a:p>
            <a:pPr lvl="1">
              <a:spcAft>
                <a:spcPts val="600"/>
              </a:spcAft>
            </a:pPr>
            <a:r>
              <a:rPr sz="1500" b="0" i="0">
                <a:solidFill>
                  <a:srgbClr val="2B2B2B"/>
                </a:solidFill>
                <a:latin typeface="Calibri"/>
              </a:rPr>
              <a:t>●   Esta técnica se llama </a:t>
            </a:r>
            <a:r>
              <a:rPr sz="1500" b="1" i="0">
                <a:solidFill>
                  <a:srgbClr val="2B2B2B"/>
                </a:solidFill>
                <a:latin typeface="Calibri"/>
              </a:rPr>
              <a:t>bola de nieve</a:t>
            </a:r>
            <a:r>
              <a:rPr sz="1500" b="0" i="0">
                <a:solidFill>
                  <a:srgbClr val="2B2B2B"/>
                </a:solidFill>
                <a:latin typeface="Calibri"/>
              </a:rPr>
              <a:t>: de un buen artículo salen tres más.</a:t>
            </a:r>
          </a:p>
          <a:p>
            <a:pPr>
              <a:spcAft>
                <a:spcPts val="1000"/>
              </a:spcAft>
            </a:pPr>
            <a:r>
              <a:rPr sz="1600" b="0" i="0">
                <a:solidFill>
                  <a:srgbClr val="2B2B2B"/>
                </a:solidFill>
                <a:latin typeface="Calibri"/>
              </a:rPr>
              <a:t>–   Criterio de descarte sin remordimiento: si no puede escribir la línea "me aporta…", el artículo no entra a su documento.</a:t>
            </a:r>
          </a:p>
          <a:p>
            <a:pPr>
              <a:spcAft>
                <a:spcPts val="1000"/>
              </a:spcAft>
            </a:pPr>
            <a:r>
              <a:rPr sz="1600" b="0" i="0">
                <a:solidFill>
                  <a:srgbClr val="2B2B2B"/>
                </a:solidFill>
                <a:latin typeface="Calibri"/>
              </a:rPr>
              <a:t>–   Anote de una vez la referencia mientras lo tiene abierto; buscarla otra vez después cuesta el triple.</a:t>
            </a:r>
          </a:p>
        </p:txBody>
      </p:sp>
      <p:sp>
        <p:nvSpPr>
          <p:cNvPr id="5" name="TextBox 4"/>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Ejemplo modelado: una ficha completa, escrita</a:t>
            </a:r>
          </a:p>
        </p:txBody>
      </p:sp>
      <p:sp>
        <p:nvSpPr>
          <p:cNvPr id="4" name="TextBox 3"/>
          <p:cNvSpPr txBox="1"/>
          <p:nvPr/>
        </p:nvSpPr>
        <p:spPr>
          <a:xfrm>
            <a:off x="640080" y="1691639"/>
            <a:ext cx="10911535" cy="4617720"/>
          </a:xfrm>
          <a:prstGeom prst="rect">
            <a:avLst/>
          </a:prstGeom>
          <a:noFill/>
        </p:spPr>
        <p:txBody>
          <a:bodyPr wrap="square" anchor="t" lIns="0" rIns="0" tIns="0" bIns="0">
            <a:spAutoFit/>
          </a:bodyPr>
          <a:lstStyle/>
          <a:p>
            <a:pPr>
              <a:spcAft>
                <a:spcPts val="1000"/>
              </a:spcAft>
            </a:pPr>
            <a:r>
              <a:rPr sz="1600" b="0" i="0">
                <a:solidFill>
                  <a:srgbClr val="2B2B2B"/>
                </a:solidFill>
                <a:latin typeface="Calibri"/>
              </a:rPr>
              <a:t>–   </a:t>
            </a:r>
            <a:r>
              <a:rPr sz="1600" b="1" i="0">
                <a:solidFill>
                  <a:srgbClr val="2B2B2B"/>
                </a:solidFill>
                <a:latin typeface="Calibri"/>
              </a:rPr>
              <a:t>Referencia (APA 7):</a:t>
            </a:r>
            <a:r>
              <a:rPr sz="1600" b="0" i="0">
                <a:solidFill>
                  <a:srgbClr val="2B2B2B"/>
                </a:solidFill>
                <a:latin typeface="Calibri"/>
              </a:rPr>
              <a:t> apellido del autor, inicial. (2022). Título del estudio sobre clasificación automática de solicitudes de soporte. Nombre de la revista, volumen(número), páginas.</a:t>
            </a:r>
          </a:p>
          <a:p>
            <a:pPr>
              <a:spcAft>
                <a:spcPts val="1000"/>
              </a:spcAft>
            </a:pPr>
            <a:r>
              <a:rPr sz="1600" b="0" i="0">
                <a:solidFill>
                  <a:srgbClr val="2B2B2B"/>
                </a:solidFill>
                <a:latin typeface="Calibri"/>
              </a:rPr>
              <a:t>–   </a:t>
            </a:r>
            <a:r>
              <a:rPr sz="1600" b="1" i="0">
                <a:solidFill>
                  <a:srgbClr val="2B2B2B"/>
                </a:solidFill>
                <a:latin typeface="Calibri"/>
              </a:rPr>
              <a:t>Objetivo del estudio:</a:t>
            </a:r>
            <a:r>
              <a:rPr sz="1600" b="0" i="0">
                <a:solidFill>
                  <a:srgbClr val="2B2B2B"/>
                </a:solidFill>
                <a:latin typeface="Calibri"/>
              </a:rPr>
              <a:t> determinar si un modelo de clasificación automática mejora la asignación de solicitudes en una mesa de ayuda universitaria.</a:t>
            </a:r>
          </a:p>
          <a:p>
            <a:pPr>
              <a:spcAft>
                <a:spcPts val="1000"/>
              </a:spcAft>
            </a:pPr>
            <a:r>
              <a:rPr sz="1600" b="0" i="0">
                <a:solidFill>
                  <a:srgbClr val="2B2B2B"/>
                </a:solidFill>
                <a:latin typeface="Calibri"/>
              </a:rPr>
              <a:t>–   </a:t>
            </a:r>
            <a:r>
              <a:rPr sz="1600" b="1" i="0">
                <a:solidFill>
                  <a:srgbClr val="2B2B2B"/>
                </a:solidFill>
                <a:latin typeface="Calibri"/>
              </a:rPr>
              <a:t>Método:</a:t>
            </a:r>
            <a:r>
              <a:rPr sz="1600" b="0" i="0">
                <a:solidFill>
                  <a:srgbClr val="2B2B2B"/>
                </a:solidFill>
                <a:latin typeface="Calibri"/>
              </a:rPr>
              <a:t> enfoque cuantitativo; se entrenó un clasificador con el histórico de solicitudes de dos años y se comparó su categoría con la asignada por los analistas.</a:t>
            </a:r>
          </a:p>
          <a:p>
            <a:pPr>
              <a:spcAft>
                <a:spcPts val="1000"/>
              </a:spcAft>
            </a:pPr>
            <a:r>
              <a:rPr sz="1600" b="0" i="0">
                <a:solidFill>
                  <a:srgbClr val="2B2B2B"/>
                </a:solidFill>
                <a:latin typeface="Calibri"/>
              </a:rPr>
              <a:t>–   </a:t>
            </a:r>
            <a:r>
              <a:rPr sz="1600" b="1" i="0">
                <a:solidFill>
                  <a:srgbClr val="2B2B2B"/>
                </a:solidFill>
                <a:latin typeface="Calibri"/>
              </a:rPr>
              <a:t>Hallazgo principal:</a:t>
            </a:r>
            <a:r>
              <a:rPr sz="1600" b="0" i="0">
                <a:solidFill>
                  <a:srgbClr val="2B2B2B"/>
                </a:solidFill>
                <a:latin typeface="Calibri"/>
              </a:rPr>
              <a:t> el modelo coincidió con el analista en la mayoría de las categorías frecuentes, y falló en las categorías con pocos registros.</a:t>
            </a:r>
          </a:p>
          <a:p>
            <a:pPr>
              <a:spcAft>
                <a:spcPts val="1000"/>
              </a:spcAft>
            </a:pPr>
            <a:r>
              <a:rPr sz="1600" b="0" i="0">
                <a:solidFill>
                  <a:srgbClr val="2B2B2B"/>
                </a:solidFill>
                <a:latin typeface="Calibri"/>
              </a:rPr>
              <a:t>–   </a:t>
            </a:r>
            <a:r>
              <a:rPr sz="1600" b="1" i="0">
                <a:solidFill>
                  <a:srgbClr val="2B2B2B"/>
                </a:solidFill>
                <a:latin typeface="Calibri"/>
              </a:rPr>
              <a:t>Me aporta:</a:t>
            </a:r>
            <a:r>
              <a:rPr sz="1600" b="0" i="0">
                <a:solidFill>
                  <a:srgbClr val="2B2B2B"/>
                </a:solidFill>
                <a:latin typeface="Calibri"/>
              </a:rPr>
              <a:t> el criterio de "coincidencia con el analista" como forma de medir el acierto, que puedo adaptar a mi caso; y la advertencia de que las categorías poco frecuentes necesitan tratamiento aparte.</a:t>
            </a:r>
          </a:p>
          <a:p>
            <a:pPr>
              <a:spcAft>
                <a:spcPts val="1000"/>
              </a:spcAft>
            </a:pPr>
            <a:r>
              <a:rPr sz="1600" b="0" i="0">
                <a:solidFill>
                  <a:srgbClr val="2B2B2B"/>
                </a:solidFill>
                <a:latin typeface="Calibri"/>
              </a:rPr>
              <a:t>–   Note que </a:t>
            </a:r>
            <a:r>
              <a:rPr sz="1600" b="1" i="0">
                <a:solidFill>
                  <a:srgbClr val="2B2B2B"/>
                </a:solidFill>
                <a:latin typeface="Calibri"/>
              </a:rPr>
              <a:t>nada</a:t>
            </a:r>
            <a:r>
              <a:rPr sz="1600" b="0" i="0">
                <a:solidFill>
                  <a:srgbClr val="2B2B2B"/>
                </a:solidFill>
                <a:latin typeface="Calibri"/>
              </a:rPr>
              <a:t> está copiado del resumen original: todo está reescrito con palabras propias.</a:t>
            </a:r>
          </a:p>
          <a:p>
            <a:pPr>
              <a:spcAft>
                <a:spcPts val="1000"/>
              </a:spcAft>
            </a:pPr>
            <a:r>
              <a:rPr sz="1600" b="0" i="0">
                <a:solidFill>
                  <a:srgbClr val="2B2B2B"/>
                </a:solidFill>
                <a:latin typeface="Calibri"/>
              </a:rPr>
              <a:t>–   Note también que el aporte es </a:t>
            </a:r>
            <a:r>
              <a:rPr sz="1600" b="1" i="0">
                <a:solidFill>
                  <a:srgbClr val="2B2B2B"/>
                </a:solidFill>
                <a:latin typeface="Calibri"/>
              </a:rPr>
              <a:t>específico</a:t>
            </a:r>
            <a:r>
              <a:rPr sz="1600" b="0" i="0">
                <a:solidFill>
                  <a:srgbClr val="2B2B2B"/>
                </a:solidFill>
                <a:latin typeface="Calibri"/>
              </a:rPr>
              <a:t>: no dice "me sirve de referencia", dice qué se lleva.</a:t>
            </a:r>
          </a:p>
        </p:txBody>
      </p:sp>
      <p:sp>
        <p:nvSpPr>
          <p:cNvPr id="5" name="TextBox 4"/>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9</a:t>
            </a:r>
          </a:p>
        </p:txBody>
      </p:sp>
      <p:sp>
        <p:nvSpPr>
          <p:cNvPr id="6" name="TextBox 5"/>
          <p:cNvSpPr txBox="1"/>
          <p:nvPr/>
        </p:nvSpPr>
        <p:spPr>
          <a:xfrm>
            <a:off x="640080" y="5943600"/>
            <a:ext cx="9997135" cy="457200"/>
          </a:xfrm>
          <a:prstGeom prst="rect">
            <a:avLst/>
          </a:prstGeom>
          <a:noFill/>
        </p:spPr>
        <p:txBody>
          <a:bodyPr wrap="square" anchor="t" lIns="0" rIns="0" tIns="0" bIns="0">
            <a:spAutoFit/>
          </a:bodyPr>
          <a:lstStyle/>
          <a:p>
            <a:r>
              <a:rPr sz="1200" b="0" i="1">
                <a:solidFill>
                  <a:srgbClr val="2B2B2B"/>
                </a:solidFill>
                <a:latin typeface="Calibri"/>
              </a:rPr>
              <a:t>Regla de honestidad: si una frase quedó igual a la del autor, va entre comillas y con el número de página.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El párrafo puente: lo que convierte la lista en argumento</a:t>
            </a:r>
          </a:p>
        </p:txBody>
      </p:sp>
      <p:sp>
        <p:nvSpPr>
          <p:cNvPr id="4" name="TextBox 3"/>
          <p:cNvSpPr txBox="1"/>
          <p:nvPr/>
        </p:nvSpPr>
        <p:spPr>
          <a:xfrm>
            <a:off x="640080" y="1691639"/>
            <a:ext cx="10911535" cy="4617720"/>
          </a:xfrm>
          <a:prstGeom prst="rect">
            <a:avLst/>
          </a:prstGeom>
          <a:noFill/>
        </p:spPr>
        <p:txBody>
          <a:bodyPr wrap="square" anchor="t" lIns="0" rIns="0" tIns="0" bIns="0">
            <a:spAutoFit/>
          </a:bodyPr>
          <a:lstStyle/>
          <a:p>
            <a:pPr>
              <a:spcAft>
                <a:spcPts val="1000"/>
              </a:spcAft>
            </a:pPr>
            <a:r>
              <a:rPr sz="1600" b="0" i="0">
                <a:solidFill>
                  <a:srgbClr val="2B2B2B"/>
                </a:solidFill>
                <a:latin typeface="Calibri"/>
              </a:rPr>
              <a:t>–   Cuatro fichas pegadas una tras otra son un catálogo. El </a:t>
            </a:r>
            <a:r>
              <a:rPr sz="1600" b="1" i="0">
                <a:solidFill>
                  <a:srgbClr val="2B2B2B"/>
                </a:solidFill>
                <a:latin typeface="Calibri"/>
              </a:rPr>
              <a:t>párrafo puente</a:t>
            </a:r>
            <a:r>
              <a:rPr sz="1600" b="0" i="0">
                <a:solidFill>
                  <a:srgbClr val="2B2B2B"/>
                </a:solidFill>
                <a:latin typeface="Calibri"/>
              </a:rPr>
              <a:t> las vuelve un razonamiento.</a:t>
            </a:r>
          </a:p>
          <a:p>
            <a:pPr>
              <a:spcAft>
                <a:spcPts val="1000"/>
              </a:spcAft>
            </a:pPr>
            <a:r>
              <a:rPr sz="1600" b="0" i="0">
                <a:solidFill>
                  <a:srgbClr val="2B2B2B"/>
                </a:solidFill>
                <a:latin typeface="Calibri"/>
              </a:rPr>
              <a:t>–   Fórmula de tres movimientos: </a:t>
            </a:r>
            <a:r>
              <a:rPr sz="1600" b="1" i="0">
                <a:solidFill>
                  <a:srgbClr val="2B2B2B"/>
                </a:solidFill>
                <a:latin typeface="Calibri"/>
              </a:rPr>
              <a:t>coinciden en… · difieren en… · ninguno abordó…</a:t>
            </a:r>
          </a:p>
          <a:p>
            <a:pPr>
              <a:spcAft>
                <a:spcPts val="1000"/>
              </a:spcAft>
            </a:pPr>
            <a:r>
              <a:rPr sz="1600" b="0" i="0">
                <a:solidFill>
                  <a:srgbClr val="2B2B2B"/>
                </a:solidFill>
                <a:latin typeface="Calibri"/>
              </a:rPr>
              <a:t>–   </a:t>
            </a:r>
            <a:r>
              <a:rPr sz="1600" b="1" i="0">
                <a:solidFill>
                  <a:srgbClr val="2B2B2B"/>
                </a:solidFill>
                <a:latin typeface="Calibri"/>
              </a:rPr>
              <a:t>Ejemplo literal:</a:t>
            </a:r>
            <a:r>
              <a:rPr sz="1600" b="0" i="0">
                <a:solidFill>
                  <a:srgbClr val="2B2B2B"/>
                </a:solidFill>
                <a:latin typeface="Calibri"/>
              </a:rPr>
              <a:t> "Los estudios revisados coinciden en que la clasificación automática reduce el tiempo de asignación en mesas de ayuda, y difieren en la técnica empleada y en el volumen de datos requerido. Sin embargo, ninguno se desarrolló en una mesa de ayuda de una empresa mediana colombiana, con categorías definidas localmente. Ese vacío es el que aborda el presente proyecto."</a:t>
            </a:r>
          </a:p>
          <a:p>
            <a:pPr>
              <a:spcAft>
                <a:spcPts val="1000"/>
              </a:spcAft>
            </a:pPr>
            <a:r>
              <a:rPr sz="1600" b="0" i="0">
                <a:solidFill>
                  <a:srgbClr val="2B2B2B"/>
                </a:solidFill>
                <a:latin typeface="Calibri"/>
              </a:rPr>
              <a:t>–   El tercer movimiento —el </a:t>
            </a:r>
            <a:r>
              <a:rPr sz="1600" b="1" i="0">
                <a:solidFill>
                  <a:srgbClr val="2B2B2B"/>
                </a:solidFill>
                <a:latin typeface="Calibri"/>
              </a:rPr>
              <a:t>vacío</a:t>
            </a:r>
            <a:r>
              <a:rPr sz="1600" b="0" i="0">
                <a:solidFill>
                  <a:srgbClr val="2B2B2B"/>
                </a:solidFill>
                <a:latin typeface="Calibri"/>
              </a:rPr>
              <a:t>— es la razón de ser de todo el bloque de antecedentes.</a:t>
            </a:r>
          </a:p>
          <a:p>
            <a:pPr lvl="1">
              <a:spcAft>
                <a:spcPts val="600"/>
              </a:spcAft>
            </a:pPr>
            <a:r>
              <a:rPr sz="1500" b="0" i="0">
                <a:solidFill>
                  <a:srgbClr val="2B2B2B"/>
                </a:solidFill>
                <a:latin typeface="Calibri"/>
              </a:rPr>
              <a:t>●   Es lo que justifica que su proyecto exista y no sea una repetición.</a:t>
            </a:r>
          </a:p>
          <a:p>
            <a:pPr>
              <a:spcAft>
                <a:spcPts val="1000"/>
              </a:spcAft>
            </a:pPr>
            <a:r>
              <a:rPr sz="1600" b="0" i="0">
                <a:solidFill>
                  <a:srgbClr val="2B2B2B"/>
                </a:solidFill>
                <a:latin typeface="Calibri"/>
              </a:rPr>
              <a:t>–   Vacíos válidos y frecuentes: </a:t>
            </a:r>
            <a:r>
              <a:rPr sz="1600" b="1" i="0">
                <a:solidFill>
                  <a:srgbClr val="2B2B2B"/>
                </a:solidFill>
                <a:latin typeface="Calibri"/>
              </a:rPr>
              <a:t>contexto</a:t>
            </a:r>
            <a:r>
              <a:rPr sz="1600" b="0" i="0">
                <a:solidFill>
                  <a:srgbClr val="2B2B2B"/>
                </a:solidFill>
                <a:latin typeface="Calibri"/>
              </a:rPr>
              <a:t> no estudiado, </a:t>
            </a:r>
            <a:r>
              <a:rPr sz="1600" b="1" i="0">
                <a:solidFill>
                  <a:srgbClr val="2B2B2B"/>
                </a:solidFill>
                <a:latin typeface="Calibri"/>
              </a:rPr>
              <a:t>población</a:t>
            </a:r>
            <a:r>
              <a:rPr sz="1600" b="0" i="0">
                <a:solidFill>
                  <a:srgbClr val="2B2B2B"/>
                </a:solidFill>
                <a:latin typeface="Calibri"/>
              </a:rPr>
              <a:t> distinta, </a:t>
            </a:r>
            <a:r>
              <a:rPr sz="1600" b="1" i="0">
                <a:solidFill>
                  <a:srgbClr val="2B2B2B"/>
                </a:solidFill>
                <a:latin typeface="Calibri"/>
              </a:rPr>
              <a:t>método</a:t>
            </a:r>
            <a:r>
              <a:rPr sz="1600" b="0" i="0">
                <a:solidFill>
                  <a:srgbClr val="2B2B2B"/>
                </a:solidFill>
                <a:latin typeface="Calibri"/>
              </a:rPr>
              <a:t> no aplicado antes, </a:t>
            </a:r>
            <a:r>
              <a:rPr sz="1600" b="1" i="0">
                <a:solidFill>
                  <a:srgbClr val="2B2B2B"/>
                </a:solidFill>
                <a:latin typeface="Calibri"/>
              </a:rPr>
              <a:t>actualización</a:t>
            </a:r>
            <a:r>
              <a:rPr sz="1600" b="0" i="0">
                <a:solidFill>
                  <a:srgbClr val="2B2B2B"/>
                </a:solidFill>
                <a:latin typeface="Calibri"/>
              </a:rPr>
              <a:t> de un estudio viejo.</a:t>
            </a:r>
          </a:p>
          <a:p>
            <a:pPr>
              <a:spcAft>
                <a:spcPts val="1000"/>
              </a:spcAft>
            </a:pPr>
            <a:r>
              <a:rPr sz="1600" b="0" i="0">
                <a:solidFill>
                  <a:srgbClr val="2B2B2B"/>
                </a:solidFill>
                <a:latin typeface="Calibri"/>
              </a:rPr>
              <a:t>–   El párrafo puente va </a:t>
            </a:r>
            <a:r>
              <a:rPr sz="1600" b="1" i="0">
                <a:solidFill>
                  <a:srgbClr val="2B2B2B"/>
                </a:solidFill>
                <a:latin typeface="Calibri"/>
              </a:rPr>
              <a:t>después</a:t>
            </a:r>
            <a:r>
              <a:rPr sz="1600" b="0" i="0">
                <a:solidFill>
                  <a:srgbClr val="2B2B2B"/>
                </a:solidFill>
                <a:latin typeface="Calibri"/>
              </a:rPr>
              <a:t> de las fichas y </a:t>
            </a:r>
            <a:r>
              <a:rPr sz="1600" b="1" i="0">
                <a:solidFill>
                  <a:srgbClr val="2B2B2B"/>
                </a:solidFill>
                <a:latin typeface="Calibri"/>
              </a:rPr>
              <a:t>antes</a:t>
            </a:r>
            <a:r>
              <a:rPr sz="1600" b="0" i="0">
                <a:solidFill>
                  <a:srgbClr val="2B2B2B"/>
                </a:solidFill>
                <a:latin typeface="Calibri"/>
              </a:rPr>
              <a:t> del marco teórico: es la bisagra entre ambos.</a:t>
            </a:r>
          </a:p>
        </p:txBody>
      </p:sp>
      <p:sp>
        <p:nvSpPr>
          <p:cNvPr id="5" name="TextBox 4"/>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Lo que más se corrige en esta sesión</a:t>
            </a:r>
          </a:p>
        </p:txBody>
      </p:sp>
      <p:sp>
        <p:nvSpPr>
          <p:cNvPr id="4" name="Rounded Rectangle 3"/>
          <p:cNvSpPr/>
          <p:nvPr/>
        </p:nvSpPr>
        <p:spPr>
          <a:xfrm>
            <a:off x="640080" y="1737360"/>
            <a:ext cx="10911535" cy="969264"/>
          </a:xfrm>
          <a:prstGeom prst="roundRect">
            <a:avLst/>
          </a:prstGeom>
          <a:solidFill>
            <a:srgbClr val="FB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47088"/>
            <a:ext cx="10454335" cy="749808"/>
          </a:xfrm>
          <a:prstGeom prst="rect">
            <a:avLst/>
          </a:prstGeom>
          <a:noFill/>
        </p:spPr>
        <p:txBody>
          <a:bodyPr wrap="square" anchor="t" lIns="0" rIns="0" tIns="0" bIns="0">
            <a:spAutoFit/>
          </a:bodyPr>
          <a:lstStyle/>
          <a:p>
            <a:r>
              <a:rPr sz="1300" b="1" i="0">
                <a:solidFill>
                  <a:srgbClr val="0C2340"/>
                </a:solidFill>
                <a:latin typeface="Calibri"/>
              </a:rPr>
              <a:t>⚠️ Importante</a:t>
            </a:r>
          </a:p>
          <a:p>
            <a:pPr>
              <a:spcBef>
                <a:spcPts val="400"/>
              </a:spcBef>
            </a:pPr>
            <a:r>
              <a:rPr sz="1300" b="1" i="0">
                <a:solidFill>
                  <a:srgbClr val="2B2B2B"/>
                </a:solidFill>
                <a:latin typeface="Calibri"/>
              </a:rPr>
              <a:t>"Pego el resumen del artículo tal cual."</a:t>
            </a:r>
            <a:r>
              <a:rPr sz="1300" b="0" i="0">
                <a:solidFill>
                  <a:srgbClr val="2B2B2B"/>
                </a:solidFill>
                <a:latin typeface="Calibri"/>
              </a:rPr>
              <a:t> — Eso es plagio, aunque cite. Reescriba con sus palabras y agregue la línea "me aporta…".</a:t>
            </a:r>
          </a:p>
        </p:txBody>
      </p:sp>
      <p:sp>
        <p:nvSpPr>
          <p:cNvPr id="6" name="Rounded Rectangle 5"/>
          <p:cNvSpPr/>
          <p:nvPr/>
        </p:nvSpPr>
        <p:spPr>
          <a:xfrm>
            <a:off x="640080" y="2935224"/>
            <a:ext cx="10911535" cy="969264"/>
          </a:xfrm>
          <a:prstGeom prst="roundRect">
            <a:avLst/>
          </a:prstGeom>
          <a:solidFill>
            <a:srgbClr val="FB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3044952"/>
            <a:ext cx="10454335" cy="749808"/>
          </a:xfrm>
          <a:prstGeom prst="rect">
            <a:avLst/>
          </a:prstGeom>
          <a:noFill/>
        </p:spPr>
        <p:txBody>
          <a:bodyPr wrap="square" anchor="t" lIns="0" rIns="0" tIns="0" bIns="0">
            <a:spAutoFit/>
          </a:bodyPr>
          <a:lstStyle/>
          <a:p>
            <a:r>
              <a:rPr sz="1300" b="1" i="0">
                <a:solidFill>
                  <a:srgbClr val="0C2340"/>
                </a:solidFill>
                <a:latin typeface="Calibri"/>
              </a:rPr>
              <a:t>⚠️ Importante</a:t>
            </a:r>
          </a:p>
          <a:p>
            <a:pPr>
              <a:spcBef>
                <a:spcPts val="400"/>
              </a:spcBef>
            </a:pPr>
            <a:r>
              <a:rPr sz="1300" b="1" i="0">
                <a:solidFill>
                  <a:srgbClr val="2B2B2B"/>
                </a:solidFill>
                <a:latin typeface="Calibri"/>
              </a:rPr>
              <a:t>"Antecedentes y marco teórico son lo mismo."</a:t>
            </a:r>
            <a:r>
              <a:rPr sz="1300" b="0" i="0">
                <a:solidFill>
                  <a:srgbClr val="2B2B2B"/>
                </a:solidFill>
                <a:latin typeface="Calibri"/>
              </a:rPr>
              <a:t> — No: antecedentes son estudios previos parecidos; el marco es la teoría de fondo del fenómeno.</a:t>
            </a:r>
          </a:p>
        </p:txBody>
      </p:sp>
      <p:sp>
        <p:nvSpPr>
          <p:cNvPr id="8" name="Rounded Rectangle 7"/>
          <p:cNvSpPr/>
          <p:nvPr/>
        </p:nvSpPr>
        <p:spPr>
          <a:xfrm>
            <a:off x="640080" y="4133087"/>
            <a:ext cx="10911535" cy="969264"/>
          </a:xfrm>
          <a:prstGeom prst="roundRect">
            <a:avLst/>
          </a:prstGeom>
          <a:solidFill>
            <a:srgbClr val="FDE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242816"/>
            <a:ext cx="10454335" cy="749808"/>
          </a:xfrm>
          <a:prstGeom prst="rect">
            <a:avLst/>
          </a:prstGeom>
          <a:noFill/>
        </p:spPr>
        <p:txBody>
          <a:bodyPr wrap="square" anchor="t" lIns="0" rIns="0" tIns="0" bIns="0">
            <a:spAutoFit/>
          </a:bodyPr>
          <a:lstStyle/>
          <a:p>
            <a:r>
              <a:rPr sz="1300" b="1" i="0">
                <a:solidFill>
                  <a:srgbClr val="0C2340"/>
                </a:solidFill>
                <a:latin typeface="Calibri"/>
              </a:rPr>
              <a:t>💡 Aclaración</a:t>
            </a:r>
          </a:p>
          <a:p>
            <a:pPr>
              <a:spcBef>
                <a:spcPts val="400"/>
              </a:spcBef>
            </a:pPr>
            <a:r>
              <a:rPr sz="1300" b="1" i="0">
                <a:solidFill>
                  <a:srgbClr val="2B2B2B"/>
                </a:solidFill>
                <a:latin typeface="Calibri"/>
              </a:rPr>
              <a:t>"Cito ocho estudios y ya."</a:t>
            </a:r>
            <a:r>
              <a:rPr sz="1300" b="0" i="0">
                <a:solidFill>
                  <a:srgbClr val="2B2B2B"/>
                </a:solidFill>
                <a:latin typeface="Calibri"/>
              </a:rPr>
              <a:t> — Ocho fichas sueltas no son un argumento. Mejor cuatro bien hechas más el párrafo puente que muestra el vacío.</a:t>
            </a:r>
          </a:p>
        </p:txBody>
      </p:sp>
      <p:sp>
        <p:nvSpPr>
          <p:cNvPr id="10" name="TextBox 9"/>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Lo que más se corrige en esta sesión (cont.)</a:t>
            </a:r>
          </a:p>
        </p:txBody>
      </p:sp>
      <p:sp>
        <p:nvSpPr>
          <p:cNvPr id="4" name="Rounded Rectangle 3"/>
          <p:cNvSpPr/>
          <p:nvPr/>
        </p:nvSpPr>
        <p:spPr>
          <a:xfrm>
            <a:off x="640080" y="1737360"/>
            <a:ext cx="10911535" cy="969264"/>
          </a:xfrm>
          <a:prstGeom prst="roundRect">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47088"/>
            <a:ext cx="10454335" cy="749808"/>
          </a:xfrm>
          <a:prstGeom prst="rect">
            <a:avLst/>
          </a:prstGeom>
          <a:noFill/>
        </p:spPr>
        <p:txBody>
          <a:bodyPr wrap="square" anchor="t" lIns="0" rIns="0" tIns="0" bIns="0">
            <a:spAutoFit/>
          </a:bodyPr>
          <a:lstStyle/>
          <a:p>
            <a:r>
              <a:rPr sz="1300" b="1" i="0">
                <a:solidFill>
                  <a:srgbClr val="0C2340"/>
                </a:solidFill>
                <a:latin typeface="Calibri"/>
              </a:rPr>
              <a:t>ℹ️ Nota institucional</a:t>
            </a:r>
          </a:p>
          <a:p>
            <a:pPr>
              <a:spcBef>
                <a:spcPts val="400"/>
              </a:spcBef>
            </a:pPr>
            <a:r>
              <a:rPr sz="1300" b="1" i="0">
                <a:solidFill>
                  <a:srgbClr val="2B2B2B"/>
                </a:solidFill>
                <a:latin typeface="Calibri"/>
              </a:rPr>
              <a:t>"Solo encuentro fuentes en español."</a:t>
            </a:r>
            <a:r>
              <a:rPr sz="1300" b="0" i="0">
                <a:solidFill>
                  <a:srgbClr val="2B2B2B"/>
                </a:solidFill>
                <a:latin typeface="Calibri"/>
              </a:rPr>
              <a:t> — Traduzca los términos técnicos y repita la búsqueda en inglés; luego integre ambas en el mismo párrafo.</a:t>
            </a:r>
          </a:p>
        </p:txBody>
      </p:sp>
      <p:sp>
        <p:nvSpPr>
          <p:cNvPr id="6" name="TextBox 5"/>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Paso a paso: de Google Académico a su documento, en APA 7</a:t>
            </a:r>
          </a:p>
        </p:txBody>
      </p:sp>
      <p:sp>
        <p:nvSpPr>
          <p:cNvPr id="4" name="TextBox 3"/>
          <p:cNvSpPr txBox="1"/>
          <p:nvPr/>
        </p:nvSpPr>
        <p:spPr>
          <a:xfrm>
            <a:off x="640080" y="1691639"/>
            <a:ext cx="10911535" cy="4617720"/>
          </a:xfrm>
          <a:prstGeom prst="rect">
            <a:avLst/>
          </a:prstGeom>
          <a:noFill/>
        </p:spPr>
        <p:txBody>
          <a:bodyPr wrap="square" anchor="t" lIns="0" rIns="0" tIns="0" bIns="0">
            <a:spAutoFit/>
          </a:bodyPr>
          <a:lstStyle/>
          <a:p>
            <a:pPr>
              <a:spcAft>
                <a:spcPts val="1000"/>
              </a:spcAft>
            </a:pPr>
            <a:r>
              <a:rPr sz="1600" b="0" i="0">
                <a:solidFill>
                  <a:srgbClr val="2B2B2B"/>
                </a:solidFill>
                <a:latin typeface="Calibri"/>
              </a:rPr>
              <a:t>–   </a:t>
            </a:r>
            <a:r>
              <a:rPr sz="1600" b="1" i="0">
                <a:solidFill>
                  <a:srgbClr val="2B2B2B"/>
                </a:solidFill>
                <a:latin typeface="Calibri"/>
              </a:rPr>
              <a:t>1.</a:t>
            </a:r>
            <a:r>
              <a:rPr sz="1600" b="0" i="0">
                <a:solidFill>
                  <a:srgbClr val="2B2B2B"/>
                </a:solidFill>
                <a:latin typeface="Calibri"/>
              </a:rPr>
              <a:t> Busque en </a:t>
            </a:r>
            <a:r>
              <a:rPr sz="1600" b="1" i="0">
                <a:solidFill>
                  <a:srgbClr val="2B2B2B"/>
                </a:solidFill>
                <a:latin typeface="Calibri"/>
              </a:rPr>
              <a:t>Google Académico</a:t>
            </a:r>
            <a:r>
              <a:rPr sz="1600" b="0" i="0">
                <a:solidFill>
                  <a:srgbClr val="2B2B2B"/>
                </a:solidFill>
                <a:latin typeface="Calibri"/>
              </a:rPr>
              <a:t> con 3 a 5 palabras clave, la frase exacta entre comillas y el filtro de los últimos cinco años.</a:t>
            </a:r>
          </a:p>
          <a:p>
            <a:pPr>
              <a:spcAft>
                <a:spcPts val="1000"/>
              </a:spcAft>
            </a:pPr>
            <a:r>
              <a:rPr sz="1600" b="0" i="0">
                <a:solidFill>
                  <a:srgbClr val="2B2B2B"/>
                </a:solidFill>
                <a:latin typeface="Calibri"/>
              </a:rPr>
              <a:t>–   </a:t>
            </a:r>
            <a:r>
              <a:rPr sz="1600" b="1" i="0">
                <a:solidFill>
                  <a:srgbClr val="2B2B2B"/>
                </a:solidFill>
                <a:latin typeface="Calibri"/>
              </a:rPr>
              <a:t>2.</a:t>
            </a:r>
            <a:r>
              <a:rPr sz="1600" b="0" i="0">
                <a:solidFill>
                  <a:srgbClr val="2B2B2B"/>
                </a:solidFill>
                <a:latin typeface="Calibri"/>
              </a:rPr>
              <a:t> Abra el resultado; lea resumen y conclusiones. Si sirve, guarde el enlace o el DOI.</a:t>
            </a:r>
          </a:p>
          <a:p>
            <a:pPr>
              <a:spcAft>
                <a:spcPts val="1000"/>
              </a:spcAft>
            </a:pPr>
            <a:r>
              <a:rPr sz="1600" b="0" i="0">
                <a:solidFill>
                  <a:srgbClr val="2B2B2B"/>
                </a:solidFill>
                <a:latin typeface="Calibri"/>
              </a:rPr>
              <a:t>–   </a:t>
            </a:r>
            <a:r>
              <a:rPr sz="1600" b="1" i="0">
                <a:solidFill>
                  <a:srgbClr val="2B2B2B"/>
                </a:solidFill>
                <a:latin typeface="Calibri"/>
              </a:rPr>
              <a:t>3.</a:t>
            </a:r>
            <a:r>
              <a:rPr sz="1600" b="0" i="0">
                <a:solidFill>
                  <a:srgbClr val="2B2B2B"/>
                </a:solidFill>
                <a:latin typeface="Calibri"/>
              </a:rPr>
              <a:t> Entre a </a:t>
            </a:r>
            <a:r>
              <a:rPr sz="1600" b="1" i="0">
                <a:solidFill>
                  <a:srgbClr val="2B2B2B"/>
                </a:solidFill>
                <a:latin typeface="Calibri"/>
              </a:rPr>
              <a:t>ZoteroBib</a:t>
            </a:r>
            <a:r>
              <a:rPr sz="1600" b="0" i="0">
                <a:solidFill>
                  <a:srgbClr val="2B2B2B"/>
                </a:solidFill>
                <a:latin typeface="Calibri"/>
              </a:rPr>
              <a:t> (zbib.org) y pegue el DOI, el ISBN o el enlace en la barra de búsqueda.</a:t>
            </a:r>
          </a:p>
          <a:p>
            <a:pPr>
              <a:spcAft>
                <a:spcPts val="1000"/>
              </a:spcAft>
            </a:pPr>
            <a:r>
              <a:rPr sz="1600" b="0" i="0">
                <a:solidFill>
                  <a:srgbClr val="2B2B2B"/>
                </a:solidFill>
                <a:latin typeface="Calibri"/>
              </a:rPr>
              <a:t>–   </a:t>
            </a:r>
            <a:r>
              <a:rPr sz="1600" b="1" i="0">
                <a:solidFill>
                  <a:srgbClr val="2B2B2B"/>
                </a:solidFill>
                <a:latin typeface="Calibri"/>
              </a:rPr>
              <a:t>4.</a:t>
            </a:r>
            <a:r>
              <a:rPr sz="1600" b="0" i="0">
                <a:solidFill>
                  <a:srgbClr val="2B2B2B"/>
                </a:solidFill>
                <a:latin typeface="Calibri"/>
              </a:rPr>
              <a:t> Seleccione el estilo </a:t>
            </a:r>
            <a:r>
              <a:rPr sz="1600" b="1" i="0">
                <a:solidFill>
                  <a:srgbClr val="2B2B2B"/>
                </a:solidFill>
                <a:latin typeface="Calibri"/>
              </a:rPr>
              <a:t>APA 7.ª edición</a:t>
            </a:r>
            <a:r>
              <a:rPr sz="1600" b="0" i="0">
                <a:solidFill>
                  <a:srgbClr val="2B2B2B"/>
                </a:solidFill>
                <a:latin typeface="Calibri"/>
              </a:rPr>
              <a:t> en la lista de estilos.</a:t>
            </a:r>
          </a:p>
          <a:p>
            <a:pPr>
              <a:spcAft>
                <a:spcPts val="1000"/>
              </a:spcAft>
            </a:pPr>
            <a:r>
              <a:rPr sz="1600" b="0" i="0">
                <a:solidFill>
                  <a:srgbClr val="2B2B2B"/>
                </a:solidFill>
                <a:latin typeface="Calibri"/>
              </a:rPr>
              <a:t>–   </a:t>
            </a:r>
            <a:r>
              <a:rPr sz="1600" b="1" i="0">
                <a:solidFill>
                  <a:srgbClr val="2B2B2B"/>
                </a:solidFill>
                <a:latin typeface="Calibri"/>
              </a:rPr>
              <a:t>5.</a:t>
            </a:r>
            <a:r>
              <a:rPr sz="1600" b="0" i="0">
                <a:solidFill>
                  <a:srgbClr val="2B2B2B"/>
                </a:solidFill>
                <a:latin typeface="Calibri"/>
              </a:rPr>
              <a:t> Revise la referencia generada: mayúsculas, año y nombre de la revista. La herramienta se equivoca y usted responde.</a:t>
            </a:r>
          </a:p>
          <a:p>
            <a:pPr>
              <a:spcAft>
                <a:spcPts val="1000"/>
              </a:spcAft>
            </a:pPr>
            <a:r>
              <a:rPr sz="1600" b="0" i="0">
                <a:solidFill>
                  <a:srgbClr val="2B2B2B"/>
                </a:solidFill>
                <a:latin typeface="Calibri"/>
              </a:rPr>
              <a:t>–   </a:t>
            </a:r>
            <a:r>
              <a:rPr sz="1600" b="1" i="0">
                <a:solidFill>
                  <a:srgbClr val="2B2B2B"/>
                </a:solidFill>
                <a:latin typeface="Calibri"/>
              </a:rPr>
              <a:t>6.</a:t>
            </a:r>
            <a:r>
              <a:rPr sz="1600" b="0" i="0">
                <a:solidFill>
                  <a:srgbClr val="2B2B2B"/>
                </a:solidFill>
                <a:latin typeface="Calibri"/>
              </a:rPr>
              <a:t> Copie con "Copiar al portapapeles" y pegue en su Google Docs </a:t>
            </a:r>
            <a:r>
              <a:rPr sz="1600" b="1" i="0">
                <a:solidFill>
                  <a:srgbClr val="2B2B2B"/>
                </a:solidFill>
                <a:latin typeface="Calibri"/>
              </a:rPr>
              <a:t>sin formato</a:t>
            </a:r>
            <a:r>
              <a:rPr sz="1600" b="0" i="0">
                <a:solidFill>
                  <a:srgbClr val="2B2B2B"/>
                </a:solidFill>
                <a:latin typeface="Calibri"/>
              </a:rPr>
              <a:t> (Ctrl+Shift+V).</a:t>
            </a:r>
          </a:p>
          <a:p>
            <a:pPr>
              <a:spcAft>
                <a:spcPts val="1000"/>
              </a:spcAft>
            </a:pPr>
            <a:r>
              <a:rPr sz="1600" b="0" i="0">
                <a:solidFill>
                  <a:srgbClr val="2B2B2B"/>
                </a:solidFill>
                <a:latin typeface="Calibri"/>
              </a:rPr>
              <a:t>–   </a:t>
            </a:r>
            <a:r>
              <a:rPr sz="1600" b="1" i="0">
                <a:solidFill>
                  <a:srgbClr val="2B2B2B"/>
                </a:solidFill>
                <a:latin typeface="Calibri"/>
              </a:rPr>
              <a:t>7.</a:t>
            </a:r>
            <a:r>
              <a:rPr sz="1600" b="0" i="0">
                <a:solidFill>
                  <a:srgbClr val="2B2B2B"/>
                </a:solidFill>
                <a:latin typeface="Calibri"/>
              </a:rPr>
              <a:t> En el texto, cite así: forma narrativa </a:t>
            </a:r>
            <a:r>
              <a:rPr sz="1600" b="1" i="0">
                <a:solidFill>
                  <a:srgbClr val="2B2B2B"/>
                </a:solidFill>
                <a:latin typeface="Calibri"/>
              </a:rPr>
              <a:t>Autor (2022) encontró que…</a:t>
            </a:r>
            <a:r>
              <a:rPr sz="1600" b="0" i="0">
                <a:solidFill>
                  <a:srgbClr val="2B2B2B"/>
                </a:solidFill>
                <a:latin typeface="Calibri"/>
              </a:rPr>
              <a:t> o forma entre paréntesis </a:t>
            </a:r>
            <a:r>
              <a:rPr sz="1600" b="1" i="0">
                <a:solidFill>
                  <a:srgbClr val="2B2B2B"/>
                </a:solidFill>
                <a:latin typeface="Calibri"/>
              </a:rPr>
              <a:t>(Autor, 2022)</a:t>
            </a:r>
            <a:r>
              <a:rPr sz="1600" b="0" i="0">
                <a:solidFill>
                  <a:srgbClr val="2B2B2B"/>
                </a:solidFill>
                <a:latin typeface="Calibri"/>
              </a:rPr>
              <a:t>.</a:t>
            </a:r>
          </a:p>
          <a:p>
            <a:pPr>
              <a:spcAft>
                <a:spcPts val="1000"/>
              </a:spcAft>
            </a:pPr>
            <a:r>
              <a:rPr sz="1600" b="0" i="0">
                <a:solidFill>
                  <a:srgbClr val="2B2B2B"/>
                </a:solidFill>
                <a:latin typeface="Calibri"/>
              </a:rPr>
              <a:t>–   </a:t>
            </a:r>
            <a:r>
              <a:rPr sz="1600" b="1" i="0">
                <a:solidFill>
                  <a:srgbClr val="2B2B2B"/>
                </a:solidFill>
                <a:latin typeface="Calibri"/>
              </a:rPr>
              <a:t>8.</a:t>
            </a:r>
            <a:r>
              <a:rPr sz="1600" b="0" i="0">
                <a:solidFill>
                  <a:srgbClr val="2B2B2B"/>
                </a:solidFill>
                <a:latin typeface="Calibri"/>
              </a:rPr>
              <a:t> Repita hasta tener las cuatro fichas y escriba el párrafo puente al final del bloque.</a:t>
            </a:r>
          </a:p>
        </p:txBody>
      </p:sp>
      <p:sp>
        <p:nvSpPr>
          <p:cNvPr id="5" name="TextBox 4"/>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13</a:t>
            </a:r>
          </a:p>
        </p:txBody>
      </p:sp>
      <p:sp>
        <p:nvSpPr>
          <p:cNvPr id="6" name="TextBox 5"/>
          <p:cNvSpPr txBox="1"/>
          <p:nvPr/>
        </p:nvSpPr>
        <p:spPr>
          <a:xfrm>
            <a:off x="640080" y="5943600"/>
            <a:ext cx="9997135" cy="457200"/>
          </a:xfrm>
          <a:prstGeom prst="rect">
            <a:avLst/>
          </a:prstGeom>
          <a:noFill/>
        </p:spPr>
        <p:txBody>
          <a:bodyPr wrap="square" anchor="t" lIns="0" rIns="0" tIns="0" bIns="0">
            <a:spAutoFit/>
          </a:bodyPr>
          <a:lstStyle/>
          <a:p>
            <a:r>
              <a:rPr sz="1200" b="0" i="1">
                <a:solidFill>
                  <a:srgbClr val="2B2B2B"/>
                </a:solidFill>
                <a:latin typeface="Calibri"/>
              </a:rPr>
              <a:t>El paso a paso ampliado está en la guía práctica de herramientas de escritura y citación de la carpeta del curso.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Taller — 20 minutos de búsqueda y fichaje</a:t>
            </a:r>
          </a:p>
        </p:txBody>
      </p:sp>
      <p:sp>
        <p:nvSpPr>
          <p:cNvPr id="4" name="TextBox 3"/>
          <p:cNvSpPr txBox="1"/>
          <p:nvPr/>
        </p:nvSpPr>
        <p:spPr>
          <a:xfrm>
            <a:off x="640080" y="1691639"/>
            <a:ext cx="10911535" cy="4617720"/>
          </a:xfrm>
          <a:prstGeom prst="rect">
            <a:avLst/>
          </a:prstGeom>
          <a:noFill/>
        </p:spPr>
        <p:txBody>
          <a:bodyPr wrap="square" anchor="t" lIns="0" rIns="0" tIns="0" bIns="0">
            <a:spAutoFit/>
          </a:bodyPr>
          <a:lstStyle/>
          <a:p>
            <a:pPr>
              <a:spcAft>
                <a:spcPts val="1000"/>
              </a:spcAft>
            </a:pPr>
            <a:r>
              <a:rPr sz="1600" b="0" i="0">
                <a:solidFill>
                  <a:srgbClr val="2B2B2B"/>
                </a:solidFill>
                <a:latin typeface="Calibri"/>
              </a:rPr>
              <a:t>–   </a:t>
            </a:r>
            <a:r>
              <a:rPr sz="1600" b="1" i="0">
                <a:solidFill>
                  <a:srgbClr val="2B2B2B"/>
                </a:solidFill>
                <a:latin typeface="Calibri"/>
              </a:rPr>
              <a:t>Consigna:</a:t>
            </a:r>
            <a:r>
              <a:rPr sz="1600" b="0" i="0">
                <a:solidFill>
                  <a:srgbClr val="2B2B2B"/>
                </a:solidFill>
                <a:latin typeface="Calibri"/>
              </a:rPr>
              <a:t> en un documento llamado `S04_Antecedentes_Apellido`:</a:t>
            </a:r>
          </a:p>
          <a:p>
            <a:pPr lvl="1">
              <a:spcAft>
                <a:spcPts val="600"/>
              </a:spcAft>
            </a:pPr>
            <a:r>
              <a:rPr sz="1500" b="0" i="0">
                <a:solidFill>
                  <a:srgbClr val="2B2B2B"/>
                </a:solidFill>
                <a:latin typeface="Calibri"/>
              </a:rPr>
              <a:t>●   </a:t>
            </a:r>
            <a:r>
              <a:rPr sz="1500" b="1" i="0">
                <a:solidFill>
                  <a:srgbClr val="2B2B2B"/>
                </a:solidFill>
                <a:latin typeface="Calibri"/>
              </a:rPr>
              <a:t>(1)</a:t>
            </a:r>
            <a:r>
              <a:rPr sz="1500" b="0" i="0">
                <a:solidFill>
                  <a:srgbClr val="2B2B2B"/>
                </a:solidFill>
                <a:latin typeface="Calibri"/>
              </a:rPr>
              <a:t> Busque y elija </a:t>
            </a:r>
            <a:r>
              <a:rPr sz="1500" b="1" i="0">
                <a:solidFill>
                  <a:srgbClr val="2B2B2B"/>
                </a:solidFill>
                <a:latin typeface="Calibri"/>
              </a:rPr>
              <a:t>cuatro antecedentes</a:t>
            </a:r>
            <a:r>
              <a:rPr sz="1500" b="0" i="0">
                <a:solidFill>
                  <a:srgbClr val="2B2B2B"/>
                </a:solidFill>
                <a:latin typeface="Calibri"/>
              </a:rPr>
              <a:t>, con al menos </a:t>
            </a:r>
            <a:r>
              <a:rPr sz="1500" b="1" i="0">
                <a:solidFill>
                  <a:srgbClr val="2B2B2B"/>
                </a:solidFill>
                <a:latin typeface="Calibri"/>
              </a:rPr>
              <a:t>uno nacional o local</a:t>
            </a:r>
            <a:r>
              <a:rPr sz="1500" b="0" i="0">
                <a:solidFill>
                  <a:srgbClr val="2B2B2B"/>
                </a:solidFill>
                <a:latin typeface="Calibri"/>
              </a:rPr>
              <a:t> y </a:t>
            </a:r>
            <a:r>
              <a:rPr sz="1500" b="1" i="0">
                <a:solidFill>
                  <a:srgbClr val="2B2B2B"/>
                </a:solidFill>
                <a:latin typeface="Calibri"/>
              </a:rPr>
              <a:t>uno internacional</a:t>
            </a:r>
            <a:r>
              <a:rPr sz="1500" b="0" i="0">
                <a:solidFill>
                  <a:srgbClr val="2B2B2B"/>
                </a:solidFill>
                <a:latin typeface="Calibri"/>
              </a:rPr>
              <a:t>.</a:t>
            </a:r>
          </a:p>
          <a:p>
            <a:pPr lvl="1">
              <a:spcAft>
                <a:spcPts val="600"/>
              </a:spcAft>
            </a:pPr>
            <a:r>
              <a:rPr sz="1500" b="0" i="0">
                <a:solidFill>
                  <a:srgbClr val="2B2B2B"/>
                </a:solidFill>
                <a:latin typeface="Calibri"/>
              </a:rPr>
              <a:t>●   </a:t>
            </a:r>
            <a:r>
              <a:rPr sz="1500" b="1" i="0">
                <a:solidFill>
                  <a:srgbClr val="2B2B2B"/>
                </a:solidFill>
                <a:latin typeface="Calibri"/>
              </a:rPr>
              <a:t>(2)</a:t>
            </a:r>
            <a:r>
              <a:rPr sz="1500" b="0" i="0">
                <a:solidFill>
                  <a:srgbClr val="2B2B2B"/>
                </a:solidFill>
                <a:latin typeface="Calibri"/>
              </a:rPr>
              <a:t> Haga una </a:t>
            </a:r>
            <a:r>
              <a:rPr sz="1500" b="1" i="0">
                <a:solidFill>
                  <a:srgbClr val="2B2B2B"/>
                </a:solidFill>
                <a:latin typeface="Calibri"/>
              </a:rPr>
              <a:t>ficha</a:t>
            </a:r>
            <a:r>
              <a:rPr sz="1500" b="0" i="0">
                <a:solidFill>
                  <a:srgbClr val="2B2B2B"/>
                </a:solidFill>
                <a:latin typeface="Calibri"/>
              </a:rPr>
              <a:t> por cada uno con los cinco campos, redactada con sus palabras.</a:t>
            </a:r>
          </a:p>
          <a:p>
            <a:pPr lvl="1">
              <a:spcAft>
                <a:spcPts val="600"/>
              </a:spcAft>
            </a:pPr>
            <a:r>
              <a:rPr sz="1500" b="0" i="0">
                <a:solidFill>
                  <a:srgbClr val="2B2B2B"/>
                </a:solidFill>
                <a:latin typeface="Calibri"/>
              </a:rPr>
              <a:t>●   </a:t>
            </a:r>
            <a:r>
              <a:rPr sz="1500" b="1" i="0">
                <a:solidFill>
                  <a:srgbClr val="2B2B2B"/>
                </a:solidFill>
                <a:latin typeface="Calibri"/>
              </a:rPr>
              <a:t>(3)</a:t>
            </a:r>
            <a:r>
              <a:rPr sz="1500" b="0" i="0">
                <a:solidFill>
                  <a:srgbClr val="2B2B2B"/>
                </a:solidFill>
                <a:latin typeface="Calibri"/>
              </a:rPr>
              <a:t> Genere las cuatro referencias en </a:t>
            </a:r>
            <a:r>
              <a:rPr sz="1500" b="1" i="0">
                <a:solidFill>
                  <a:srgbClr val="2B2B2B"/>
                </a:solidFill>
                <a:latin typeface="Calibri"/>
              </a:rPr>
              <a:t>APA 7</a:t>
            </a:r>
            <a:r>
              <a:rPr sz="1500" b="0" i="0">
                <a:solidFill>
                  <a:srgbClr val="2B2B2B"/>
                </a:solidFill>
                <a:latin typeface="Calibri"/>
              </a:rPr>
              <a:t> con ZoteroBib y péguelas en la sección Referencias.</a:t>
            </a:r>
          </a:p>
          <a:p>
            <a:pPr lvl="1">
              <a:spcAft>
                <a:spcPts val="600"/>
              </a:spcAft>
            </a:pPr>
            <a:r>
              <a:rPr sz="1500" b="0" i="0">
                <a:solidFill>
                  <a:srgbClr val="2B2B2B"/>
                </a:solidFill>
                <a:latin typeface="Calibri"/>
              </a:rPr>
              <a:t>●   </a:t>
            </a:r>
            <a:r>
              <a:rPr sz="1500" b="1" i="0">
                <a:solidFill>
                  <a:srgbClr val="2B2B2B"/>
                </a:solidFill>
                <a:latin typeface="Calibri"/>
              </a:rPr>
              <a:t>(4)</a:t>
            </a:r>
            <a:r>
              <a:rPr sz="1500" b="0" i="0">
                <a:solidFill>
                  <a:srgbClr val="2B2B2B"/>
                </a:solidFill>
                <a:latin typeface="Calibri"/>
              </a:rPr>
              <a:t> Escriba el </a:t>
            </a:r>
            <a:r>
              <a:rPr sz="1500" b="1" i="0">
                <a:solidFill>
                  <a:srgbClr val="2B2B2B"/>
                </a:solidFill>
                <a:latin typeface="Calibri"/>
              </a:rPr>
              <a:t>párrafo puente</a:t>
            </a:r>
            <a:r>
              <a:rPr sz="1500" b="0" i="0">
                <a:solidFill>
                  <a:srgbClr val="2B2B2B"/>
                </a:solidFill>
                <a:latin typeface="Calibri"/>
              </a:rPr>
              <a:t> con la fórmula coinciden / difieren / vacío.</a:t>
            </a:r>
          </a:p>
          <a:p>
            <a:pPr>
              <a:spcAft>
                <a:spcPts val="1000"/>
              </a:spcAft>
            </a:pPr>
            <a:r>
              <a:rPr sz="1600" b="0" i="0">
                <a:solidFill>
                  <a:srgbClr val="2B2B2B"/>
                </a:solidFill>
                <a:latin typeface="Calibri"/>
              </a:rPr>
              <a:t>–   </a:t>
            </a:r>
            <a:r>
              <a:rPr sz="1600" b="1" i="0">
                <a:solidFill>
                  <a:srgbClr val="2B2B2B"/>
                </a:solidFill>
                <a:latin typeface="Calibri"/>
              </a:rPr>
              <a:t>Tiempo:</a:t>
            </a:r>
            <a:r>
              <a:rPr sz="1600" b="0" i="0">
                <a:solidFill>
                  <a:srgbClr val="2B2B2B"/>
                </a:solidFill>
                <a:latin typeface="Calibri"/>
              </a:rPr>
              <a:t> 20 minutos; el Docente acompaña la búsqueda de quienes no encuentren resultados.</a:t>
            </a:r>
          </a:p>
          <a:p>
            <a:pPr>
              <a:spcAft>
                <a:spcPts val="1000"/>
              </a:spcAft>
            </a:pPr>
            <a:r>
              <a:rPr sz="1600" b="0" i="0">
                <a:solidFill>
                  <a:srgbClr val="2B2B2B"/>
                </a:solidFill>
                <a:latin typeface="Calibri"/>
              </a:rPr>
              <a:t>–   </a:t>
            </a:r>
            <a:r>
              <a:rPr sz="1600" b="1" i="0">
                <a:solidFill>
                  <a:srgbClr val="2B2B2B"/>
                </a:solidFill>
                <a:latin typeface="Calibri"/>
              </a:rPr>
              <a:t>Criterio de éxito:</a:t>
            </a:r>
            <a:r>
              <a:rPr sz="1600" b="0" i="0">
                <a:solidFill>
                  <a:srgbClr val="2B2B2B"/>
                </a:solidFill>
                <a:latin typeface="Calibri"/>
              </a:rPr>
              <a:t> cada ficha tiene su línea "me aporta…" y el párrafo puente nombra explícitamente el vacío que llena su proyecto.</a:t>
            </a:r>
          </a:p>
          <a:p>
            <a:pPr>
              <a:spcAft>
                <a:spcPts val="1000"/>
              </a:spcAft>
            </a:pPr>
            <a:r>
              <a:rPr sz="1600" b="0" i="0">
                <a:solidFill>
                  <a:srgbClr val="2B2B2B"/>
                </a:solidFill>
                <a:latin typeface="Calibri"/>
              </a:rPr>
              <a:t>–   Si una búsqueda no da nada en tres intentos, cambie una palabra clave: el problema casi siempre es el vocabulario.</a:t>
            </a:r>
          </a:p>
        </p:txBody>
      </p:sp>
      <p:sp>
        <p:nvSpPr>
          <p:cNvPr id="5" name="TextBox 4"/>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Autoevaluación antes de subir el archivo</a:t>
            </a:r>
          </a:p>
        </p:txBody>
      </p:sp>
      <p:sp>
        <p:nvSpPr>
          <p:cNvPr id="4" name="TextBox 3"/>
          <p:cNvSpPr txBox="1"/>
          <p:nvPr/>
        </p:nvSpPr>
        <p:spPr>
          <a:xfrm>
            <a:off x="640080" y="1691639"/>
            <a:ext cx="10911535" cy="4617720"/>
          </a:xfrm>
          <a:prstGeom prst="rect">
            <a:avLst/>
          </a:prstGeom>
          <a:noFill/>
        </p:spPr>
        <p:txBody>
          <a:bodyPr wrap="square" anchor="t" lIns="0" rIns="0" tIns="0" bIns="0">
            <a:spAutoFit/>
          </a:bodyPr>
          <a:lstStyle/>
          <a:p>
            <a:pPr>
              <a:spcAft>
                <a:spcPts val="1000"/>
              </a:spcAft>
            </a:pPr>
            <a:r>
              <a:rPr sz="1600" b="0" i="0">
                <a:solidFill>
                  <a:srgbClr val="2B2B2B"/>
                </a:solidFill>
                <a:latin typeface="Calibri"/>
              </a:rPr>
              <a:t>–   Hay cuatro fichas, con al menos una fuente nacional o local y una internacional.</a:t>
            </a:r>
          </a:p>
          <a:p>
            <a:pPr>
              <a:spcAft>
                <a:spcPts val="1000"/>
              </a:spcAft>
            </a:pPr>
            <a:r>
              <a:rPr sz="1600" b="0" i="0">
                <a:solidFill>
                  <a:srgbClr val="2B2B2B"/>
                </a:solidFill>
                <a:latin typeface="Calibri"/>
              </a:rPr>
              <a:t>–   Ninguna ficha contiene texto copiado del resumen original.</a:t>
            </a:r>
          </a:p>
          <a:p>
            <a:pPr>
              <a:spcAft>
                <a:spcPts val="1000"/>
              </a:spcAft>
            </a:pPr>
            <a:r>
              <a:rPr sz="1600" b="0" i="0">
                <a:solidFill>
                  <a:srgbClr val="2B2B2B"/>
                </a:solidFill>
                <a:latin typeface="Calibri"/>
              </a:rPr>
              <a:t>–   Las cinco casillas están llenas en las cuatro fichas, incluida "me aporta…".</a:t>
            </a:r>
          </a:p>
          <a:p>
            <a:pPr>
              <a:spcAft>
                <a:spcPts val="1000"/>
              </a:spcAft>
            </a:pPr>
            <a:r>
              <a:rPr sz="1600" b="0" i="0">
                <a:solidFill>
                  <a:srgbClr val="2B2B2B"/>
                </a:solidFill>
                <a:latin typeface="Calibri"/>
              </a:rPr>
              <a:t>–   Cada aporte es específico: dice qué se lleva, no "sirve de referencia".</a:t>
            </a:r>
          </a:p>
          <a:p>
            <a:pPr>
              <a:spcAft>
                <a:spcPts val="1000"/>
              </a:spcAft>
            </a:pPr>
            <a:r>
              <a:rPr sz="1600" b="0" i="0">
                <a:solidFill>
                  <a:srgbClr val="2B2B2B"/>
                </a:solidFill>
                <a:latin typeface="Calibri"/>
              </a:rPr>
              <a:t>–   Todas las fuentes son estudios con método verificable (nada de blogs ni páginas comerciales).</a:t>
            </a:r>
          </a:p>
          <a:p>
            <a:pPr>
              <a:spcAft>
                <a:spcPts val="1000"/>
              </a:spcAft>
            </a:pPr>
            <a:r>
              <a:rPr sz="1600" b="0" i="0">
                <a:solidFill>
                  <a:srgbClr val="2B2B2B"/>
                </a:solidFill>
                <a:latin typeface="Calibri"/>
              </a:rPr>
              <a:t>–   Las cuatro referencias están en APA 7 y revisadas a mano después de ZoteroBib.</a:t>
            </a:r>
          </a:p>
          <a:p>
            <a:pPr>
              <a:spcAft>
                <a:spcPts val="1000"/>
              </a:spcAft>
            </a:pPr>
            <a:r>
              <a:rPr sz="1600" b="0" i="0">
                <a:solidFill>
                  <a:srgbClr val="2B2B2B"/>
                </a:solidFill>
                <a:latin typeface="Calibri"/>
              </a:rPr>
              <a:t>–   El párrafo puente tiene los tres movimientos y termina nombrando el vacío.</a:t>
            </a:r>
          </a:p>
          <a:p>
            <a:pPr>
              <a:spcAft>
                <a:spcPts val="1000"/>
              </a:spcAft>
            </a:pPr>
            <a:r>
              <a:rPr sz="1600" b="0" i="0">
                <a:solidFill>
                  <a:srgbClr val="2B2B2B"/>
                </a:solidFill>
                <a:latin typeface="Calibri"/>
              </a:rPr>
              <a:t>–   El archivo se llama `S04_Antecedentes_Apellido`.</a:t>
            </a:r>
          </a:p>
        </p:txBody>
      </p:sp>
      <p:sp>
        <p:nvSpPr>
          <p:cNvPr id="5" name="TextBox 4"/>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Trabajo autónomo y qué viene la próxima sesión</a:t>
            </a:r>
          </a:p>
        </p:txBody>
      </p:sp>
      <p:sp>
        <p:nvSpPr>
          <p:cNvPr id="4" name="TextBox 3"/>
          <p:cNvSpPr txBox="1"/>
          <p:nvPr/>
        </p:nvSpPr>
        <p:spPr>
          <a:xfrm>
            <a:off x="640080" y="1691639"/>
            <a:ext cx="10911535" cy="4617720"/>
          </a:xfrm>
          <a:prstGeom prst="rect">
            <a:avLst/>
          </a:prstGeom>
          <a:noFill/>
        </p:spPr>
        <p:txBody>
          <a:bodyPr wrap="square" anchor="t" lIns="0" rIns="0" tIns="0" bIns="0">
            <a:spAutoFit/>
          </a:bodyPr>
          <a:lstStyle/>
          <a:p>
            <a:pPr>
              <a:spcAft>
                <a:spcPts val="1000"/>
              </a:spcAft>
            </a:pPr>
            <a:r>
              <a:rPr sz="1600" b="0" i="0">
                <a:solidFill>
                  <a:srgbClr val="2B2B2B"/>
                </a:solidFill>
                <a:latin typeface="Calibri"/>
              </a:rPr>
              <a:t>–   </a:t>
            </a:r>
            <a:r>
              <a:rPr sz="1600" b="1" i="0">
                <a:solidFill>
                  <a:srgbClr val="2B2B2B"/>
                </a:solidFill>
                <a:latin typeface="Calibri"/>
              </a:rPr>
              <a:t>Entrega:</a:t>
            </a:r>
            <a:r>
              <a:rPr sz="1600" b="0" i="0">
                <a:solidFill>
                  <a:srgbClr val="2B2B2B"/>
                </a:solidFill>
                <a:latin typeface="Calibri"/>
              </a:rPr>
              <a:t> suba `S04_Antecedentes_Apellido` a </a:t>
            </a:r>
            <a:r>
              <a:rPr sz="1600" b="1" i="0">
                <a:solidFill>
                  <a:srgbClr val="2B2B2B"/>
                </a:solidFill>
                <a:latin typeface="Calibri"/>
              </a:rPr>
              <a:t>CDigital</a:t>
            </a:r>
            <a:r>
              <a:rPr sz="1600" b="0" i="0">
                <a:solidFill>
                  <a:srgbClr val="2B2B2B"/>
                </a:solidFill>
                <a:latin typeface="Calibri"/>
              </a:rPr>
              <a:t> con las cuatro fichas y el párrafo puente.</a:t>
            </a:r>
          </a:p>
          <a:p>
            <a:pPr lvl="1">
              <a:spcAft>
                <a:spcPts val="600"/>
              </a:spcAft>
            </a:pPr>
            <a:r>
              <a:rPr sz="1500" b="0" i="0">
                <a:solidFill>
                  <a:srgbClr val="2B2B2B"/>
                </a:solidFill>
                <a:latin typeface="Calibri"/>
              </a:rPr>
              <a:t>●   [URL CDigital — campus del curso pendiente]</a:t>
            </a:r>
          </a:p>
          <a:p>
            <a:pPr>
              <a:spcAft>
                <a:spcPts val="1000"/>
              </a:spcAft>
            </a:pPr>
            <a:r>
              <a:rPr sz="1600" b="0" i="0">
                <a:solidFill>
                  <a:srgbClr val="2B2B2B"/>
                </a:solidFill>
                <a:latin typeface="Calibri"/>
              </a:rPr>
              <a:t>–   </a:t>
            </a:r>
            <a:r>
              <a:rPr sz="1600" b="1" i="0">
                <a:solidFill>
                  <a:srgbClr val="2B2B2B"/>
                </a:solidFill>
                <a:latin typeface="Calibri"/>
              </a:rPr>
              <a:t>Autónomo 1:</a:t>
            </a:r>
            <a:r>
              <a:rPr sz="1600" b="0" i="0">
                <a:solidFill>
                  <a:srgbClr val="2B2B2B"/>
                </a:solidFill>
                <a:latin typeface="Calibri"/>
              </a:rPr>
              <a:t> aplique la técnica de bola de nieve: entre a las referencias de su mejor artículo y sume dos fuentes más.</a:t>
            </a:r>
          </a:p>
          <a:p>
            <a:pPr>
              <a:spcAft>
                <a:spcPts val="1000"/>
              </a:spcAft>
            </a:pPr>
            <a:r>
              <a:rPr sz="1600" b="0" i="0">
                <a:solidFill>
                  <a:srgbClr val="2B2B2B"/>
                </a:solidFill>
                <a:latin typeface="Calibri"/>
              </a:rPr>
              <a:t>–   </a:t>
            </a:r>
            <a:r>
              <a:rPr sz="1600" b="1" i="0">
                <a:solidFill>
                  <a:srgbClr val="2B2B2B"/>
                </a:solidFill>
                <a:latin typeface="Calibri"/>
              </a:rPr>
              <a:t>Autónomo 2:</a:t>
            </a:r>
            <a:r>
              <a:rPr sz="1600" b="0" i="0">
                <a:solidFill>
                  <a:srgbClr val="2B2B2B"/>
                </a:solidFill>
                <a:latin typeface="Calibri"/>
              </a:rPr>
              <a:t> pegue las fichas en la sección de marco referencial del documento que armó con la plantilla.</a:t>
            </a:r>
          </a:p>
          <a:p>
            <a:pPr>
              <a:spcAft>
                <a:spcPts val="1000"/>
              </a:spcAft>
            </a:pPr>
            <a:r>
              <a:rPr sz="1600" b="0" i="0">
                <a:solidFill>
                  <a:srgbClr val="2B2B2B"/>
                </a:solidFill>
                <a:latin typeface="Calibri"/>
              </a:rPr>
              <a:t>–   </a:t>
            </a:r>
            <a:r>
              <a:rPr sz="1600" b="1" i="0">
                <a:solidFill>
                  <a:srgbClr val="2B2B2B"/>
                </a:solidFill>
                <a:latin typeface="Calibri"/>
              </a:rPr>
              <a:t>Autónomo 3:</a:t>
            </a:r>
            <a:r>
              <a:rPr sz="1600" b="0" i="0">
                <a:solidFill>
                  <a:srgbClr val="2B2B2B"/>
                </a:solidFill>
                <a:latin typeface="Calibri"/>
              </a:rPr>
              <a:t> subraye en sus fichas los tres conceptos que más se repiten; serán la materia prima de la próxima sesión.</a:t>
            </a:r>
          </a:p>
          <a:p>
            <a:pPr>
              <a:spcAft>
                <a:spcPts val="1000"/>
              </a:spcAft>
            </a:pPr>
            <a:r>
              <a:rPr sz="1600" b="0" i="0">
                <a:solidFill>
                  <a:srgbClr val="2B2B2B"/>
                </a:solidFill>
                <a:latin typeface="Calibri"/>
              </a:rPr>
              <a:t>–   </a:t>
            </a:r>
            <a:r>
              <a:rPr sz="1600" b="1" i="0">
                <a:solidFill>
                  <a:srgbClr val="2B2B2B"/>
                </a:solidFill>
                <a:latin typeface="Calibri"/>
              </a:rPr>
              <a:t>Próxima sesión:</a:t>
            </a:r>
            <a:r>
              <a:rPr sz="1600" b="0" i="0">
                <a:solidFill>
                  <a:srgbClr val="2B2B2B"/>
                </a:solidFill>
                <a:latin typeface="Calibri"/>
              </a:rPr>
              <a:t> se pasa de los estudios previos a la </a:t>
            </a:r>
            <a:r>
              <a:rPr sz="1600" b="1" i="0">
                <a:solidFill>
                  <a:srgbClr val="2B2B2B"/>
                </a:solidFill>
                <a:latin typeface="Calibri"/>
              </a:rPr>
              <a:t>teoría de fondo</a:t>
            </a:r>
            <a:r>
              <a:rPr sz="1600" b="0" i="0">
                <a:solidFill>
                  <a:srgbClr val="2B2B2B"/>
                </a:solidFill>
                <a:latin typeface="Calibri"/>
              </a:rPr>
              <a:t>: el marco teórico organizado por constructos.</a:t>
            </a:r>
          </a:p>
          <a:p>
            <a:pPr lvl="1">
              <a:spcAft>
                <a:spcPts val="600"/>
              </a:spcAft>
            </a:pPr>
            <a:r>
              <a:rPr sz="1500" b="0" i="0">
                <a:solidFill>
                  <a:srgbClr val="2B2B2B"/>
                </a:solidFill>
                <a:latin typeface="Calibri"/>
              </a:rPr>
              <a:t>●   Traiga abiertas su pregunta y estas cuatro fichas: de ahí salen los constructos.</a:t>
            </a:r>
          </a:p>
        </p:txBody>
      </p:sp>
      <p:sp>
        <p:nvSpPr>
          <p:cNvPr id="5" name="TextBox 4"/>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7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un_solo.png"/>
          <p:cNvPicPr>
            <a:picLocks noChangeAspect="1"/>
          </p:cNvPicPr>
          <p:nvPr/>
        </p:nvPicPr>
        <p:blipFill>
          <a:blip r:embed="rId2"/>
          <a:stretch>
            <a:fillRect/>
          </a:stretch>
        </p:blipFill>
        <p:spPr>
          <a:xfrm>
            <a:off x="10362895" y="5632704"/>
            <a:ext cx="1371600" cy="950976"/>
          </a:xfrm>
          <a:prstGeom prst="rect">
            <a:avLst/>
          </a:prstGeom>
        </p:spPr>
      </p:pic>
      <p:sp>
        <p:nvSpPr>
          <p:cNvPr id="4" name="TextBox 3"/>
          <p:cNvSpPr txBox="1"/>
          <p:nvPr/>
        </p:nvSpPr>
        <p:spPr>
          <a:xfrm>
            <a:off x="640080" y="1737360"/>
            <a:ext cx="10911535" cy="1097280"/>
          </a:xfrm>
          <a:prstGeom prst="rect">
            <a:avLst/>
          </a:prstGeom>
          <a:noFill/>
        </p:spPr>
        <p:txBody>
          <a:bodyPr wrap="square" anchor="ctr" lIns="0" rIns="0" tIns="0" bIns="0">
            <a:spAutoFit/>
          </a:bodyPr>
          <a:lstStyle/>
          <a:p>
            <a:pPr algn="ctr"/>
            <a:r>
              <a:rPr sz="3400" b="1" i="0">
                <a:solidFill>
                  <a:srgbClr val="0C2340"/>
                </a:solidFill>
                <a:latin typeface="Calibri"/>
              </a:rPr>
              <a:t>Cierre — Sesión 04</a:t>
            </a:r>
          </a:p>
        </p:txBody>
      </p:sp>
      <p:sp>
        <p:nvSpPr>
          <p:cNvPr id="5" name="TextBox 4"/>
          <p:cNvSpPr txBox="1"/>
          <p:nvPr/>
        </p:nvSpPr>
        <p:spPr>
          <a:xfrm>
            <a:off x="640080" y="3017520"/>
            <a:ext cx="10911535" cy="1645920"/>
          </a:xfrm>
          <a:prstGeom prst="rect">
            <a:avLst/>
          </a:prstGeom>
          <a:noFill/>
        </p:spPr>
        <p:txBody>
          <a:bodyPr wrap="square" anchor="t" lIns="0" rIns="0" tIns="0" bIns="0">
            <a:spAutoFit/>
          </a:bodyPr>
          <a:lstStyle/>
          <a:p>
            <a:pPr algn="ctr">
              <a:spcAft>
                <a:spcPts val="600"/>
              </a:spcAft>
            </a:pPr>
            <a:r>
              <a:rPr sz="1600" b="0" i="0">
                <a:solidFill>
                  <a:srgbClr val="2B2B2B"/>
                </a:solidFill>
                <a:latin typeface="Calibri"/>
              </a:rPr>
              <a:t>Sesión 04: Antecedentes y referentes (Fase I)</a:t>
            </a:r>
          </a:p>
          <a:p>
            <a:pPr algn="ctr">
              <a:spcAft>
                <a:spcPts val="600"/>
              </a:spcAft>
            </a:pPr>
            <a:r>
              <a:rPr sz="1600" b="0" i="0">
                <a:solidFill>
                  <a:srgbClr val="2B2B2B"/>
                </a:solidFill>
                <a:latin typeface="Calibri"/>
              </a:rPr>
              <a:t>Siguiente encuentro: continúa el hilo del mismo entregable.</a:t>
            </a:r>
          </a:p>
        </p:txBody>
      </p:sp>
      <p:sp>
        <p:nvSpPr>
          <p:cNvPr id="6" name="TextBox 5"/>
          <p:cNvSpPr txBox="1"/>
          <p:nvPr/>
        </p:nvSpPr>
        <p:spPr>
          <a:xfrm>
            <a:off x="640080" y="4754880"/>
            <a:ext cx="10911535" cy="640080"/>
          </a:xfrm>
          <a:prstGeom prst="rect">
            <a:avLst/>
          </a:prstGeom>
          <a:noFill/>
        </p:spPr>
        <p:txBody>
          <a:bodyPr wrap="square" anchor="t" lIns="0" rIns="0" tIns="0" bIns="0">
            <a:spAutoFit/>
          </a:bodyPr>
          <a:lstStyle/>
          <a:p>
            <a:pPr algn="ctr"/>
            <a:r>
              <a:rPr sz="2000" b="1" i="0">
                <a:solidFill>
                  <a:srgbClr val="007433"/>
                </a:solidFill>
                <a:latin typeface="Calibri"/>
              </a:rPr>
              <a:t>TRABAJO DE GRADO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CUN</dc:creator>
  <cp:keywords/>
  <dc:description/>
  <cp:lastModifiedBy>CUN</cp:lastModifiedBy>
  <cp:revision>1</cp:revision>
  <dcterms:created xsi:type="dcterms:W3CDTF">2013-01-27T09:14:16Z</dcterms:created>
  <dcterms:modified xsi:type="dcterms:W3CDTF">2013-01-27T09:15:58Z</dcterms:modified>
  <cp:category/>
</cp:coreProperties>
</file>