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11 — CIERRE DEL AVANCE · PREPARACIÓN PARA TG3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11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Cierre del avance · preparación para TG3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Cerrar TG2 no es terminar el trabajo de grado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Última sesión sincrónica del curso. Conviene aclarar de entrada qué significa 'cerrar'.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Cerrar TG2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dejar un avance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limpio y coherente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planteamiento, pregunta, objetivos, marco y metodología propuesta.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Cerrar TG2 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haber terminado el trabajo de grado: faltan aplicar los instrumentos, recoger datos, analizarlos, escribir resultados y sustentar.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Todo eso es TG3, y llega en el próximo periodo. Hoy se prepara el terreno para que allá solo haya que ejecutar.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Piénselo así: usted entrega un documento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cualquier otra persona podría continuar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sin llamarlo.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Ese es el estándar real de un avance bien cerrado.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Dos productos hoy: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versión limpia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 documento y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lista de pendientes para TG3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Salida esperada: checklist de cierre recorrido, documento con formato de la Plantilla APA CUN y pendientes escritos en imperativo.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significa exactamente 'versión limpia'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'Limpio' no es una sensación: tiene condiciones que se verifican una por una.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 Formato aplicado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el documento vive sobre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Plantilla APA CUN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sobre un archivo en blanco con letra Arial.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 Citas y referencias completas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toda cita del cuerpo tiene su referencia, y toda referencia fue citada.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 Sin secciones a medias sin marcar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si algo quedó incompleto, aparece explícito en los pendientes, no escondido.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 Sin comentarios ni resaltados de trabajo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se eliminan los corchetes de '[falta desarrollar]' y los amarillos del S09.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Lo que estaba resaltado o se completó, o se pasó a la lista de pendientes. No se borra sin más.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 Coherencia verificada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título, pregunta, objetivos y metodología dicen lo mismo.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 Metodología en propuesto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ni un verbo en pasado prometiendo resultados que no existen.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cierre: ítem, verificación y evidencia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4526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37178"/>
                <a:gridCol w="3637178"/>
                <a:gridCol w="363717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Ítem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se verifica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Evidencia de que está listo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Título coherente con el contenido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Léalo y pregúntese si describe lo que el documento hace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El título nombra el objeto, el propósito y el contexto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Pregunta y objetivos alineados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Los objetivos, sumados, deben responder la pregunta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Ningún objetivo sobra ni falta frente a la pregunta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Marco referencial completo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Antecedentes + marco teórico + conceptual y contextual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Cada constructo de los objetivos está definido en el marco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Metodología propuesta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Enfoque, alcance, diseño y matriz pregunta–método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La matriz tiene tantas filas como objetivos específicos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Instrumento y plan de análisis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Operacionalización, ítems y qué se hará con cada dato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Cada ítem se rastrea a un objetivo por la tabla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Referencias en APA 7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Cruce la lista final contra las citas del cuerpo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Cero citas huérfanas y cero referencias sin citar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Plantilla APA CUN aplicada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Compare márgenes, interlineado, títulos y portada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El documento se ve idéntico a la plantilla institucional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Redacción en propuesto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Ctrl+F de 'se aplicó', 'se obtuvo', 'demostró'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La búsqueda devuelve cero resultados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0807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Lo que no pueda marcar como listo no se esconde: pasa tal cual a la lista de pendientes para TG3.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Aplicar la Plantilla APA CUN sin sufrir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No se trata de imitar el formato a ojo: se trata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escribir sobre la plantilla institucional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Portada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título, autor, programa, institución y asignatura, en el orden que trae la plantilla.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Cuerpo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interlineado doble, sangría de primera línea en cada párrafo, texto alineado a la izquierda (no justificado en APA 7).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Títulos por niveles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nivel 1 centrado y en negrita; nivel 2 al margen en negrita. Aplíquelos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Estilos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a mano.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Usar Estilos es lo que permite generar la tabla de contenido automática y que quede bien numerada.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Tablas y figuras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numeradas y con título arriba; la fuente va debajo. Cada una debe mencionarse en el texto.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Referencias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página aparte, orden alfabético y sangría francesa.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Truco práctico: copie su contenido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dentro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la plantilla usando Pegar sin formato (Ctrl+Shift+V) para no arrastrar estilos viejos.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de APA 7 que más se repiten en los avances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37178"/>
                <a:gridCol w="3637178"/>
                <a:gridCol w="363717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Como suele quedar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está mal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Como debe quedar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'Según (Pérez, 2022) la clasificación…'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Cita narrativa con el apellido dentro del paréntesis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'Según Pérez (2022), la clasificación…'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'…reduce el tiempo (Pérez).'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Cita sin año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'…reduce el tiempo (Pérez, 2022).'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Referencias en el orden en que se leyeron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APA 7 exige orden alfabético por apellido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Lista alfabética con sangría francesa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Enlace pegado como URL suelta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Falta el formato de referencia completo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Apellido, N. (Año). Título. Fuente. https://doi.org/…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Cita textual larga entre comillas y sin página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Toda cita textual exige número de página o párrafo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(Pérez, 2022, p. 45); si pasa de 40 palabras, va en bloque sin comillas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Autor citado en el texto y ausente en la lista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Cita huérfana: el lector no puede rastrear la fuente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Toda cita del cuerpo aparece en referencias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Genere y corrija sus referencias en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ZoteroBib (zbib.org)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gratis, en el navegador y sin instalar nada.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revisión final de coherencia: diez minutos bien invertidos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Antes de dar por cerrado, haga esta pasada corta con el documento abierto en pantalla completa.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Lea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título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y, sin mirar más, escriba en un papel qué esperaría encontrar adentro.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Lea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¿coincide con lo que escribió en el papel? Si no, uno de los dos está mal.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Lea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objetivos específicos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voz alta: ¿sumados responden la pregunta? ¿sobra alguno?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Recorra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títulos del marco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¿aparecen ahí los mismos constructos de los objetivos?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Mire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matriz metodológica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¿hay una fila por objetivo, sin métodos huérfanos?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Revise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instrumento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¿cada bloque de ítems se conecta con alguna fila de la matriz?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en cualquiera de los seis pasos dudó más de cinco segundos, ahí hay un pendiente que anotar.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lista de pendientes para TG3: su mejor regalo del semestre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Todo lo que quedó en propuesto o a medias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 escribe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se esconde.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Esconderlo no lo desaparece: solo garantiza que en TG3 usted arranque a ciegas y perdiendo semanas.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Se escribe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imperativo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porque es una lista de acciones, no un diagnóstico.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'Aplicar la encuesta propuesta a los agentes' se ejecuta; 'falta lo de la encuesta' 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Cada pendiente lleva tres cosas: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por qué quedó pendiente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necesita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para poder hacerlo.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'qué necesita' es clave: permiso de la empresa, acceso al histórico, contacto de un experto. Eso se gestiona con anticipación.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Ordene la lista en el orden en que deberá ejecutarla en TG3, no en el orden en que se le fue ocurriendo.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Guarde la lista al final del documento o en un archivo aparte, pero que quede en el mismo lugar que el avance.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pendientes para TG3 del caso 'mesa de ayuda'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4023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37178"/>
                <a:gridCol w="3637178"/>
                <a:gridCol w="363717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Acción (en imperativo)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Por qué quedó pendiente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necesita para ejecutarla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Solicitar autorización formal a la empresa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En TG2 no hay trabajo de campo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Carta institucional y contacto del jefe de soporte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Exportar el histórico de tickets del último semestre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El dato existe pero no se ha extraído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Acceso de consulta al sistema de mesa de ayuda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Aplicar la encuesta propuesta a los agentes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El instrumento se diseñó, no se aplicó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Instrumento validado y consentimiento informado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Etiquetar la muestra de tickets por categoría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Requiere apoyo de agentes con experiencia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Acuerdo de dos agentes y criterios de etiquetado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Analizar tiempos con el plan de análisis del S08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No hay datos todavía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Hoja de cálculo en Google Sheets con los datos recogidos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Redactar resultados, discusión y conclusiones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Dependen del análisis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Resultados del punto anterior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Preparar sustentación y alistar el documento para la revisión de similitud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Corresponde al cierre de TG3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Documento final e indicaciones del Docente de TG3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Fíjese que las dos primeras acciones son de gestión, no de escritura: son las que más demoran y las que casi nadie prevé.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le espera en TG3 (para que no lo tome por sorpresa)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Trabajo de campo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aplicar los instrumentos que hoy quedaron propuestos, con los permisos correspondientes.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Análisis de datos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ejecutar el plan de análisis que ya escribió, sobre datos reales.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Resultados y discusión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capítulos nuevos. Los resultados presentan lo que salió; la discusión lo confronta con su marco.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Aquí es donde el marco teórico se cobra: si está flojo, la discusión no tiene con qué dialogar.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Conclusiones y recomendaciones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responden la pregunta de forma explícita, sin inventar lo que los datos no dicen.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Producto o prototipo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cuando el proyecto lo contempla, con su documentación técnica.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Revisión de similitud institucional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el aula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—el Docente de TG3 indica cómo opera— y entrega al repositorio.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Sustentación ante jurados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el pitch de la sesión anterior es la semilla directa de esa defensa.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en el cierre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'Ya terminé el trabajo de grado.' No: terminó el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avance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Lo que falta está en la lista de pendientes, y es la mitad del camino.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'Escondo las secciones que quedaron a medias.' Esconderlas se paga el próximo semestre con intereses. Hágalas explícitas en los pendientes.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'El antiplagio lo veo en TG3.' El hábito se cierra hoy: parafraseo propio y citas completas. Revisar al final es demasiado tarde para reescribir.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en el cierre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Entregar sin la Plantilla APA CUN aplicada no es un descuido menor: el formato institucional es parte de lo que se evalúa en el avance.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Antiplagio: higiene académica, no amenaza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 TG3 la entrega pasa por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revisión de similitud institucional del aula (CDigital)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; el Docente de TG3 confirma cómo opera. No hay que buscar servicios externos.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se reporta como coincidencia casi nunca es copia deliberada: son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citas mal hechas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parafraseo perezoso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Parafrasear no es cambiar sinónimos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es entender la idea, cerrar la fuente y escribirla con su propia estructura.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al terminar el párrafo la sintaxis del original sigue intacta, usted copió con otras palabras.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Toda idea tomada de alguien lleva cita, aunque esté parafraseada. Solo lo que es de conocimiento general no se cita.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Las citas textuales van entre comillas, con autor, año y página, y se usan con moderación.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avance construido a punta de citas textuales muestra lectura, pero no muestra criterio propio.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Cierre esta semana con las referencias completas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ZoteroBib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es lo que evita sorpresas el próximo semestre.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Parafraseo mal hecho vs. parafraseo correcto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1508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37178"/>
                <a:gridCol w="3637178"/>
                <a:gridCol w="363717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Texto fuente (ficticio)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Parafraseo perezoso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Parafraseo correcto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'La clasificación manual de solicitudes incrementa el tiempo de respuesta en las mesas de servicio.'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'La clasificación manual de peticiones aumenta el tiempo de respuesta en las mesas de servicio.'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'Cuando las solicitudes se categorizan a mano, la mesa de servicio tarda más en responder (Pérez, 2022).'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'Los modelos supervisados requieren conjuntos etiquetados de calidad.'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'Los modelos supervisados necesitan conjuntos etiquetados de calidad.'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'Sin un conjunto de datos bien etiquetado, un modelo supervisado no alcanza un desempeño confiable (Gómez, 2021).'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337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parafraseo perezoso cambia palabras y conserva la estructura: es lo que la revisión de similitud marca y lo que un lector experto reconoce de inmediato.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dejar la versión limpia y entregarla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Abra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Plantilla APA CUN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guarde una copia con el nombre de su proyecto.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Traslade su contenido sección por sección con Pegar sin formato (Ctrl+Shift+V) y aplique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Estilos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la plantilla.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Inserte la tabla de contenido automática y actualícela al final de todos los cambios.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Elimine los resaltados y comentarios de trabajo; lo que no se completó pasa a la lista de pendientes.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Cruce citas y referencias: recorra la lista final buscando cada apellido con Ctrl+F en el cuerpo.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Complete lo que falte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ZoteroBib (zbib.org)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formato APA 7 y ordene la lista alfabéticamente.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Recorra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checklist de cierre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marque cada ítem; lo no marcado pasa a los pendientes de TG3.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Descargue en PDF, nombre el archivo S11_CierreTG2_Apellido y súbalo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[URL CDigital — campus del curso pendiente].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Todo con herramientas gratuitas: Google Docs, la Plantilla APA CUN, ZoteroBib y CDigital. Nada que instalar.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Versión limpia, checklist y pendientes para TG3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20 minutos de trabajo individual, con acompañamiento del Docente.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Archivo: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documento en Google Docs llamado S11_CierreTG2_Apellido.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Recorra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checklist de cierre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ítem por ítem y marque lo que está listo y lo que 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Deje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versión limpia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 avance: formato de la Plantilla APA CUN aplicado y referencias completas en APA 7.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lista de pendientes para TG3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imperativo, con por qué quedó pendiente y qué necesita para ejecutarlo.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(verificable):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documento se lee coherente de punta a punta; ningún ítem del checklist quedó sin marcar ni sin pasar a pendientes; cualquier persona que abra su lista sabe qué falta para TG3.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 S11_CierreTG2_Apellido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[URL CDigital — campus del curso pendiente].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entregar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¿Mi documento está escrito sobre la Plantilla APA CUN y no sobre un archivo en blanco?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¿El título describe lo que el documento realmente hace?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¿Los objetivos específicos siguen alineados con la pregunta y con la matriz metodológica?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¿Toda cita tiene referencia y toda referencia fue citada en el cuerpo?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¿Eliminé resaltados, corchetes y comentarios de trabajo del documento final?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¿La metodología está redactada en propuesto, sin verbos en pasado sobre datos?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¿Mi lista de pendientes está en imperativo e incluye lo que necesito gestionar (permisos, accesos)?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¿Descargué el PDF, lo nombré S11_CierreTG2_Apellido y lo subí a CDigital?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Cierre del curso y puente a TG3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Tres ideas para llevarse: cerrar TG2 es dejar un avance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limpio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terminar el grado.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checklist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garantiza que nada quede a medias sin quedar marcado.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lista de pendientes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 el puente: en TG3 usted retoma exactamente desde ahí.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Suba a CDigital la versión limpia, el checklist recorrido y la lista de pendientes.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Revise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las indicaciones de las sesiones de trabajo autónomo y de la entrega final del avance.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Guarde el documento en su unidad personal y descargue una copia en PDF: no dependa de un solo lugar.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Llegaron al curso con un proyecto disperso y se van con un avance ordenado y con una ruta escrita. Eso era exactamente lo que TG2 debía lograr.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Nos vemos en Trabajo de Grado 3, retomando desde su propia lista de pendientes.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11: Cierre del avance · preparación para TG3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