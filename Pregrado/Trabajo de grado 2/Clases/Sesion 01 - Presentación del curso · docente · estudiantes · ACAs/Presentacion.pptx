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01 — PRESENTACIÓN DEL CURSO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2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Sesión de encuadre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Hoy: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curso · el Docente · ustedes · cómo se evalúa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AGENDA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Sesión de encuadre — hoy no vemos tema; el contenido arranca en la Sesión 02.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curso: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qué se trata, cómo trabajamos y qué se llevan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quién los acompaña y cómo contactarlo.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Ustedes: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arrancamos con un juego de 8 minutos —«dos verdades y una mentira»— y hay premio.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evalúa: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ítems tiene el aula, cuánto pesa cada uno y qué se hace con él.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Acuerdos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trabajo y el primer encargo autónomo.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2148840"/>
            <a:ext cx="8991295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Ingeniero de Sistemas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Candidato a MSc en Inteligencia Artificial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Líder Técnico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2B2B2B"/>
                </a:solidFill>
                <a:latin typeface="Calibri"/>
              </a:rPr>
              <a:t>Speaker Tecnológico</a:t>
            </a:r>
          </a:p>
        </p:txBody>
      </p:sp>
      <p:pic>
        <p:nvPicPr>
          <p:cNvPr id="5" name="Picture 4" descr="gmail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4160520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63239" y="4142232"/>
            <a:ext cx="8488375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 i="0">
                <a:solidFill>
                  <a:srgbClr val="007433"/>
                </a:solidFill>
                <a:latin typeface="Calibri"/>
              </a:rPr>
              <a:t>julian_castanoe@cun.edu.co</a:t>
            </a:r>
          </a:p>
        </p:txBody>
      </p:sp>
      <p:pic>
        <p:nvPicPr>
          <p:cNvPr id="7" name="Picture 6" descr="logo_cun_sol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5523586"/>
            <a:ext cx="1463040" cy="101437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ROMPEHIELOS — DOS VERDADES Y UNA MENTIRA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Dos verdades y una mentira · Slido · 8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58521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Entra a slido.com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escribe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que el Docente pega en el chat del Meet. Sin cuenta ni instalar nada.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juego: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«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dos verdades y una mentira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» sobre el Docente. Se proyectan tres frases suyas y votas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cuál de las tres NO es cierta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acertar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1 entre 3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así que arrancamos todos iguales.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rondas (~4 min).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Al cerrar cada una el Docente revela la mentira y cuenta la historia de la verdad más rara: ahí queda hecha su presentación.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Ronda final (~2 min):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sale la tabla de posiciones y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tres primeros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toman el micrófono con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sus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dos verdades y una mentira. Gana quien engañe a más gente. Hablan tres, no 50.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Premio: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revisión 1 a 1 con el Docente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avance del ganador, antes de la primera entrega.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Las preguntas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 toda la sesión van por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Q&amp;A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mismo Slido.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32927" y="1993391"/>
            <a:ext cx="3328415" cy="3886200"/>
          </a:xfrm>
          <a:prstGeom prst="round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34095" y="2606039"/>
            <a:ext cx="2926079" cy="2103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07433"/>
                </a:solidFill>
                <a:latin typeface="Calibri"/>
              </a:rPr>
              <a:t>slido.com</a:t>
            </a:r>
          </a:p>
          <a:p>
            <a:pPr algn="ctr">
              <a:spcBef>
                <a:spcPts val="1400"/>
              </a:spcBef>
            </a:pPr>
            <a:r>
              <a:rPr sz="1300" b="0" i="0">
                <a:solidFill>
                  <a:srgbClr val="0C2340"/>
                </a:solidFill>
                <a:latin typeface="Calibri"/>
              </a:rPr>
              <a:t>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código del evento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 te lo pega el Docente en el </a:t>
            </a:r>
            <a:r>
              <a:rPr sz="1300" b="1" i="0">
                <a:solidFill>
                  <a:srgbClr val="0C2340"/>
                </a:solidFill>
                <a:latin typeface="Calibri"/>
              </a:rPr>
              <a:t>chat del Meet</a:t>
            </a:r>
            <a:r>
              <a:rPr sz="1300" b="0" i="0">
                <a:solidFill>
                  <a:srgbClr val="0C2340"/>
                </a:solidFill>
                <a:latin typeface="Calibri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32927" y="5230367"/>
            <a:ext cx="332841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 i="0">
                <a:solidFill>
                  <a:srgbClr val="007433"/>
                </a:solidFill>
                <a:latin typeface="Calibri"/>
              </a:rPr>
              <a:t>[URL Slido — evento del rompehielos pendiente · TRABAJO DE GRADO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EVALÚA — LOS ÍTEMS DEL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Evaluación y notas: solo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los pesos suman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100%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fechas: enunciados y Presentación del Curso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3871"/>
                <a:gridCol w="1192016"/>
                <a:gridCol w="1192016"/>
                <a:gridCol w="825242"/>
                <a:gridCol w="5868388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 en CDigital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 (peso)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haces con él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1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2 (30%)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Subes el documento (plantilla APA CUN) al espacio de la tarea.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resuelves en CDigital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diligencias tú mismo en el aula (cuestionario individual).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Foro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3 (40%)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Participas en el foro valorando el trabajo de tus pares.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trabajamos: TG2 es un taller de escritura, no una clase magistral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sincrónica por semana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once encuentros.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empieza de 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trae un proyecto y lo lleva a un avance consolidado.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 cada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revisa en CDigital lo que el Docente deja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escribe algo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sea imperfecto.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Durante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15 minutos de criterio y ejemplo, y el resto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escribiendo o corrigiendo su propio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 Docente al 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Después: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termina la sección y la sube a CDigital antes de la siguiente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traer siempre: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 de trabajo de grado abierto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la versión más reciente.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sección de la semana anterior ya escrita (aunque esté fea).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duda concreta: “este párrafo no me cuadra”, no “no sé por dónde empezar”.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Principio del curso: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solo cuenta lo escrito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“Lo tengo en la cabeza” no es un avance, es una intención.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Aviso honesto sobre este curso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Trabajo de Grado 2 no tiene Syllabus SIAC cargado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 carpeta del programa. El temario que verá a continuación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orientativo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se construyó a partir del Manual del Docente y de la ruta que sigue TG3.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Lo que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sí está confirmado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evaluación: los tres cortes, sus quices, sus parciales, la ACA Final y la auto/coevaluación salen del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libro de calificaciones del aula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de una suposición. Los verá con su peso en la slide «CÓMO SE EVALÚA».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Qué significa esto en la práctica: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el orden de los temas puede ajustarse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pero la estructura de evaluación y el producto final no cambian. Si algo se mueve, el Docente lo avisa en CDigital, no de palabra.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(1/2): del tema al marco referencial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Presentación del curso, del Docente, de ustedes y de cómo se evalúa (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hoy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Encuadre, acuerdo pedagógico y encargo autónomo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 provisional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esqueleto del avance en una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Estructura del documento de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 de secciones y plantilla APA CUN aplicada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Antecedentes y referentes (Fase I)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Fichas de lectura de los primeros referentes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teórico — avance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Bases teóricas organizadas por concepto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Marco conceptual y contextual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Definiciones operativas y contexto concreto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Cuando un lunes sea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festivo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esa sesión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se cancela. La actividad queda en la carpeta de esa sesión en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Drive de clases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(`Clases/Sesion NN - …/`) y lo que haya que entregar se sube, como siempre, a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Mapa del curso (2/2): del método al cierre del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008629"/>
                <a:gridCol w="4951452"/>
                <a:gridCol w="49514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qué se ocupa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queda escrito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 (propuesto)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tipo y alcance, escritos en futuro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08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 (propuestos)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Bosquejo de instrumento y plan de análisis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09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Integración del avance · correcciones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Documento consolidado y coherente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Socialización de avances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Pitch de 3 minutos y retroalimentación de pares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Cierre del avance · preparación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Versión limpia y lista de pendientes para TG3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once sesiones construyen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falta a una, la siguiente le va a pedir algo que no escribió.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se llevan al final: el avance escrito que alimenta TG3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producto de TG2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el avance consolidado de su trabajo de grado.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Terminar TG2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terminar el trabajo de grado. Es dejarlo listo para que en TG3 solo quede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ejecutar y sustentar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cerrar el periodo su documento debe tener: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Planteamiento del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pregunta y objetivos definitivos.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Marco referencial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antecedentes, marco teórico, conceptual y contextual, citados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Metodología 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(en futuro: “se aplicará”, “se propone”), con instrumentos bosquejados.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pendientes para TG3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explícita y en imperativo.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qué le sirve después: quien llega a TG3 con esto hecho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arranca ejecutando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quien llega sin esto, repite TG2 dentro de TG3 y no alcanza a sustentar.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Aquí no hay resultados todavía: el trabajo de campo es de TG3. Prometer hallazgos en este avance es el error que más se arrastra.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acuerdo pedagógico: qué pactamos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pacto de trabajo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se deja por escrito hoy en el espacio del curso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Qué contiene, punto por punto: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sección escrita por sesión, subida antes del siguiente encuentro.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Formato: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plantilla APA CUN, abierta en Google Docs.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Canal: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CDigital para todo lo que se entrega y se 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Festivos: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lunes festivo =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clase autónoma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La actividad queda en la carpeta de esa sesión en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Drive de clases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la entrega sigue siendo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el Docente comenta sobre lo entregado; sin entrega no hay retroalimentación posible.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 trámite: es lo que se invoca cuando alguien dice “yo no sabía”. Léalo antes de aceptarlo.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Corte por corte: qué hay en el aula y qué se prepara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825242"/>
                <a:gridCol w="3117581"/>
                <a:gridCol w="3300968"/>
                <a:gridCol w="366774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Corte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hay en el aula (CDigital)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prepara para eso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Flojo vs. bueno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cuestionarios que se resuelven en el aula, dentro de su ventana. No se sube archivo.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Delimitación y formulación: tema delimitado, problema, pregunta, objetivos y título provisional. Guías escritas: `Quiz 1 (6%)` y `Parcial 1 (24%)`.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“IA en las empresas” · Bueno: actor, fenómeno y contexto en una frase, con objetivos que responden 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también cuestionarios en el aula.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referencial: antecedentes, marco teórico, conceptual y contextual, citados en APA 7. Guías: `Quiz 2 (9%)` y `Parcial 2 (21%)`.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definiciones copiadas una tras otra · Bueno: tres o cuatro conceptos hilados, cada uno sosteniendo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Corte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(tarea: el único documento que se sube)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+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(cuestionario) y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(foro).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Metodología propuesta e integración del avance en una versión limpia, lista para TG3. Guías: `Quiz 3 (4%)` y `ACA Final (32,8%)`.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Flojo: método “porque sí” y secciones pegadas · Bueno: cada objetivo con su método, y un documento sin costuras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peso de cada ítem está en la slide «CÓMO SE EVALÚA» de esta sesión, con su tipo de actividad. Enunciados y criterios: `Clases/Recursos/ACAs/`;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fechas exactas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la Presentación del Curso y en CDigital.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entrega,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plantilla APA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`Clases/Recursos/` (*Archivo → Abrir con → Documentos de Google*).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Trabaje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en el mismo documento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TG2 se evalúa por versiones de un texto que crece, no por archivos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Nombre el archivo `SNN_Tema_Apellido`. Ejemplo: `S02_PreguntaObjetivos_Perez`.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(*Archivo → Descargar → PDF*), salvo que el Docente pida el enlace.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aula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tarea documental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Ese es el archivo que se sube, en https://cdigital.cun.edu.co/course/view.php?id=129268. Los avances de cada sesión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se suben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guardan en su Drive y se traen a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Verifique el estado: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subido no es entregado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Guarde la captura del envío si el campus la permite.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entrega tarde: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cierre. Se recibe, pero se califica lo que exista dentro del plazo.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quices y parciales no se suben: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cuestionarios que se resuelven en el aula dentro de su ventana; si se cierra, no hay archivo que lo reemplace.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que no está en CDigital, no está entregado.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No hay entregas por WhatsApp ni por correo personal.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Integridad académica: en trabajo de grado se revisa de verdad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lo que no es suyo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ideas, datos, tablas, figuras, código y fragmentos de su propio trabajo anterior.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Parafrasear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reescribir con sus palabras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citar igual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cambiar dos palabras no es parafrasear.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Cuenta como plagio: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Copiar y pegar sin comillas ni referencia.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Traducir un texto ajeno y firmarlo como propio.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Reutilizar un trabajo de otro semestre sin declararlo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autoplagio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TG3 la entrega pasa por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similitud institucional del aula (CDigital)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allá el Docente confirma cómo opera: el hábito se corrige aquí, no allá.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detecta plagio se activa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debido proceso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consecuencias sobre la opción de grado.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anote la fuente en el instante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que pega algo. En un documento que crece seis meses, reconstruirla es imposible.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Inteligencia artificial generativa: reglas de la casa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Sí se puede usar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para entender un concepto, ordenar la estructura de una sección o mejorar la redacción de un párrafo que usted ya escribió.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Se declara.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línea al final del documento: qué herramienta usó y para qué. Usarla no es falta; ocultarlo sí.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cada referencia: estos modelos inventan autores, títulos y DOIs.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Y recuerde que en TG3 hay sustentación ante jurados: un párrafo que usted no puede explicar en voz alta le va a costar caro.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Herramientas del curso: todas gratis, todas en el navegador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4032"/>
                <a:gridCol w="5409920"/>
                <a:gridCol w="311758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Herramienta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Para qué la usamos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aparece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CDigital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Entrega oficial, materiales, avisos y notas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Siempre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Docs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Escribir el avance sobre la plantilla APA CUN, con historial de versiones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Todas las sesiones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Buscar antecedentes y referentes; ver quién cita a quién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Desde la sesión de antecedentes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SciELO y Redalyc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Fuentes abiertas iberoamericanas, útiles para el contexto local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Marco referencial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 (web)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Texto completo de bases suscritas, con login institucional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Cuando el PDF no es abierto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ZoteroBib (zbib.org)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Generar referencias en APA 7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vez que cite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Excalidraw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Diagramar el problema o el diseño metodológico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Sesiones de problema y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se exige instalar nada: ni Office de escritorio, ni Mendeley, ni Zotero de escritorio. Un navegador y su cuenta institucional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pedir ayuda (y cómo pedirla bien)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Canal oficial: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espacio de mensajes o foro del curso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Ahí queda registro de lo que se preguntó y se respondió.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Correo del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(el de la slide *Docente*): novedades personales — incapacidad, cruce de horario, fuerza mayor.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 de respuesta: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días hábiles y, en todo caso,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 del siguiente encuentro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el encuentro: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taller es el momento de revisión uno a uno. Llegue con el párrafo abierto y señalado.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buena pregunta trae el texto: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Mal: “profe, ¿cómo hago el marco teórico?”.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Bien: “tengo estos tres conceptos y estas cuatro fuentes: ¿sobra alguno o falta uno?”.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va a faltar, avise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revise CDigital ese mismo día: en TG2 una semana perdida se nota en el avance.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convivencia del encuentro virtual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Puntualidad.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empieza a la hora del pie de estas diapositivas. La primera parte fija el criterio de la sesión: sin eso, el taller no rinde.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Micrófono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apagado mientras alguien expone.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Compartir pantalla es parte del curso.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las revisiones se proyecta el documento de alguien;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cámara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agradece si su conexión lo permite. Nadie se burla de un borrador: todos mostramos texto a medio hacer.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Respeto en la retroalimentación.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comenta el texto, no a la persona, y siempre con una propuesta concreta: qué cambiar y por qué.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Preguntas frecuentes del primer día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481328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261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“¿Esto se pierde fácil?”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 pierde por dejar pasar la ventana de un quiz o un parcial y por no entregar la ACA Final; casi nunca por escribir mal. El documento se corrige; la ventana cerrada, no.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“¿Puedo trabajar solo?”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Según lo que autorice el programa: consúltelo hoy, no a mitad de periodo.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47288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5570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“¿Puedo cambiar de tema?”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Reformular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(afinar el foco) sí, y hoy mismo.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Cambiar de proyecto entero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cuesta semanas que este periodo no tiene: solo por fuerza mayor y hablado con el Docente.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90118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1091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“¿Me sirve lo que hice en el semestre anterior?”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Sí, esa es la idea: TG2 continúa lo que ya existe. Pero se revisa, se actualiza y se cita si reutiliza fragmentos propios.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debe tener listo para la Sesión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 (obligatoria):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delimitación y reformulación del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se pasa de un tema amplio a uno investigable.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Hoy no se dictó: se lee en casa y se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retoma al abrir la Sesión 02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está: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ya viene en tu carpeta del curso, en `Sesion 01 - …/` (el PDF y el archivo `Lectura autonoma - Sesion 01.txt` con la cita y el enlace). También queda publicada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Haga el inventario de su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Google Doc llamado `S01_EstadoProyecto_Apellido`: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matriz de estado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para cada sección (tema, problema, objetivos, marco, metodología) marque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/ a medias / inexistente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pegue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(el párrafo o el enlace).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tema delimitado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sola frase: actor + fenómeno +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compromisos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concretos suyos para las próximas dos semanas.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Súbalo a CDigital antes de la Sesión 02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abra las dos guías del primer corte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`Clases/Recursos/ACAs/`: `Quiz 1 (6%)` y `Parcial 1 (24%)`, que es lo que se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“A medias” e “inexistente” son respuestas honestas y válidas. Lo que no sirve es el “más o menos” sin nada escrito debajo.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ACUERDOS DE TRABAJO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Entrega oficial: CDigital.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 que no esté ahí, no está entregado.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713232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Traer el avance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escrito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 cada encuentro: se trabaja sobre lo que ya existe.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621024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730752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Integridad académica: citar siempre en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El plagio tiene debido proceso.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Lectura autónoma: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Delimitación / reformulación del tema — la retomamos al abrir la Sesión 02.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Revisar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Presentación del Curso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completa (fechas, evaluación, contenido de todas las sesiones).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Abrir los enunciados de `Clases/Recursos/ACAs/`: son la guía escrita de lo que evalúa cada corte.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formulados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pregunta, objetivos y título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provisional.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estructura APA CUN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antecedentes Fase I, más pregunta, objetivos y título.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marco teórico, conceptual y contextual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cómo se articulan con tu pregunta.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08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Repasa los tres marcos y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diseño metodológico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enfoque, tipo, alcance y diseño.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instrumentos y plan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propuestos y la integración del avance.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avance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plantilla APA CUN, integrado y listo para TG3.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 forma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individual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, valorando tu participación real.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aporte: valora hechos del trabajo del equipo, nunca a las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Ya sabemos qué haremos, cómo se evalúa y quién es quién.</a:t>
            </a:r>
          </a:p>
          <a:p>
            <a:pPr algn="ctr">
              <a:spcAft>
                <a:spcPts val="600"/>
              </a:spcAft>
            </a:pPr>
            <a:r>
              <a:rPr sz="1600" b="1" i="0">
                <a:solidFill>
                  <a:srgbClr val="2B2B2B"/>
                </a:solidFill>
                <a:latin typeface="Calibri"/>
              </a:rPr>
              <a:t>Sesión 02: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arranca el contenido del curso.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