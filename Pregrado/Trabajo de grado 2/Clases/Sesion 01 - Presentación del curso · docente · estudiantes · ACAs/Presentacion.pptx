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01 — PRESENTACIÓN DEL CURSO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Trabajo de Grado 2 — Modelos de Innovación (Ing. Sistemas)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01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· Sesión de encuadre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Hoy: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el curso · el Docente · ustedes · las ACAs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AGENDA DE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B2B2B"/>
                </a:solidFill>
                <a:latin typeface="Calibri"/>
              </a:rPr>
              <a:t>Sesión de encuadre — hoy no vemos tema; el contenido arranca en la Sesión 02.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79"/>
            <a:ext cx="10911535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El curso: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qué se trata, cómo trabajamos y qué se llevan al final.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El Docente: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quién los acompaña y cómo contactarlo.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Ustedes: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nos presentamos en el tablero colaborativo.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Las ACAs: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qué se entrega, cuánto pesa y dónde se sube.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Acuerdos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trabajo y el primer encargo autónomo.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Docente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2148840"/>
            <a:ext cx="8991295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Ingeniero de Sistemas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Candidato a MSc en Inteligencia Artificial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Líder Técnico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Speaker Tecnológico</a:t>
            </a:r>
          </a:p>
        </p:txBody>
      </p:sp>
      <p:pic>
        <p:nvPicPr>
          <p:cNvPr id="5" name="Picture 4" descr="gmail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4160520"/>
            <a:ext cx="292608" cy="2926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63239" y="4142232"/>
            <a:ext cx="848837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1" i="0">
                <a:solidFill>
                  <a:srgbClr val="007433"/>
                </a:solidFill>
                <a:latin typeface="Calibri"/>
              </a:rPr>
              <a:t>julian_castanoe@cun.edu.co</a:t>
            </a:r>
          </a:p>
        </p:txBody>
      </p:sp>
      <p:pic>
        <p:nvPicPr>
          <p:cNvPr id="7" name="Picture 6" descr="logo_cun_sol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523586"/>
            <a:ext cx="1463040" cy="101437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PRESÉNTATE — ROMPEHIELOS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B2B2B"/>
                </a:solidFill>
                <a:latin typeface="Calibri"/>
              </a:rPr>
              <a:t>Preséntate: quién eres y qué esperas del curso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79"/>
            <a:ext cx="58521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Escanea o abre: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https://padlet.com/andres_dfx/cun-wruz81hmf9k06gd7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En un post-it escribe: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nombre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+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expectativa del curso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o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tema de interés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(1 frase).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Tablero oficial: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Padlet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(mismo enlace en los 5 cursos).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Ahora (~7 min). Leemos juntos 3–4 notas (sin juzgar).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32927" y="1993391"/>
            <a:ext cx="3328415" cy="388620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presentacion_estudia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2655" y="2103120"/>
            <a:ext cx="310896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32927" y="5230367"/>
            <a:ext cx="3328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C2340"/>
                </a:solidFill>
                <a:latin typeface="Calibri"/>
              </a:rPr>
              <a:t>Escanea o abre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32927" y="5468112"/>
            <a:ext cx="3328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07433"/>
                </a:solidFill>
                <a:latin typeface="Calibri"/>
              </a:rPr>
              <a:t>https://padlet.com/andres_dfx/cun-wruz81hmf9k06gd7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LAS ACAs — QUÉ SE EVALÚA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B2B2B"/>
                </a:solidFill>
                <a:latin typeface="Calibri"/>
              </a:rPr>
              <a:t>Entrega oficial: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CDigital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011679"/>
          <a:ext cx="10911533" cy="20116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93453"/>
                <a:gridCol w="7763976"/>
                <a:gridCol w="1154104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ACA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entregas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Peso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ACA 1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Corte 1 · Delimitación y formulación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30%*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ACA 2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Corte 2 · Marco referencial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30%*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ACA 3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Corte 3 · Metodología e integración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40%*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1605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Enunciado completo y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fechas exactas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: `Clases/Recursos/ACAs/` y la Presentación del Curso.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Cómo trabajamos: TG2 es un taller de escritura, no una clase magistral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Una hora sincrónica por semana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once encuentros. Usted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empieza de cero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trae un proyecto y lo lleva a un avance consolidado.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Antes de cada encuentro: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revisa en CDigital lo que el Docente deja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escribe algo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aunque sea imperfecto.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Durante el encuentro: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15 minutos de criterio y ejemplo, y el resto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escribiendo o corrigiendo su propio documento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 el Docente al lado.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Después: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termina la sección y la sube a CDigital antes de la siguiente clase.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Qué traer siempre: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Su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documento de trabajo de grado abierto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en la versión más reciente.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La sección de la semana anterior ya escrita (aunque esté fea).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Una duda concreta: “este párrafo no me cuadra”, no “no sé por dónde empezar”.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Principio del curso: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solo cuenta lo escrito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 “Lo tengo en la cabeza” no es un avance, es una intención.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Aviso honesto sobre este curso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1225296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Trabajo de Grado 2 no tiene Syllabus SIAC cargado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en la carpeta del programa. El temario que verá a continuación es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orientativo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: se construyó a partir del Manual del Docente y de la ruta que sigue TG3.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91256"/>
            <a:ext cx="10911535" cy="1225296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300984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Por lo mismo, los porcentajes de los tres cortes (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30 / 30 / 40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) están marcados con asterisco: son la regla general del reglamento, y se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confirman en CDigital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, que es la fuente oficial de este grupo.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645152"/>
            <a:ext cx="10911535" cy="1225296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754880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Qué significa esto en la práctica: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el orden de los temas puede ajustarse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, pero el producto final y los tres momentos de entrega no cambian. Si algo se mueve, el Docente lo avisa en CDigital, no de palabra.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Mapa del curso (1/2): del tema al marco referencial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35204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08629"/>
                <a:gridCol w="4951452"/>
                <a:gridCol w="4951452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Sesión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De qué se ocupa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queda escrito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01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Presentación del curso, del Docente, de ustedes y de las ACAs (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hoy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Encuadre, acuerdo pedagógico y encargo autónomo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02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Pregunta, objetivos y título provisional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esqueleto del avance en una página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03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Estructura del documento / artículo de avance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Índice de secciones y plantilla APA CUN aplicada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04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Antecedentes y referentes (Fase I)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Fichas de lectura de los primeros referentes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05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Marco teórico — avance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Bases teóricas organizadas por concepto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06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Marco conceptual y contextual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Definiciones operativas y contexto concreto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34924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Cuando un lunes sea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festivo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, esa sesión es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clase autónoma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: no se cancela, la actividad queda publicada en CDigital.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Mapa del curso (2/2): del método al cierre del avance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08629"/>
                <a:gridCol w="4951452"/>
                <a:gridCol w="4951452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Sesión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De qué se ocupa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queda escrito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07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Diseño metodológico (propuesto)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Enfoque, tipo y alcance, escritos en futuro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08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Instrumentos y plan de análisis (propuestos)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Bosquejo de instrumento y plan de análisis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09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Integración del avance · correcciones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Documento consolidado y coherente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Socialización de avances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Pitch de 3 minutos y retroalimentación de pares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Cierre del avance · preparación para TG3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Versión limpia y lista de pendientes para TG3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Las once sesiones construyen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un solo documento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 Si falta a una, la siguiente le va a pedir algo que no escribió.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Qué se llevan al final: el avance escrito que alimenta TG3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producto de TG2 es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 solo documento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el avance consolidado de su trabajo de grado.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Terminar TG2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 terminar el trabajo de grado. Es dejarlo listo para que en TG3 solo quede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ejecutar y sustentar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Al cerrar el periodo su documento debe tener: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Planteamiento del problema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pregunta y objetivos definitivos.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Marco referencial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antecedentes, marco teórico, conceptual y contextual, citados en APA 7.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Metodología propuesta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(en futuro: “se aplicará”, “se propone”), con instrumentos bosquejados.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Una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lista de pendientes para TG3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explícita y en imperativo.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Para qué le sirve después: quien llega a TG3 con esto hecho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arranca ejecutando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; quien llega sin esto, repite TG2 dentro de TG3 y no alcanza a sustentar.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Aquí no hay resultados todavía: el trabajo de campo es de TG3. Prometer hallazgos en este avance es el error que más se arrastra.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acuerdo pedagógico: qué pactamos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pacto de trabajo del curso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y se deja por escrito hoy en el espacio del curso en CDigital.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Qué contiene, punto por punto: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Ritmo: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una sección escrita por sesión, subida antes del siguiente encuentro.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Formato: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plantilla APA CUN, abierta en Google Docs.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Canal: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CDigital para todo lo que se entrega y se califica.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Festivos: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lunes festivo =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clase autónoma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con actividad publicada.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Retroalimentación: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el Docente comenta sobre lo entregado; sin entrega no hay retroalimentación posible.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No es un trámite: es lo que se invoca cuando alguien dice “yo no sabía”. Léalo antes de aceptarlo.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Las ACAs, una por una: qué se entrega y qué se mira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20116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16935"/>
                <a:gridCol w="2934194"/>
                <a:gridCol w="2934194"/>
                <a:gridCol w="412621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ACA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entrega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mira el Docente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Flojo vs. bueno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ACA 1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Delimitación y formulación: tema delimitado, problema, pregunta, objetivos y título provisional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Que el tema tenga foco y que objetivos y pregunta hablen de lo mismo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Flojo: “IA en las empresas” · Bueno: actor, fenómeno y contexto en una sola frase, con objetivos que responden a la pregunta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ACA 2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Marco referencial: antecedentes, marco teórico, conceptual y contextual con citas en APA 7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Que las fuentes se usen como argumento y no como adorno; que estén citadas en el cuerpo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Flojo: definiciones copiadas una tras otra · Bueno: tres o cuatro conceptos hilados, cada uno sosteniendo una parte de la pregunta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ACA 3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Metodología propuesta e integración del avance en una versión limpia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Coherencia objetivo → método → instrumento, y que el documento se lea como un todo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Flojo: método “porque sí” y secciones pegadas · Bueno: matriz donde cada objetivo tiene su método, y un documento sin costuras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8404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Enunciado completo, criterios y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fechas exactas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de cada corte: `Clases/Recursos/ACAs/` y CDigital.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Cómo se entrega,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Escriba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Google Docs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sobre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plantilla APA CUN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`Clases/Recursos/` (*Archivo → Abrir con → Documentos de Google*).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Trabaje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siempre en el mismo documento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TG2 se evalúa por versiones de un texto que crece, no por archivos sueltos.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Nombre el archivo `SNN_Tema_Apellido`. Ejemplo: `S02_PreguntaObjetivos_Perez`.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Entregue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PDF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(*Archivo → Descargar → PDF*), salvo que el Docente pida el enlace.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Suba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el espacio de la sesión: [URL CDigital — campus del curso pendiente]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6.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Verifique el estado: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subido no es entregado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Guarde la captura del envío si el campus la permite.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Si entrega tarde: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avise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antes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del cierre. Se recibe, pero se califica lo que exista dentro del plazo.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Lo que no está en CDigital, no está entregado.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No hay entregas por WhatsApp ni por correo personal.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Integridad académica: en trabajo de grado se revisa de verdad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Todo lo que no es suyo se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cita en APA 7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ideas, datos, tablas, figuras, código y fragmentos de su propio trabajo anterior.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Parafrasear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 reescribir con sus palabras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y citar igual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; cambiar dos palabras no es parafrasear.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Cuenta como plagio: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Copiar y pegar sin comillas ni referencia.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Traducir un texto ajeno y firmarlo como propio.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Reutilizar un trabajo de otro semestre sin declararlo (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autoplagio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En TG3 la entrega pasa por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revisión de similitud institucional del aula (CDigital)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y allá el Docente confirma cómo opera: el hábito se corrige aquí, no allá.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Si se detecta plagio se activa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debido proceso institucional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con consecuencias sobre la opción de grado.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Regla práctica: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anote la fuente en el instante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en que pega algo. En un documento que crece seis meses, reconstruirla es imposible.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Inteligencia artificial generativa: reglas de la casa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Sí se puede usar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para entender un concepto, ordenar la estructura de una sección o mejorar la redacción de un párrafo que usted ya escribió.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Se declara.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Una línea al final del documento: qué herramienta usó y para qué. Usarla no es falta; ocultarlo sí.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33087"/>
            <a:ext cx="10911535" cy="1225296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42816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Verifique cada referencia: estos modelos inventan autores, títulos y DOIs.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Y recuerde que en TG3 hay sustentación ante jurados: un párrafo que usted no puede explicar en voz alta le va a costar caro.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Herramientas del curso: todas gratis, todas en el navegador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40233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84032"/>
                <a:gridCol w="5409920"/>
                <a:gridCol w="3117581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Herramienta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Para qué la usamos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Cuándo aparece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CDigital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Entrega oficial, materiales, avisos y notas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Siempre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Google Docs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Escribir el avance sobre la plantilla APA CUN, con historial de versiones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Todas las sesiones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Google Académico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Buscar antecedentes y referentes; ver quién cita a quién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Desde la sesión de antecedentes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SciELO y Redalyc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Fuentes abiertas iberoamericanas, útiles para el contexto local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Marco referencial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Biblioteca CUN (web)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Texto completo de bases suscritas, con login institucional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Cuando el PDF no es abierto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ZoteroBib (zbib.org)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Generar referencias en APA 7 sin instalar ni registrarse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Cada vez que cite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Excalidraw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Diagramar el problema o el diseño metodológico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Sesiones de problema y método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No se exige instalar nada: ni Office de escritorio, ni Mendeley, ni Zotero de escritorio. Un navegador y su cuenta institucional bastan.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Cómo pedir ayuda (y cómo pedirla bien)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Canal oficial: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espacio de mensajes o foro del curso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Ahí queda registro de lo que se preguntó y se respondió.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Correo del Docente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(el de la slide *Docente*): novedades personales — incapacidad, cruce de horario, fuerza mayor.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Tiempo de respuesta: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días hábiles y, en todo caso,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antes del siguiente encuentro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 el encuentro: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taller es el momento de revisión uno a uno. Llegue con el párrafo abierto y señalado.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Una buena pregunta trae el texto: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Mal: “profe, ¿cómo hago el marco teórico?”.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Bien: “tengo estos tres conceptos y estas cuatro fuentes: ¿sobra alguno o falta uno?”.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Si va a faltar, avise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antes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revise CDigital ese mismo día: en TG2 una semana perdida se nota en el avance.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 de convivencia del encuentro virtual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1225296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Puntualidad.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Se empieza a la hora del pie de estas diapositivas. La primera parte fija el criterio de la sesión: sin eso, el taller no rinde.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Micrófono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apagado mientras alguien expone.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91256"/>
            <a:ext cx="10911535" cy="1225296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300984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Compartir pantalla es parte del curso.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En las revisiones se proyecta el documento de alguien; la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cámara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se agradece si su conexión lo permite. Nadie se burla de un borrador: todos mostramos texto a medio hacer.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645152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754880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Respeto en la retroalimentación.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Se comenta el texto, no a la persona, y siempre con una propuesta concreta: qué cambiar y por qué.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Preguntas frecuentes del primer día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1225296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“¿Esto se pierde fácil?”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Se pierde por no entregar, casi nunca por escribir mal. El documento se corrige; la entrega que no llegó, no.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“¿Puedo trabajar solo?”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Según lo que autorice el programa: consúltelo hoy, no a mitad de periodo.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91256"/>
            <a:ext cx="10911535" cy="1225296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300984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“¿Puedo cambiar de tema?”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Reformular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(afinar el foco) sí, y hoy mismo.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Cambiar de proyecto entero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cuesta semanas que este periodo no tiene: solo por fuerza mayor y hablado con el Docente.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645152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754880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“¿Me sirve lo que hice en el semestre anterior?”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Sí, esa es la idea: TG2 continúa lo que ya existe. Pero se revisa, se actualiza y se cita si reutiliza fragmentos propios.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Lo que debe tener listo para la Sesión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Lectura autónoma (obligatoria):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delimitación y reformulación del tema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cómo se pasa de un tema amplio a uno investigable.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Hoy no se dictó: se lee en casa y se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retoma al abrir la Sesión 02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Dónde: material de la Sesión 01 en CDigital — [URL CDigital — campus del curso pendiente]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Haga el inventario de su proyecto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un Google Doc llamado `S01_EstadoProyecto_Apellido`: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Una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matriz de estado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para cada sección (tema, problema, objetivos, marco, metodología) marque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lista / a medias / inexistente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pegue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evidencia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(el párrafo o el enlace).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Su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tema delimitado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una sola frase: actor + fenómeno + contexto.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Tres compromisos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concretos suyos para las próximas dos semanas.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Súbalo a CDigital antes de la Sesión 02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abra el enunciado de la ACA 1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`Clases/Recursos/ACAs/`.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“A medias” e “inexistente” son respuestas honestas y válidas. Lo que no sirve es el “más o menos” sin nada escrito debajo.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 DE TRABAJO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Entrega oficial: CDigital.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Lo que no esté ahí, no está entregado.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Traer el avance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escrito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a cada encuentro: se trabaja sobre lo que ya existe.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621024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730752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Integridad académica: citar siempre en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APA 7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 El plagio tiene debido proceso.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Lectura autónoma: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Delimitación / reformulación del tema — la retomamos al abrir la Sesión 02.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Revisar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Presentación del Curso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completa (fechas, evaluación, contenido de todas las sesiones).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Abrir el enunciado de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ACA 1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`Clases/Recursos/ACAs/` y leerlo entero.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Ya sabemos qué haremos, cómo se evalúa y quién es quién.</a:t>
            </a:r>
          </a:p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2B2B2B"/>
                </a:solidFill>
                <a:latin typeface="Calibri"/>
              </a:rPr>
              <a:t>Sesión 02: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arranca el contenido del curso.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