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325880" cy="9192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303324"/>
            <a:ext cx="10911535" cy="14764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SESIÓN 06 — MARCO CONCEPTUAL Y CONTEXTUAL</a:t>
            </a:r>
          </a:p>
          <a:p>
            <a:pPr algn="ctr">
              <a:spcBef>
                <a:spcPts val="800"/>
              </a:spcBef>
            </a:pPr>
            <a:r>
              <a:rPr sz="1600" b="0" i="0">
                <a:solidFill>
                  <a:srgbClr val="CFDDEE"/>
                </a:solidFill>
                <a:latin typeface="Calibri"/>
              </a:rPr>
              <a:t>Trabajo de Grado 2 — Modelos de Innovación (Ing. Sistemas)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37560"/>
            <a:ext cx="10911535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Sesión 06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Tema: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Marco conceptual y contextual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Asignatura: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TRABAJO DE GRADO 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"Tiempo de atención" no significa lo mismo para dos personas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Pregunte en una mesa de ayuda qué es el tiempo de atención y saldrán tres respuestas distintas.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El analista dirá "desde que abro el ticket hasta que lo cierro".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El usuario dirá "desde que llamé hasta que me solucionaron".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El jefe dirá "desde que entra al sistema hasta que se factura".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Si su documento no dice cuál de las tres es, cualquier medición posterior queda sin piso.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Ese es el trabajo de hoy: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fijar el significado de sus términos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acotar dónde ocurre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el problema.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Dos secciones cortas —conceptual y contextual— pero son las que sostienen toda la metodología que viene después.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Con esto queda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cerrado el marco referencial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antecedentes, teoría, conceptos y contexto.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Marco conceptual = definiciones operativas, no de diccionario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la definición de sus términos clave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tal como los usa su proyecto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copiar la entrada de un diccionario, de una enciclopedia en línea ni de la primera página del buscador.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Definición operativa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= una definición acotada que dice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cómo se reconocería o mediría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el término en la práctica.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"Tiempo de atención" no es "lo que se demora un servicio"; es "minutos transcurridos entre la apertura y el cierre del ticket en el sistema X".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La diferencia no es de estilo: la primera no se puede medir y la segunda sí.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Prueba de la definición operativa: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"si dos personas distintas midieran esto, ¿darían el mismo número?"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la respuesta es no, la definición todavía está floja.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marco conceptual va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después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del teórico y suele ocupar una tabla más un par de párrafos: es corto y decisivo.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Del diccionario a lo operativo: cuatro términos del caso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301752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200645"/>
                <a:gridCol w="3392662"/>
                <a:gridCol w="5318227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Término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Definición de diccionario (insuficiente)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Definición operativa (útil)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Ticket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"Una solicitud"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Registro de incidente creado por un usuario en la mesa de ayuda, con identificador único y fecha de apertura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Tiempo de atención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"Lo que tarda un servicio"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Minutos transcurridos entre la apertura y el cierre del ticket, según el registro del sistema X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Clasificación correcta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"Un acierto"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Coincidencia entre la categoría asignada por el modelo y la que asignó el analista al mismo ticket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Categoría frecuente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"Las más comunes"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Categoría que concentra al menos el 5 % de los tickets del periodo analizado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Analista de soporte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"Quien atiende"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Persona del área de soporte TI con perfil habilitado para asignar categoría y cerrar tickets en el sistema X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84632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Note el patrón de la tercera columna: siempre aparece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qué se observa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,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en qué unidad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y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de dónde sale el dato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Anatomía de una definición operativa: cuatro piezas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1. Qué se observa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el hecho concreto, no la idea abstracta: la apertura y el cierre de un ticket.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2. En qué unidad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minutos, número de casos, porcentaje, sí/no. Si no tiene unidad, no es operativa.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3. De dónde sale el dato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el registro del sistema, el acta, el reporte del área. La fuente debe existir hoy.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4. Con qué límite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el criterio que separa un caso de otro: "al menos el 5 %", "dentro del horario laboral".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Cuando una definición cumple las cuatro, el término queda listo para convertirse en variable.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Cuándo se cita y cuándo no: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toma la definición de un autor,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cite en APA 7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 luego adáptela a su caso.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la construye usted para su proyecto, dígalo: "para efectos de este proyecto se entenderá por…".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Ambas rutas son válidas. Lo que no es válido es una definición sin origen y sin límites.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Marco contextual: dónde ocurre, con lupa y no con mapa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la descripción del escenario real donde vive el problema: la organización, el área y el proceso.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un capítulo sobre Colombia, ni sobre el sector TI del país, ni sobre la historia de la empresa desde su fundación.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Los tres niveles y dónde debe aterrizar el suyo: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Macro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el sector o el país. Máximo dos frases, solo si aporta pertinencia.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Meso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la organización: tamaño, actividad, estructura relevante para el problema.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Micro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el área y el proceso concretos.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Aquí vive el 80 % de su marco contextual.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Regla de proporción: si el proyecto ocurre en un área de una empresa, el país no puede ocupar más renglones que el área.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Lo que sí debe quedar claro al terminar: qué área, cuántas personas, qué proceso, con qué sistema y con qué volumen aproximado.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Contexto mal acotado frente a contexto bien acotado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25146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392662"/>
                <a:gridCol w="2750807"/>
                <a:gridCol w="4768065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Como suele llegar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falla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Cómo debe quedar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"Colombia es un país en vías de digitalización…"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Nivel macro que no toca el problema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"La empresa X, del sector servicios, opera con un área de soporte TI centralizada."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"El sector TI mueve millones de dólares al año."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Dato de relleno sin relación con la pregunta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"El área atiende solicitudes de las tres sedes por correo, teléfono y formulario web."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"La empresa fue fundada hace treinta años y ha crecido…"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Historia irrelevante para el problema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"El equipo lo conforman los analistas de soporte, que registran cada solicitud en el sistema X."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"Todos los usuarios tienen problemas con el sistema."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Afirmación sin fuente ni medida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"Según el informe interno del área, se reciben en promedio N solicitudes diarias."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Todo dato de contexto necesita origen: informe interno, página institucional o fuente citada en APA 7. Sin origen, es suposición.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Ejemplo modelado: párrafo de contexto, escrito completo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"El presente proyecto se desarrolla en la empresa X, organización del sector servicios con tres sedes en Bogotá. El estudio se concentra en su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área de soporte TI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responsable de atender las solicitudes tecnológicas de los usuarios internos."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"El área recibe solicitudes por tres canales —correo, teléfono y formulario web— que se consolidan en el sistema X, donde cada ticket queda registrado con identificador, fecha de apertura y categoría asignada manualmente por el analista. Según el informe interno del área, se registran en promedio N solicitudes diarias, atendidas por un equipo de M analistas."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"El proceso objeto de estudio es específicamente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clasificación del ticket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paso previo a su asignación y resolución."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Qué hace bien este párrafo: nombra organización, área, proceso, sistema, canales, volumen y equipo.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Qué no hace: no habla del país, no cuenta la historia de la empresa, no adelanta ninguna conclusión.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Extensión total: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una página es suficiente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Más de eso suele ser relleno.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En este avance el contexto se construye con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información ya existente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—informes, documentación del área, fuentes publicadas—; el levantamiento en campo corresponde al semestre siguiente.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Por qué esto sostiene el próximo semestre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2" cy="20116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667742"/>
                <a:gridCol w="2384032"/>
                <a:gridCol w="2659113"/>
                <a:gridCol w="2200645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Definición operativa (hoy)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Variable (metodología)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Indicador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Fuente del dato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Minutos entre apertura y cierre del ticket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Tiempo de atención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Promedio de minutos por ticket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Registro histórico del sistema X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Coincidencia entre categoría del modelo y del analista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Acierto de clasificación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Porcentaje de coincidencias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Comparación de ambas categorías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Categoría con al menos el 5 % de los tickets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Frecuencia de categoría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Distribución de tickets por categoría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Reporte de categorías del periodo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38404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Lea la tabla de izquierda a derecha: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un término mal definido hoy es un instrumento imposible mañana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. Por eso esta sesión, aunque corta, decide la metodología.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Lo que más se corrige en esta sesión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"Copié la definición de la enciclopedia en línea."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— No sirve para medir y además es fuente débil. Construya la definición operativa de su caso.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35224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044952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"Mi contexto es Colombia y el sector TI."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— Baje a la organización, el área y el proceso. El país cabe en dos frases, no en dos páginas.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133087"/>
            <a:ext cx="10911535" cy="969264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242816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"Definí el término tan amplio que sirve para todo."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— Si sirve para todo, no mide nada. Agréguele unidad, fuente del dato y límite.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Lo que más se corrige en esta sesión (cont.)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"¿Conceptual y contextual no son lo mismo?"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— No: el conceptual define los términos; el contextual describe el lugar y el proceso donde ocurren.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Paso a paso: construir las dos secciones en el navegador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1.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Liste los términos que su documento repite sin haber definido; escoja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al menos cuatro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2.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Para cada uno, busque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Google Académico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SciELO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Redalyc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dos definiciones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autores distintos.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Compárelas y elija la que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se pueda operacionalizar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no la más elegante ni la más larga.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4.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Adáptela a su caso agregando las cuatro piezas: qué se observa, unidad, fuente del dato y límite.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5.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Arme la tabla de tres columnas en Google Docs: término · definición del autor (citada) · definición operativa del proyecto.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6.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Genere las referencias de las definiciones citadas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ZoteroBib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(zbib.org) en APA 7.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7.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Escriba el contexto en el orden organización → área → proceso, con un dato con origen por párrafo.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8.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Revise proporciones: si el nivel macro ocupa más que el micro, recorte el macro.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Si le ayuda ver el contexto antes de escribirlo, dibuje el flujo del proceso en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Excalidraw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o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tldraw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: gratis, en el navegador, y la imagen se pega en el documento.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TALLER · Cerrar el marco referencial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Individual · el Docente revisa término por término si la definición es medible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79"/>
            <a:ext cx="10911535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Al final tiene: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la tabla de términos con definición operativa y una página de contexto concreto.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Paso 1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· Una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tabla de mínimo cuatro términos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con su definición operativa, siguiendo las cuatro piezas.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Paso 2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·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Una página de contexto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que describa organización, área y proceso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concretos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Paso 3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· Las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citas en APA 7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las definiciones que haya tomado de autores.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Paso 4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·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 dato con origen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por cada párrafo de contexto: informe, documento del área o fuente citada.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 clase, sin falta: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los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pasos 1 a 2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Del 3 en adelante puede quedar en trabajo autónomo, pero antes de la próxima sesión.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TALLER · cómo se revisa y dónde se entrega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Cerrar el marco referencial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79"/>
            <a:ext cx="10911535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Quedó bien si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—compruébelo usted antes de cerrar el documento—: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Cada término se puede medir tal como está escrito.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El contexto describe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un lugar concreto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no un país.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Prueba en pareja, si alcanza: intercambien definiciones y verifiquen si ambos medirían igual.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Plan B: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Si una definición no es medible, añádale la unidad y el umbral: qué se cuenta, cada cuánto y desde qué valor cuenta.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Hoy no se sube nada al aula: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guarde `S06_ConceptualContextual_Apellido` (Google Doc o PDF) en su Drive y tráigalo a la próxima sesión. Es un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avance formativo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se revisa en clase.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Esto alimenta: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ACA Final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—tarea, 32,8%—, el documento que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sí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recibe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; cierra en la semana de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Sesión 11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Autoevaluación antes de subir el archivo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La tabla tiene al menos cuatro términos, y todos aparecen en la pregunta o en los objetivos.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Cada definición dice qué se observa, en qué unidad, de dónde sale el dato y con qué límite.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Dos personas distintas medirían lo mismo con cada definición.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Las definiciones tomadas de autores están citadas en APA 7; las propias dicen "para efectos de este proyecto…".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contexto nombra organización, área y proceso concretos, con volumen y sistema.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nivel macro (país o sector) no ocupa más de dos frases.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Ningún dato de contexto está sin origen.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archivo se llama `S06_ConceptualContextual_Apellido`.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Trabajo autónomo y qué viene la próxima sesión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Entrega: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suba `S06_ConceptualContextual_Apellido` 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https://cdigital.cun.edu.co/course/view.php?id=129268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Autónomo 1: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integre la tabla y el contexto en el documento general: con esto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marco referencial queda armado completo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Autónomo 2: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relea el marco teórico y reemplace los términos vagos por los que acaba de definir.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Autónomo 3: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para cada definición operativa anote, en una línea, con qué dato existente se podría verificar.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Próxima sesión: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el salto al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diseño metodológico propuesto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enfoque, tipo y alcance con los que se responderá la pregunta.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Traiga la tabla de definiciones: de ahí salen directamente las variables del método.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RUTA DE ENTREGABLES DEL CURSO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Sin fechas a propósito: aquí va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en qué punto del curso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cierra cada ítem · la ventana exacta la fija CDigital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2011679"/>
          <a:ext cx="10911533" cy="42976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659113"/>
                <a:gridCol w="2659113"/>
                <a:gridCol w="5593307"/>
              </a:tblGrid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Cierra en la semana de…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Entregable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debes tener listo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03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ya cerró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 1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Cuestionario · 6%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Ten formulados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pregunta, objetivos y título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provisional.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05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ya cerró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Parcial 1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Cuestionario · 24%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Repasa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estructura APA CUN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y antecedentes Fase I, más pregunta, objetivos y título.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07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pendiente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 2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Cuestionario · 9%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Distingue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marco teórico, conceptual y contextual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y cómo se articulan con tu pregunta.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08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pendiente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Parcial 2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Cuestionario · 21%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Repasa los tres marcos y el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diseño metodológico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: enfoque, tipo, alcance y diseño.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10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pendiente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 3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Cuestionario · 4%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Ten claros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instrumentos y plan de análisis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propuestos y la integración del avance.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11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pendiente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ACA Final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Tarea · 32,8%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Sube el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avance consolidado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en plantilla APA CUN, integrado y listo para TG3.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11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pendiente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Autoevaluación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Cuestionario · 1,6%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Diligénciala tú, de forma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individual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, valorando tu participación real.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11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pendiente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Coevaluación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Foro · 1,6%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Publica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tu aporte: valora hechos del trabajo del equipo, nunca a las personas.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60807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Esta misma tabla va al final de todas las sesiones. La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fecha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de cada ventana está en el enunciado del ítem (`Clases/Recursos/ACAs/`) y en el aula: si el aula y cualquier otro material se contradicen,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manda el aula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5632704"/>
            <a:ext cx="1371600" cy="9509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1737360"/>
            <a:ext cx="10911535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0C2340"/>
                </a:solidFill>
                <a:latin typeface="Calibri"/>
              </a:rPr>
              <a:t>Cierre — Sesión 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17520"/>
            <a:ext cx="10911535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Sesión 06: Marco conceptual y contextual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Siguiente encuentro: continúa el hilo del mismo entregable.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007433"/>
                </a:solidFill>
                <a:latin typeface="Calibri"/>
              </a:rPr>
              <a:t>TRABAJO DE GRADO 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CUN</dc:creator>
  <cp:keywords/>
  <dc:description/>
  <cp:lastModifiedBy>CUN</cp:lastModifiedBy>
  <cp:revision>1</cp:revision>
  <dcterms:created xsi:type="dcterms:W3CDTF">2013-01-27T09:14:16Z</dcterms:created>
  <dcterms:modified xsi:type="dcterms:W3CDTF">2013-01-27T09:15:58Z</dcterms:modified>
  <cp:category/>
</cp:coreProperties>
</file>