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TRABAJO DE GRADO 2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Modelos de Innovación — Ingeniería de Sistemas · Código 94453 · 2 créditos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Periodo de referencia: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26V04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10 de agosto de 2026 – 22 de noviembre de 2026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Modalidad: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Virtual — encuentro sincrónico por Google Meet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Horario confirmado: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Lunes, 5:00 pm – 6:00 pm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inicio efectivo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5:10 pm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Grupo: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54448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Bloque: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BLOQUE UNICO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Contacto del Docente: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julian_castanoe@cun.edu.co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Regla de festivo: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si el lunes es festivo →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clase autónoma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⚠️ Syllabus SIAC pendiente — contenido orientativo.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Docente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2148840"/>
            <a:ext cx="8991295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Ingeniero de Sistemas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Candidato a MSc en Inteligencia Artificial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Líder Técnico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Speaker Tecnológico</a:t>
            </a:r>
          </a:p>
        </p:txBody>
      </p:sp>
      <p:pic>
        <p:nvPicPr>
          <p:cNvPr id="5" name="Picture 4" descr="gmail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4160520"/>
            <a:ext cx="292608" cy="2926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063239" y="4142232"/>
            <a:ext cx="8488375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 i="0">
                <a:solidFill>
                  <a:srgbClr val="007433"/>
                </a:solidFill>
                <a:latin typeface="Calibri"/>
              </a:rPr>
              <a:t>julian_castanoe@cun.edu.co</a:t>
            </a:r>
          </a:p>
        </p:txBody>
      </p:sp>
      <p:pic>
        <p:nvPicPr>
          <p:cNvPr id="7" name="Picture 6" descr="logo_cun_sol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523586"/>
            <a:ext cx="1463040" cy="101437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PRESÉNTATE — ROMPEHIELOS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Formulario de Google · encuestas y Q&amp;A en el propio Meet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58521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Escanea el QR o abre: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[URL Formulario Preséntate — pendiente · TRABAJO DE GRADO 2]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Qué respondes (1 min):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tu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nombre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+ el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estado actual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de tu proyecto (1 frase) + tu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expectativa de TG2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Entras con tu correo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@cun.edu.co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: no hay que crear cuenta ni instalar nada.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Ahora, ~3 min.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Somos 50: no alcanzamos a presentarnos uno por uno, así que el formulario nos ordena.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Con eso, hoy: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el Docente lee en voz alta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5 o 6 respuestas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y proyecta el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resumen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del formulario — ahí quedan todas a la vista, no solo las leídas.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En vivo: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las preguntas y las votaciones van por la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encuesta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y el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Q&amp;A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del propio Meet; no hay que abrir ninguna otra plataforma.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Después: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las respuestas quedan en una hoja que el Docente usa todo el periodo (equipos, ejemplos y seguimiento).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32927" y="1993391"/>
            <a:ext cx="3328415" cy="3886200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79815" y="2926079"/>
            <a:ext cx="2834640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0C2340"/>
                </a:solidFill>
                <a:latin typeface="Calibri"/>
              </a:rPr>
              <a:t>QR pendiente</a:t>
            </a:r>
          </a:p>
          <a:p>
            <a:pPr algn="ctr">
              <a:spcBef>
                <a:spcPts val="1000"/>
              </a:spcBef>
            </a:pPr>
            <a:r>
              <a:rPr sz="1200" b="0" i="0">
                <a:solidFill>
                  <a:srgbClr val="2B2B2B"/>
                </a:solidFill>
                <a:latin typeface="Calibri"/>
              </a:rPr>
              <a:t>Se genera cuando el formulario tenga enlace real.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32927" y="5230367"/>
            <a:ext cx="3328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007433"/>
                </a:solidFill>
                <a:latin typeface="Calibri"/>
              </a:rPr>
              <a:t>[URL Formulario Preséntate — pendiente · TRABAJO DE GRADO 2]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¿QUÉ ES TRABAJO DE GRADO 2?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Espacio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opción de grado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(pregrado): avance consolidado del proyecto/artículo antes de la culminación en Trabajo de Grado 3.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No se rige por el instructivo AFI de Especializaciones (Proyecto I/II).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Enfoque: formulación y desarrollo metodológico del trabajo, con acompañamiento semanal de 1 hora.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Formato de referencia: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Plantilla APA CUN – Proyecto de Grado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ENFOQUE DEL PERIODO (A CONFIRMAR CON EL SYLLABUS)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Retomar / delimitar el proyecto proveniente de semestres anteriores.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Consolidar planteamiento, pregunta, objetivos y marco referencial.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Avanzar el diseño metodológico (aún con énfasis en lo propuesto / documentado).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Dejar el documento listo para la fase de culminación y sustentación en Trabajo de Grado 3.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CONTENIDO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27632"/>
            <a:ext cx="5341467" cy="4727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Sesión 1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 — Presentación del curso · docente · estudiantes · ACAs.</a:t>
            </a:r>
          </a:p>
          <a:p>
            <a:pPr>
              <a:spcAft>
                <a:spcPts val="6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Sesión 2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 — Pregunta, objetivos y título provisional.</a:t>
            </a:r>
          </a:p>
          <a:p>
            <a:pPr>
              <a:spcAft>
                <a:spcPts val="6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Sesión 3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 — Estructura del documento / artículo de avance.</a:t>
            </a:r>
          </a:p>
          <a:p>
            <a:pPr>
              <a:spcAft>
                <a:spcPts val="6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Sesión 4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 — Antecedentes y referentes (Fase I).</a:t>
            </a:r>
          </a:p>
          <a:p>
            <a:pPr>
              <a:spcAft>
                <a:spcPts val="6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Sesión 5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 — Marco teórico — avance.</a:t>
            </a:r>
          </a:p>
          <a:p>
            <a:pPr>
              <a:spcAft>
                <a:spcPts val="6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Sesión 6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 — Marco conceptual y contextual.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0147" y="1627632"/>
            <a:ext cx="5341467" cy="4727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Sesión 7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 — Diseño metodológico (propuesto).</a:t>
            </a:r>
          </a:p>
          <a:p>
            <a:pPr>
              <a:spcAft>
                <a:spcPts val="6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Sesión 8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 — Instrumentos y plan de análisis (propuestos).</a:t>
            </a:r>
          </a:p>
          <a:p>
            <a:pPr>
              <a:spcAft>
                <a:spcPts val="6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Sesión 9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 — Integración del avance · correcciones.</a:t>
            </a:r>
          </a:p>
          <a:p>
            <a:pPr>
              <a:spcAft>
                <a:spcPts val="6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Sesión 10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 — Socialización de avances.</a:t>
            </a:r>
          </a:p>
          <a:p>
            <a:pPr>
              <a:spcAft>
                <a:spcPts val="6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Sesión 11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 — Cierre del avance · preparación para TG3.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EVALUACIÓN — CORTES (ART. 52)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Inicio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10/08/2026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cierre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22/11/2026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011679"/>
            <a:ext cx="3503066" cy="658368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1" y="2084831"/>
            <a:ext cx="335676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Corte 1  ·  30%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670048"/>
            <a:ext cx="3503066" cy="2221991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88035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INICIO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07433"/>
                </a:solidFill>
                <a:latin typeface="Calibri"/>
              </a:rPr>
              <a:t>24/08/2026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960119" y="3794759"/>
            <a:ext cx="2862986" cy="27432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397763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CIERRE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C2340"/>
                </a:solidFill>
                <a:latin typeface="Calibri"/>
              </a:rPr>
              <a:t>14/09/2026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4314" y="2011679"/>
            <a:ext cx="3503066" cy="658368"/>
          </a:xfrm>
          <a:prstGeom prst="rect">
            <a:avLst/>
          </a:prstGeom>
          <a:solidFill>
            <a:srgbClr val="324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17466" y="2084831"/>
            <a:ext cx="335676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Corte 2  ·  30%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44314" y="2670048"/>
            <a:ext cx="3503066" cy="2221991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54042" y="288035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INICIO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07433"/>
                </a:solidFill>
                <a:latin typeface="Calibri"/>
              </a:rPr>
              <a:t>21/09/2026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64354" y="3794759"/>
            <a:ext cx="2862986" cy="27432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54042" y="397763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CIERRE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C2340"/>
                </a:solidFill>
                <a:latin typeface="Calibri"/>
              </a:rPr>
              <a:t>05/10/2026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8548" y="2011679"/>
            <a:ext cx="3503066" cy="658368"/>
          </a:xfrm>
          <a:prstGeom prst="rect">
            <a:avLst/>
          </a:prstGeom>
          <a:solidFill>
            <a:srgbClr val="4A7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21700" y="2084831"/>
            <a:ext cx="335676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Corte 3  ·  40%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48548" y="2670048"/>
            <a:ext cx="3503066" cy="2221991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8276" y="288035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INICIO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07433"/>
                </a:solidFill>
                <a:latin typeface="Calibri"/>
              </a:rPr>
              <a:t>06/10/2026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68588" y="3794759"/>
            <a:ext cx="2862986" cy="27432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58276" y="397763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CIERRE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C2340"/>
                </a:solidFill>
                <a:latin typeface="Calibri"/>
              </a:rPr>
              <a:t>22/11/2026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5056631"/>
            <a:ext cx="10911535" cy="640080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59" y="5166359"/>
            <a:ext cx="1054577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00" b="0" i="0">
                <a:solidFill>
                  <a:srgbClr val="2B2B2B"/>
                </a:solidFill>
                <a:latin typeface="Calibri"/>
              </a:rPr>
              <a:t>Corte 1 30% = Quiz 1 6% + Parcial 1 24% · Corte 2 30% = Quiz 2 9% + Parcial 2 21% · Corte 3 40% = ACA Final 32,8% + Quiz 3 4% + Autoevaluación 1,6% + Coevaluación 1,6% — libro de calificaciones de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. Quices y parciales: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cuestionarios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 que cierran en día de clase (lun).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ACA Final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 (tarea/documento) cierra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14/11/2026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. Enunciados: Clases/Recursos/ACAs/. Recepción máx. de trabajos: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14/11/2026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CALIFICA — LOS ÍTEMS DEL AULA (CDIGITAL)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2B2B2B"/>
                </a:solidFill>
                <a:latin typeface="Calibri"/>
              </a:rPr>
              <a:t>Libro de calificaciones del aula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(CDigital) · cortes 30% / 30% / 40% · los pesos suman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100%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011679"/>
          <a:ext cx="10911531" cy="4297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220931"/>
                <a:gridCol w="1448433"/>
                <a:gridCol w="1448433"/>
                <a:gridCol w="1351871"/>
                <a:gridCol w="4441863"/>
              </a:tblGrid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Ítem en CDigital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Tipo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Corte (peso)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Peso del ítem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Cierre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1 (30%)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31/08/2026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1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1 (30%)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24%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14/09/2026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2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2 (30%)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28/09/2026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2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2 (30%)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21%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05/10/2026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Final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Tarea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(40%)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32,8%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14/11/2026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3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(40%)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26/10/2026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Autoevaluación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(40%)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1,6%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22/11/2026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Coevaluación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Foro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(40%)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1,6%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22/11/2026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ALCANCE DE LA EVALUACIÓN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Régimen: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Art. 52 ·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Corte 1 = 30% · Corte 2 = 30% · Corte 3 = 40%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, tomados del libro de calificaciones del aula (sigue sin cargarse el Syllabus SIAC de TG2).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Cada corte se compone de ítems concretos del aula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— nombre exacto, tipo de actividad, peso y cierre: en la tabla «CÓMO SE CALIFICA» de esta presentación.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Autoevaluación (1,6%, cuestionario)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coevaluación (1,6%, foro)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sí hacen parte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de la nota de este curso: van en el tercer corte y se diligencian/participan en el aula.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Los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quices y parciales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son cuestionarios en CDigital y cierran en día de clase; la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ACA Final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es una tarea (documento) y cierra en la fecha máxima de recepción.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No confundir con la autoevaluación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institucional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SIAC (calidad de programas en acreditacion.cun.edu.co): esa no es una nota del curso.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Entregas, rúbricas y publicación de notas: solo por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Si un peso o una ventana del aula no coincide con este material,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manda el aula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: se corrige aquí y se avisa en clase.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ACUERDOS DEL CURSO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Encuentro sincrónico: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Lunes, 5:00 pm – 6:00 pm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por Google Meet. El Meet es el mismo enlace para toda la serie.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1225296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Lunes festivo =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clase autónoma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, no se pierde el hilo del proyecto: la actividad y el material quedan en la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carpeta de esa sesión en el Drive de clases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(`Clases/Sesion NN - …/`); la entrega y la nota siguen en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38912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49884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Hasta cargar el Syllabus SIAC, cualquier detalle de rubrica/pesos se verifica en el aula virtual.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RECURSOS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Contacto del Docente: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julian_castanoe@cun.edu.co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 (campus del curso):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https://cdigital.cun.edu.co/course/view.php?id=129268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Meet (mismo enlace toda la serie):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[URL Meet — mismo enlace toda la serie · Trabajo de Grado 2]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Material de clases (Drive):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[URL Material de clases — carpeta Clases/ en Drive · Trabajo de Grado 2]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aquí está el material de cada sesión, incluida la de una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clase autónoma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Plantilla APA CUN – Proyecto de Grado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(viene en tu carpeta del curso): `Recursos/Plantilla_APA_CUN_Proyecto de grado.docx`.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Plantilla APA CUN (en tu carpeta):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`Recursos/Plantilla_APA_CUN_Proyecto de grado.docx`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Enunciados ACA / cortes (estudiantes):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`Clases/Recursos/ACAs/`.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Siguiente eslabón: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Trabajo de Grado 3 (sustentación ante jurados + repositorio).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Entregas y notas oficiales: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solo por CDigital del curso.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¡Empezamos!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Nos vemos en el primer encuentro sincrónico: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Lunes, 5:00 pm – 6:00 pm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Llega con el estado actual de tu proyecto (aunque esté incompleto).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94453 · Trabajo de Grado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