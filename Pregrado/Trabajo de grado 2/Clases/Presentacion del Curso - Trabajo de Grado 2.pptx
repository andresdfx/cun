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9" roundtripDataSignature="AMtx7mhb3ifY6Hn/lbQKFhYpQ80dhcwrP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FBE08D8-8D7B-4EEF-A716-F3B53B10BF23}">
  <a:tblStyle styleId="{8FBE08D8-8D7B-4EEF-A716-F3B53B10BF23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customschemas.google.com/relationships/presentationmetadata" Target="metadata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5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7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8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8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9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9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9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9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1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1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1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2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2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2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3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4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cun_solo.png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274320"/>
            <a:ext cx="1325880" cy="919277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TRABAJO DE GRADO 2</a:t>
            </a:r>
            <a:endParaRPr/>
          </a:p>
          <a:p>
            <a:pPr indent="0" lvl="0" marL="0" marR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FDDEE"/>
                </a:solidFill>
                <a:latin typeface="Calibri"/>
                <a:ea typeface="Calibri"/>
                <a:cs typeface="Calibri"/>
                <a:sym typeface="Calibri"/>
              </a:rPr>
              <a:t>Modelos de Innovación — Ingeniería de Sistemas · Código 94453 · 2 créditos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Periodo de referencia: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26V04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10 de agosto de 2026 – 22 de noviembre de 2026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Modalidad: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Virtual — encuentro sincrónico por Google Meet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Horario confirmado: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Lunes, 5:00 pm – 6:00 pm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inicio efectivo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5:10 pm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Grupo: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54448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Bloque: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BLOQUE UNICO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Contacto del Docente: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julian_castanoe@cun.edu.co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Regla de festivo: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 el lunes es festivo →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clase autónoma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⚠️ Syllabus SIAC pendiente — contenido orientativo.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Docente</a:t>
            </a:r>
            <a:endParaRPr/>
          </a:p>
        </p:txBody>
      </p:sp>
      <p:sp>
        <p:nvSpPr>
          <p:cNvPr id="95" name="Google Shape;95;p2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Ingeniero de Sistemas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Candidato a MSc en Inteligencia Artificial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Líder Técnico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Speaker Tecnológico</a:t>
            </a:r>
            <a:endParaRPr/>
          </a:p>
        </p:txBody>
      </p:sp>
      <p:pic>
        <p:nvPicPr>
          <p:cNvPr descr="gmail_icon.png" id="96" name="Google Shape;96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60320" y="416052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julian_castanoe@cun.edu.co</a:t>
            </a:r>
            <a:endParaRPr/>
          </a:p>
        </p:txBody>
      </p:sp>
      <p:pic>
        <p:nvPicPr>
          <p:cNvPr descr="logo_cun_solo.png" id="98" name="Google Shape;9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5523586"/>
            <a:ext cx="1463040" cy="1014374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FFFFF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ROMPEHIELOS — DOS VERDADES Y UNA MENTIRA</a:t>
            </a:r>
            <a:endParaRPr/>
          </a:p>
        </p:txBody>
      </p:sp>
      <p:sp>
        <p:nvSpPr>
          <p:cNvPr id="106" name="Google Shape;106;p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Dos verdades y una mentira · Slido · 8 minutos</a:t>
            </a:r>
            <a:endParaRPr/>
          </a:p>
        </p:txBody>
      </p:sp>
      <p:sp>
        <p:nvSpPr>
          <p:cNvPr id="107" name="Google Shape;107;p3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Entra a slido.com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escribe el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código del evento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que el Docente pega en el chat del Meet. Sin cuenta ni instalar nada.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El juego: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«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dos verdades y una mentira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» sobre el Docente. Se proyectan tres frases suyas y votas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cuál de las tres NO es cierta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acertar es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 entre 3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así que arrancamos todos iguales.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Tres rondas (~4 min).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Al cerrar cada una el Docente revela la mentira y cuenta la historia de la verdad más rara: ahí queda hecha su presentación.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Ronda final (~2 min):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sale la tabla de posiciones y los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tres primeros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toman el micrófono con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sus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dos verdades y una mentira. Gana quien engañe a más gente. Hablan tres, no 50.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Premio: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revisión 1 a 1 con el Docente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del avance del ganador, antes de la primera entrega.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Las preguntas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toda la sesión van por el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Q&amp;A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del mismo Slido.</a:t>
            </a:r>
            <a:endParaRPr/>
          </a:p>
        </p:txBody>
      </p:sp>
      <p:sp>
        <p:nvSpPr>
          <p:cNvPr id="108" name="Google Shape;108;p3"/>
          <p:cNvSpPr/>
          <p:nvPr/>
        </p:nvSpPr>
        <p:spPr>
          <a:xfrm>
            <a:off x="8332927" y="1993391"/>
            <a:ext cx="3328415" cy="388620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3"/>
          <p:cNvSpPr txBox="1"/>
          <p:nvPr/>
        </p:nvSpPr>
        <p:spPr>
          <a:xfrm>
            <a:off x="8534095" y="2606039"/>
            <a:ext cx="2926079" cy="210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slido.com</a:t>
            </a:r>
            <a:endParaRPr/>
          </a:p>
          <a:p>
            <a:pPr indent="0" lvl="0" marL="0" marR="0" rtl="0" algn="ctr">
              <a:spcBef>
                <a:spcPts val="14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El </a:t>
            </a: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código del evento</a:t>
            </a:r>
            <a:r>
              <a:rPr b="0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 te lo pega el Docente en el </a:t>
            </a: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chat del Meet</a:t>
            </a:r>
            <a:r>
              <a:rPr b="0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110" name="Google Shape;110;p3"/>
          <p:cNvSpPr txBox="1"/>
          <p:nvPr/>
        </p:nvSpPr>
        <p:spPr>
          <a:xfrm>
            <a:off x="8332927" y="5230367"/>
            <a:ext cx="332841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[URL Slido — evento del rompehielos pendiente · TRABAJO DE GRADO 2]</a:t>
            </a:r>
            <a:endParaRPr/>
          </a:p>
        </p:txBody>
      </p:sp>
      <p:sp>
        <p:nvSpPr>
          <p:cNvPr id="111" name="Google Shape;111;p3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4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¿QUÉ ES TRABAJO DE GRADO 2?</a:t>
            </a:r>
            <a:endParaRPr/>
          </a:p>
        </p:txBody>
      </p:sp>
      <p:sp>
        <p:nvSpPr>
          <p:cNvPr id="118" name="Google Shape;118;p4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Espacio de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opción de grado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(pregrado): avance consolidado del proyecto/artículo antes de la culminación en Trabajo de Grado 3.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No se rige por el instructivo AFI de Especializaciones (Proyecto I/II).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Enfoque: formulación y desarrollo metodológico del trabajo, con acompañamiento semanal de 1 hora.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Formato de referencia: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Plantilla APA CUN – Proyecto de Grado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119" name="Google Shape;119;p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5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ENFOQUE DEL PERIODO (A CONFIRMAR CON EL SYLLABUS)</a:t>
            </a:r>
            <a:endParaRPr/>
          </a:p>
        </p:txBody>
      </p:sp>
      <p:sp>
        <p:nvSpPr>
          <p:cNvPr id="126" name="Google Shape;126;p5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Retomar / delimitar el proyecto proveniente de semestres anteriores.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Consolidar planteamiento, pregunta, objetivos y marco referencial.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Avanzar el diseño metodológico (aún con énfasis en lo propuesto / documentado).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Dejar el documento listo para la fase de culminación y sustentación en Trabajo de Grado 3.</a:t>
            </a:r>
            <a:endParaRPr/>
          </a:p>
        </p:txBody>
      </p:sp>
      <p:sp>
        <p:nvSpPr>
          <p:cNvPr id="127" name="Google Shape;127;p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CONTENIDO</a:t>
            </a:r>
            <a:endParaRPr/>
          </a:p>
        </p:txBody>
      </p:sp>
      <p:sp>
        <p:nvSpPr>
          <p:cNvPr id="134" name="Google Shape;134;p6"/>
          <p:cNvSpPr txBox="1"/>
          <p:nvPr/>
        </p:nvSpPr>
        <p:spPr>
          <a:xfrm>
            <a:off x="640080" y="1627632"/>
            <a:ext cx="5341467" cy="4727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1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Presentación del curso · docente · estudiantes · ACAs.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2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Pregunta, objetivos y título provisional.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3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Estructura del documento / artículo de avance.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4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Antecedentes y referentes (Fase I).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5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Marco teórico — avance.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6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Marco conceptual y contextual.</a:t>
            </a:r>
            <a:endParaRPr/>
          </a:p>
        </p:txBody>
      </p:sp>
      <p:sp>
        <p:nvSpPr>
          <p:cNvPr id="135" name="Google Shape;135;p6"/>
          <p:cNvSpPr txBox="1"/>
          <p:nvPr/>
        </p:nvSpPr>
        <p:spPr>
          <a:xfrm>
            <a:off x="6210147" y="1627632"/>
            <a:ext cx="5341467" cy="4727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7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Diseño metodológico (propuesto).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8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Instrumentos y plan de análisis (propuestos).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9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Integración del avance · correcciones.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10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Socialización de avances.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11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Cierre del avance · preparación para TG3.</a:t>
            </a:r>
            <a:endParaRPr/>
          </a:p>
        </p:txBody>
      </p:sp>
      <p:sp>
        <p:nvSpPr>
          <p:cNvPr id="136" name="Google Shape;136;p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7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7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EVALUACIÓN — CORTES (ART. 52)</a:t>
            </a:r>
            <a:endParaRPr/>
          </a:p>
        </p:txBody>
      </p:sp>
      <p:sp>
        <p:nvSpPr>
          <p:cNvPr id="143" name="Google Shape;143;p7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Inicio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10/08/2026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cierre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22/11/2026</a:t>
            </a:r>
            <a:endParaRPr/>
          </a:p>
        </p:txBody>
      </p:sp>
      <p:sp>
        <p:nvSpPr>
          <p:cNvPr id="144" name="Google Shape;144;p7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7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Corte 1  ·  30%</a:t>
            </a:r>
            <a:endParaRPr/>
          </a:p>
        </p:txBody>
      </p:sp>
      <p:sp>
        <p:nvSpPr>
          <p:cNvPr id="146" name="Google Shape;146;p7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INICIO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24/08/2026</a:t>
            </a: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CIERRE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14/09/2026</a:t>
            </a: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7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Corte 2  ·  30%</a:t>
            </a:r>
            <a:endParaRPr/>
          </a:p>
        </p:txBody>
      </p:sp>
      <p:sp>
        <p:nvSpPr>
          <p:cNvPr id="152" name="Google Shape;152;p7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INICIO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21/09/2026</a:t>
            </a:r>
            <a:endParaRPr/>
          </a:p>
        </p:txBody>
      </p:sp>
      <p:sp>
        <p:nvSpPr>
          <p:cNvPr id="154" name="Google Shape;154;p7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7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CIERRE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05/10/2026</a:t>
            </a: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Corte 3  ·  40%</a:t>
            </a:r>
            <a:endParaRPr/>
          </a:p>
        </p:txBody>
      </p:sp>
      <p:sp>
        <p:nvSpPr>
          <p:cNvPr id="158" name="Google Shape;158;p7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INICIO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06/10/2026</a:t>
            </a:r>
            <a:endParaRPr/>
          </a:p>
        </p:txBody>
      </p:sp>
      <p:sp>
        <p:nvSpPr>
          <p:cNvPr id="160" name="Google Shape;160;p7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CIERRE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22/11/2026</a:t>
            </a: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640080" y="5056631"/>
            <a:ext cx="10911535" cy="640080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Corte 1 30% = Quiz 1 6% + Parcial 1 24% · Corte 2 30% = Quiz 2 9% + Parcial 2 21% · Corte 3 40% = ACA Final 32,8% + Quiz 3 4% + Autoevaluación 1,6% + Coevaluación 1,6% — libro de calificaciones de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Quices y parciales: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cuestionarios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que cierran en día de clase (lun).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ACA Final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(tarea/documento) cierra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14/11/2026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Enunciados: Clases/Recursos/ACAs/. Recepción máx. de trabajos: </a:t>
            </a:r>
            <a:r>
              <a:rPr b="1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14/11/2026</a:t>
            </a:r>
            <a:r>
              <a:rPr b="0" i="0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164" name="Google Shape;164;p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8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8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CÓMO SE CALIFICA — LOS ÍTEMS DEL AULA (CDIGITAL)</a:t>
            </a:r>
            <a:endParaRPr/>
          </a:p>
        </p:txBody>
      </p:sp>
      <p:sp>
        <p:nvSpPr>
          <p:cNvPr id="171" name="Google Shape;171;p8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Libro de calificaciones del aula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(CDigital) · cortes 30% / 30% / 40% · los pesos suman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100%</a:t>
            </a:r>
            <a:endParaRPr/>
          </a:p>
        </p:txBody>
      </p:sp>
      <p:graphicFrame>
        <p:nvGraphicFramePr>
          <p:cNvPr id="172" name="Google Shape;172;p8"/>
          <p:cNvGraphicFramePr/>
          <p:nvPr/>
        </p:nvGraphicFramePr>
        <p:xfrm>
          <a:off x="640080" y="201167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{8FBE08D8-8D7B-4EEF-A716-F3B53B10BF23}</a:tableStyleId>
              </a:tblPr>
              <a:tblGrid>
                <a:gridCol w="2220925"/>
                <a:gridCol w="1448425"/>
                <a:gridCol w="1448425"/>
                <a:gridCol w="1351875"/>
                <a:gridCol w="4441875"/>
              </a:tblGrid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Ítem en CDigital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Tipo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Corte (peso)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Peso del ítem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Cierre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 1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(30%)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31/08/2026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Parcial 1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(30%)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14/09/2026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 2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 (30%)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28/09/2026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Parcial 2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 (30%)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05/10/2026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Final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Tarea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(40%)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32,8%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14/11/2026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 3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(40%)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26/10/2026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Autoevaluación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Cuestionario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(40%)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1,6%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22/11/2026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477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Coevaluación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(40%)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1,6%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22/11/2026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73" name="Google Shape;173;p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9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9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ALCANCE DE LA EVALUACIÓN</a:t>
            </a:r>
            <a:endParaRPr/>
          </a:p>
        </p:txBody>
      </p:sp>
      <p:sp>
        <p:nvSpPr>
          <p:cNvPr id="180" name="Google Shape;180;p9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Régimen: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Art. 52 ·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Corte 1 = 30% · Corte 2 = 30% · Corte 3 = 40%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tomados del libro de calificaciones del aula (sigue sin cargarse el Syllabus SIAC de TG2).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Cada corte se compone de ítems concretos del aula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nombre exacto, tipo de actividad, peso y cierre: en la tabla «CÓMO SE CALIFICA» de esta presentación.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Autoevaluación (1,6%, cuestionario)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coevaluación (1,6%, foro)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sí hacen parte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la nota de este curso: van en el tercer corte y se diligencian/participan en el aula.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Los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quices y parciales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son cuestionarios en CDigital y cierran en día de clase; la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ACA Final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 una tarea (documento) y cierra en la fecha máxima de recepción.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No confundir con la autoevaluación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institucional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SIAC (calidad de programas en acreditacion.cun.edu.co): esa no es una nota del curso.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Entregas, rúbricas y publicación de notas: solo por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Si un peso o una ventana del aula no coincide con este material,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manda el aula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se corrige aquí y se avisa en clase.</a:t>
            </a:r>
            <a:endParaRPr/>
          </a:p>
        </p:txBody>
      </p:sp>
      <p:sp>
        <p:nvSpPr>
          <p:cNvPr id="181" name="Google Shape;181;p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0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ACUERDOS DEL CURSO</a:t>
            </a:r>
            <a:endParaRPr/>
          </a:p>
        </p:txBody>
      </p:sp>
      <p:sp>
        <p:nvSpPr>
          <p:cNvPr id="188" name="Google Shape;188;p10"/>
          <p:cNvSpPr/>
          <p:nvPr/>
        </p:nvSpPr>
        <p:spPr>
          <a:xfrm>
            <a:off x="640080" y="1737360"/>
            <a:ext cx="10911535" cy="969264"/>
          </a:xfrm>
          <a:prstGeom prst="roundRect">
            <a:avLst>
              <a:gd fmla="val 16667" name="adj"/>
            </a:avLst>
          </a:prstGeom>
          <a:solidFill>
            <a:srgbClr val="E8F5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0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ℹ️ Nota institucional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Encuentro sincrónico: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Lunes, 5:00 pm – 6:00 pm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por Google Meet. El Meet es el mismo enlace para toda la serie.</a:t>
            </a:r>
            <a:endParaRPr/>
          </a:p>
        </p:txBody>
      </p:sp>
      <p:sp>
        <p:nvSpPr>
          <p:cNvPr id="190" name="Google Shape;190;p10"/>
          <p:cNvSpPr/>
          <p:nvPr/>
        </p:nvSpPr>
        <p:spPr>
          <a:xfrm>
            <a:off x="640080" y="2935224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0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💡 Aclaración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Lunes festivo =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clase autónoma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no se pierde el hilo del proyecto: la actividad y el material quedan en la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carpeta de esa sesión en el Drive de clases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(`Clases/Sesion NN - …/`); la entrega y la nota siguen en </a:t>
            </a: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192" name="Google Shape;192;p10"/>
          <p:cNvSpPr/>
          <p:nvPr/>
        </p:nvSpPr>
        <p:spPr>
          <a:xfrm>
            <a:off x="640080" y="4389120"/>
            <a:ext cx="10911535" cy="969264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0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Importante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Hasta cargar el Syllabus SIAC, cualquier detalle de rubrica/pesos se verifica en el aula virtual.</a:t>
            </a:r>
            <a:endParaRPr/>
          </a:p>
        </p:txBody>
      </p:sp>
      <p:sp>
        <p:nvSpPr>
          <p:cNvPr id="194" name="Google Shape;194;p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1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RECURSOS</a:t>
            </a:r>
            <a:endParaRPr/>
          </a:p>
        </p:txBody>
      </p:sp>
      <p:sp>
        <p:nvSpPr>
          <p:cNvPr id="201" name="Google Shape;201;p11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Contacto del Docente: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julian_castanoe@cun.edu.co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 (campus del curso):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https://cdigital.cun.edu.co/course/view.php?id=129268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Google Meet (mismo enlace toda la serie):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[URL Meet — mismo enlace toda la serie · Trabajo de Grado 2]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Material de clases (Drive):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[URL Material de clases — carpeta Clases/ en Drive · Trabajo de Grado 2]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aquí está el material de cada sesión, incluida la de una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clase autónoma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Plantilla APA CUN – Proyecto de Grado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(viene en tu carpeta del curso): `Recursos/Plantilla_APA_CUN_Proyecto de grado.docx`.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Plantilla APA CUN (en tu carpeta):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`Recursos/Plantilla_APA_CUN_Proyecto de grado.docx`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Enunciados ACA / cortes (estudiantes):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`Clases/Recursos/ACAs/`.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Siguiente eslabón: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Trabajo de Grado 3 (sustentación ante jurados + repositorio).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Entregas y notas oficiales: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solo por CDigital del curso.</a:t>
            </a:r>
            <a:endParaRPr/>
          </a:p>
        </p:txBody>
      </p:sp>
      <p:sp>
        <p:nvSpPr>
          <p:cNvPr id="202" name="Google Shape;202;p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cun_solo.png" id="208" name="Google Shape;208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62895" y="5632704"/>
            <a:ext cx="1371600" cy="950976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12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¡Empezamos!</a:t>
            </a:r>
            <a:endParaRPr/>
          </a:p>
        </p:txBody>
      </p:sp>
      <p:sp>
        <p:nvSpPr>
          <p:cNvPr id="210" name="Google Shape;210;p12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Nos vemos en el primer encuentro sincrónico: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Lunes, 5:00 pm – 6:00 pm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Llega con el estado actual de tu proyecto (aunque esté incompleto).</a:t>
            </a:r>
            <a:endParaRPr/>
          </a:p>
        </p:txBody>
      </p:sp>
      <p:sp>
        <p:nvSpPr>
          <p:cNvPr id="211" name="Google Shape;211;p12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94453 · Trabajo de Grado 2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CUN</dc:creator>
</cp:coreProperties>
</file>