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08 — INSTRUMENTOS Y PLAN DE ANÁLISIS (PROPUESTOS)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Trabajo de Grado 2 — Modelos de Innovación (Ing. Sistemas)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08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Instrumentos y plan de análisis (propuestos)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De la matriz a las preguntas concretas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sesión pasada quedó el plan general. Hoy contestamos algo mucho más incómodo: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¿qué le va a preguntar a quién, y con qué palabras exactas?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Si en su matriz escribió 'dato: satisfacción del usuario', hoy tiene que aparecer la pregunta literal que produce ese dato.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Seguimos con el caso de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mesa de ayuda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que clasifica tickets a mano.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dato 'tiempo de atención' no cae del cielo: alguien tiene que registrar hora de apertura y hora de cierre.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Dos productos hoy: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instrumento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(encuesta, guía, ficha o protocolo) y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plan de análisis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Y la regla de TG2 sigue firme: el instrumento se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diseña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se aplica. Nadie responde nada todavía.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Diseñar bien hoy es lo que evita que en TG3 recoja datos que no sirven para nada.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Salida esperada: tabla de operacionalización + instrumento borrador + plan de análisis escrito.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Qué es un instrumento y qué NO 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la herramienta con la que se recogerá la evidencia: encuesta, guía de entrevista, ficha de observación, protocolo de prueba, ficha de registro documental.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 documento con estructura: propósito, instrucciones para quien responde, ítems agrupados por dimensión y datos de identificación.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una lista de preguntas 'interesantes' que se le ocurrieron anoche.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filtro es brutal: si una pregunta no sirve a ningún objetivo, por buena que suene, sobra.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 formulario de Google publicado y enviado a un grupo de WhatsApp. Eso ya es trabajo de campo, y es TG3.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más valioso por ser más largo: cuarenta preguntas dispersas valen menos que diez alineadas.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Prueba de calidad: para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cada ítem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usted debe poder decir de qué objetivo salió.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Tipos de instrumento: cuál le sirve a su proyecto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2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Instrumento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Dato que produce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Cuándo conviene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Tamaño razonable en el avance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Encuesta / cuestionario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Numérico y categórico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Enfoque cuantitativo, muchas unidades, respuestas comparables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~10 ítems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Guía de entrevista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Relatos, percepciones, razones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Enfoque cualitativo, pocas personas, se busca el porqué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~8 preguntas abiertas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Ficha de observación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Conductas y eventos registrados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 estudia un proceso en funcionamiento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6 a 10 criterios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Protocolo de prueba técnica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Métricas del sistema (tiempo, exactitud, errores)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Proyectos de ingeniería con software o hardware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5 a 8 casos de prueba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Ficha de registro documental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Datos extraídos de archivos o históricos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dato ya existe en logs, actas o bases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6 a 10 campos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Un proyecto puede combinar dos instrumentos, pero cada uno debe tener su propio objetivo asociado en la matriz del S07.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regla de trazabilidad: cada ítem apunta a un objetivo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Trazabilidad significa que se puede seguir el hilo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objetivo → variable → indicador → ítem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sin perderse.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el hilo se corta en algún punto, ese ítem no tiene por qué existir.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 la defensa más práctica que usted tiene: cuando alguien pregunte '¿y esta pregunta para qué?', usted responde con la tabla, no con improvisación.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Falla típica número uno: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el ítem demográfico de relleno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Preguntar el estrato o el estado civil sin usarlos en ningún análisis.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Solo pregunte datos personales si algún análisis los va a cruzar; si no, está pidiendo datos que no necesita.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Falla típica número dos: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el objetivo sin ítems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Un objetivo que ningún ítem del instrumento alimenta.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Haga el conteo al final: número de objetivos con al menos un ítem = número total de objetivos específicos.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Operacionalización: el puente entre la idea y la 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Variable o constructo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la idea que quiere medir. Suele ser abstracta ('satisfacción', 'eficiencia', 'usabilidad').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Dimensión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la parte del constructo que va a mirar. 'Satisfacción' puede tener dimensión de rapidez y dimensión de solución.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Indicador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la señal observable que representa esa dimensión. Debe ser algo que se pueda registrar sin discusión.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'Minutos transcurridos entre apertura y cierre' es un indicador; 'que atiendan rápido' no lo 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Ítem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la pregunta o el campo concreto del instrumento que captura el indicador.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Operacionalizar es bajar por esa escalera sin saltarse escalones.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Cuando alguien escribe preguntas sin bajar la escalera, termina midiendo opiniones sueltas en vez de su variable.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Se arma como una tabla de cuatro columnas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Google Docs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constructo, dimensión, indicador, ítem propuesto.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modelado: operacionalización del caso 'mesa de ayuda'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2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Dimensión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Ítem propuesto (texto literal)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Tiempo de atención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Duración del ciclo del ticket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Minutos entre apertura y cierre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Campo de registro: 'Hora de apertura' y 'Hora de cierre' del ticket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Satisfacción del usuario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Conformidad con la solución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Escala de 1 a 5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'¿Qué tan conforme quedó con la solución entregada? 1 = nada conforme, 5 = totalmente conforme'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Satisfacción del usuario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Percepción de rapidez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Escala de 1 a 5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'¿Qué tan oportuna le pareció la respuesta recibida?'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Exactitud del modelo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Acierto de la clasificación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Porcentaje de tickets bien clasificados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Métrica del sistema en el protocolo de prueba (no es ítem de encuesta)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Carga de trabajo del agente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Volumen atendido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Tickets atendidos por turno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Campo de registro documental extraído del histórico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Ninguno de estos ítems se me ocurrió: todos salieron bajando la escalera desde la variable. Fíjese que la exactitud del modelo no se pregunta, se mide.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Siete reglas para redactar ítems que sí funcionan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 Una idea por ítem.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'Rapidez y amabilidad' son dos preguntas: si responden 3, usted no sabe a cuál se refieren.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 Sin lenguaje técnico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que el encuestado no maneje. Nadie de fuera del proyecto sabe qué es 'latencia del backlog'.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 Sin preguntas que inducen la respuesta.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'¿No cree que el sistema actual es demasiado lento?' ya trae la respuesta puesta.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 Sin dobles negaciones.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'No considera inadecuado que…' hace que la gente responda al azar.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 Escala constante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todo el bloque: si 5 es lo mejor en un ítem, 5 debe ser lo mejor en todos.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6. Opciones exhaustivas y excluyentes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las preguntas cerradas; incluya 'otro, ¿cuál?' cuando falte algo.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7. Sin datos personales innecesarios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si no va a cruzar el dato en un análisis, no lo pida.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Además, en TG3 recogerá esos datos de verdad: pedir menos también es cuidar a quien responde.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Ítem mal redactado vs. ítem corregido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37178"/>
                <a:gridCol w="3637178"/>
                <a:gridCol w="3637178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Ítem problemático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falla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Versión corregida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'¿Está satisfecho con el servicio?'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Sí/no; no gradúa nada y no dice de qué servicio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'¿Qué tan conforme quedó con la solución del ticket? (1 a 5)'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'¿Le parece que el sistema es lento e ineficiente?'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Dos ideas juntas y además induce la respuesta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'¿Cuánto tiempo esperó desde que reportó hasta la primera respuesta?'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'¿Considera adecuada la latencia del pipeline?'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Vocabulario técnico que el usuario no maneja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'¿La respuesta llegó en el tiempo que usted esperaba?'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'Estrato socioeconómico: ___'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Dato personal que ningún análisis va a usar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 elimina del instrumento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'Comente lo que quiera del área de soporte'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Pregunta abierta sin foco: produce texto inanalizable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'¿Qué parte del proceso de soporte le generó mayor demora? ¿Por qué?'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Lea cada ítem en voz alta imaginando a la persona que lo va a responder. Si usted tendría que explicárselo, el ítem está mal escrito.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Escalas y tipos de respuesta: cuál usar en cada caso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Dicotómica (sí/no)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solo para hechos verificables. 'Sí/no' sobre percepciones desperdicia información.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Likert de 1 a 5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para acuerdo, conformidad o frecuencia percibida. Rotule los extremos siempre.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Se analiza con frecuencias y promedio por ítem; permite comparar dimensiones entre sí.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Opción múltiple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para categorías (tipo de falla reportada, canal usado). Una sola respuesta o varias, dígalo en la instrucción.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Numérica abierta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para conteos y tiempos (minutos de espera, tickets por turno). Indique la unidad.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Pregunta abierta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para el porqué. Máximo dos o tres en toda la encuesta.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Cada abierta implica trabajo de codificación después: si no piensa analizarlas, no las incluya.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En una guía de entrevista casi todo es abierto, pero con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repreguntas previstas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'si responde que sí, pedir un ejemplo'.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plan de análisis se decide ANTES de tener un solo dato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plan de análisis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dice qué se hará con cada tipo de dato una vez recogido, y se escribe hoy, sin datos en la mano.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error más caro del trabajo de grado: recoger primero y preguntarse después '¿y ahora qué hago con esto?'.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Cuando eso pasa, casi siempre falta el dato clave y ya no se puede volver a pedir.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Escribirlo antes obliga a comprobar algo: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¿este dato realmente responde mi pregunta?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Un plan de análisis se escribe por tipo de dato, no por instrumento: numéricos, categóricos y textuales.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Numéricos: promedio, dispersión y comparación antes/después. Categóricos: frecuencias y porcentajes. Textuales: agrupación por temas recurrentes.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Herramienta prevista para TG3: hoja de cálculo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Google Sheets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gratuita y en el navegador. Nada de programas de escritorio de pago.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Y todo en propuesto: 'se calculará', 'se compararán', 'se agruparán'.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modelado: plan de análisis del caso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2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Dato recogido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Análisis propuesto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Objetivo que responde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Minutos por ticket antes y después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Numérico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 calculará el promedio de cada momento y se compararán las medias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3. Comparar el tiempo de atención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Categoría asignada a cada ticket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Categórico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 calcularán frecuencias y porcentaje por categoría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1. Caracterizar el flujo de tickets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Porcentaje de aciertos del clasificador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Numérico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 reportará la exactitud sobre el conjunto de prueba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2. Diseñar el modelo de clasificación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Escala de conformidad 1 a 5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Ordinal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 reportará la distribución de respuestas y el promedio por ítem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3. Comparar el tiempo de atención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Respuestas abiertas de los agentes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Textual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 agruparán por temas recurrentes y se contará cuántos los mencionan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1. Caracterizar el flujo de tickets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Escrito así, cuando en TG3 lleguen los datos usted no improvisa: ya sabe exactamente qué calcular y para qué objetivo.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con instrumentos y análisis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'Pongo preguntas interesantes.' Interesante no basta: cada ítem debe rastrearse hasta un objetivo por la tabla de operacionalización. Si no se rastrea, sobra.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'Primero recojo y después veo cómo analizo.' Así es como se descubre, demasiado tarde, que faltó el dato principal. El plan se escribe antes.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33087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42816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Cuarenta preguntas no valen más que diez: en el avance se evalúa la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alineación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con los objetivos, no el volumen del instrumento.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con instrumentos y análisis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En TG2 el instrumento es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propuesto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: se diseña, se justifica y se deja listo. Aplicarlo, difundirlo o recoger respuestas es tarea de TG3.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paso: dejar el instrumento listo (sin aplicarlo)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su documento cree la sección 'Instrumentos y plan de análisis (propuestos)'.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Inserte la tabla de operacionalización de cuatro columnas y llénela desde su matriz del S07.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Escriba el instrumento completo: título, propósito en dos líneas, instrucción para quien responde e ítems numerados.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Agrupe los ítems por dimensión y ponga un subtítulo a cada bloque: se responde mejor y se analiza mejor.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Si quiere ver cómo se vería digital, puede maquetarlo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Google Forms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pero déjelo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sin publicar y sin enviar a nadie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En TG2 el formulario es una maqueta para anexar como captura; la aplicación real es de TG3.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Escriba abajo el plan de análisis en forma de tabla: dato, tipo, análisis propuesto, objetivo.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7.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Suba el archivo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[URL CDigital — campus del curso pendiente].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Todo con herramientas gratuitas en el navegador: Google Docs, Google Forms (solo maqueta), Google Sheets, Scholar y ZoteroBib (zbib.org).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— Operacionalización, instrumento y plan de análisis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Tiempo: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20 minutos de trabajo individual, con acompañamiento del Docente.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Archivo: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 documento en Google Docs llamado S08_Instrumentos_Apellido.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Consigna 1.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Complete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tabla de operacionalización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(variable → dimensión → indicador → ítem) para al menos dos variables de su proyecto.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Consigna 2.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Redacte su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instrumento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unos 10 ítems de encuesta, o una guía de unas 8 preguntas, o un protocolo de 5 a 8 casos de prueba.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Consigna 3.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Escriba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plan de análisis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tabla: qué hará con cada tipo de dato y a qué objetivo responde.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 (verificable):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cada ítem se rastrea a un objetivo por la tabla; cada objetivo tiene al menos un ítem; el plan de análisis no deja ningún dato sin destino.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suba S08_Instrumentos_Apellido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[URL CDigital — campus del curso pendiente].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de autoevaluación antes de entregar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¿Puedo señalar, para cada ítem, la fila de la tabla de la que nació?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¿Algún objetivo específico se quedó sin ítems que lo alimenten?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¿Cada ítem contiene una sola idea, sin inducir la respuesta ni usar jerga técnica?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¿La escala mantiene el mismo sentido en todos los ítems del bloque?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¿Eliminé los datos personales que ningún análisis va a usar?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¿El instrumento tiene propósito e instrucciones, no solo una lista de preguntas sueltas?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¿El plan de análisis dice qué se hará con los datos numéricos, los categóricos y los textuales?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¿Todo está redactado en propuesto y el archivo quedó cargado en CDigital?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 (trabajo autónomo)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Suba S08_Instrumentos_Apellido con la operacionalización, el instrumento y el plan de análisis.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Pídale a un compañero que lea su instrumento y le marque los ítems que no entendió a la primera: esa es su prueba de escritorio.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Revise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Google Scholar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 artículo que haya medido su misma variable y compare cómo la operacionalizó.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Copie la lógica de la medición, nunca los ítems textuales; y cite en APA 7 con ZoteroBib.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Aproveche la semana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trabajo autónomo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para dejar el instrumento pulido; revise la indicación de la sesión autónoma en CDigital.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Próxima sesión: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dejamos de escribir por partes y leemos el documento completo —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integración del avance y corrección de gaps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Llegue con todas sus secciones pegadas en un solo documento, aunque tengan huecos.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08: Instrumentos y plan de análisis (propuestos)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