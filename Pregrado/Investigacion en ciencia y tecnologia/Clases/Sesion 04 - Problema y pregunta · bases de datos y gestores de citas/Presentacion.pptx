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04 — Problema y pregunta · bases de datos y gestores de citas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04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Problema y pregunta · bases de datos y gestores de citas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son dos cosas: la pregunta y las fuentes que la sostienen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se decide la suerte del artículo: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quedan bien, el planteamiento, el marco y la metodología salen casi en cadena.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quedan mal, todo lo demás cojea, por bien redactado que esté.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trampa número uno en ingeniería, y hay que nombrarla de una vez: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*"El problema es que no existe una app que..."* — eso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 un problema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 que usted quiere hacer una app.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problema de investigación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hecho observable que produce consecuencias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"Los tutores dan retroalimentación tarde y los estudiantes repiten el mismo error" → eso sí duele, y se puede medir.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Segunda mitad de la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pregunta sin fuentes se queda en opinión. Por eso hoy también vemos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dónde se busca de verdad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(bases de datos, biblioteca CUN)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cita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APA 7.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adelanta a hoy porque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que se califica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exige fuentes citadas: no puede llegar al final del periodo sin saber buscar.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Meta de hoy: salir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 pregunta investigable en una sola frase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respaldada por un diagrama de causas y por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tres fuentes reales ya citadas en APA 7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(y qué no es) un problema de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hecho que se puede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observar, describir o medir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lugar y un tiempo concretos.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afectados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alguien pierde algo (tiempo, dinero, calidad, oportunidades).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causas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se pueden nombrar,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efectos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se pueden rastrear.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huella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hay registros, bitácoras, quejas, tiempos, cifras, o al menos testimonios.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ausencia de su solución favorita.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tema ("la inteligencia artificial" es un tema, no un problema).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molestia personal sin consecuencias verificables.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problema de ingeniería a resolver esta semana: es algo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falta comprender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control: pregúntese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"¿qué duele hoy, si mi solución nunca existiera?"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 respuesta es su problema.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Deseo de producto vs. problema de investigación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253702"/>
                <a:gridCol w="565783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suele escribirse (deseo de producto)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sí es problema de investigación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 existe una app que avise de los cortes de red."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"Las prácticas del laboratorio se interrumpen y no se conoce con qué frecuencia ni por qué."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"Falta un chatbot que responda dudas de los estudiantes."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retroalimentación llega días después y los estudiantes repiten el mismo error."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"Hay que implementar un sistema de sensores en la sede."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 se sabe cuánta energía consumen los laboratorios en horas pico ni qué la dispara."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necesita un dashboard de deserción."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deserción del programa se detecta cuando ya ocurrió, sin señales tempranas identificadas."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"Deberíamos migrar todo a la nube."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desconocen los riesgos y costos que asumiría la institución al migrar los pagos a la nube."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Fíjese en el patrón: la columna izquierda empieza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"falta / no existe / hay que"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la derecha empieza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hecho y sus consecuencias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Tres herramientas para ordenar el problema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usarla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necesita para empezar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Espina de pescado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(Ishikawa)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Familias de causas de un mismo efecto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Hay muchas causas dispersas y no sabe cuál pesa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efecto escrito en una frase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Árbol de problemas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Causas → problema central → efectos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Confunde lo que causa con lo que resulta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lista cruda de hechos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Método 3D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Descripción acotada +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tema está demasiado amplio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tema y algo de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usan las tres: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elija una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según lo que le esté fallando. Las tres terminan en el mismo punto: la pregunta.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Espina de pescado: abrir familias de causas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cabeza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pescado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efecto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hecho que duele, escrito en una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espinas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familias de causas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Para problemas de ingeniería funcionan bien estas cuatro: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Personas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quiénes intervienen y con qué carga (tutores saturados, turnos, rotación).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Proceso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cómo está definido el flujo (sin fecha límite, sin responsable, sin protocolo).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Tecnología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equipos, software, infraestructura (no hay registro de entregas, equipos antiguos).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Entorno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condiciones alrededor (grupos grandes, horarios pico, espacio compartido).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cada espina se cuelgan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causas concretas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adjetivos: "faltan tutores" es vago; "un tutor por cada 45 estudiantes" es una causa.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práctica: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tres familias con al menos una causa cada 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todo le cabe en una sola familia, no ha abierto el problema: ha repetido su hipótesis.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Árbol de problemas y método 3D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Árbol de problemas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tres niveles, y el orden importa: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Raíces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= causas. Se llega a ellas preguntando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"¿por qué ocurre?"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Tronco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= el problema central, en una sola frase.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Ramas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= efectos. Se llega a ellos preguntando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"¿qué provoca esto?"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Bonito detalle: el árbol se puede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voltear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árbol de objetivos (cada causa negativa se convierte en un objetivo).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 3D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para temas demasiado grandes, tres movimientos: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Describir: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¿qué pasa exactamente? Escríbalo sin adjetivos, como si narrara una escena.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Dimensionar: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¿cuánto, a cuántos, cada cuánto, desde cuándo? Aquí entran las cifras.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Decidir: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todo lo anterior, ¿qué parte puedo estudiar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este periodo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las fuentes que tengo?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Árbol de problemas y método 3D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3D es el mejor antídoto contra la pregunta planetaria: obliga a bajar a escala.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(1/2): la espina llena,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Punto de partida (mal):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*"Quiero hacer un chatbot que responda las dudas del laboratorio."*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Cabeza del pescado (el efecto):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*"Los estudiantes repiten los mismos errores en las prácticas del laboratorio X."*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Ahora las cuatro espinas, con causas concretas: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Personas: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solo tutor acompaña a los tres grupos de la franja.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Proceso: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retroalimentación no tiene fecha límite definida; llega cuando llega.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Tecnología: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hay registro de qué entregó cada estudiante ni de qué se le observó.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Entorno: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grupos de más de 40 estudiantes en la misma franja horaria.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Observe el hallazgo: el chatbot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aparece por ningún lado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porque era una respuesta, no una causa.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aparece algo que no estaba en la idea inicial: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retroalimentación.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(2/2): de la espina sale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toma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espina —la de proceso— y se convierte en pregunta: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final: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*"¿En qué medida el tiempo de respuesta de la retroalimentación influye en la repetición de errores de los estudiantes del laboratorio X?"*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Desarmémosla para ver por qué funciona: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Actor: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estudiantes del laboratorio X (no "los estudiantes" en abstracto).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Variable que se observa: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tiempo de respuesta de la retroalimentación.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Fenómeno de interés: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repetición de errores.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Fórmula de apertura: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"en qué medida" → obliga a describir o comparar, no a contestar sí o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lo más importante: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pregunta salió de una causa del diagrama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 la ocurrencia inicial.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es el trabajo de hoy: que su pregunta sea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consecuencia de un análisis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de un antojo.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Anatomía de una pregunta investigable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18589"/>
                <a:gridCol w="3637178"/>
                <a:gridCol w="545576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Atributo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significa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Prueba de control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Clara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entiende sin que usted la explique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la lee a alguien ajeno al tema y la repite con sus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Delimitada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Tiene actor, contexto y alcance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Puede señalar en el texto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quién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dónde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 se observa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Viable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Existen fuentes y datos a su alcance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Busca 2 términos en Google Académico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aparece literatura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Relevante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 alguien le importa la respuesta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Puede nombrar quién usaría el resultado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Abierta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contesta con sí o 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Empieza por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cómo / qué / cuál / en qué medida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cinco atributos se cumplen a la vez. Si falla uno, la pregunta todavía no está lista para el planteamiento. El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viabilidad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se comprueba en la segunda mitad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mal formuladas y su reformulación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33047"/>
                <a:gridCol w="2424785"/>
                <a:gridCol w="525370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la escriben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Reformulada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"¿Es útil la inteligencia artificial?"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Sí/no + planetaria: sin actor ni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"¿En qué medida un clasificador reduce los correos de phishing que llegan a los estudiantes de la sede X?"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"¿Existe deserción en el programa?"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Sí/no; además ya se sabe la respuesta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"¿Qué factores académicos anteceden la deserción en los dos primeros semestres del programa X?"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hacer una app para el laboratorio?"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de diseño, no de investigación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"¿Qué barreras enfrentan los estudiantes al registrar sus prácticas en el sistema actual?"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"¿Cuál es la mejor tecnología para la nube?"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"Mejor" sin criterio ni contexto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"¿Qué criterios de disponibilidad y costo priorizan las pymes de Bogotá al migrar servicios a la nube?"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Patrón de la corrección: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agregar actor y lugar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y cambiar el verbo de apertura por *qué*, *cómo* o *en qué medida*.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 la pregunta lista, la otra mitad: dónde se busca de verdad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pregunta ya existe. Ahora hay que averiguar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quién va a conversar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nadie investiga solo, y todo artículo dialoga con lo que ya se escribió.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problema que resuelve esta mitad de la sesión es muy concreto: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estudiante busca en Google normal, encuentra tres blogs y una nota de prensa, y su artículo no aguanta revisión.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Otro busca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filtra por año, baja el texto completo desde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biblioteca CUN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40 minutos tiene cinco fuentes citables.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Misma pregunta, mismo tiempo invertido: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diferencia fue saber dónde y cómo buscar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nombres que hay que separar desde ya: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Buscador académico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(Google Académico): rastrea muchísimo, pero mezcla calidades.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Base de datos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(SciELO, Redalyc, las suscritas por la CUN): colecciones curadas, con texto completo.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Gestor de citas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(ZoteroBib): no busca nada;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arma la referencia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formato correcto.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 la pregunta lista, la otra mitad: dónde se busca de verdad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de hoy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gratis y en el navegador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no se instala ningún programa.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Google normal sirve para orientarse.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sostiene un artículo.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Buscador ≠ base de datos: cuándo usar cada uno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77481"/>
                <a:gridCol w="2380698"/>
                <a:gridCol w="3174264"/>
                <a:gridCol w="257909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Recurso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Fortaleza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Límite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(scholar.google.com)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Buscador académico amplio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Arranque rápido, cobertura enorme, enlace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"citado por"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Mezcla calidades; muchos resultados sin texto completo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SciELO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(scielo.org)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Base de acceso abierto regional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Fuerte en español y portugués, texto completo gratis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Menos cobertura en temas muy técnicos o recientes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Redalyc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(redalyc.org)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Red de revistas iberoamericanas abiertas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Revistas de la región, descarga libre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Cobertura desigual por área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(web, login institucional)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Acceso a bases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suscritas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por la institución (EBSCO y otras)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Texto completo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artículos de pago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Requiere iniciar sesión con la cuenta institucional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ZoteroBib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(zbib.org)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Generador de citas en línea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 7 al instante, sin instalar ni registrarse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guarda su biblioteca: copie lo que genere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Nunca pague por un artículo: primero verifique si la institución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ya lo tiene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la biblioteca CUN.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Operadores de búsqueda que ahorran horas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2720"/>
                <a:gridCol w="5051636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Operador / filtro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escribe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Comillas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Busca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frase exacta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en ese orden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`"pérdida de paquetes"`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Exige que aparezcan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ambos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términos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`"pérdida de paquetes" AND laboratorio`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Amplía: sirve cualquiera de los dos (útil para sinónimos)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`phishing OR "correo malicioso"`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Signo menos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Excluye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un término que le ensucia los resultados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`redes -sociales`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Filtro por año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Limita a lo reciente: en tecnología,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últimos 5 años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Panel izquierdo de Scholar: *Desde 2021*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"Citado por"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Muestra quién retomó ese artículo después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Enlace bajo cada resultado en Scholar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empiece amplio y vaya cerrando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arranca con cinco filtros, no encontrará nada y creerá que su tema no existe.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(3/3): la misma pregunta, cuatro búsquedas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de partida: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*"¿En qué medida la pérdida de paquetes afecta las prácticas del laboratorio de redes?"*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Intento 1 (mal):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`problemas de internet en la universidad` → miles de resultados irrelevantes, ninguno académico.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Falla porque usa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lenguaje cotidiano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el vocabulario de la disciplina.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Intento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`"pérdida de paquetes" AND laboratorio` → mejor, pero pocos resultados en español.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Intento 3 (bueno):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`"packet loss" AND "network laboratory"` en Scholar, filtro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desde 2021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Aparecen artículos con método, medición y datos: eso sí es citable. Desde uno bueno,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"citado por"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lleva a los que lo continuaron.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Intento 4 (contexto local):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mismo tema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español, filtrando por Colombia o Latinoamérica.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solo artículo regional le 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pertinencia local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todo su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si está detrás de un muro de pago: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 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biblioteca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su login institucional y descárguelo desde las bases suscritas.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(3/3): la misma pregunta, cuatro búsquedas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Lección para anotar: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no encuentra nada, casi nunca es que el tema no exista: es que buscó con las palabras equivocadas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Tome los términos técnicos de los artículos que sí sirvieron y vuelva a buscar con ellos.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filtro de 60 segundos: ¿me quedo con esta fuente?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descargar nada, revise cinco cosas. Si falla más de una, siga de largo.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Autoría: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¿hay autores identificables y una institución detrás? Sin autor, no se cita.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Año: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temas tecnológicos, prefiera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últimos 5 años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en teoría de base, la antigüedad no descalifica.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se publicó: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¿revista, congreso, repositorio universitario? Un PDF suelto en un sitio desconocido no basta.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¿Tiene método?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texto explica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llegó a sus resultados, es una fuente fuerte.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Pertinencia: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¿responde a algo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? Si no, es interesante pero no entra.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Truco de lectura rápida, en este orden: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 → resumen → conclusiones → 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eso decide en un minuto si vale la pena leer el artículo completo.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una advertencia de honestidad: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solo leyó el resumen, no cite el interior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citar en APA 7 con ZoteroBib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pide cuenta, no instala nada, es gratis.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Seleccione el estilo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American Psychological Association 7th edition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Pegue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artículo (el código que empieza por `10.`). Si no tiene DOI, pegue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 exacto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la URL.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Pulse *Cite*: ZoteroBib arma la referencia completa.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Revísela a mano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siempre. Los fallos típicos son: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Nombres de autor incompletos o invertidos.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Título en mayúsculas sostenidas (en APA 7 va en minúscula, salvo la inicial y nombres propios).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Falta el nombre de la revista, el volumen o el DOI.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*Copy to clipboard* y pegue en su documento, bajo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orden alfabético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citar en APA 7 con ZoteroBib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cuerpo del texto cite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(Apellido, año)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para cita textual agregue la página: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(Apellido, año, p. 12)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Repita por cada fuente. Cinco fuentes toman menos de diez minutos.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Cada referencia del listado debe estar citada en el texto, y cada cita del texto debe estar en el listado.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instale Mendeley ni Zotero de escritorio: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no hace falta y en muchos equipos institucionales ni siquiera se puede.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frecuentes: del problema a la fuente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 problema es que no existe mi aplicación."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Eso es un deseo de producto. Pregúntese: si su app nunca existiera, ¿qué seguiría doliendo? Esa respuesta es el problema.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Confundir causas con efectos.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Dos preguntas distintas las separan: *¿por qué ocurre?* señala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causa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; *¿qué provoca esto?* señala un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efecto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En el árbol: causas abajo, efectos arriba.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Citar sin haber leído.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toma una idea de un artículo que cita a otro, cite el 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usted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leyó. Es riesgo de plagio y se nota.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frecuentes: del problema a la fuente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Wikipedia y los blogs orientan, no sostienen.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Úselos para entender un concepto y luego vaya a las referencias que ellos citan. El artículo se sostiene en Scholar, SciELO, Redalyc y las bases de la biblioteca CUN.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La IA generativa fabrica referencias creíbles y falsas.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darle autor, año, revista y DOI de un artículo que no existe. Regla innegociable: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si no abrió el documento, no lo cita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el diagrama en Excalidraw y la prueba de viabilidad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excalidraw.com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navegador. Es gratis,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requiere cuenta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ni instalación.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primero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efecto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cuadro a la derecha: esa es la cabeza del pescado.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Trace la línea horizontal (la espina dorsal) y cuatro diagonales: personas, proceso, tecnología, entorno.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Cuelgue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o dos causas concretas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cada diagonal. Sin adjetivos: hechos.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con color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causa que puede observar o medir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las fuentes a su alcance.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con *Export image* → PNG y pegue la imagen en su documento de Google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 Prueba de viabilidad: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tome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términos principales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pregunta y búsquelos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entre comillas.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aparecen artículos que hablan de eso, su pregunta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investigable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hay con qué dialogar.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aparece nada, no abandone: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cambie el vocabulario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(busque en inglés, use términos técnicos) antes de cambiar la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el diagrama en Excalidraw y la prueba de viabilidad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esa misma búsqueda salen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fuentes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va a citar hoy: no es un trabajo aparte.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en el navegador: Excalidraw, Google Docs, Google Académico, SciELO/Redalyc y ZoteroBib. Sin instalar programas.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Pregunta + tres fuentes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 · el Docente pasa acompañando · todo en el navegador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problema en 8–12 líneas, el diagrama, la pregunta y 3 fuentes citadas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Describa el problema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 a 12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como un hecho con consecuencias,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como la falta de su solución.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Haga el diagrama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—espina de pescado o árbol de problemas— y pegue la captura.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Empiece por aquí: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pensar dibujando desatasca más rápido que pensar escribiendo.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la pregunta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investigable.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Busque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 o 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quédese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fuentes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pasen el filtro de 60 segundos.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Genere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referencias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revíselas a mano y péguelas bajo *Referencias*.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4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Al menos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las tres fuentes debería ser regional (SciELO o Redalyc): es la que le da pertinencia local al artículo.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Pregunta + tres fuentes citadas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pregunta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tiene actor y contexto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responde con sí/no.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diagrama muestra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tres causas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familias distintas.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están completas —autor, año, título, fuente— y usted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abrió las tres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Leyó su pregunta a un compañero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tuvo que explicársela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el problema no arranca escrito, dibuje el diagrama primero y ponga en palabras cada rama: el texto sale de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`S04_ProblemaPreguntaFuentes_Apellido`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32,8%—,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documento se llama `S04_ProblemaPreguntaFuentes_Apellido` y trae la imagen del diagrama pegada.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problema está escrito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hecho + consecuencias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como "falta un/una...", y no aparece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 solución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ningún 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Nombro 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afectados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quién pierde qué.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diagrama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tres familias de causas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contenido real, y distinguí causas de efectos.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pregunta empieza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cómo, qué, cuál o en qué medida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cabe en una sola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pregunta es coherente con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 y la línea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ya elegí.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Tengo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fuentes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abrí las tres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ninguna salió solo del listado de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Ninguna de mis fuentes es un blog, un video o Wikipedia;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de SciELO o Redalyc.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referencias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están revisadas a mano (autores, año, revista, mayúsculas, DOI).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Anoté, al lado de cada fuente,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línea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diga por qué se relaciona con mi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Subí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https://cdigital.cun.edu.co/course/view.php?id=111070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Deje reposar la pregunta un día y vuelva a leerla.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Casi siempre se le puede quitar una palabra vaga.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Guarde el diagrama: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causas que dibujó hoy se convierten mañana en el cuerpo del planteamiento.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Marque las 2 o 3 causas más fuertes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diagrama: son las que va a defender con evidencia.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Empiece a coleccionar evidencia: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cualquier cifra, bitácora, informe o queja documentada sobre su problema. Anote de dónde salió cada dato; sin la fuente, el dato no sirve.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 de 3 a 5 fuentes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mismo método y guárdelas ya citadas en APA 7. Le van a hacer falta la próxima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Subraye en su pregunta los 2 o 3 conceptos clave.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Esos conceptos son los que va a rastrear en la literatura.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próxima sesión son dos cosas otra vez: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planteamiento del problema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completo y la primera página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teórico y revisión de literatura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pregunta, su diagrama y sus fuentes: sin ellos no hay con qué trabajar.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además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última sesión antes del cierre de la ACA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verifique hoy mismo en CDigital la fecha de recepción de trabajos.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para la próxima sesión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Entrega y materiales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https://cdigital.cun.edu.co/course/view.php?id=111070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claras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etapas del método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qué es un artículo de nuevo conocimiento.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memorizadas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 líneas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MinCiencias y en cuál se ubica tu tema, y por qué.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Distingue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tipos de fuente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qué la hace confiable: quién firma, dónde y de cuándo 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Domina problema, pregunta y objetivo, búsqueda con operadores y citas 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consolidado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problema, pregunta, marco, matriz de fuentes y APA 7.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claras las partes del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planteamiento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qué es una revisión de literatura articulada.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según tu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participación real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el periodo.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 tu aporte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valora con respeto hechos del trabajo del equipo, no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04: Problema y pregunta · bases de datos y gestores de citas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