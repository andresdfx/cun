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05 — Planteamiento del problema · marco teórico y revisión de literatura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Planteamiento del problema · marco teórico y revisión de literatura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Hoy vestimos la pregunta y la ponemos a conversar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Ya tiene una pregunta y tres fuentes. Sola, la pregunta no convence a nadie: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hay que demostrar que el problema existe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Eso es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planteamiento del problema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: la sección donde usted argumenta que su tema merece estudiarse.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Piénselo como un juicio: usted acusa, y el lector es el jurado.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Si dice "creo que la red del laboratorio falla mucho", el jurado se encoge de hombros.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Si dice "la bitácora institucional registró 12 interrupciones en un mes", el jurado se sienta a escuchar.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Y hay una segunda mitad: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marco teórico y la revisión de literatura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 Ahí su problema deja de estar solo y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conversa con lo que otros ya estudiaron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Las dos secciones responden a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misma pregunta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No son temas distintos: son el mismo argumento, visto desde su caso y desde la literatura.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Aviso de calendario, sin rodeos: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esta es la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última sesión antes del cierre de la ACA Final y del Quiz 3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 Lo que hoy no quede escrito, se escribe esta semana.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Meta de hoy: salir con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1 a 1.5 páginas de planteamiento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que terminan en su pregunta, y con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la primera página de marco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organizada por constructos.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Tenga abierto lo de la sesión anterior: el diagrama de causas y las fuentes ya citadas son la materia prima de este texto.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y qué NO es el planteamiento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argumentación: hechos + evidencia + consecuencias que llevan a una pregunta.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escribe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prosa continua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en viñetas ni en tablas.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afirmación fuerte va acompañada de un dato, un estudio o un registro.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la introducción.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introducción presenta y ubica; el planteamiento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argumenta y demuestra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el marco teórico.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Aquí no se definen conceptos; aquí se prueba que el problema existe.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la solución.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su texto ya está proponiendo qué hacer, se saltó una sección.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un desahogo.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"Es frustrante que..." no es un argumento.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Función real: cuando un lector termina de leerlo, debe pensar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"tiene razón, esto hay que estudiarlo"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Extensión de trabajo para este curso: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 a 1.5 páginas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Ni un párrafo, ni cinco páginas.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estructura de embudo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planteamiento va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lo ancho a lo estrecho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como un embudo: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Arriba,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ancho: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estado actual del asunto, en su contexto.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Luego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cierra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por evidencias, causas y consecuencias.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estrecha en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vacío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lo que todavía no se sabe.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cae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solo punto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su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qué funciona ese orden: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lector necesita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ubicarse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antes de entender por qué le debe importar.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causas solo tienen sentido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después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saber qué está pasando.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vacío solo se nota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después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ver todo lo que sí se sabe.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estructura de embudo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Error de orden más común: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empezar por el vacío o por la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El lector no sabe de qué le hablan.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 oro: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último párrafo del planteamiento contiene la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literal, sin sorpresas.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seis componentes del planteamiento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22720"/>
                <a:gridCol w="2424785"/>
                <a:gridCol w="4445440"/>
                <a:gridCol w="181858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del caso modelado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Extensión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Estado actual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ocurre hoy?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"Las prácticas del laboratorio dependen de una red inestable."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párrafo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Evidencias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lo sé?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bitácora del laboratorio registra 12 caídas en un mes."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Dentro de los párrafos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Causas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¿Por qué ocurre?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"Cableado antiguo y saturación en las horas pico."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párrafo (2–3 causas)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Consecuencias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¿A quién o a qué afecta?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"Prácticas incompletas y repetición de sesiones."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párrafo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Vacío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falta saber?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"No hay medición de la pérdida de paquetes en esa red."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2–3 frases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me propongo responder?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misma pregunta de la sesión anterior, sin cambios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frase final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Los seis en ese orden. Si le falta uno, el lector siente el hueco aunque no sepa nombrarlo.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regla dura de hoy: evidencia, no opinión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35112"/>
                <a:gridCol w="4647505"/>
                <a:gridCol w="282891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Afirmación débil (opinión)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Afirmación fuerte (evidencia)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la volvió fuerte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"Creo que muchos estudiantes reprueban."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34 % del grupo reprobó, según el reporte académico (2024)."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Cifra + fuente + año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"La red se cae mucho."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"La bitácora del laboratorio registró 12 interrupciones en un mes."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Conteo + registro verificable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"Todo el mundo recibe correos falsos."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61 % de los estudiantes encuestados reportó haber recibido correos que suplantan a la institución (Autor, 2023)."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Proporción + estudio citado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"Es obvio que la retroalimentación llega tarde."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tiempo promedio entre la entrega y la retroalimentación fue de 9 días."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Medida concreta y comparable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de control: subraye cada afirmación fuerte de su texto.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Si no tiene cifra ni cita al lado, es opinión.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¿De dónde saco evidencia si todavía no recojo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hace falta hacer trabajo de campo para respaldar el planteamiento. Fuentes al alcance: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Registros institucionales: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bitácoras de laboratorio, tickets de soporte, actas, reportes académicos.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Estadística oficial colombiana: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DANE, MinTIC, MinEducación (SNIES), MinCiencias.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Informes de gremios y entidades: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cámaras de comercio, observatorios, agremiaciones del sector.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Artículos académicos: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que ya buscó la sesión pasada en Scholar, SciELO y Redalyc — la evidencia de otros también cuenta.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Documentación técnica: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normas, estándares, manuales de fabricante, reportes de incidentes.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¿De dónde saco evidencia si todavía no recojo datos?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Reglas de uso: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Cite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siempre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dónde salió el dato: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(Fuente, año)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Un número sin origen no vale nada.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Prefiera datos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recientes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(últimos 5 años en temas tecnológicos).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el dato es de otro contexto o país,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dígalo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no lo presente como si fuera local.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dato de otro contexto sirve para mostrar que el fenómeno existe;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para afirmar que ocurre igual en su sede.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truco antibloqueo: primero la tabla, después la prosa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página en blanco no se vence escribiendo mejor: se vence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empezando por la prosa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Haga primero una tabla de tres columnas: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síntoma · evidencia · consecuencia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Síntoma: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hecho observable, en una frase corta.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dato, registro o estudio que lo respalda, con su fuente.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Consecuencia: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quién afecta y en qué se traduce.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qué funciona: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tabla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piensa por usted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si una casilla de evidencia queda vacía, ese síntoma todavía no se puede afirmar.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fila se convierte después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párrafo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y el párrafo nace ya respaldado.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imposible caer en la opinión: la columna del medio se lo impide.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truco antibloqueo: primero la tabla, después la prosa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Mínimo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filas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Con tres filas ya tiene el esqueleto de un planteamiento completo.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(1/2): la tabla llena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Síntoma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Consecuencia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red del laboratorio X se interrumpe durante las prácticas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bitácora institucional registra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12 interrupciones en un mes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Prácticas incompletas y repetición de sesiones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Las interrupciones se concentran en la franja de la tarde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registro de soporte ubica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9 de las 12 caídas entre 2 y 5 p. m.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franja de mayor ocupación es la más afectada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se conoce la calidad real del enlace durante la práctica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No existe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ningún registro de pérdida de paquetes ni de latencia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Las causas se atribuyen por suposición, no por medición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Note la tercera fila: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la ausencia de datos también es evidencia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— y es justamente la que anuncia el vacío.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(2/2): del renglón al párrafo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fila 1 de la tabla, convertida en prosa: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*"Durante el último mes, la red del laboratorio X presentó doce interrupciones registradas en la bitácora institucional. Cada una de ellas obligó a suspender la práctica en curso, de modo que varios grupos no lograron completar las actividades programadas y debieron repetir la sesión en otra franja."*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Desármelo y vea la mecánica: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"Durante el último mes"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delimita el tiempo. Sin tiempo, el dato flota.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"doce interrupciones"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la cifra exacta, no "muchas".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"registradas en la bitácora institucional"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la fuente, dentro de la misma frase.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"obligó a suspender... debieron repetir"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la consecuencia, con verbos de efecto.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(2/2): del renglón al párrafo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Conectores que encadenan los párrafos del planteamiento: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Para causas: *esto se explica por, entre los factores asociados se encuentra*.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Para consecuencias: *como resultado, lo que se traduce en, esto conlleva*.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Para el vacío: *sin embargo, no se ha caracterizado / no se dispone de / no se ha documentado*.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Jerarquizar causas y cerrar en la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Jerarquice las causas.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Diez causas sueltas no impresionan: dispersan.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Elija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 o 3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pueda respaldar con evidencia y desarróllelas.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demás, si acaso, en una frase: *"se identificaron además otros factores, que exceden el alcance de este artículo"*.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Criterio de selección: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 que tiene evidencia y la que se conecta con su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en la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hágalo en dos movimientos: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Penúltima frase →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vacío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*"no se dispone de mediciones que permitan establecer..."*.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Última frase →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literal, la misma de la sesión anterior.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Jerarquizar causas y cerrar en la pregunta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alineación (hágala antes de entregar):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Tape todo el texto y lea solo la pregunta. Después lea solo el primer párrafo.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¿Hablan de lo mismo, del mismo actor y del mismo contexto?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no, algo se desalineó en el camino.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Del planteamiento al marco: la misma pregunta, otro interlocutor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planteamiento demuestra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 caso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existe.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teórico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demuestra que usted sabe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se ha pensado ya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sobre eso.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el mismo argumento con otro interlocutor: allá hablaba con su contexto; aquí habla con la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error clásico es tratarlos como dos trabajos distintos. No lo son: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planteamiento termina en una pregunta; el marco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empieza por esa misma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al pasar de una sección a la otra cambia el vocabulario, el lector cree que son dos artículos pegados.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en el planteamiento dice "caídas" y en el marco "interrupciones",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elija una palabra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úsela en todo el documento.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Del planteamiento al marco: la misma pregunta, otro interlocutor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el marco aporta y el planteamiento no puede dar: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Definiciones sostenidas por autores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por su intuición.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Umbrales y referencias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para interpretar lo que usted observe.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Antecedentes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qué encontraron otros que estudiaron algo parecido, y en qué se diferencian de su caso.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marco teórico responde a la pregunta, no decora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collage de definiciones copiadas una detrás de otra.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capítulo de historia del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desfile de autores famosos que no tienen que ver con su caso.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conjunto de conceptos y hallazgos previos que le permiten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entender y responder su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organiza por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constructos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(los conceptos clave de la pregunta), no por autores ni por fechas.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fuente entra por una sola razón: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porque ayuda a responder algo de su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una fuente no ayuda,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entra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por interesante que sea.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control: al lado de cada párrafo del marco, escriba a qué parte de su pregunta responde.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hay un párrafo al que no le puede escribir nada, ese párrafo sobra.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Constructos: cómo salen de su propia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constructo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un concepto clave que su artículo necesita definir y sostener con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extraen subrayando la pregunta. Veámoslo con el caso modelado: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Pregunta: *"¿En qué medida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pérdida de paquetes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afecta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prácticas de laboratorio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 laboratorio de redes universitario?"*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Constructo 1: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pérdida de paquetes (qué es, cómo se mide, qué valores se consideran críticos).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Constructo 2: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prácticas de laboratorio (qué son, qué condiciones requieren, cómo se evalúan).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Segundo ejemplo, con otra línea: pregunta sobre phishing →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Constructo 1: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phishing y sus rasgos;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Constructo 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clasificación automática de correo.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Constructos: cómo salen de su propia pregunta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Reglas prácticas: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o tres constructos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bastan para un artículo de este curso. Cinco es dispersión.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Busque literatura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por constructo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"sobre el tema en general".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constructo se vuelve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subtítulo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marco: así el texto se ordena solo.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Posturas teóricas: cuando dos autores no dicen lo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Tarde o temprano va a encontrar dos fuentes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 contradicen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Eso no es un problema: es la parte interesante.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El estudiante inseguro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borra una de las dos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para que "no se note". El que ya entendió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las pone a conversar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Tres movimientos posibles cuando las fuentes no coinciden: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Acumular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 dicen lo mismo desde ángulos distintos: *"ambos coinciden en que..."*. Suma respaldo.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Contrastar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 dicen cosas distintas: *"mientras Apellido (2021) sostiene X, Apellido (2023) encuentra Y"*. Muestra que el tema está vivo.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Tomar postura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 usted dice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cuál de las dos le sirve a su caso y por qué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 Ese "por qué" es su aporte.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Cómo se toma postura sin arrogancia: no se dice "el autor está equivocado". Se dice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para qué contexto sirve cada uno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Ejemplo: *"El umbral del 2 % se propuso para aplicaciones en tiempo real; en un laboratorio con prácticas asincrónicas, ese criterio se adopta con reserva."*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Señal de que su marco tiene postura: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 terminar de leerlo se sabe desde dónde va a mirar usted su problema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solo qué han dicho otros.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En un artículo de este curso basta 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postura tomada y bien justificada. No hace falta discutir con toda la disciplina.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ficha de lectura: campos y qué escribir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24785"/>
                <a:gridCol w="3030981"/>
                <a:gridCol w="545576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escribe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(caso modelado)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Referencia APA 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cita completa generada en ZoteroBib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Apellido, A. (2022). Título del artículo. *Nombre de la Revista*, 14(2), 45–58.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Constructo al que responde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Cuál de sus 2–3 constructos aborda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Constructo 1: pérdida de paquetes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Idea principal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frase, con sus propias palabras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Mide el efecto de la pérdida de paquetes sobre aplicaciones en tiempo real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Cita textual + página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Máximo 2 líneas, entre comillas, con página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"Por encima del 2 % de pérdida, la sesión se degrada de forma perceptible" (p. 51)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Relación con mi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 qué esta fuente entra en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mi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marco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Aporta un umbral de referencia para juzgar las mediciones del laboratorio X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último campo es el que decide.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Si no puede llenarlo, la fuente no entra en su marco.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redacta un párrafo de marco (con su plantilla)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párrafo de marco no es una definición suelta: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argumento con respaldo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Estructura en cuatro movimientos: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 Enuncie el concepto: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*"La pérdida de paquetes se entiende como la proporción de paquetes que no llegan a destino (Apellido, 2022)."*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 Amplíe o matice con otra 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*"Otros autores señalan que su efecto depende del tipo de aplicación (Apellido, 2021)."*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 Contraste o acumule: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*"Ambos coinciden en que..."* o *"a diferencia del anterior, ..."*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 Amarre a su caso: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*"Este umbral sirve como referencia para interpretar las interrupciones del laboratorio X."*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movimiento 4 es el que separa un marco de un resumen: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siempre vuelva a su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redacta un párrafo de marco (con su plantilla)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Señales de que su marco está mal: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párrafo = un autor, en fila india, sin conversación entre ellos.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Aparecen definiciones que después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nunca se usan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el artículo.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Hay citas textuales largas y poco texto propio: el marco lo escribe usted, no los autores.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frecuentes: planteamiento y marco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Escribir lo que uno cree, sin datos.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Cada afirmación fuerte necesita una cifra, un registro o un estudio. Sin evidencia, su planteamiento es una opinión larga.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Empezar por la solución que quiere proponer.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Hoy se argumenta el problema. Si su texto ya dice "por eso se desarrollará una aplicación...", bórrelo: esa frase pertenece a otra sección.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Un marco que no vuelve nunca a su caso.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ningún párrafo termina amarrando el concepto a su laboratorio, su sede o su empresa, lo que escribió es un resumen de lecturas.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frecuentes: planteamiento y marco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El planteamiento debe caer exactamente en la pregunta que ya formuló.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termina en otra cosa —o en una pregunta distinta—, hay una desalineación que corregir antes de seguir.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Diez causas sin jerarquía.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Priorice 2 o 3 con evidencia. Una causa bien sustentada pesa más que ocho enunciadas al paso.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las dos secciones, sin bloquearse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Abra su documento y pegue arriba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le sirve de brújula para las dos secciones.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Inserte la tabla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 columnas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(síntoma · evidencia · consecuencia) y llene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 filas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~5 min.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Convierta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cada fila en un párrafo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tiempo + cifra + fuente + consecuencia. ~7 min.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Agregue el párrafo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causas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(2 o 3, jerarquizadas) y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cierre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una frase de vacío + su pregunta literal. ~3 min.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final,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borre la tabla o déjela como anexo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en el artículo va la prosa, no la tabla de trabajo.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Baje dos renglones y escriba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subtítulo por constructo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Con dos basta.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Bajo cada subtítulo, pegue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las fuentes que ya tenía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la sesión pasada y complete hasta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Scholar, SciELO o Redalyc.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Llene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ficha de lectura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cada una —cinco campos— antes de redactar. La ficha es la que evita el collage.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Redacte cada párrafo con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cuatro movimientos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cierre siempre volviendo a su caso.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las dos secciones, sin bloquearse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10.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Verifique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cada cita del 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esté en Referencias y viceversa. Genere lo que falte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zbib.org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en el navegador: Google Docs, Google Académico, SciELO, Redalyc, biblioteca CUN y ZoteroBib. Escriba primero, corrija después.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Planteamiento + primera página de marco (~24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documento `S05_PlanteamientoMarco_Apellido`: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Llene la tabla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síntoma / evidencia / consecuencia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 menos tres filas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(5 min)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Conviértala en un planteamiento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 a 1.5 páginas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seis componentes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orden,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termine en su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(9 min)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Declare sus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 constructos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ponga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subtítulo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para cada uno.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 min)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Complete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 fuentes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ficha de lectura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(los cinco campos), citadas en APA 7.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 min)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(5)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párrafo de marco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por constructo con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cuatro movimientos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y cierre cada uno volviendo a su caso.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 min)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Docente pasa acompañando y revisando alineación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 pregunta, planteamiento y marco.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leer su planteamiento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 conocer su tema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entiende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pasa, cómo lo sabe y por qué importa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y cada párrafo del marco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puede etiquetar con un constructo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control rápida: cuente cuántas veces aparece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número o una cita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su texto. Si la respuesta es cero, todavía es opinión.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el tiempo aprieta, priorice el planteamiento completo y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párrafo de marco bien hecho. Media página con argumento vale más que dos páginas de definiciones.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subir su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 documento se llama `S05_PlanteamientoMarco_Apellido`.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Están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seis componentes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planteamiento,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orden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está escrito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prosa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(1 a 1.5 páginas).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un dato con fuente citada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cuerpo del texto, y ninguna afirmación fuerte quedó sin respaldo.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Prioricé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 o 3 causas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diez enunciadas al paso,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propongo ninguna solución en este 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último párrafo cae en mi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exactamente la misma de la sesión anterior.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Declaré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 o 3 constructos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el marco está organizado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subtítulo por constructo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por autores ni por fechas.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Tengo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 fuentes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ficha de lectura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completa, y el campo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"relación con mi pregunta"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 lleno en todas.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una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fuente es regional (SciELO o Redalyc) y ninguna es blog, video o Wikipedia.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Cada párrafo del marco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vuelve a mi caso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su última frase.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subir su entrega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Uso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mismo vocabulario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planteamiento y en el marco (no "caídas" en uno e "interrupciones" en el otro).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Todo lo citado en el texto aparece en Referencias, y viceversa,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APA 7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revisado a mano.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Subí el archivo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· recta final hacia la ACA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Esta semana se cierra la ACA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—el artículo consolidado— y también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Quiz 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Verifique las fechas exactas y el espacio de entrega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CDigital, hoy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hay que hacer, en este orden: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Pegue en un solo documento lo que ya existe: título e introducción · línea de Ingeniería · problema y pregunta · planteamiento · marco por constructos · referencias.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Léalo seguido, en voz alta.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Donde se le trabe la lengua, hay una frase mal armada; donde cambie de vocabulario, hay una costura.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Amplíe de 5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 fuentes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su ficha: es la diferencia entre un marco justo y uno sólido.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Complete la evidencia que le faltó: identifique las afirmaciones sin respaldo y búsqueles fuente.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Revise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cada cita del texto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tenga su referencia y que no sobre ninguna.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Incorpore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retroalimentación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los cortes anteriores: eso se evalúa.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deje la consolidación para la última noche.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Cerrado el espacio, no hay archivo que lo reemplace.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· recta final hacia la ACA Final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próxima sesión no tiene entrega nueva: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socialización del artículo y el cierre del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Prepárese para contar su trabajo en cuatro minutos.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Entrega y materiales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05: Planteamiento del problema · marco teórico y revisión de literatura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