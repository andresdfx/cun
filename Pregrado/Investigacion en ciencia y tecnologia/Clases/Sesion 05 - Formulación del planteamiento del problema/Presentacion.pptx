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FORMULACIÓN DEL PLANTEAMIENTO DEL PROBLEMA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Formulación del planteamiento del problema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vestimos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tiene una pregunta. Sola, no convence a nadie: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hay que demostrar que el problema existe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Eso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sección donde usted argumenta que su tema merece estudiarse.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Piénselo como un juicio: usted es quien acusa, y el lector es el jurado.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dice "creo que la red del laboratorio falla mucho", el jurado se encoge de hombros.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dice "la bitácora institucional registró 12 interrupciones en un mes", el jurado se sienta a escuchar.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frecuente en ingeniería: dos estudiantes con el mismo problema real.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Uno lo sustenta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datos de un informe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su artículo avanza.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otro lo sustenta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experiencia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el evaluador le pide reescribir todo.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Meta de hoy: salir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a 1.5 páginas escritas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terminen exactamente en su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 abierto lo de la sesión anterior: el diagrama de causas es la materia prima de este 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y qué NO es el planteamiento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argumentación: hechos + evidencia + consecuencias que llevan a una pregunta.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escribe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prosa continua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en viñetas ni en tablas.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afirmación fuerte va acompañada de un dato, un estudio o un registro.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la introducción.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introducción presenta y ubica; el planteamiento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argumenta y demuestra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el marco teórico.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Aquí no se definen conceptos; aquí se prueba que el problema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la solución.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su texto ya está proponiendo qué hacer, se saltó una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desahogo.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"Es frustrante que..." no es un argumento.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Función real: cuando un lector termina de leerlo, debe pensar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"tiene razón, esto hay que estudiarlo"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Extensión de trabajo para este curso: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a 1.5 páginas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 un párrafo, ni cinco páginas.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estructura de embudo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planteamiento 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lo ancho a lo estrecho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como un embudo: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Arriba,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ancho: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estado actual del asunto, en su contexto.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Luego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cierra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evidencias, causas y consecuencias.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estrecha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vacío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todavía no se sabe.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cae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solo punto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 ese orden: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lector necesita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ubicarse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antes de entender por qué le debe importar.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causas solo tienen sentido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saber qué está pasando.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vacío solo se nota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ver todo lo que sí se sabe.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estructura de embudo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Error de orden más común: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empezar por el vacío o por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El lector no sabe de qué le hablan.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oro: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último párrafo del planteamiento contiene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literal, sin sorpresas.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seis componentes del planteamiento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22720"/>
                <a:gridCol w="2424785"/>
                <a:gridCol w="4445440"/>
                <a:gridCol w="181858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del caso modelado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Estado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ocurre hoy?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"Las prácticas del laboratorio dependen de una red inestable."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Evidencias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lo sé?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bitácora del laboratorio registra 12 caídas en un mes."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Dentro de los párrafos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Causas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ocurre?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"Cableado antiguo y saturación en las horas pico."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 (2–3 causas)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Consecuencias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 quién o a qué afecta?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"Prácticas incompletas y repetición de sesiones."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párrafo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Vacío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falta saber?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hay medición de la pérdida de paquetes en esa red."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 frases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me propongo responder?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misma pregunta de la sesión anterior, sin cambios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frase final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seis en ese orden. Si le falta uno, el lector siente el hueco aunque no sepa nombrarlo.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dura de hoy: evidencia, no opinión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35112"/>
                <a:gridCol w="4647505"/>
                <a:gridCol w="282891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Afirmación débil (opinión)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Afirmación fuerte (evidencia)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la volvió fuerte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"Creo que muchos estudiantes reprueban."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34 % del grupo reprobó, según el reporte académico (2024)."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Cifra + fuente + año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red se cae mucho."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bitácora del laboratorio registró 12 interrupciones en un mes."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Conteo + registro verificable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"Todo el mundo recibe correos falsos."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61 % de los estudiantes encuestados reportó haber recibido correos que suplantan a la institución (Autor, 2023)."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Proporción + estudio citado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"Es obvio que la retroalimentación llega tarde."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tiempo promedio entre la entrega y la retroalimentación fue de 9 días."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Medida concreta y comparable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 control: subraye cada afirmación fuerte de su texto.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Si no tiene cifra ni cita al lado, es opinión.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dónde saco evidencia si todavía no recojo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hace falta hacer trabajo de campo para respaldar el planteamiento. Fuentes al alcance: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Registros institucionales: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bitácoras de laboratorio, tickets de soporte, actas, reportes académicos.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Estadística oficial colombiana: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DANE, MinTIC, MinEducación (SNIES), MinCiencias.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Informes de gremios y entidades: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cámaras de comercio, observatorios, agremiaciones del sector.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Artículos académicos: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Google Académico, SciELO, Redalyc — la evidencia de otros también cuenta.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Documentación técnica: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normas, estándares, manuales de fabricante, reportes de incidentes.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¿De dónde saco evidencia si todavía no recojo datos?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Reglas de uso: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Cite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siempre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dónde salió el dato: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(Fuente, año)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Un número sin origen no vale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Prefiera datos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recientes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(últimos 5 años en temas tecnológicos).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dato es de otro contexto o país,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dígalo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no lo presente como si fuera 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dato de otro contexto sirve para mostrar que el fenómeno existe;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para afirmar que ocurre igual en su sede.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truco antibloqueo: primero la tabla, después la prosa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página en blanco no se vence escribiendo mejor: se vence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empezando por la prosa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primero una tabla de tres columnas: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síntoma · evidencia · consecuencia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Síntoma: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hecho observable, en una frase corta.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Evidencia: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dato, registro o estudio que lo respalda, con su fuente.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Consecuencia: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quién afecta y en qué se traduce.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tabla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piensa por usted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una casilla de evidencia queda vacía, ese síntoma todavía no se puede afirmar.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fila se convierte después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párrafo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el párrafo nace ya respaldado.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imposible caer en la opinión: la columna del medio se lo impide.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truco antibloqueo: primero la tabla, después la prosa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Mínimo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filas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Con tres filas ya tiene el esqueleto de un planteamiento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la tabla llena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Síntoma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Consecuencia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red del laboratorio X se interrumpe durante las prácticas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bitácora institucional registra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12 interrupciones en un mes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Prácticas incompletas y repetición de sesiones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interrupciones se concentran en la franja de la tarde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de soporte ubica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9 de las 12 caídas entre 2 y 5 p. m.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franja de mayor ocupación es la más afectada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conoce la calidad real del enlace durante la práctica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No existe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ningún registro de pérdida de paquetes ni de latencia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causas se atribuyen por suposición, no por medición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Note la tercera fila: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 ausencia de datos también es evidencia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— y es justamente la que anuncia el vacío.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del renglón al párrafo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fila 1 de la tabla, convertida en prosa: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*"Durante el último mes, la red del laboratorio X presentó doce interrupciones registradas en la bitácora institucional. Cada una de ellas obligó a suspender la práctica en curso, de modo que varios grupos no lograron completar las actividades programadas y debieron repetir la sesión en otra franja."*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Desármelo y vea la mecánica: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"Durante el último mes"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delimita el tiempo. Sin tiempo, el dato flota.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"doce interrupciones"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cifra exacta, no "muchas".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"registradas en la bitácora institucional"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fuente, dentro de la misma frase.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"obligó a suspender... debieron repetir"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→ la consecuencia, con verbos de efecto.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del renglón al párrafo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Conectores que encadenan los párrafos del planteamiento: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causas: *esto se explica por, entre los factores asociados se encuentra*.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consecuencias: *como resultado, lo que se traduce en, esto conlleva*.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el vacío: *sin embargo, no se ha caracterizado / no se dispone de / no se ha documentado*.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Jerarquizar causas y cerrar en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Jerarquice las causas.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Diez causas sueltas no impresionan: dispersan.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Elija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 o 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pueda respaldar con evidencia y desarróllelas.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demás, si acaso, en una frase: *"se identificaron además otros factores, que exceden el alcance de este artículo"*.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Criterio de selección: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que tiene evidencia y la que se conecta con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en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hágalo en dos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Penúltima frase →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vacío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*"no se dispone de mediciones que permitan establecer..."*.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Última frase →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literal, la misma de la sesión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Jerarquizar causas y cerrar en la pregunta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alineación (hágala antes de entregar):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Tape todo el texto y lea solo la pregunta. Después lea solo el primer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¿Hablan de lo mismo, del mismo actor y del mismo contexto?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no, algo se desalineó en el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redactar el planteamiento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Escribir lo que uno cree, sin datos.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Cada afirmación fuerte necesita una cifra, un registro o un estudio. Sin evidencia, su planteamiento es una opinión larga.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por la solución que quiere proponer.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Hoy se argumenta el problema. Si su texto ya dice "por eso se desarrollará una aplicación...", bórrelo: esa frase pertenece a otra sección y le quita fuerza al problema.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El planteamiento no termina en la pregunta.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Debe caer exactamente en la pregunta que ya formuló. Si termina en otra cosa —o en una pregunta distinta—, hay una desalineación que corregir antes de seguir.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redactar el planteamiento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Diez causas sin jerarquía.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Priorice 2 o 3 con evidencia. Una causa bien sustentada pesa más que ocho enunciadas al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escribirlo en 22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documento `S05_Planteamiento_Apellido` en Google Docs y pegue arriba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(le sirve de brújula).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una tabla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columnas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(síntoma · evidencia · consecuencia) y llene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filas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~6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dato o estudio que respalde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estado actual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—no su solución—. ~4 minutos.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Consejo: busque el fenómeno + el contexto, entre comillas la frase exacta.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 la referencia en APA tentativa; después la afinará con ZoteroBib.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fila en un párrafo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siguiendo el modelo: tiempo + cifra + fuente + consecuencia. ~8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Agregue el párrafo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(2 o 3, jerarquizadas). ~2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frase de vacío + su pregunta literal. ~2 minutos.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final,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borre la tabla o déjela como anexo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 el artículo va la prosa, no la tabla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navegador: Google Docs y Google Académico. Escriba primero, corrija después.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Redactar el planteamiento (~22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 `S05_Planteamiento_Apellido`: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Llene la tabla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síntoma / evidencia / consecuencia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tres filas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Conviértala en un planteamiento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 a 1.5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seis componentes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orden.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afirmación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debe apoyarse en un dato o estudio hallado en Google Académico, citado en 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texto debe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terminar en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la misma de la sesión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~22 minutos. El Docente pasa acompañando y revisando alineación.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leer su planteamiento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conocer su 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se entiende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pasa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lo sabe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 importa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y al final aparece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 rápida: cuente cuántas veces aparece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número o una cita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su texto. Si la respuesta es cero, todavía es opinión.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`S05_Planteamiento_Apellido`.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Están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seis componentes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estado actual, evidencias, causas, consecuencias, vacío y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Van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ese orden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(de lo ancho a lo estrecho, sin saltos).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 dato con fuente citada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cuerpo del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Ninguna afirmación fuerte quedó sin respaldo: revisé una por una.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Prioricé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o 3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diez enunciadas al paso.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propongo ninguna solución en este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Nombro 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afectados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digo en qué se traduce el problema para ellos.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último párrafo cae en mi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exactamente la misma de la sesión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Está escrito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prosa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en viñetas, y ocupa entre 1 y 1.5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Léalo en voz alta.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Donde se le trabe la lengua, hay una frase mal armada.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Complete la evidencia que le faltó: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identifique las afirmaciones sin respaldo y búsqueles fuente.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Extraiga sus constructos: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subraye en su pregunta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o 3 conceptos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Esos conceptos son los que va a rastrear en la literatura la próxima sesión.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Verifique en 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espacio de entrega y la fecha límite de recepción de trabajos de este corte.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próxima sesión es la más práctica del curso: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datos, gestores de citas y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planteamiento abierto: el marco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responde a esta misma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es un tema nuevo.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también una lista de términos de búsqueda, en español y en inglés.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Materiales y entrega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Formulación del planteamiento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