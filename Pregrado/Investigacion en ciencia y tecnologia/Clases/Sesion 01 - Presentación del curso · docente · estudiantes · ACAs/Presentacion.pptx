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i+VlOqSg5Qd2NOnlZallZcd4Fb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AF84AA-DD24-437A-8B39-198BD6F5A241}">
  <a:tblStyle styleId="{25AF84AA-DD24-437A-8B39-198BD6F5A24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customschemas.google.com/relationships/presentationmetadata" Target="meta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57205" y="1321611"/>
            <a:ext cx="109116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01 — PRESENTACIÓN DEL CURSO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Investigación Ciencia y Tecnología — Escuela de Ingenierías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600" cy="13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01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Sesión de encuadre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· el Docente · ustedes · cómo se evalúa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INVESTIGACIÓN, CIENCIA Y TECNOLOGÍA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 DE HOY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640080" y="1280160"/>
            <a:ext cx="109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640080" y="2011679"/>
            <a:ext cx="10911600" cy="23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curso: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qué se trata, cómo trabajamos y qué se llevan al final.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Docente: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quién los acompaña y cómo contactarlo.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Ustedes: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nos presentamos en el tablero colaborativo.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Cómo se evalúa: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qué ítems tiene el aula, cuánto pesa cada uno y qué se hace con él.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Acuerdos</a:t>
            </a:r>
            <a:r>
              <a:rPr b="0" i="0" lang="en-US" sz="2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trabajo y el primer encargo autónomo.</a:t>
            </a:r>
            <a:endParaRPr sz="2400"/>
          </a:p>
        </p:txBody>
      </p:sp>
      <p:sp>
        <p:nvSpPr>
          <p:cNvPr id="97" name="Google Shape;97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2560320" y="2148840"/>
            <a:ext cx="8991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descr="gmail_icon.png" id="105" name="Google Shape;10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41605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107" name="Google Shape;10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PRESÉNTATE — ROMPEHIELOS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Tablero colaborativo (Padlet)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640080" y="2011679"/>
            <a:ext cx="5852100" cy="28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Escanea el QR o abre: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https://padlet.com/andres_dfx/cun-wruz81hmf9k06gd7</a:t>
            </a:r>
            <a:endParaRPr sz="18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 un post-it escribe: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tu nombre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+ expectativa del curso +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idea de tema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el artículo (1 frase).</a:t>
            </a:r>
            <a:endParaRPr sz="18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Ahora, ~7 min.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Somos 20: el muro se lee entero y nadie queda sin ser visto.</a:t>
            </a:r>
            <a:endParaRPr sz="18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Después las leemos en voz alta y agrupamos expectativas — sin juzgar: de ahí salen los ejemplos con los que trabajamos el resto del curso.</a:t>
            </a:r>
            <a:endParaRPr sz="1800"/>
          </a:p>
        </p:txBody>
      </p:sp>
      <p:sp>
        <p:nvSpPr>
          <p:cNvPr id="117" name="Google Shape;117;p4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resentacion_estudiantes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2655" y="2103120"/>
            <a:ext cx="3108960" cy="310896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Escanea o abre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https://padlet.com/andres_dfx/cun-wruz81hmf9k06gd7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EVALÚA — LOS ÍTEMS DEL AULA</a:t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Evaluación y notas: solo en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fechas: enunciados y Presentación del Curso</a:t>
            </a:r>
            <a:endParaRPr/>
          </a:p>
        </p:txBody>
      </p:sp>
      <p:graphicFrame>
        <p:nvGraphicFramePr>
          <p:cNvPr id="129" name="Google Shape;129;p5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{25AF84AA-DD24-437A-8B39-198BD6F5A241}</a:tableStyleId>
              </a:tblPr>
              <a:tblGrid>
                <a:gridCol w="1833875"/>
                <a:gridCol w="1192025"/>
                <a:gridCol w="1192025"/>
                <a:gridCol w="825250"/>
                <a:gridCol w="5868400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haces con él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Subes el documento (plantilla APA CUN) al espacio de la tarea.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diligencias tú mismo en el aula (cuestionario individual).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Participas en el foro valorando el trabajo de tus pares.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0" name="Google Shape;130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trabajamos: una hora en vivo, el resto en su documento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640080" y="1691639"/>
            <a:ext cx="10911600" cy="37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Este curso tiene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hora sincrónica por semana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seis encuentros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total. El tiempo de clase es corto: por eso no se usa para dictar.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 de cada encuentro: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usted revisa el material que el Docente deja en CDigital (10–20 min) y llega sabiendo de qué se va a hablar.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Durante el encuentro: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explicación breve, un ejemplo modelado en pantalla y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taller sobre su propio documento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No se toma dictado.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Después del encuentro: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usted termina el avance y lo sube a CDigital antes de la siguiente clase.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traer siempre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sin excepción: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Su documento del artículo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abierto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Google Docs.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Una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duda concreta escrita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(no “no entendí nada”).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Con qué escribir: si se conecta desde el celular, tenga a mano dónde redactar.</a:t>
            </a:r>
            <a:endParaRPr sz="1600"/>
          </a:p>
        </p:txBody>
      </p:sp>
      <p:sp>
        <p:nvSpPr>
          <p:cNvPr id="138" name="Google Shape;138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del curso: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trabaja sobre lo que ya existe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Quien llega sin documento abierto pierde la hora de taller.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curso: las 6 sesiones de un vistazo</a:t>
            </a:r>
            <a:endParaRPr/>
          </a:p>
        </p:txBody>
      </p:sp>
      <p:graphicFrame>
        <p:nvGraphicFramePr>
          <p:cNvPr id="146" name="Google Shape;146;p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{25AF84AA-DD24-437A-8B39-198BD6F5A241}</a:tableStyleId>
              </a:tblPr>
              <a:tblGrid>
                <a:gridCol w="1100325"/>
                <a:gridCol w="5134850"/>
                <a:gridCol w="46763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qué sale usted de ahí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Presentación del curso, del Docente, de ustedes y de cómo se evalúa (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hoy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encuadre completo y su encargo autónomo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MinCiencias y las 6 líneas de Ingeniería del programa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 línea elegida y justificada por escrito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Prueba parcial y 1.er avance del artículo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borrador mínimo viable del artículo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 ·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bases de datos y gestores de citas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(sesión doble)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 pregunta, su diagrama y 3 fuentes citadas en APA 7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Planteamiento del problema ·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teórico y revisión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(sesión doble)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planteamiento con evidencia y la primera página de marco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Socialización del artículo y cierre del curso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 artículo sustentado, con ajustes anotados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7" name="Google Shape;147;p7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unidades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U1 y U2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Syllabus no desaparecen: pasan 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se retoman al abrir la Sesión 02. Todo lo que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califica se dicta hasta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05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la 06 es cierre.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Qué se llevan al final: un artículo, no seis talleres sueltos</a:t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640080" y="1691639"/>
            <a:ext cx="10911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producto de este curso es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artículo de investigación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escrito por usted.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son seis entregas independientes: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sesión agrega una sección al mismo documento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Al cerrar el periodo, ese archivo debe contener como mínimo: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título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una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introducción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breves.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El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la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investigación.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marco / revisión de literatura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fuentes citadas.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lista de referencias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completa en APA 7.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Para qué le sirve después: es la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semilla de su trabajo de grado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sirve para postularse a un semillero y le enseña a sostener una idea con evidencia, no con opinión.</a:t>
            </a:r>
            <a:endParaRPr sz="1700"/>
          </a:p>
        </p:txBody>
      </p:sp>
      <p:sp>
        <p:nvSpPr>
          <p:cNvPr id="156" name="Google Shape;156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157" name="Google Shape;157;p8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Lema del curso: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calidad sobre extensión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Media página bien planteada vale más que cinco de relleno.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Este es un periodo corto: qué implica para usted</a:t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Son seis encuentros.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Faltar a uno es perder cerca de la sexta parte del curso. Si falta, revise CDigital ese mismo día: la consigna queda publicada.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640080" y="2935224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sesión combina varias unidades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Syllabus (bases de datos + gestores + marco teórico). Es la más densa del periodo: a esa se llega con las lecturas hechas.</a:t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640080" y="4133087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Los avances se acumulan.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entrega el de una sesión, el de la siguiente sale mal, porque se construye encima. Aquí no hay “me pongo al día la última semana”.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por corte: qué hay en el aula y qué se prepara</a:t>
            </a:r>
            <a:endParaRPr/>
          </a:p>
        </p:txBody>
      </p:sp>
      <p:graphicFrame>
        <p:nvGraphicFramePr>
          <p:cNvPr id="177" name="Google Shape;177;p10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{25AF84AA-DD24-437A-8B39-198BD6F5A241}</a:tableStyleId>
              </a:tblPr>
              <a:tblGrid>
                <a:gridCol w="825250"/>
                <a:gridCol w="3117575"/>
                <a:gridCol w="3300975"/>
                <a:gridCol w="36677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hay en el aula (CDigital)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se prepara para 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 vs. bueno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cuestionarios que se resuelven en el aula,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de investigación elegida y justificada + primer avance del artículo: título, introducción breve, problema y primeras referencias. Guías: `Quiz 1 (6%)` y `Parcial 1 (24%)`.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 párrafos largos sin problema visible · Bueno: media página donde se ve contexto, vacío y propósito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también cuestionarios en el aula.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Planteamiento del problema y pregunta de investigación, sostenidos con evidencia. Guías: `Quiz 2 (9%)` y `Parcial 2 (21%)`.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 pregunta que se responde sí/no · Bueno: pregunta con “cómo”, “qué” o “en qué medida”, anclada a un contexto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(tarea: el único documento que se sube) +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+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(cuestionario) y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(foro).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artículo consolidado: marco / revisión con fuentes citadas y referencias en APA 7. Guías: `Quiz 3 (4%)` y `ACA Final (32,8%)`.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 collage de definiciones copiadas · Bueno: fuentes agrupadas por concepto y usadas como argumento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" name="Google Shape;178;p10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peso de cada ítem está en la slide «CÓMO SE EVALÚA» de esta sesión. Enunciados y criterios: `Clases/Recursos/ACAs/`;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fechas exactas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en la Presentación del Curso y en el aula — no se copian aquí para que nunca queden viejas.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entrega, paso a paso</a:t>
            </a:r>
            <a:endParaRPr/>
          </a:p>
        </p:txBody>
      </p:sp>
      <p:sp>
        <p:nvSpPr>
          <p:cNvPr id="186" name="Google Shape;186;p11"/>
          <p:cNvSpPr txBox="1"/>
          <p:nvPr/>
        </p:nvSpPr>
        <p:spPr>
          <a:xfrm>
            <a:off x="640080" y="1691639"/>
            <a:ext cx="10911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 en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sobre la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está en `Clases/Recursos/` (ábrala con *Archivo → Abrir con → Documentos de Google*).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Nombre el archivo así: `SNN_Tema_Apellido`. Ejemplo: `S02_LineaInvestigacion_Perez`.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Exporte 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PDF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entregar (*Archivo → Descargar → PDF*), salvo que el Docente pida el enlace del documento.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Suba el archivo 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en el espacio de esa sesión: [URL CDigital — campus del curso pendiente]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Verifique el estado: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subido no es lo mismo que entregado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Si el campus lo permite, guarde la captura del envío.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entrega tarde: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avise al Docente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cierre, no después. Se recibe, pero se califica sobre lo que haya dentro del plazo.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 que no está en CDigital, no está entregado.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se reciben trabajos por WhatsApp ni por correo personal.</a:t>
            </a:r>
            <a:endParaRPr sz="1600"/>
          </a:p>
        </p:txBody>
      </p:sp>
      <p:sp>
        <p:nvSpPr>
          <p:cNvPr id="187" name="Google Shape;187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88" name="Google Shape;188;p11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solo archivo por entrega, con su apellido. Nada de `final_final_v3.docx`.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Integridad académica: citar es parte del trabajo</a:t>
            </a:r>
            <a:endParaRPr/>
          </a:p>
        </p:txBody>
      </p:sp>
      <p:sp>
        <p:nvSpPr>
          <p:cNvPr id="195" name="Google Shape;195;p12"/>
          <p:cNvSpPr txBox="1"/>
          <p:nvPr/>
        </p:nvSpPr>
        <p:spPr>
          <a:xfrm>
            <a:off x="640080" y="1691639"/>
            <a:ext cx="10911600" cy="31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Todo lo que no es suyo se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cita en APA 7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ideas, datos, tablas, figuras y código.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Parafrasear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reescribir con sus palabras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 citar igual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Cambiar dos palabras no es parafrasear.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Cuenta como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plagio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Copiar y pegar sin comillas ni referencia.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Traducir un texto ajeno y presentarlo como propio.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Entregar un trabajo de otro estudiante, o uno suyo de otro semestre, como si fuera nuevo.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se detecta plagio se activa el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debido proceso institucional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no es algo que el Docente resuelva en privado.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Cómo evitarlo sin sufrir: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anote la fuente en el instante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que pega algo en su documento. Recuperarla después cuesta el triple.</a:t>
            </a:r>
            <a:endParaRPr sz="1600"/>
          </a:p>
        </p:txBody>
      </p:sp>
      <p:sp>
        <p:nvSpPr>
          <p:cNvPr id="196" name="Google Shape;196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197" name="Google Shape;197;p12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Herramienta del curso para citar: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gratis, en el navegador, sin instalar nada.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Inteligencia artificial generativa: reglas de la casa</a:t>
            </a:r>
            <a:endParaRPr/>
          </a:p>
        </p:txBody>
      </p:sp>
      <p:sp>
        <p:nvSpPr>
          <p:cNvPr id="204" name="Google Shape;204;p13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 se puede usar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entender un concepto, ordenar ideas o mejorar la redacción de un párrafo que ya escribió usted.</a:t>
            </a:r>
            <a:endParaRPr/>
          </a:p>
        </p:txBody>
      </p:sp>
      <p:sp>
        <p:nvSpPr>
          <p:cNvPr id="206" name="Google Shape;206;p13"/>
          <p:cNvSpPr/>
          <p:nvPr/>
        </p:nvSpPr>
        <p:spPr>
          <a:xfrm>
            <a:off x="640080" y="2935224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declara.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final del documento, una línea: qué herramienta usó y para qué. Usarla no es falta; ocultarlo sí.</a:t>
            </a:r>
            <a:endParaRPr/>
          </a:p>
        </p:txBody>
      </p:sp>
      <p:sp>
        <p:nvSpPr>
          <p:cNvPr id="208" name="Google Shape;208;p13"/>
          <p:cNvSpPr/>
          <p:nvPr/>
        </p:nvSpPr>
        <p:spPr>
          <a:xfrm>
            <a:off x="640080" y="4133087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Verifique cada fuente: estos modelos inventan citas, autores y DOIs.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abrió el artículo, no lo cite. Y si el Docente pregunta “¿por qué escribió esto?” y usted no puede explicarlo en voz alta, ese párrafo no le sirve.</a:t>
            </a:r>
            <a:endParaRPr/>
          </a:p>
        </p:txBody>
      </p:sp>
      <p:sp>
        <p:nvSpPr>
          <p:cNvPr id="210" name="Google Shape;210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curso: todas gratis, todas en el navegador</a:t>
            </a:r>
            <a:endParaRPr/>
          </a:p>
        </p:txBody>
      </p:sp>
      <p:graphicFrame>
        <p:nvGraphicFramePr>
          <p:cNvPr id="217" name="Google Shape;217;p1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{25AF84AA-DD24-437A-8B39-198BD6F5A241}</a:tableStyleId>
              </a:tblPr>
              <a:tblGrid>
                <a:gridCol w="2384025"/>
                <a:gridCol w="5409925"/>
                <a:gridCol w="31175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Herramienta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qué la usamos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Cuándo aparece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 oficial, materiales, avisos y notas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Siempre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Docs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Escribir el artículo sobre la plantilla APA CUN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Todas las sesiones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Académico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Buscar literatura y ver quién cita a quién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Desde la Sesión 02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SciELO y Redalyc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Fuentes abiertas en español y portugués de Iberoamérica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de búsqueda y marco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Biblioteca CUN (web)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Texto completo de bases suscritas, con login institucional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Cuando el PDF no es de acceso abierto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ZoteroBib (zbib.org)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Generar referencias en APA 7 sin instalar ni registrarse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Cada vez que cite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Excalidraw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Diagramar el problema (espina de pescado, árbol de problemas)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de problema y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8" name="Google Shape;218;p1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se exige instalar nada: ni Office de escritorio, ni Mendeley, ni Zotero de escritorio. Con un navegador basta.</a:t>
            </a:r>
            <a:endParaRPr/>
          </a:p>
        </p:txBody>
      </p:sp>
      <p:sp>
        <p:nvSpPr>
          <p:cNvPr id="219" name="Google Shape;219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pedir ayuda (y cómo pedirla bien)</a:t>
            </a:r>
            <a:endParaRPr/>
          </a:p>
        </p:txBody>
      </p:sp>
      <p:sp>
        <p:nvSpPr>
          <p:cNvPr id="226" name="Google Shape;226;p15"/>
          <p:cNvSpPr txBox="1"/>
          <p:nvPr/>
        </p:nvSpPr>
        <p:spPr>
          <a:xfrm>
            <a:off x="640080" y="1691639"/>
            <a:ext cx="10911600" cy="3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Canal oficial: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espacio de mensajes o foro del curso en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Lo académico queda ahí, con registro y a la vista de todos.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Correo del Docente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(el de la slide *Docente*): para novedades personales — incapacidad, cruce de horario, situación de fuerza mayor.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Tiempo de respuesta: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días hábiles y, en todo caso,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 del siguiente encuentro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No espere respuesta a medianoche del día de cierre.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últimos minutos son de dudas. Si la suya es larga, escríbala en el foro y se responde con detalle.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buena pregunta trae contexto: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Mal: “Docente, no entendí la ACA Final”.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Bien: “Subí mi párrafo del problema: ¿la pregunta que escribí es investigable o sigue siendo un tema?”.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va a faltar, avise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revise CDigital ese mismo día: material y consigna quedan publicados.</a:t>
            </a:r>
            <a:endParaRPr sz="1500"/>
          </a:p>
        </p:txBody>
      </p:sp>
      <p:sp>
        <p:nvSpPr>
          <p:cNvPr id="227" name="Google Shape;227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convivencia del encuentro virtual</a:t>
            </a:r>
            <a:endParaRPr/>
          </a:p>
        </p:txBody>
      </p:sp>
      <p:sp>
        <p:nvSpPr>
          <p:cNvPr id="234" name="Google Shape;234;p16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6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Puntualidad.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empieza a la hora que indica el pie de estas diapositivas: los primeros minutos son el encuadre de la sesión, y quien llega tarde llega sin consigna.</a:t>
            </a:r>
            <a:endParaRPr/>
          </a:p>
        </p:txBody>
      </p:sp>
      <p:sp>
        <p:nvSpPr>
          <p:cNvPr id="236" name="Google Shape;236;p16"/>
          <p:cNvSpPr/>
          <p:nvPr/>
        </p:nvSpPr>
        <p:spPr>
          <a:xfrm>
            <a:off x="640080" y="293522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Cámara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encendida al saludar y durante el taller si su conexión lo permite; no es obligatoria.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Micrófono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apagado mientras alguien expone. Si no quiere hablar, escriba en el chat: se lee todo.</a:t>
            </a:r>
            <a:endParaRPr/>
          </a:p>
        </p:txBody>
      </p:sp>
      <p:sp>
        <p:nvSpPr>
          <p:cNvPr id="238" name="Google Shape;238;p16"/>
          <p:cNvSpPr/>
          <p:nvPr/>
        </p:nvSpPr>
        <p:spPr>
          <a:xfrm>
            <a:off x="640080" y="438912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6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Respeto en el foro y en el tablero.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comenta el texto, nunca a la persona. Un comentario útil dice qué mejorar y cómo, no solo qué está mal.</a:t>
            </a:r>
            <a:endParaRPr/>
          </a:p>
        </p:txBody>
      </p:sp>
      <p:sp>
        <p:nvSpPr>
          <p:cNvPr id="240" name="Google Shape;240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Preguntas frecuentes del primer día</a:t>
            </a:r>
            <a:endParaRPr/>
          </a:p>
        </p:txBody>
      </p:sp>
      <p:sp>
        <p:nvSpPr>
          <p:cNvPr id="247" name="Google Shape;247;p17"/>
          <p:cNvSpPr/>
          <p:nvPr/>
        </p:nvSpPr>
        <p:spPr>
          <a:xfrm>
            <a:off x="640080" y="1737360"/>
            <a:ext cx="10911535" cy="1481328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7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“¿Esta materia se pierde fácil?”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No, si trabaja al día. La nota se arma con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quices y parciales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se resuelven en el aula y una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acumula lo escrito: el riesgo no es la dificultad, es dejar pasar una ventana o armar el artículo la última semana.</a:t>
            </a:r>
            <a:endParaRPr/>
          </a:p>
        </p:txBody>
      </p:sp>
      <p:sp>
        <p:nvSpPr>
          <p:cNvPr id="249" name="Google Shape;249;p17"/>
          <p:cNvSpPr/>
          <p:nvPr/>
        </p:nvSpPr>
        <p:spPr>
          <a:xfrm>
            <a:off x="640080" y="3447288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7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“¿Puedo trabajar solo o tiene que ser en grupo?”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artículo de este curso es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individual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salvo que el enunciado diga otra cosa.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“¿Y si aún no tengo tema?”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Hoy sale con uno tentativo; en la Sesión 02 se afina.</a:t>
            </a:r>
            <a:endParaRPr/>
          </a:p>
        </p:txBody>
      </p:sp>
      <p:sp>
        <p:nvSpPr>
          <p:cNvPr id="251" name="Google Shape;251;p17"/>
          <p:cNvSpPr/>
          <p:nvPr/>
        </p:nvSpPr>
        <p:spPr>
          <a:xfrm>
            <a:off x="640080" y="490118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7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“¿Me sirve un trabajo de otro semestre?”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Puede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partir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un tema suyo anterior, pero el texto debe ser nuevo y hay que citar lo que reutilice. Reentregarlo tal cual es falta académica.</a:t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 que debe tener listo para la Sesión 02</a:t>
            </a:r>
            <a:endParaRPr/>
          </a:p>
        </p:txBody>
      </p:sp>
      <p:sp>
        <p:nvSpPr>
          <p:cNvPr id="260" name="Google Shape;260;p18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 (obligatoria):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unidades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U1 y U2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Syllabus — presentación del Syllabus y producto final (el artículo) y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fundamentos del método científico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Hoy no se dictaron: se leen en casa y se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retoman al abrir la Sesión 02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sus dudas en la mano.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Dónde está: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ya viene en tu carpeta del curso, en `Sesion 01 - …/` (el PDF y el archivo `Lectura autonoma - Sesion 01.txt` con la cita y el enlace). También queda publicada en CDigital.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Cuánto: 30–40 minutos. Anote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dudas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plantearlas al inicio de la próxima clase.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Escriba su tema tentativo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un Google Doc llamado `S01_TemaTentativo_Apellido`: una sola frase con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 + fenómeno + contexto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Agregue 2–3 líneas de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por qué le importa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ese problema.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Agregue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fuente exploratoria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Google Académico: autor, año y título.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Súbalo a CDigital antes de la Sesión 02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abra las dos guías del primer corte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`Clases/Recursos/ACAs/`: `Quiz 1 (6%)` y `Parcial 1 (24%)`, que es lo que se pregunta.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Sesión 02 arranca con los temas de ustedes en pantalla: quien llegue sin tema escrito trabaja esa hora en blanco.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TRABAJO</a:t>
            </a:r>
            <a:endParaRPr/>
          </a:p>
        </p:txBody>
      </p:sp>
      <p:sp>
        <p:nvSpPr>
          <p:cNvPr id="269" name="Google Shape;269;p19"/>
          <p:cNvSpPr/>
          <p:nvPr/>
        </p:nvSpPr>
        <p:spPr>
          <a:xfrm>
            <a:off x="640080" y="173736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9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 oficial: CDigital.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que no esté ahí, no está entregado.</a:t>
            </a:r>
            <a:endParaRPr/>
          </a:p>
        </p:txBody>
      </p:sp>
      <p:sp>
        <p:nvSpPr>
          <p:cNvPr id="271" name="Google Shape;271;p19"/>
          <p:cNvSpPr/>
          <p:nvPr/>
        </p:nvSpPr>
        <p:spPr>
          <a:xfrm>
            <a:off x="640080" y="2679191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9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Traer el avance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escrito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 cada encuentro: se trabaja sobre lo que ya existe.</a:t>
            </a:r>
            <a:endParaRPr/>
          </a:p>
        </p:txBody>
      </p:sp>
      <p:sp>
        <p:nvSpPr>
          <p:cNvPr id="273" name="Google Shape;273;p19"/>
          <p:cNvSpPr/>
          <p:nvPr/>
        </p:nvSpPr>
        <p:spPr>
          <a:xfrm>
            <a:off x="640080" y="3621024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9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Integridad académica: citar siempre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APA 7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El plagio tiene debido proceso.</a:t>
            </a:r>
            <a:endParaRPr/>
          </a:p>
        </p:txBody>
      </p:sp>
      <p:sp>
        <p:nvSpPr>
          <p:cNvPr id="275" name="Google Shape;275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LA PRÓXIMA SESIÓN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640080" y="1691639"/>
            <a:ext cx="10911600" cy="247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autónoma: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U1–U2 (Syllabus y producto final · fundamentos del método científico) — la retomamos al abrir la Sesión 02.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Revisar la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Presentación del Curso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completa (fechas, evaluación, contenido de todas las sesiones).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Abrir los enunciados de `Clases/Recursos/ACAs/`: son la guía escrita de lo que evalúa cada corte.</a:t>
            </a:r>
            <a:endParaRPr sz="2400"/>
          </a:p>
        </p:txBody>
      </p:sp>
      <p:sp>
        <p:nvSpPr>
          <p:cNvPr id="283" name="Google Shape;283;p2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89" name="Google Shape;28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1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01</a:t>
            </a:r>
            <a:endParaRPr/>
          </a:p>
        </p:txBody>
      </p:sp>
      <p:sp>
        <p:nvSpPr>
          <p:cNvPr id="291" name="Google Shape;291;p21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Ya sabemos qué haremos, cómo se evalúa y quién es quién.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arranca el contenido del curso.</a:t>
            </a:r>
            <a:endParaRPr/>
          </a:p>
        </p:txBody>
      </p:sp>
      <p:sp>
        <p:nvSpPr>
          <p:cNvPr id="292" name="Google Shape;292;p21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INVESTIGACIÓN, CIENCIA Y TECNOLOGÍA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