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02 — MinCiencias · 6 líneas de Ingeniería · elección de línea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Investigación Ciencia y Tecnología — Escuela de Ingenierías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02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MinCiencias · 6 líneas de Ingeniería · elección de línea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INVESTIGACIÓN, CIENCIA Y TECNOLOGÍA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Su tema todavía no tiene apellido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En la sesión anterior cada uno dejó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 tentativo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"phishing", "deserción", "la red del laboratorio".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Un tema suelto no se puede investigar: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dice dónde buscar, ni con quién dialogar, ni con qué palabras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Hoy le ponemos apellido: lo ubicamos en una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línea de investigación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Caso concreto: dos estudiantes escriben "seguridad informática".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primero la trabaja como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Inteligencia Artificial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→ busca *phishing detection*, *classifier*, *dataset*.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segundo la trabaja como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Telemática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→ busca *firewall*, *segmentación de red*, *latencia*.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Mismo tema,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dos bibliografías que casi no se cruzan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dos artículos distintos.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Elegir bien la línea le ahorra semanas de búsqueda perdida; elegirla mal lo obliga a reescribir el marco.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Al final de esta sesión usted sale con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una línea elegida y justificada por escrito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, no con una intención.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MinCiencias: qué es y por qué le importa a su artículo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MinCiencias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= Ministerio de Ciencia, Tecnología e Innovación de Colombia.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Coordina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Sistema Nacional de CTeI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la red de grupos, semilleros, universidades y centros que produce investigación en el país.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Su función clave para usted: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organiza el conocimiento por áreas y líneas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Esa organización orienta convocatorias, financiación, categorización de grupos y revistas indexadas.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 que MinCiencias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No es un requisito de trámite que se llena y se olvida.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No es una lista de temas permitidos; es un mapa de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comunidades de conocimiento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Traducción práctica: la línea define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el vocabulario que usará, los autores que citará y las revistas donde buscará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Investigar sin línea es entrar a una biblioteca gigante sin saber en qué pasillo pararse.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Las 6 líneas de Ingeniería del programa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3520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67653"/>
                <a:gridCol w="2862042"/>
                <a:gridCol w="2504286"/>
                <a:gridCol w="3577552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Línea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De qué trata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Palabras clave para buscar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Pregunta de ejemplo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IoT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(Internet de las Cosas)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Sensores y dispositivos conectados que capturan el mundo físico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sensor, telemetría, ESP32, MQTT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¿Cómo monitorear el consumo eléctrico de un laboratorio con sensores?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Big Data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Analítica de grandes volúmenes de datos ya existentes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dataset, ETL, minería de datos, dashboard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¿Qué patrones de deserción revelan los datos de matrícula?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Inteligencia Artificial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Modelos que aprenden de datos y clasifican o predicen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clasificador, entrenamiento, precisión, sesgo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¿Puede un clasificador detectar correos de phishing institucionales?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Cloud / FinTech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Servicios en la nube y servicios financieros digitales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SaaS, migración, disponibilidad, pasarela de pago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¿Qué riesgos de seguridad tiene migrar los pagos a la nube?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Aplicaciones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Desarrollo de software y experiencia de uso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usabilidad, requisitos, prototipo, accesibilidad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¿Qué barreras de usabilidad tiene el portal X para adultos mayores?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Telemática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Redes, protocolos y comunicaciones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latencia, ancho de banda, pérdida de paquetes, topología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¿Cómo afecta la latencia a las clases sincrónicas en la sede Y?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34924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Léala como un menú de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ángulos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, no de temas: casi cualquier tema cabe en varias líneas, pero se trabaja desde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una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misma palabra, cuatro artículos distintos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Tomemos una sola palabra: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"seguridad"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Vea en qué se convierte según la línea: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IA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→ detectar fraude o phishing con un modelo entrenado; se habla de *falsos positivos* y *precisión*.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Telemática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→ proteger la red; se habla de *segmentación*, *firewall* y *tráfico anómalo*.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Cloud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→ proteger datos alojados en un tercero; se habla de *cifrado en reposo* y *disponibilidad*.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Aplicaciones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→ que el software no exponga al usuario; se habla de *validación de entradas* y *permisos*.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Conclusión que hay que anotar: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la línea decide el ángulo, y el ángulo decide todo lo demás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misma palabra, cuatro artículos distintos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Efecto sobre el artículo: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Cambia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marco teórico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(qué conceptos hay que definir).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Cambian los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antecedentes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(qué autores son referencia obligada).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Cambia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evidencia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que le van a exigir (un log de red no sirve para argumentar un modelo de IA).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Los tres criterios para elegir su línea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20116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37178"/>
                <a:gridCol w="3637178"/>
                <a:gridCol w="3637178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Criterio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Pregunta de control que debe responderse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Señal de alerta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Afinidad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¿Esta línea conserva lo que a mí me interesa del tema, o lo desvía?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Tiene que forzar el tema para que quepa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Viabilidad de fuentes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¿Encuentro hoy, en Google Académico, al menos 2 artículos usables de este ángulo?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Busca 10 minutos y no aparece nada pertinente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Pertinencia local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¿Le sirve a algo de mi entorno: mi sede, mi empresa, mi barrio, mi práctica?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Solo tiene sentido en un país o una escala que no puede observar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8404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Regla de oro: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una sola línea principal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 Puede mencionar que su tema roza otra, pero el marco se escribe para una.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 (1/2): del tema al dilema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 tentativo real: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"phishing en los correos de los estudiantes".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Ese enunciado admite por lo menos dos líneas, y hay que decidir: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Opción A — Inteligencia Artificial: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entrenar o evaluar un clasificador que separe correo legítimo de correo malicioso.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Opción B — Telemática: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filtrar el correo malicioso en la infraestructura de red y de servidor.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Antes de decidir por gusto, se llena una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tabla de decisión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Google Docs con los tres criterios.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No es burocracia: escribir la comparación obliga a mirar si de verdad hay fuentes.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siguiente bloque muestra la tabla llena, con el resultado del caso.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 (2/2): la tabla de decisión resuelta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37178"/>
                <a:gridCol w="3637178"/>
                <a:gridCol w="3637178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Criterio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Opción A — Inteligencia Artificial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Opción B — Telemática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Afinidad con el tema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Alta: el interés es reconocer el correo malicioso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Media: el interés se desplaza a la infraestructura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¿Hay fuentes accesibles?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Sí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: mucha literatura y datasets públicos de phishing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Sí, pero más orientada a configuración que a investigación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¿Hay datos que yo pueda ver?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Sí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: corpus públicos de correos, sin pedir permisos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Requiere acceso a la red institucional (permiso incierto)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Pertinencia local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Alta: afecta a los estudiantes de la sede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Alta, pero la decisión la toma el área de TI, no yo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Decisión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Gana: viabilidad de datos y de literatura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 menciona como línea que roza, no como principal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Fíjese en cuál fue el criterio que desempató: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no la moda, sino de dónde puedo sacar fuentes y datos este periodo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Cuatro mitos que hay que desactivar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1225296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"Elijo IA porque está de moda."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La moda no le entrega fuentes. Si busca 10 minutos y no aparecen artículos de su ángulo, esa línea no es viable para usted este periodo, por popular que sea.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91256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300984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"Puedo trabajar tres líneas a la vez."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No. Tres líneas = tres vocabularios = ningún marco sólido. Una principal; las demás, a lo sumo, una frase de contexto.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389120"/>
            <a:ext cx="10911535" cy="1225296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498848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"La línea es un requisito administrativo."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Es lo contrario: define su vocabulario y sus referentes. Cambiarla en la mitad del periodo obliga a reescribir el marco teórico completo.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Cuatro mitos que hay que desactivar hoy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1225296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"Mi tema no cabe en ninguna línea."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Casi siempre cabe. Pregúntese qué duele en su tema: ¿los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datos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, la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red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, el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software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, el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dispositivo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o el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servicio en la nube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? Esa respuesta ya es la línea.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paso: elegir su línea con herramientas gratis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Abra su documento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Google Docs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titúlelo `S02_LineaInvestigacion_Apellido`.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Copie arriba su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 tentativo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tal como lo escribió en la sesión anterior.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Haga una tabla de 4 columnas: *Línea candidata · Afinidad · ¿Hay fuentes? · Pertinencia local*.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Escriba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líneas candidatas (no una: para elegir hay que comparar).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Abra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Google Académico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(scholar.google.com) y busque con el vocabulario de cada línea.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Use comillas para la frase exacta: `"phishing detection"` y agregue un término de contexto.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no encuentra nada en español,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busque en inglés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casi toda la literatura técnica está allí.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Anote en la tabla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cuántos resultados usables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halló por línea (no cuántos resultados totales).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7.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Marque la ganadora y escriba una frase: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"Elijo X porque ___ y descarto Y porque ___"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paso: elegir su línea con herramientas gratis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8.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Guarde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dos referencias exploratorias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la línea ganadora, en APA tentativa.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Si Google Académico responde "tráfico inusual", cambie de red o pídale al Docente que proyecte la búsqueda.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Cómo se escribe el párrafo de justificación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No es un párrafo libre: tiene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tres movimientos obligatorios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uno por criterio.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Movimiento 1 — Afinidad: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"Mi tema es ___ y lo abordo desde la línea ___ porque lo que quiero entender es ___."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Movimiento 2 — Fuentes: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"Esta línea es viable porque encontré ___ y ___, que tratan el mismo ángulo."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Movimiento 3 — Pertinencia local: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"Es pertinente en mi contexto porque ___ ocurre en ___ y afecta a ___."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Cierre con la línea descartada: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"Descarto ___ porque ___"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(una sola frase, pero explícita).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Extensión: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 párrafo de 6 a 10 líneas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Ni una viñeta suelta, ni una página.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Escriba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presente y en primera persona del plural o impersonal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como se escribe un artículo.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Sí: "se aborda desde la línea de Inteligencia Artificial porque..."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No: "a mí me gusta la IA y me parece chévere el tema".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 (3/3): el párrafo terminado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Así queda el caso del phishing, ya redactado: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*"El tema de este artículo es la detección de correos de phishing dirigidos a estudiantes universitarios. Se aborda desde la línea de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Inteligencia Artificial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porque el interés está en distinguir automáticamente el correo legítimo del malicioso a partir de sus características, y no en la configuración de la infraestructura. La línea es viable porque existe literatura abundante sobre clasificación de correo malicioso y conjuntos de datos públicos que pueden analizarse sin solicitar permisos institucionales. Es pertinente en el contexto local porque la comunidad estudiantil recibe con frecuencia mensajes que suplantan a la institución. Se descarta la línea de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Telemática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porque exigiría acceso a la red institucional, cuyo permiso no está garantizado dentro del periodo."*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Compruebe qué tiene ese párrafo: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Dice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qué se investiga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no solo qué tema le gusta.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Justifica con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disponibilidad real de fuentes y datos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Ancla el problema 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 contexto concreto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Descarta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explícitamente la alternativa: eso demuestra que hubo decisión, no azar.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· Línea elegida + justificación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B2B2B"/>
                </a:solidFill>
                <a:latin typeface="Calibri"/>
              </a:rPr>
              <a:t>Individual · el Docente pasa acompañando · Google Docs + Google Académico, nada que instalar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79"/>
            <a:ext cx="10911535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Al final tiene: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su línea elegida, el párrafo que la justifica, dos referentes y la tabla de decisión.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Paso 1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· Escriba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línea elegida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 su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nombre exacto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las seis del programa.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Paso 2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· Escriba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párrafo de justificación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 los tres movimientos —afinidad, fuentes y pertinencia local— y nombre también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la línea que descartó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Paso 3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· Busque en Google Académico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dos referentes exploratorios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páselos a APA tentativa: autor, año, título, fuente.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Paso 4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· Llene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tabla de decisión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comparando las dos líneas candidatas.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 clase, sin falta: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pasos 1 a 2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Del 3 en adelante puede quedar en trabajo autónomo, pero antes de la próxima sesión.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· cómo se revisa y dónde se entrega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B2B2B"/>
                </a:solidFill>
                <a:latin typeface="Calibri"/>
              </a:rPr>
              <a:t>Línea elegida + justificación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79"/>
            <a:ext cx="10911535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Quedó bien si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—compruébelo usted antes de cerrar el documento—: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Al leer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solo su párrafo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sin conocer su tema, se entiende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por qué esa línea y no la otra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Los dos referentes demuestran que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ya existe literatura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para trabajarla.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sus dos referentes no aparecen, la justificación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 está terminada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el criterio de fuentes no se cumplió.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Plan B: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Si no encuentra referentes de su línea, cambie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palabra clave por su sinónimo técnico antes de cambiar de línea: el problema casi siempre es el vocabulario.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Hoy no se sube nada al aula: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guarde `S02_LineaInvestigacion_Apellido` (Google Doc o PDF) en su Drive y tráigalo a la próxima sesión. Es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avance formativo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se revisa en clase.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Esto alimenta: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ACA Final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—tarea, 32,8%—, el documento que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sí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recibe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; cierra en la semana de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Sesión 05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antes de cerrar su avance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El documento se llama exactamente `S02_LineaInvestigacion_Apellido`.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Elegí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una sola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línea principal, con el nombre exacto de la lista de seis.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Mi párrafo responde a los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tres criterios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solo a uno.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Digo explícitamente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qué línea descarto y por qué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Mis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 referentes existen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los abrí, no solo vi el título en la lista de resultados.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Cada referente trae autor, año, título y dónde se publicó.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Mi justificación no dice "porque me gusta" ni "porque está de moda".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La tabla de decisión está en el documento (es evidencia de que comparé).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Guardé el archivo en mi Drive y lo traigo a la próxima sesión: este avance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se sube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alimenta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ACA Final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que es lo que recibe https://cdigital.cun.edu.co/course/view.php?id=111070.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Trabajo autónomo · 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Afinar los referentes: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los 2 que halló, léales al menos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resumen (abstract)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completo y anote en una frase de qué trata cada uno.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Ampliar a 3 o 4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referentes si puede: son la semilla de su bibliografía.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Revisar el vocabulario: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anote 5 términos técnicos propios de su línea; los va a necesitar para buscar mejor.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Traiga listos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 la próxima sesión: su tema, su línea y sus referentes.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próxima sesión es bisagra: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prueba parcial y primer avance del artículo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Lo que escriba hoy es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materia prima directa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ese avance: si la línea queda floja, el avance queda flojo.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Toda la entrega y los materiales viven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https://cdigital.cun.edu.co/course/view.php?id=111070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RUTA DE ENTREGABLES DEL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B2B2B"/>
                </a:solidFill>
                <a:latin typeface="Calibri"/>
              </a:rPr>
              <a:t>Sin fechas a propósito: aquí va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en qué punto del curso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cierra cada ítem · la ventana exacta la fija CDigital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011679"/>
          <a:ext cx="10911533" cy="42976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59113"/>
                <a:gridCol w="2659113"/>
                <a:gridCol w="5593307"/>
              </a:tblGrid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Cierra en la semana de…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Entregable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debes tener listo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Sesión 02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cierra esta semana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Quiz 1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Cuestionario · 6%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Ten claras las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etapas del método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y qué es un artículo de nuevo conocimiento.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Sesión 03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pendiente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Parcial 1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Cuestionario · 24%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Ten memorizadas las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6 líneas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de MinCiencias y en cuál se ubica tu tema, y por qué.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Sesión 04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pendiente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Quiz 2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Cuestionario · 9%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Distingue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tipos de fuente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y qué la hace confiable: quién firma, dónde y de cuándo es.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Sesión 05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pendiente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Parcial 2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Cuestionario · 21%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Domina problema, pregunta y objetivo, búsqueda con operadores y citas en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APA 7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Sesión 05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pendiente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ACA Final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Tarea · 32,8%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Sube el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artículo consolidado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: problema, pregunta, marco, matriz de fuentes y APA 7.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Sesión 05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pendiente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Quiz 3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Cuestionario · 4%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Ten claras las partes del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planteamiento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y qué es una revisión de literatura articulada.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Sesión 06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pendiente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Autoevaluación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Cuestionario · 1,6%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Diligénciala tú, según tu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participación real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en el periodo.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Sesión 06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pendiente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Coevaluación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Foro · 1,6%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Publica tu aporte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: valora con respeto hechos del trabajo del equipo, no personas.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0807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Esta misma tabla va al final de todas las sesiones. La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fecha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de cada ventana está en el enunciado del ítem (`Clases/Recursos/ACAs/`) y en el aula: si el aula y cualquier otro material se contradicen,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manda el aula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02: MinCiencias · 6 líneas de Ingeniería · elección de línea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INVESTIGACIÓN, CIENCIA Y TECNOLOGÍA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