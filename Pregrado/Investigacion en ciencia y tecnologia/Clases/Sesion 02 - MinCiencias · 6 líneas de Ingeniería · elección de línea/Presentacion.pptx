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y="6858000" cx="12191675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28" roundtripDataSignature="AMtx7mjINUek5m+xqIRlOLornJEROV0y4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B133837-47F0-47D8-8485-268F5FFED531}">
  <a:tblStyle styleId="{6B133837-47F0-47D8-8485-268F5FFED531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customschemas.google.com/relationships/presentationmetadata" Target="metadata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8" name="Google Shape;108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" name="Google Shape;116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" name="Google Shape;133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0" name="Google Shape;150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3" name="Google Shape;163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2" name="Google Shape;172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0" name="Google Shape;180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7" name="Google Shape;197;p1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5" name="Google Shape;205;p1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4" name="Google Shape;214;p1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1" name="Google Shape;231;p1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9" name="Google Shape;239;p2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9" name="Google Shape;249;p2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4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4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2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2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2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25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2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2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2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6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26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2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2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2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27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27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2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2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2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28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28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28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28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2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2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2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2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30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30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30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3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3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3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31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31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31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3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3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3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3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32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3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3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3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33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33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3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3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3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22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2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2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2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logo_cun_solo.png" id="86" name="Google Shape;86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274320"/>
            <a:ext cx="1325880" cy="919277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SESIÓN 02 — MinCiencias · 6 líneas de Ingeniería · elección de línea</a:t>
            </a:r>
            <a:endParaRPr/>
          </a:p>
          <a:p>
            <a:pPr indent="0" lvl="0" marL="0" marR="0" rtl="0" algn="ctr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CFDDEE"/>
                </a:solidFill>
                <a:latin typeface="Calibri"/>
                <a:ea typeface="Calibri"/>
                <a:cs typeface="Calibri"/>
                <a:sym typeface="Calibri"/>
              </a:rPr>
              <a:t>Investigación Ciencia y Tecnología — Escuela de Ingenierías</a:t>
            </a:r>
            <a:endParaRPr/>
          </a:p>
        </p:txBody>
      </p:sp>
      <p:sp>
        <p:nvSpPr>
          <p:cNvPr id="88" name="Google Shape;88;p1"/>
          <p:cNvSpPr txBox="1"/>
          <p:nvPr/>
        </p:nvSpPr>
        <p:spPr>
          <a:xfrm>
            <a:off x="640080" y="3337560"/>
            <a:ext cx="10911600" cy="135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Sesión 02</a:t>
            </a:r>
            <a:endParaRPr sz="24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i="0" lang="en-US" sz="2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Tema:</a:t>
            </a:r>
            <a:r>
              <a:rPr b="0" i="0" lang="en-US" sz="2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MinCiencias · 6 líneas de Ingeniería · elección de línea</a:t>
            </a:r>
            <a:endParaRPr sz="24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i="0" lang="en-US" sz="2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Asignatura:</a:t>
            </a:r>
            <a:r>
              <a:rPr b="0" i="0" lang="en-US" sz="2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INVESTIGACIÓN, CIENCIA Y TECNOLOGÍA</a:t>
            </a:r>
            <a:endParaRPr sz="24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3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3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MinCiencias: qué es y por qué le importa a su artículo</a:t>
            </a:r>
            <a:endParaRPr/>
          </a:p>
        </p:txBody>
      </p:sp>
      <p:sp>
        <p:nvSpPr>
          <p:cNvPr id="95" name="Google Shape;95;p3"/>
          <p:cNvSpPr txBox="1"/>
          <p:nvPr/>
        </p:nvSpPr>
        <p:spPr>
          <a:xfrm>
            <a:off x="640080" y="1691639"/>
            <a:ext cx="10911600" cy="359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MinCiencias</a:t>
            </a: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= Ministerio de Ciencia, Tecnología e Innovación de Colombia.</a:t>
            </a:r>
            <a:endParaRPr sz="1600"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Coordina el </a:t>
            </a:r>
            <a:r>
              <a:rPr b="1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Sistema Nacional de CTeI</a:t>
            </a: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: la red de grupos, semilleros, universidades y centros que produce investigación en el país.</a:t>
            </a:r>
            <a:endParaRPr sz="1600"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Su función clave para usted: </a:t>
            </a:r>
            <a:r>
              <a:rPr b="1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organiza el conocimiento por áreas y líneas</a:t>
            </a: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sz="1600"/>
          </a:p>
          <a:p>
            <a:pPr indent="0" lvl="1" marL="45720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Esa organización orienta convocatorias, financiación, categorización de grupos y revistas indexadas.</a:t>
            </a:r>
            <a:endParaRPr sz="1600"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Lo que MinCiencias </a:t>
            </a:r>
            <a:r>
              <a:rPr b="1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NO</a:t>
            </a: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es:</a:t>
            </a:r>
            <a:endParaRPr sz="1600"/>
          </a:p>
          <a:p>
            <a:pPr indent="0" lvl="1" marL="45720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No es un requisito de trámite que se llena y se olvida.</a:t>
            </a:r>
            <a:endParaRPr sz="1600"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No es una lista de temas permitidos; es un mapa de </a:t>
            </a:r>
            <a:r>
              <a:rPr b="1" i="0" lang="en-US" sz="17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comunidades de conocimiento</a:t>
            </a:r>
            <a:r>
              <a:rPr b="0" i="0" lang="en-US" sz="17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sz="1600"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Traducción práctica: la línea define </a:t>
            </a:r>
            <a:r>
              <a:rPr b="1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el vocabulario que usará, los autores que citará y las revistas donde buscará</a:t>
            </a: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sz="1600"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Investigar sin línea es entrar a una biblioteca gigante sin saber en qué pasillo pararse.</a:t>
            </a:r>
            <a:endParaRPr sz="1600"/>
          </a:p>
        </p:txBody>
      </p:sp>
      <p:sp>
        <p:nvSpPr>
          <p:cNvPr id="96" name="Google Shape;96;p3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4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4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Las 6 líneas de Ingeniería del programa</a:t>
            </a:r>
            <a:endParaRPr/>
          </a:p>
        </p:txBody>
      </p:sp>
      <p:graphicFrame>
        <p:nvGraphicFramePr>
          <p:cNvPr id="103" name="Google Shape;103;p4"/>
          <p:cNvGraphicFramePr/>
          <p:nvPr/>
        </p:nvGraphicFramePr>
        <p:xfrm>
          <a:off x="640080" y="1691639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{6B133837-47F0-47D8-8485-268F5FFED531}</a:tableStyleId>
              </a:tblPr>
              <a:tblGrid>
                <a:gridCol w="1967650"/>
                <a:gridCol w="2862050"/>
                <a:gridCol w="2504275"/>
                <a:gridCol w="3577550"/>
              </a:tblGrid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Línea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 qué trata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Palabras clave para buscar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Pregunta de ejemplo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IoT</a:t>
                      </a:r>
                      <a:r>
                        <a:rPr b="0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(Internet de las Cosas)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Sensores y dispositivos conectados que capturan el mundo físico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sensor, telemetría, ESP32, MQTT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¿Cómo monitorear el consumo eléctrico de un laboratorio con sensores?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Big Data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Analítica de grandes volúmenes de datos ya existentes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dataset, ETL, minería de datos, dashboard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¿Qué patrones de deserción revelan los datos de matrícula?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Inteligencia Artificial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Modelos que aprenden de datos y clasifican o predicen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clasificador, entrenamiento, precisión, sesgo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¿Puede un clasificador detectar correos de phishing institucionales?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Cloud / FinTech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Servicios en la nube y servicios financieros digitales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SaaS, migración, disponibilidad, pasarela de pago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¿Qué riesgos de seguridad tiene migrar los pagos a la nube?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Aplicaciones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Desarrollo de software y experiencia de uso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usabilidad, requisitos, prototipo, accesibilidad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¿Qué barreras de usabilidad tiene el portal X para adultos mayores?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Telemática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Redes, protocolos y comunicaciones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latencia, ancho de banda, pérdida de paquetes, topología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¿Cómo afecta la latencia a las clases sincrónicas en la sede Y?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04" name="Google Shape;104;p4"/>
          <p:cNvSpPr txBox="1"/>
          <p:nvPr/>
        </p:nvSpPr>
        <p:spPr>
          <a:xfrm>
            <a:off x="640080" y="5349240"/>
            <a:ext cx="10911535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Léala como un menú de </a:t>
            </a:r>
            <a:r>
              <a:rPr b="1" i="1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ángulos</a:t>
            </a:r>
            <a:r>
              <a:rPr b="0" i="1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, no de temas: casi cualquier tema cabe en varias líneas, pero se trabaja desde </a:t>
            </a:r>
            <a:r>
              <a:rPr b="1" i="1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una</a:t>
            </a:r>
            <a:r>
              <a:rPr b="0" i="1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</p:txBody>
      </p:sp>
      <p:sp>
        <p:nvSpPr>
          <p:cNvPr id="105" name="Google Shape;105;p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5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5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La misma palabra, cuatro artículos distintos</a:t>
            </a:r>
            <a:endParaRPr/>
          </a:p>
        </p:txBody>
      </p:sp>
      <p:sp>
        <p:nvSpPr>
          <p:cNvPr id="112" name="Google Shape;112;p5"/>
          <p:cNvSpPr txBox="1"/>
          <p:nvPr/>
        </p:nvSpPr>
        <p:spPr>
          <a:xfrm>
            <a:off x="640080" y="1691639"/>
            <a:ext cx="10911600" cy="203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Tomemos una sola palabra: </a:t>
            </a:r>
            <a:r>
              <a:rPr b="1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"seguridad"</a:t>
            </a: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 Vea en qué se convierte según la línea:</a:t>
            </a:r>
            <a:endParaRPr sz="1600"/>
          </a:p>
          <a:p>
            <a:pPr indent="0" lvl="1" marL="45720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</a:t>
            </a:r>
            <a:r>
              <a:rPr b="1" i="0" lang="en-US" sz="17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IA</a:t>
            </a:r>
            <a:r>
              <a:rPr b="0" i="0" lang="en-US" sz="17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→ detectar fraude o phishing con un modelo entrenado; se habla de *falsos positivos* y *precisión*.</a:t>
            </a:r>
            <a:endParaRPr sz="1600"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</a:t>
            </a:r>
            <a:r>
              <a:rPr b="1" i="0" lang="en-US" sz="17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Telemática</a:t>
            </a:r>
            <a:r>
              <a:rPr b="0" i="0" lang="en-US" sz="17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→ proteger la red; se habla de *segmentación*, *firewall* y *tráfico anómalo*.</a:t>
            </a:r>
            <a:endParaRPr sz="1600"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</a:t>
            </a:r>
            <a:r>
              <a:rPr b="1" i="0" lang="en-US" sz="17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Cloud</a:t>
            </a:r>
            <a:r>
              <a:rPr b="0" i="0" lang="en-US" sz="17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→ proteger datos alojados en un tercero; se habla de *cifrado en reposo* y *disponibilidad*.</a:t>
            </a:r>
            <a:endParaRPr sz="1600"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</a:t>
            </a:r>
            <a:r>
              <a:rPr b="1" i="0" lang="en-US" sz="17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Aplicaciones</a:t>
            </a:r>
            <a:r>
              <a:rPr b="0" i="0" lang="en-US" sz="17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→ que el software no exponga al usuario; se habla de *validación de entradas* y *permisos*.</a:t>
            </a:r>
            <a:endParaRPr sz="1600"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Conclusión que hay que anotar: </a:t>
            </a:r>
            <a:r>
              <a:rPr b="1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la línea decide el ángulo, y el ángulo decide todo lo demás</a:t>
            </a: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sz="1600"/>
          </a:p>
        </p:txBody>
      </p:sp>
      <p:sp>
        <p:nvSpPr>
          <p:cNvPr id="113" name="Google Shape;113;p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6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6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La misma palabra, cuatro artículos distintos (cont.)</a:t>
            </a:r>
            <a:endParaRPr/>
          </a:p>
        </p:txBody>
      </p:sp>
      <p:sp>
        <p:nvSpPr>
          <p:cNvPr id="120" name="Google Shape;120;p6"/>
          <p:cNvSpPr txBox="1"/>
          <p:nvPr/>
        </p:nvSpPr>
        <p:spPr>
          <a:xfrm>
            <a:off x="640080" y="1691639"/>
            <a:ext cx="10911600" cy="152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1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Efecto sobre el artículo:</a:t>
            </a:r>
            <a:endParaRPr sz="1900"/>
          </a:p>
          <a:p>
            <a:pPr indent="0" lvl="1" marL="45720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Cambia el </a:t>
            </a:r>
            <a:r>
              <a:rPr b="1" i="0" lang="en-US" sz="20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marco teórico</a:t>
            </a:r>
            <a:r>
              <a:rPr b="0" i="0" lang="en-US" sz="20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(qué conceptos hay que definir).</a:t>
            </a:r>
            <a:endParaRPr sz="1900"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Cambian los </a:t>
            </a:r>
            <a:r>
              <a:rPr b="1" i="0" lang="en-US" sz="20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antecedentes</a:t>
            </a:r>
            <a:r>
              <a:rPr b="0" i="0" lang="en-US" sz="20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(qué autores son referencia obligada).</a:t>
            </a:r>
            <a:endParaRPr sz="1900"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Cambia la </a:t>
            </a:r>
            <a:r>
              <a:rPr b="1" i="0" lang="en-US" sz="20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evidencia</a:t>
            </a:r>
            <a:r>
              <a:rPr b="0" i="0" lang="en-US" sz="20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que le van a exigir (un log de red no sirve para argumentar un modelo de IA).</a:t>
            </a:r>
            <a:endParaRPr sz="1900"/>
          </a:p>
        </p:txBody>
      </p:sp>
      <p:sp>
        <p:nvSpPr>
          <p:cNvPr id="121" name="Google Shape;121;p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7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7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Los tres criterios para elegir su línea</a:t>
            </a:r>
            <a:endParaRPr/>
          </a:p>
        </p:txBody>
      </p:sp>
      <p:graphicFrame>
        <p:nvGraphicFramePr>
          <p:cNvPr id="128" name="Google Shape;128;p7"/>
          <p:cNvGraphicFramePr/>
          <p:nvPr/>
        </p:nvGraphicFramePr>
        <p:xfrm>
          <a:off x="640080" y="1691639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{6B133837-47F0-47D8-8485-268F5FFED531}</a:tableStyleId>
              </a:tblPr>
              <a:tblGrid>
                <a:gridCol w="3637175"/>
                <a:gridCol w="3637175"/>
                <a:gridCol w="3637175"/>
              </a:tblGrid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Criterio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Pregunta de control que debe responderse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Señal de alerta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Afinidad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¿Esta línea conserva lo que a mí me interesa del tema, o lo desvía?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Tiene que forzar el tema para que quepa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Viabilidad de fuentes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¿Encuentro hoy, en Google Académico, al menos 2 artículos usables de este ángulo?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Busca 10 minutos y no aparece nada pertinente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Pertinencia local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¿Le sirve a algo de mi entorno: mi sede, mi empresa, mi barrio, mi práctica?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Solo tiene sentido en un país o una escala que no puede observar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9" name="Google Shape;129;p7"/>
          <p:cNvSpPr txBox="1"/>
          <p:nvPr/>
        </p:nvSpPr>
        <p:spPr>
          <a:xfrm>
            <a:off x="640080" y="3840480"/>
            <a:ext cx="10911535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Regla de oro: </a:t>
            </a:r>
            <a:r>
              <a:rPr b="1" i="1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una sola línea principal</a:t>
            </a:r>
            <a:r>
              <a:rPr b="0" i="1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 Puede mencionar que su tema roza otra, pero el marco se escribe para una.</a:t>
            </a:r>
            <a:endParaRPr/>
          </a:p>
        </p:txBody>
      </p:sp>
      <p:sp>
        <p:nvSpPr>
          <p:cNvPr id="130" name="Google Shape;130;p7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8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8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Ejemplo modelado (1/2): del tema al dilema</a:t>
            </a:r>
            <a:endParaRPr/>
          </a:p>
        </p:txBody>
      </p:sp>
      <p:sp>
        <p:nvSpPr>
          <p:cNvPr id="137" name="Google Shape;137;p8"/>
          <p:cNvSpPr txBox="1"/>
          <p:nvPr/>
        </p:nvSpPr>
        <p:spPr>
          <a:xfrm>
            <a:off x="640080" y="1691639"/>
            <a:ext cx="10911600" cy="289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9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9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Tema tentativo real:</a:t>
            </a:r>
            <a:r>
              <a:rPr b="0" i="0" lang="en-US" sz="19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"phishing en los correos de los estudiantes".</a:t>
            </a:r>
            <a:endParaRPr sz="1700"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9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Ese enunciado admite por lo menos dos líneas, y hay que decidir:</a:t>
            </a:r>
            <a:endParaRPr sz="1700"/>
          </a:p>
          <a:p>
            <a:pPr indent="0" lvl="1" marL="45720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</a:t>
            </a:r>
            <a:r>
              <a:rPr b="1" i="0" lang="en-US" sz="18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Opción A — Inteligencia Artificial:</a:t>
            </a:r>
            <a:r>
              <a:rPr b="0" i="0" lang="en-US" sz="18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entrenar o evaluar un clasificador que separe correo legítimo de correo malicioso.</a:t>
            </a:r>
            <a:endParaRPr sz="1700"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</a:t>
            </a:r>
            <a:r>
              <a:rPr b="1" i="0" lang="en-US" sz="18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Opción B — Telemática:</a:t>
            </a:r>
            <a:r>
              <a:rPr b="0" i="0" lang="en-US" sz="18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filtrar el correo malicioso en la infraestructura de red y de servidor.</a:t>
            </a:r>
            <a:endParaRPr sz="1700"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9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Antes de decidir por gusto, se llena una </a:t>
            </a:r>
            <a:r>
              <a:rPr b="1" i="0" lang="en-US" sz="19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tabla de decisión</a:t>
            </a:r>
            <a:r>
              <a:rPr b="0" i="0" lang="en-US" sz="19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en Google Docs con los tres criterios.</a:t>
            </a:r>
            <a:endParaRPr sz="1700"/>
          </a:p>
          <a:p>
            <a:pPr indent="0" lvl="1" marL="45720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No es burocracia: escribir la comparación obliga a mirar si de verdad hay fuentes.</a:t>
            </a:r>
            <a:endParaRPr sz="1700"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9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El siguiente bloque muestra la tabla llena, con el resultado del caso.</a:t>
            </a:r>
            <a:endParaRPr sz="1700"/>
          </a:p>
        </p:txBody>
      </p:sp>
      <p:sp>
        <p:nvSpPr>
          <p:cNvPr id="138" name="Google Shape;138;p8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9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9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Ejemplo modelado (2/2): la tabla de decisión resuelta</a:t>
            </a:r>
            <a:endParaRPr/>
          </a:p>
        </p:txBody>
      </p:sp>
      <p:graphicFrame>
        <p:nvGraphicFramePr>
          <p:cNvPr id="145" name="Google Shape;145;p9"/>
          <p:cNvGraphicFramePr/>
          <p:nvPr/>
        </p:nvGraphicFramePr>
        <p:xfrm>
          <a:off x="640080" y="1691639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{6B133837-47F0-47D8-8485-268F5FFED531}</a:tableStyleId>
              </a:tblPr>
              <a:tblGrid>
                <a:gridCol w="3637175"/>
                <a:gridCol w="3637175"/>
                <a:gridCol w="3637175"/>
              </a:tblGrid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Criterio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Opción A — Inteligencia Artificial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Opción B — Telemática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Afinidad con el tema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Alta: el interés es reconocer el correo malicioso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Media: el interés se desplaza a la infraestructura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¿Hay fuentes accesibles?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Sí</a:t>
                      </a:r>
                      <a:r>
                        <a:rPr b="0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mucha literatura y datasets públicos de phishing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Sí, pero más orientada a configuración que a investigación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¿Hay datos que yo pueda ver?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Sí</a:t>
                      </a:r>
                      <a:r>
                        <a:rPr b="0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corpus públicos de correos, sin pedir permisos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Requiere acceso a la red institucional (permiso incierto)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Pertinencia local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Alta: afecta a los estudiantes de la sede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Alta, pero la decisión la toma el área de TI, no yo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Decisión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Gana: viabilidad de datos y de literatura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Se menciona como línea que roza, no como principal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6" name="Google Shape;146;p9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Fíjese en cuál fue el criterio que desempató: </a:t>
            </a:r>
            <a:r>
              <a:rPr b="1" i="1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no la moda, sino de dónde puedo sacar fuentes y datos este periodo</a:t>
            </a:r>
            <a:r>
              <a:rPr b="0" i="1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</p:txBody>
      </p:sp>
      <p:sp>
        <p:nvSpPr>
          <p:cNvPr id="147" name="Google Shape;147;p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9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0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10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Cuatro mitos que hay que desactivar hoy</a:t>
            </a:r>
            <a:endParaRPr/>
          </a:p>
        </p:txBody>
      </p:sp>
      <p:sp>
        <p:nvSpPr>
          <p:cNvPr id="154" name="Google Shape;154;p10"/>
          <p:cNvSpPr/>
          <p:nvPr/>
        </p:nvSpPr>
        <p:spPr>
          <a:xfrm>
            <a:off x="640080" y="1737360"/>
            <a:ext cx="10911535" cy="1225296"/>
          </a:xfrm>
          <a:prstGeom prst="roundRect">
            <a:avLst>
              <a:gd fmla="val 16667" name="adj"/>
            </a:avLst>
          </a:prstGeom>
          <a:solidFill>
            <a:srgbClr val="FBE4E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10"/>
          <p:cNvSpPr txBox="1"/>
          <p:nvPr/>
        </p:nvSpPr>
        <p:spPr>
          <a:xfrm>
            <a:off x="868680" y="1847088"/>
            <a:ext cx="10454335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0C2340"/>
                </a:solidFill>
                <a:latin typeface="Calibri"/>
                <a:ea typeface="Calibri"/>
                <a:cs typeface="Calibri"/>
                <a:sym typeface="Calibri"/>
              </a:rPr>
              <a:t>⚠️ Importante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"Elijo IA porque está de moda."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La moda no le entrega fuentes. Si busca 10 minutos y no aparecen artículos de su ángulo, esa línea no es viable para usted este periodo, por popular que sea.</a:t>
            </a:r>
            <a:endParaRPr/>
          </a:p>
        </p:txBody>
      </p:sp>
      <p:sp>
        <p:nvSpPr>
          <p:cNvPr id="156" name="Google Shape;156;p10"/>
          <p:cNvSpPr/>
          <p:nvPr/>
        </p:nvSpPr>
        <p:spPr>
          <a:xfrm>
            <a:off x="640080" y="3191256"/>
            <a:ext cx="10911535" cy="969264"/>
          </a:xfrm>
          <a:prstGeom prst="roundRect">
            <a:avLst>
              <a:gd fmla="val 16667" name="adj"/>
            </a:avLst>
          </a:prstGeom>
          <a:solidFill>
            <a:srgbClr val="FBE4E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10"/>
          <p:cNvSpPr txBox="1"/>
          <p:nvPr/>
        </p:nvSpPr>
        <p:spPr>
          <a:xfrm>
            <a:off x="868680" y="3300984"/>
            <a:ext cx="10454335" cy="7498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0C2340"/>
                </a:solidFill>
                <a:latin typeface="Calibri"/>
                <a:ea typeface="Calibri"/>
                <a:cs typeface="Calibri"/>
                <a:sym typeface="Calibri"/>
              </a:rPr>
              <a:t>⚠️ Importante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"Puedo trabajar tres líneas a la vez."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No. Tres líneas = tres vocabularios = ningún marco sólido. Una principal; las demás, a lo sumo, una frase de contexto.</a:t>
            </a:r>
            <a:endParaRPr/>
          </a:p>
        </p:txBody>
      </p:sp>
      <p:sp>
        <p:nvSpPr>
          <p:cNvPr id="158" name="Google Shape;158;p10"/>
          <p:cNvSpPr/>
          <p:nvPr/>
        </p:nvSpPr>
        <p:spPr>
          <a:xfrm>
            <a:off x="640080" y="4389120"/>
            <a:ext cx="10911535" cy="1225296"/>
          </a:xfrm>
          <a:prstGeom prst="roundRect">
            <a:avLst>
              <a:gd fmla="val 16667" name="adj"/>
            </a:avLst>
          </a:prstGeom>
          <a:solidFill>
            <a:srgbClr val="FDECD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10"/>
          <p:cNvSpPr txBox="1"/>
          <p:nvPr/>
        </p:nvSpPr>
        <p:spPr>
          <a:xfrm>
            <a:off x="868680" y="4498848"/>
            <a:ext cx="10454335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0C2340"/>
                </a:solidFill>
                <a:latin typeface="Calibri"/>
                <a:ea typeface="Calibri"/>
                <a:cs typeface="Calibri"/>
                <a:sym typeface="Calibri"/>
              </a:rPr>
              <a:t>💡 Aclaración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"La línea es un requisito administrativo."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Es lo contrario: define su vocabulario y sus referentes. Cambiarla en la mitad del periodo obliga a reescribir el marco teórico completo.</a:t>
            </a:r>
            <a:endParaRPr/>
          </a:p>
        </p:txBody>
      </p:sp>
      <p:sp>
        <p:nvSpPr>
          <p:cNvPr id="160" name="Google Shape;160;p10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11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Cuatro mitos que hay que desactivar hoy (cont.)</a:t>
            </a:r>
            <a:endParaRPr/>
          </a:p>
        </p:txBody>
      </p:sp>
      <p:sp>
        <p:nvSpPr>
          <p:cNvPr id="167" name="Google Shape;167;p11"/>
          <p:cNvSpPr/>
          <p:nvPr/>
        </p:nvSpPr>
        <p:spPr>
          <a:xfrm>
            <a:off x="640080" y="1737360"/>
            <a:ext cx="10911535" cy="1225296"/>
          </a:xfrm>
          <a:prstGeom prst="roundRect">
            <a:avLst>
              <a:gd fmla="val 16667" name="adj"/>
            </a:avLst>
          </a:prstGeom>
          <a:solidFill>
            <a:srgbClr val="E8F5E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11"/>
          <p:cNvSpPr txBox="1"/>
          <p:nvPr/>
        </p:nvSpPr>
        <p:spPr>
          <a:xfrm>
            <a:off x="868680" y="1847088"/>
            <a:ext cx="10454335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0C2340"/>
                </a:solidFill>
                <a:latin typeface="Calibri"/>
                <a:ea typeface="Calibri"/>
                <a:cs typeface="Calibri"/>
                <a:sym typeface="Calibri"/>
              </a:rPr>
              <a:t>ℹ️ Nota institucional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"Mi tema no cabe en ninguna línea."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Casi siempre cabe. Pregúntese qué duele en su tema: ¿los </a:t>
            </a: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datos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, la </a:t>
            </a: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red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, el </a:t>
            </a: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software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, el </a:t>
            </a: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dispositivo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o el </a:t>
            </a: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servicio en la nube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? Esa respuesta ya es la línea.</a:t>
            </a:r>
            <a:endParaRPr/>
          </a:p>
        </p:txBody>
      </p:sp>
      <p:sp>
        <p:nvSpPr>
          <p:cNvPr id="169" name="Google Shape;169;p11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11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1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Paso a paso: elegir su línea con herramientas gratis</a:t>
            </a:r>
            <a:endParaRPr/>
          </a:p>
        </p:txBody>
      </p:sp>
      <p:sp>
        <p:nvSpPr>
          <p:cNvPr id="176" name="Google Shape;176;p12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1.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Abra su documento en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Google Docs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y titúlelo `S02_LineaInvestigacion_Apellido`.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2.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Copie arriba su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tema tentativo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tal como lo escribió en la sesión anterior.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3.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Haga una tabla de 4 columnas: *Línea candidata · Afinidad · ¿Hay fuentes? · Pertinencia local*.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4.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Escriba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dos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líneas candidatas (no una: para elegir hay que comparar).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5.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Abra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Google Académico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(scholar.google.com) y busque con el vocabulario de cada línea.</a:t>
            </a:r>
            <a:endParaRPr/>
          </a:p>
          <a:p>
            <a:pPr indent="0" lvl="1" marL="45720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Use comillas para la frase exacta: `"phishing detection"` y agregue un término de contexto.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Si no encuentra nada en español, </a:t>
            </a:r>
            <a:r>
              <a:rPr b="1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busque en inglés</a:t>
            </a: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: casi toda la literatura técnica está allí.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6.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Anote en la tabla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cuántos resultados usables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halló por línea (no cuántos resultados totales).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7.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Marque la ganadora y escriba una frase: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"Elijo X porque ___ y descarto Y porque ___"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</p:txBody>
      </p:sp>
      <p:sp>
        <p:nvSpPr>
          <p:cNvPr id="177" name="Google Shape;177;p12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12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13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13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Paso a paso: elegir su línea con herramientas gratis (cont.)</a:t>
            </a:r>
            <a:endParaRPr/>
          </a:p>
        </p:txBody>
      </p:sp>
      <p:sp>
        <p:nvSpPr>
          <p:cNvPr id="184" name="Google Shape;184;p13"/>
          <p:cNvSpPr txBox="1"/>
          <p:nvPr/>
        </p:nvSpPr>
        <p:spPr>
          <a:xfrm>
            <a:off x="640080" y="1691639"/>
            <a:ext cx="109116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7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8.</a:t>
            </a:r>
            <a:r>
              <a:rPr b="0" i="0" lang="en-US" sz="17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Guarde </a:t>
            </a:r>
            <a:r>
              <a:rPr b="1" i="0" lang="en-US" sz="17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dos referencias exploratorias</a:t>
            </a:r>
            <a:r>
              <a:rPr b="0" i="0" lang="en-US" sz="17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de la línea ganadora, en APA tentativa.</a:t>
            </a:r>
            <a:endParaRPr sz="1500"/>
          </a:p>
        </p:txBody>
      </p:sp>
      <p:sp>
        <p:nvSpPr>
          <p:cNvPr id="185" name="Google Shape;185;p13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13</a:t>
            </a:r>
            <a:endParaRPr/>
          </a:p>
        </p:txBody>
      </p:sp>
      <p:sp>
        <p:nvSpPr>
          <p:cNvPr id="186" name="Google Shape;186;p13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Si Google Académico responde "tráfico inusual", cambie de red o pídale al Docente que proyecte la búsqueda.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14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14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Cómo se escribe el párrafo de justificación</a:t>
            </a:r>
            <a:endParaRPr/>
          </a:p>
        </p:txBody>
      </p:sp>
      <p:sp>
        <p:nvSpPr>
          <p:cNvPr id="193" name="Google Shape;193;p14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No es un párrafo libre: tiene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tres movimientos obligatorios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, uno por criterio.</a:t>
            </a:r>
            <a:endParaRPr/>
          </a:p>
          <a:p>
            <a:pPr indent="0" lvl="1" marL="45720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</a:t>
            </a:r>
            <a:r>
              <a:rPr b="1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Movimiento 1 — Afinidad:</a:t>
            </a: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"Mi tema es ___ y lo abordo desde la línea ___ porque lo que quiero entender es ___."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</a:t>
            </a:r>
            <a:r>
              <a:rPr b="1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Movimiento 2 — Fuentes:</a:t>
            </a: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"Esta línea es viable porque encontré ___ y ___, que tratan el mismo ángulo."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</a:t>
            </a:r>
            <a:r>
              <a:rPr b="1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Movimiento 3 — Pertinencia local:</a:t>
            </a: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"Es pertinente en mi contexto porque ___ ocurre en ___ y afecta a ___."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Cierre con la línea descartada: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"Descarto ___ porque ___"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(una sola frase, pero explícita).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Extensión: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un párrafo de 6 a 10 líneas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 Ni una viñeta suelta, ni una página.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Escriba en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presente y en primera persona del plural o impersonal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, como se escribe un artículo.</a:t>
            </a:r>
            <a:endParaRPr/>
          </a:p>
          <a:p>
            <a:pPr indent="0" lvl="1" marL="45720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Sí: "se aborda desde la línea de Inteligencia Artificial porque..."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No: "a mí me gusta la IA y me parece chévere el tema".</a:t>
            </a:r>
            <a:endParaRPr/>
          </a:p>
        </p:txBody>
      </p:sp>
      <p:sp>
        <p:nvSpPr>
          <p:cNvPr id="194" name="Google Shape;194;p1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14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15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Ejemplo modelado (3/3): el párrafo terminado</a:t>
            </a:r>
            <a:endParaRPr/>
          </a:p>
        </p:txBody>
      </p:sp>
      <p:sp>
        <p:nvSpPr>
          <p:cNvPr id="201" name="Google Shape;201;p15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Así queda el caso del phishing, ya redactado:</a:t>
            </a:r>
            <a:endParaRPr/>
          </a:p>
          <a:p>
            <a:pPr indent="0" lvl="1" marL="45720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*"El tema de este artículo es la detección de correos de phishing dirigidos a estudiantes universitarios. Se aborda desde la línea de </a:t>
            </a:r>
            <a:r>
              <a:rPr b="1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Inteligencia Artificial</a:t>
            </a: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porque el interés está en distinguir automáticamente el correo legítimo del malicioso a partir de sus características, y no en la configuración de la infraestructura. La línea es viable porque existe literatura abundante sobre clasificación de correo malicioso y conjuntos de datos públicos que pueden analizarse sin solicitar permisos institucionales. Es pertinente en el contexto local porque la comunidad estudiantil recibe con frecuencia mensajes que suplantan a la institución. Se descarta la línea de </a:t>
            </a:r>
            <a:r>
              <a:rPr b="1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Telemática</a:t>
            </a: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porque exigiría acceso a la red institucional, cuyo permiso no está garantizado dentro del periodo."*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Compruebe qué tiene ese párrafo:</a:t>
            </a:r>
            <a:endParaRPr/>
          </a:p>
          <a:p>
            <a:pPr indent="0" lvl="1" marL="45720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Dice </a:t>
            </a:r>
            <a:r>
              <a:rPr b="1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qué se investiga</a:t>
            </a: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, no solo qué tema le gusta.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Justifica con </a:t>
            </a:r>
            <a:r>
              <a:rPr b="1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disponibilidad real de fuentes y datos</a:t>
            </a: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Ancla el problema en </a:t>
            </a:r>
            <a:r>
              <a:rPr b="1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un contexto concreto</a:t>
            </a: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</a:t>
            </a:r>
            <a:r>
              <a:rPr b="1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Descarta</a:t>
            </a: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explícitamente la alternativa: eso demuestra que hubo decisión, no azar.</a:t>
            </a:r>
            <a:endParaRPr/>
          </a:p>
        </p:txBody>
      </p:sp>
      <p:sp>
        <p:nvSpPr>
          <p:cNvPr id="202" name="Google Shape;202;p1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15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16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16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TALLER · Línea elegida + justificación</a:t>
            </a:r>
            <a:endParaRPr/>
          </a:p>
        </p:txBody>
      </p:sp>
      <p:sp>
        <p:nvSpPr>
          <p:cNvPr id="209" name="Google Shape;209;p16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Individual · el Docente pasa acompañando · Google Docs + Google Académico, nada que instalar</a:t>
            </a:r>
            <a:endParaRPr/>
          </a:p>
        </p:txBody>
      </p:sp>
      <p:sp>
        <p:nvSpPr>
          <p:cNvPr id="210" name="Google Shape;210;p16"/>
          <p:cNvSpPr txBox="1"/>
          <p:nvPr/>
        </p:nvSpPr>
        <p:spPr>
          <a:xfrm>
            <a:off x="640080" y="2011679"/>
            <a:ext cx="10911535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Al final tiene: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su línea elegida, el párrafo que la justifica, dos referentes y la tabla de decisión.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Paso 1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· Escriba la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línea elegida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con su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nombre exacto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de las seis del programa.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Paso 2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· Escriba un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párrafo de justificación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con los tres movimientos —afinidad, fuentes y pertinencia local— y nombre también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la línea que descartó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Paso 3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· Busque en Google Académico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dos referentes exploratorios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y páselos a APA tentativa: autor, año, título, fuente.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Paso 4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· Llene la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tabla de decisión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comparando las dos líneas candidatas.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En clase, sin falta: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los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pasos 1 a 2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 Del 3 en adelante puede quedar en trabajo autónomo, pero antes de la próxima sesión.</a:t>
            </a:r>
            <a:endParaRPr/>
          </a:p>
        </p:txBody>
      </p:sp>
      <p:sp>
        <p:nvSpPr>
          <p:cNvPr id="211" name="Google Shape;211;p1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16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17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TALLER · cómo se revisa y dónde se entrega</a:t>
            </a:r>
            <a:endParaRPr/>
          </a:p>
        </p:txBody>
      </p:sp>
      <p:sp>
        <p:nvSpPr>
          <p:cNvPr id="218" name="Google Shape;218;p17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Línea elegida + justificación</a:t>
            </a:r>
            <a:endParaRPr/>
          </a:p>
        </p:txBody>
      </p:sp>
      <p:sp>
        <p:nvSpPr>
          <p:cNvPr id="219" name="Google Shape;219;p17"/>
          <p:cNvSpPr txBox="1"/>
          <p:nvPr/>
        </p:nvSpPr>
        <p:spPr>
          <a:xfrm>
            <a:off x="640080" y="2011679"/>
            <a:ext cx="10911535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Quedó bien si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—compruébelo usted antes de cerrar el documento—:</a:t>
            </a:r>
            <a:endParaRPr/>
          </a:p>
          <a:p>
            <a:pPr indent="0" lvl="1" marL="45720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Al leer </a:t>
            </a:r>
            <a:r>
              <a:rPr b="1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solo su párrafo</a:t>
            </a: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, sin conocer su tema, se entiende </a:t>
            </a:r>
            <a:r>
              <a:rPr b="1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por qué esa línea y no la otra</a:t>
            </a: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Los dos referentes demuestran que </a:t>
            </a:r>
            <a:r>
              <a:rPr b="1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ya existe literatura</a:t>
            </a: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para trabajarla.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Si sus dos referentes no aparecen, la justificación </a:t>
            </a:r>
            <a:r>
              <a:rPr b="1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no está terminada</a:t>
            </a: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: el criterio de fuentes no se cumplió.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Plan B: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Si no encuentra referentes de su línea, cambie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una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palabra clave por su sinónimo técnico antes de cambiar de línea: el problema casi siempre es el vocabulario.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Hoy no se sube nada al aula: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guarde `S02_LineaInvestigacion_Apellido` (Google Doc o PDF) en su Drive y tráigalo a la próxima sesión. Es un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avance formativo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, se revisa en clase.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Esto alimenta: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ACA Final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—tarea, 32,8%—, el documento que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sí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recibe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CDigital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; cierra en la semana de la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Sesión 05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</p:txBody>
      </p:sp>
      <p:sp>
        <p:nvSpPr>
          <p:cNvPr id="220" name="Google Shape;220;p17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17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18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18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Checklist antes de cerrar su avance</a:t>
            </a:r>
            <a:endParaRPr/>
          </a:p>
        </p:txBody>
      </p:sp>
      <p:sp>
        <p:nvSpPr>
          <p:cNvPr id="227" name="Google Shape;227;p18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[ ] El documento se llama exactamente `S02_LineaInvestigacion_Apellido`.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[ ] Elegí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una sola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línea principal, con el nombre exacto de la lista de seis.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[ ] Mi párrafo responde a los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tres criterios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, no solo a uno.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[ ] Digo explícitamente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qué línea descarto y por qué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[ ] Mis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2 referentes existen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: los abrí, no solo vi el título en la lista de resultados.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[ ] Cada referente trae autor, año, título y dónde se publicó.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[ ] Mi justificación no dice "porque me gusta" ni "porque está de moda".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[ ] La tabla de decisión está en el documento (es evidencia de que comparé).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[ ] Guardé el archivo en mi Drive y lo traigo a la próxima sesión: este avance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no se sube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, alimenta la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ACA Final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, que es lo que recibe https://cdigital.cun.edu.co/course/view.php?id=111070.</a:t>
            </a:r>
            <a:endParaRPr/>
          </a:p>
        </p:txBody>
      </p:sp>
      <p:sp>
        <p:nvSpPr>
          <p:cNvPr id="228" name="Google Shape;228;p18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18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19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19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Trabajo autónomo · para la próxima sesión</a:t>
            </a:r>
            <a:endParaRPr/>
          </a:p>
        </p:txBody>
      </p:sp>
      <p:sp>
        <p:nvSpPr>
          <p:cNvPr id="235" name="Google Shape;235;p19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Afinar los referentes: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de los 2 que halló, léales al menos el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resumen (abstract)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completo y anote en una frase de qué trata cada uno.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Ampliar a 3 o 4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referentes si puede: son la semilla de su bibliografía.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Revisar el vocabulario: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anote 5 términos técnicos propios de su línea; los va a necesitar para buscar mejor.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Traiga listos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a la próxima sesión: su tema, su línea y sus referentes.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La próxima sesión es bisagra: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prueba parcial y primer avance del artículo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  <a:p>
            <a:pPr indent="0" lvl="1" marL="45720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Lo que escriba hoy es </a:t>
            </a:r>
            <a:r>
              <a:rPr b="1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materia prima directa</a:t>
            </a: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de ese avance: si la línea queda floja, el avance queda flojo.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Toda la entrega y los materiales viven en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CDigital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: https://cdigital.cun.edu.co/course/view.php?id=111070</a:t>
            </a:r>
            <a:endParaRPr/>
          </a:p>
        </p:txBody>
      </p:sp>
      <p:sp>
        <p:nvSpPr>
          <p:cNvPr id="236" name="Google Shape;236;p1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19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20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20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RUTA DE ENTREGABLES DEL CURSO</a:t>
            </a:r>
            <a:endParaRPr/>
          </a:p>
        </p:txBody>
      </p:sp>
      <p:sp>
        <p:nvSpPr>
          <p:cNvPr id="243" name="Google Shape;243;p20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Sin fechas a propósito: aquí va </a:t>
            </a:r>
            <a:r>
              <a:rPr b="1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en qué punto del curso</a:t>
            </a:r>
            <a:r>
              <a:rPr b="0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cierra cada ítem · la ventana exacta la fija CDigital</a:t>
            </a:r>
            <a:endParaRPr/>
          </a:p>
        </p:txBody>
      </p:sp>
      <p:graphicFrame>
        <p:nvGraphicFramePr>
          <p:cNvPr id="244" name="Google Shape;244;p20"/>
          <p:cNvGraphicFramePr/>
          <p:nvPr/>
        </p:nvGraphicFramePr>
        <p:xfrm>
          <a:off x="640080" y="2011679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{6B133837-47F0-47D8-8485-268F5FFED531}</a:tableStyleId>
              </a:tblPr>
              <a:tblGrid>
                <a:gridCol w="2659125"/>
                <a:gridCol w="2659125"/>
                <a:gridCol w="5593300"/>
              </a:tblGrid>
              <a:tr h="4775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Cierra en la semana de…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Entregable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Qué debes tener listo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</a:tr>
              <a:tr h="4775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Sesión 02</a:t>
                      </a: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· cierra esta semana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Quiz 1</a:t>
                      </a: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· Cuestionario · 6%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Ten claras las </a:t>
                      </a: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etapas del método</a:t>
                      </a: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y qué es un artículo de nuevo conocimiento.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</a:tr>
              <a:tr h="4775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Sesión 03</a:t>
                      </a: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· pendiente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Parcial 1</a:t>
                      </a: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· Cuestionario · 24%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Ten memorizadas las </a:t>
                      </a: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 líneas</a:t>
                      </a: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de MinCiencias y en cuál se ubica tu tema, y por qué.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</a:tr>
              <a:tr h="4775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Sesión 04</a:t>
                      </a: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· pendiente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Quiz 2</a:t>
                      </a: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· Cuestionario · 9%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Distingue </a:t>
                      </a: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tipos de fuente</a:t>
                      </a: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y qué la hace confiable: quién firma, dónde y de cuándo es.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</a:tr>
              <a:tr h="4775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Sesión 05</a:t>
                      </a: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· pendiente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Parcial 2</a:t>
                      </a: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· Cuestionario · 21%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Domina problema, pregunta y objetivo, búsqueda con operadores y citas en </a:t>
                      </a: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APA 7</a:t>
                      </a: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</a:tr>
              <a:tr h="4775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Sesión 05</a:t>
                      </a: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· pendiente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ACA Final</a:t>
                      </a: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· Tarea · 32,8%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Sube el </a:t>
                      </a: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artículo consolidado</a:t>
                      </a: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problema, pregunta, marco, matriz de fuentes y APA 7.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</a:tr>
              <a:tr h="4775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Sesión 05</a:t>
                      </a: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· pendiente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Quiz 3</a:t>
                      </a: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· Cuestionario · 4%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Ten claras las partes del </a:t>
                      </a: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planteamiento</a:t>
                      </a: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y qué es una revisión de literatura articulada.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</a:tr>
              <a:tr h="4775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Sesión 06</a:t>
                      </a: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· pendiente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Autoevaluación</a:t>
                      </a: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· Cuestionario · 1,6%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Diligénciala tú, según tu </a:t>
                      </a: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participación real</a:t>
                      </a: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en el periodo.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</a:tr>
              <a:tr h="4775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Sesión 06</a:t>
                      </a: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· pendiente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Coevaluación</a:t>
                      </a: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· Foro · 1,6%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Publica tu aporte</a:t>
                      </a: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valora con respeto hechos del trabajo del equipo, no personas.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245" name="Google Shape;245;p20"/>
          <p:cNvSpPr txBox="1"/>
          <p:nvPr/>
        </p:nvSpPr>
        <p:spPr>
          <a:xfrm>
            <a:off x="640080" y="6080760"/>
            <a:ext cx="10911535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Esta misma tabla va al final de todas las sesiones. La </a:t>
            </a:r>
            <a:r>
              <a:rPr b="1" i="1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fecha</a:t>
            </a:r>
            <a:r>
              <a:rPr b="0" i="1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de cada ventana está en el enunciado del ítem (`Clases/Recursos/ACAs/`) y en el aula: si el aula y cualquier otro material se contradicen, </a:t>
            </a:r>
            <a:r>
              <a:rPr b="1" i="1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manda el aula</a:t>
            </a:r>
            <a:r>
              <a:rPr b="0" i="1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</p:txBody>
      </p:sp>
      <p:sp>
        <p:nvSpPr>
          <p:cNvPr id="246" name="Google Shape;246;p20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20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logo_cun_solo.png" id="252" name="Google Shape;2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62895" y="5632704"/>
            <a:ext cx="1371600" cy="950976"/>
          </a:xfrm>
          <a:prstGeom prst="rect">
            <a:avLst/>
          </a:prstGeom>
          <a:noFill/>
          <a:ln>
            <a:noFill/>
          </a:ln>
        </p:spPr>
      </p:pic>
      <p:sp>
        <p:nvSpPr>
          <p:cNvPr id="253" name="Google Shape;253;p21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>
                <a:solidFill>
                  <a:srgbClr val="0C2340"/>
                </a:solidFill>
                <a:latin typeface="Calibri"/>
                <a:ea typeface="Calibri"/>
                <a:cs typeface="Calibri"/>
                <a:sym typeface="Calibri"/>
              </a:rPr>
              <a:t>Cierre — Sesión 02</a:t>
            </a:r>
            <a:endParaRPr/>
          </a:p>
        </p:txBody>
      </p:sp>
      <p:sp>
        <p:nvSpPr>
          <p:cNvPr id="254" name="Google Shape;254;p21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Sesión 02: MinCiencias · 6 líneas de Ingeniería · elección de línea</a:t>
            </a:r>
            <a:endParaRPr/>
          </a:p>
          <a:p>
            <a:pPr indent="0" lvl="0" marL="0" marR="0" rtl="0" algn="ctr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Siguiente encuentro: continúa el hilo del mismo entregable.</a:t>
            </a:r>
            <a:endParaRPr/>
          </a:p>
        </p:txBody>
      </p:sp>
      <p:sp>
        <p:nvSpPr>
          <p:cNvPr id="255" name="Google Shape;255;p21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>
                <a:solidFill>
                  <a:srgbClr val="007433"/>
                </a:solidFill>
                <a:latin typeface="Calibri"/>
                <a:ea typeface="Calibri"/>
                <a:cs typeface="Calibri"/>
                <a:sym typeface="Calibri"/>
              </a:rPr>
              <a:t>INVESTIGACIÓN, CIENCIA Y TECNOLOGÍA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Su tema todavía no tiene apellido</a:t>
            </a:r>
            <a:endParaRPr/>
          </a:p>
        </p:txBody>
      </p:sp>
      <p:sp>
        <p:nvSpPr>
          <p:cNvPr id="262" name="Google Shape;262;p2"/>
          <p:cNvSpPr txBox="1"/>
          <p:nvPr/>
        </p:nvSpPr>
        <p:spPr>
          <a:xfrm>
            <a:off x="640080" y="1691639"/>
            <a:ext cx="10911600" cy="250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Un tema suelto no se puede investigar: </a:t>
            </a:r>
            <a:r>
              <a:rPr b="1" i="0" lang="en-US" sz="18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no dice dónde buscar, ni con quién dialogar, ni con qué palabras</a:t>
            </a:r>
            <a:r>
              <a:rPr b="0" i="0" lang="en-US" sz="18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sz="1600"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Hoy le ponemos apellido: lo ubicamos en una </a:t>
            </a:r>
            <a:r>
              <a:rPr b="1" i="0" lang="en-US" sz="18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línea de investigación</a:t>
            </a:r>
            <a:r>
              <a:rPr b="0" i="0" lang="en-US" sz="18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sz="1600"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Caso concreto: dos estudiantes escriben "seguridad informática".</a:t>
            </a:r>
            <a:endParaRPr sz="1600"/>
          </a:p>
          <a:p>
            <a:pPr indent="0" lvl="1" marL="45720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El primero la trabaja como </a:t>
            </a:r>
            <a:r>
              <a:rPr b="1" i="0" lang="en-US" sz="17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Inteligencia Artificial</a:t>
            </a:r>
            <a:r>
              <a:rPr b="0" i="0" lang="en-US" sz="17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→ busca *phishing detection*, *classifier*, *dataset*.</a:t>
            </a:r>
            <a:endParaRPr sz="1600"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El segundo la trabaja como </a:t>
            </a:r>
            <a:r>
              <a:rPr b="1" i="0" lang="en-US" sz="17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Telemática</a:t>
            </a:r>
            <a:r>
              <a:rPr b="0" i="0" lang="en-US" sz="17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→ busca *firewall*, *segmentación de red*, *latencia*.</a:t>
            </a:r>
            <a:endParaRPr sz="1600"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Mismo tema, </a:t>
            </a:r>
            <a:r>
              <a:rPr b="1" i="0" lang="en-US" sz="17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dos bibliografías que casi no se cruzan</a:t>
            </a:r>
            <a:r>
              <a:rPr b="0" i="0" lang="en-US" sz="17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y dos artículos distintos.</a:t>
            </a:r>
            <a:endParaRPr sz="1600"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Elegir bien la línea le ahorra semanas de búsqueda perdida; elegirla mal lo obliga a reescribir el marco.</a:t>
            </a:r>
            <a:endParaRPr sz="1600"/>
          </a:p>
        </p:txBody>
      </p:sp>
      <p:sp>
        <p:nvSpPr>
          <p:cNvPr id="263" name="Google Shape;263;p2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/>
          </a:p>
        </p:txBody>
      </p:sp>
      <p:sp>
        <p:nvSpPr>
          <p:cNvPr id="264" name="Google Shape;264;p2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2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Al final de esta sesión usted sale con </a:t>
            </a:r>
            <a:r>
              <a:rPr b="1" i="1" lang="en-US" sz="12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una línea elegida y justificada por escrito</a:t>
            </a:r>
            <a:r>
              <a:rPr b="0" i="1" lang="en-US" sz="12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, no con una intención.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>CUN</dc:creator>
</cp:coreProperties>
</file>