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9" roundtripDataSignature="AMtx7mhkwZQ+jkSRrbzPKr2U7xeEOswq7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25D3200-D7D5-4F7F-9A01-3BB5EEF47DA0}">
  <a:tblStyle styleId="{E25D3200-D7D5-4F7F-9A01-3BB5EEF47DA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customschemas.google.com/relationships/presentationmetadata" Target="metadata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74320"/>
            <a:ext cx="1325880" cy="91927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INVESTIGACIÓN, CIENCIA Y TECNOLOGÍA</a:t>
            </a:r>
            <a:endParaRPr/>
          </a:p>
          <a:p>
            <a:pPr indent="0" lvl="0" marL="0" marR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FDDEE"/>
                </a:solidFill>
                <a:latin typeface="Calibri"/>
                <a:ea typeface="Calibri"/>
                <a:cs typeface="Calibri"/>
                <a:sym typeface="Calibri"/>
              </a:rPr>
              <a:t>Escuela de Ingenierías · Código EI005 · 2 créditos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Periodo de referencia: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26P03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10 de agosto de 2026 – 20 de septiembre de 2026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Modalidad: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Virtual — encuentro sincrónico por Google Meet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Horario confirmado: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Jueves, 5:00 pm – 6:00 pm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inicio efectivo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5:10 pm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Grupo: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53339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Bloque: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SEGUNDO BLOQUE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Contacto del Docente: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julian_castanoe@cun.edu.co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Regla de festivo: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el jueves es festivo →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clase autónoma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Docente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Ingeniero de Sistemas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Candidato a MSc en Inteligencia Artificial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Líder Técnico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Speaker Tecnológico</a:t>
            </a:r>
            <a:endParaRPr/>
          </a:p>
        </p:txBody>
      </p:sp>
      <p:pic>
        <p:nvPicPr>
          <p:cNvPr descr="gmail_icon.png" id="96" name="Google Shape;9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60320" y="416052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julian_castanoe@cun.edu.co</a:t>
            </a:r>
            <a:endParaRPr/>
          </a:p>
        </p:txBody>
      </p:sp>
      <p:pic>
        <p:nvPicPr>
          <p:cNvPr descr="logo_cun_solo.png" id="98" name="Google Shape;9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523586"/>
            <a:ext cx="1463040" cy="1014374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PRESÉNTATE — ROMPEHIELOS</a:t>
            </a:r>
            <a:endParaRPr/>
          </a:p>
        </p:txBody>
      </p:sp>
      <p:sp>
        <p:nvSpPr>
          <p:cNvPr id="106" name="Google Shape;106;p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Tablero colaborativo (Padlet)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Escanea el QR o abre:</a:t>
            </a:r>
            <a:r>
              <a:rPr b="0" i="0" lang="en-US" sz="1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https://padlet.com/andres_dfx/cun-wruz81hmf9k06gd7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En un post-it escribe: </a:t>
            </a:r>
            <a:r>
              <a:rPr b="1" i="0" lang="en-US" sz="1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tu nombre</a:t>
            </a:r>
            <a:r>
              <a:rPr b="0" i="0" lang="en-US" sz="1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+ </a:t>
            </a:r>
            <a:r>
              <a:rPr b="1" i="0" lang="en-US" sz="1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expectativa del curso</a:t>
            </a:r>
            <a:r>
              <a:rPr b="0" i="0" lang="en-US" sz="1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+ una </a:t>
            </a:r>
            <a:r>
              <a:rPr b="1" i="0" lang="en-US" sz="1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idea de tema</a:t>
            </a:r>
            <a:r>
              <a:rPr b="0" i="0" lang="en-US" sz="1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para el artículo (1 frase).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Ahora, ~7 min.</a:t>
            </a:r>
            <a:r>
              <a:rPr b="0" i="0" lang="en-US" sz="1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Somos 20: el muro se lee entero y nadie queda sin ser visto.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Después las leemos en voz alta y agrupamos expectativas — sin juzgar: de ahí salen los ejemplos con los que trabajamos el resto del curso.</a:t>
            </a:r>
            <a:endParaRPr/>
          </a:p>
        </p:txBody>
      </p:sp>
      <p:sp>
        <p:nvSpPr>
          <p:cNvPr id="108" name="Google Shape;108;p3"/>
          <p:cNvSpPr/>
          <p:nvPr/>
        </p:nvSpPr>
        <p:spPr>
          <a:xfrm>
            <a:off x="8332927" y="1993391"/>
            <a:ext cx="3328415" cy="38862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qr_presentacion_estudiantes.png" id="109" name="Google Shape;10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2655" y="2103120"/>
            <a:ext cx="3108960" cy="310896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3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Escanea o abre</a:t>
            </a:r>
            <a:endParaRPr/>
          </a:p>
        </p:txBody>
      </p:sp>
      <p:sp>
        <p:nvSpPr>
          <p:cNvPr id="111" name="Google Shape;111;p3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https://padlet.com/andres_dfx/cun-wruz81hmf9k06gd7</a:t>
            </a:r>
            <a:endParaRPr/>
          </a:p>
        </p:txBody>
      </p:sp>
      <p:sp>
        <p:nvSpPr>
          <p:cNvPr id="112" name="Google Shape;112;p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¿QUÉ ES ESTA ASIGNATURA?</a:t>
            </a:r>
            <a:endParaRPr/>
          </a:p>
        </p:txBody>
      </p:sp>
      <p:sp>
        <p:nvSpPr>
          <p:cNvPr id="119" name="Google Shape;119;p4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Aplicar el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método científico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 una temática de tu entorno (empresarial o vivencial).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Se enmarca en las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6 líneas estratégicas de Ingeniería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(IoT, Big Data, IA, servicios/cloud-FinTech, aplicaciones, telemática).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Producto esperado: avance hacia un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artículo / proyecto de investigación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(ABP).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32 h con docente + 64 h de trabajo autónomo y colaborativo.</a:t>
            </a:r>
            <a:endParaRPr/>
          </a:p>
        </p:txBody>
      </p:sp>
      <p:sp>
        <p:nvSpPr>
          <p:cNvPr id="120" name="Google Shape;120;p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COMPETENCIAS (SYLLABUS)</a:t>
            </a:r>
            <a:endParaRPr/>
          </a:p>
        </p:txBody>
      </p:sp>
      <p:sp>
        <p:nvSpPr>
          <p:cNvPr id="127" name="Google Shape;127;p5"/>
          <p:cNvSpPr txBox="1"/>
          <p:nvPr/>
        </p:nvSpPr>
        <p:spPr>
          <a:xfrm>
            <a:off x="640080" y="1691639"/>
            <a:ext cx="10911600" cy="21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Saber:</a:t>
            </a: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desarrollar el tema acorde a líneas del programa e identificar el diseño de investigación.</a:t>
            </a:r>
            <a:endParaRPr sz="24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Hacer:</a:t>
            </a: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usar fuentes confiables con redacción científica; organizar el desarrollo teórico-metodológico.</a:t>
            </a:r>
            <a:endParaRPr sz="24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Ser:</a:t>
            </a: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respetar derechos de autor en la escritura del proceso.</a:t>
            </a:r>
            <a:endParaRPr sz="2400"/>
          </a:p>
        </p:txBody>
      </p:sp>
      <p:sp>
        <p:nvSpPr>
          <p:cNvPr id="128" name="Google Shape;128;p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CONTENIDO</a:t>
            </a:r>
            <a:endParaRPr/>
          </a:p>
        </p:txBody>
      </p:sp>
      <p:sp>
        <p:nvSpPr>
          <p:cNvPr id="135" name="Google Shape;135;p6"/>
          <p:cNvSpPr txBox="1"/>
          <p:nvPr/>
        </p:nvSpPr>
        <p:spPr>
          <a:xfrm>
            <a:off x="640080" y="1627632"/>
            <a:ext cx="10911600" cy="27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r>
              <a:rPr b="1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1</a:t>
            </a: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Presentación del curso · docente · estudiantes · ACAs.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2</a:t>
            </a: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MinCiencias · 6 líneas de Ingeniería · elección de línea.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3</a:t>
            </a: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Prueba parcial · 1.er avance del artículo.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4</a:t>
            </a: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Problema y pregunta · bases de datos y gestores de citas.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5</a:t>
            </a: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Planteamiento del problema · marco teórico y revisión de literatura.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6</a:t>
            </a:r>
            <a:r>
              <a:rPr b="0" i="0" lang="en-US" sz="24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Socialización del artículo y cierre del curso.</a:t>
            </a:r>
            <a:endParaRPr sz="2400"/>
          </a:p>
        </p:txBody>
      </p:sp>
      <p:sp>
        <p:nvSpPr>
          <p:cNvPr id="136" name="Google Shape;136;p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EVALUACIÓN — CORTES (ART. 52)</a:t>
            </a:r>
            <a:endParaRPr/>
          </a:p>
        </p:txBody>
      </p:sp>
      <p:sp>
        <p:nvSpPr>
          <p:cNvPr id="143" name="Google Shape;143;p7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Periodo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26P03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inicio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10/08/2026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cierre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20/09/2026</a:t>
            </a: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1  ·  30%</a:t>
            </a: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INICIO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13/08/2026</a:t>
            </a: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27/08/2026</a:t>
            </a: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2  ·  30%</a:t>
            </a: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INICIO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28/08/2026</a:t>
            </a: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10/09/2026</a:t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3  ·  40%</a:t>
            </a: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INICIO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11/09/2026</a:t>
            </a: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20/09/2026</a:t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640080" y="5056631"/>
            <a:ext cx="10911535" cy="640080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Corte 1 30% = Quiz 1 6% + Parcial 1 24% · Corte 2 30% = Quiz 2 9% + Parcial 2 21% · Corte 3 40% = ACA Final 32,8% + Quiz 3 4% + Autoevaluación 1,6% + Coevaluación 1,6% — libro de calificaciones de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Quices y parciales: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cuestionarios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cierran en día de clase (jue).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Final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(tarea/documento) cierra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12/09/2026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Enunciados: Clases/Recursos/ACAs/.</a:t>
            </a:r>
            <a:endParaRPr/>
          </a:p>
        </p:txBody>
      </p:sp>
      <p:sp>
        <p:nvSpPr>
          <p:cNvPr id="164" name="Google Shape;164;p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SE CALIFICA — LOS ÍTEMS DEL AULA (CDIGITAL)</a:t>
            </a:r>
            <a:endParaRPr/>
          </a:p>
        </p:txBody>
      </p:sp>
      <p:sp>
        <p:nvSpPr>
          <p:cNvPr id="171" name="Google Shape;171;p8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Libro de calificaciones del aula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(CDigital) · cortes 30% / 30% / 40% · los pesos suman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endParaRPr/>
          </a:p>
        </p:txBody>
      </p:sp>
      <p:graphicFrame>
        <p:nvGraphicFramePr>
          <p:cNvPr id="172" name="Google Shape;172;p8"/>
          <p:cNvGraphicFramePr/>
          <p:nvPr/>
        </p:nvGraphicFramePr>
        <p:xfrm>
          <a:off x="640080" y="20116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{E25D3200-D7D5-4F7F-9A01-3BB5EEF47DA0}</a:tableStyleId>
              </a:tblPr>
              <a:tblGrid>
                <a:gridCol w="2220925"/>
                <a:gridCol w="1448425"/>
                <a:gridCol w="1448425"/>
                <a:gridCol w="1351875"/>
                <a:gridCol w="4441875"/>
              </a:tblGrid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Ítem en CDigital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(peso)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Peso del ítem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Cierre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20/08/2026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Parcial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27/08/2026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03/09/2026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Parcial 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10/09/2026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Tarea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32,8%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12/09/2026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3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12/09/2026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Autoevaluación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20/09/2026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Coevaluación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20/09/2026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73" name="Google Shape;173;p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ALCANCE DE LA EVALUACIÓN</a:t>
            </a:r>
            <a:endParaRPr/>
          </a:p>
        </p:txBody>
      </p:sp>
      <p:sp>
        <p:nvSpPr>
          <p:cNvPr id="180" name="Google Shape;180;p9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Régimen: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Art. 52 del Reglamento Estudiantil ·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Corte 1 = 30% · Corte 2 = 30% · Corte 3 = 40%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Cada corte se compone de ítems concretos del aula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nombre exacto, tipo de actividad, peso y cierre: en la tabla «CÓMO SE CALIFICA» de esta presentación.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Autoevaluación (1,6%, cuestionario)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coevaluación (1,6%, foro)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sí hacen parte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la nota de este curso: van en el tercer corte y se diligencian/participan en el aula.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Los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quices y parciales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son cuestionarios en CDigital y cierran en día de clase; la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Final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una tarea (documento) y cierra en la fecha máxima de recepción.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No confundir con la autoevaluación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institucional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SIAC (calidad de programas en acreditacion.cun.edu.co): esa no es una nota del curso.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Entregas, rúbricas y publicación de notas: solo por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Si un peso o una ventana del aula no coincide con este material,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manda el aula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se corrige aquí y se avisa en clase.</a:t>
            </a:r>
            <a:endParaRPr/>
          </a:p>
        </p:txBody>
      </p:sp>
      <p:sp>
        <p:nvSpPr>
          <p:cNvPr id="181" name="Google Shape;181;p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ACUERDOS DEL CURSO</a:t>
            </a:r>
            <a:endParaRPr/>
          </a:p>
        </p:txBody>
      </p:sp>
      <p:sp>
        <p:nvSpPr>
          <p:cNvPr id="188" name="Google Shape;188;p10"/>
          <p:cNvSpPr/>
          <p:nvPr/>
        </p:nvSpPr>
        <p:spPr>
          <a:xfrm>
            <a:off x="640080" y="1737360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0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Encuentro sincrónico: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Jueves, 5:00 pm – 6:00 pm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por Google Meet. El enlace se publica en el aula virtual.</a:t>
            </a:r>
            <a:endParaRPr/>
          </a:p>
        </p:txBody>
      </p:sp>
      <p:sp>
        <p:nvSpPr>
          <p:cNvPr id="190" name="Google Shape;190;p10"/>
          <p:cNvSpPr/>
          <p:nvPr/>
        </p:nvSpPr>
        <p:spPr>
          <a:xfrm>
            <a:off x="640080" y="2935224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 el día de clase es festivo colombiano, la sesión NO se cancela: se cursa como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clase autónoma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la actividad y el material quedan en la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carpeta de esa sesión en el Drive de clases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(`Clases/Sesion NN - …/`); la entrega y la nota siguen en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92" name="Google Shape;192;p10"/>
          <p:cNvSpPr/>
          <p:nvPr/>
        </p:nvSpPr>
        <p:spPr>
          <a:xfrm>
            <a:off x="640080" y="4389120"/>
            <a:ext cx="10911535" cy="713232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 txBox="1"/>
          <p:nvPr/>
        </p:nvSpPr>
        <p:spPr>
          <a:xfrm>
            <a:off x="868680" y="4498848"/>
            <a:ext cx="10454335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producto final se construye desde la semana 1 — no es una entrega sorpresa al cierre.</a:t>
            </a:r>
            <a:endParaRPr/>
          </a:p>
        </p:txBody>
      </p:sp>
      <p:sp>
        <p:nvSpPr>
          <p:cNvPr id="194" name="Google Shape;194;p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1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RECURSOS</a:t>
            </a:r>
            <a:endParaRPr/>
          </a:p>
        </p:txBody>
      </p:sp>
      <p:sp>
        <p:nvSpPr>
          <p:cNvPr id="201" name="Google Shape;201;p11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Contacto del Docente: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julian_castanoe@cun.edu.co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 (campus del curso):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https://cdigital.cun.edu.co/course/view.php?id=111070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Google Meet (mismo enlace toda la serie):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[URL Meet — mismo enlace toda la serie · Investigación C&amp;T]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Material de clases (Drive):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[URL Material de clases — carpeta Clases/ en Drive · Investigación C&amp;T]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aquí está el material de cada sesión, incluida la de una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clase autónoma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Plantilla APA CUN – Proyecto de Grado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(viene en tu carpeta del curso): `Recursos/Plantilla_APA_CUN_Proyecto de grado.docx`.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Plantilla APA CUN (en tu carpeta):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`Recursos/Plantilla_APA_CUN_Proyecto de grado.docx`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Enunciados ACA / cortes (estudiantes):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`Clases/Recursos/ACAs/`.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Bases de datos: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biblioteca CUN (EBSCO, SciELO, Redalyc, Latindex) + citas en la nube (ZoteroBib / Google Docs).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Entregas y notas oficiales: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solo por CDigital del curso.</a:t>
            </a:r>
            <a:endParaRPr/>
          </a:p>
        </p:txBody>
      </p:sp>
      <p:sp>
        <p:nvSpPr>
          <p:cNvPr id="202" name="Google Shape;202;p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208" name="Google Shape;208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62895" y="5632704"/>
            <a:ext cx="1371600" cy="950976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2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¡Empezamos!</a:t>
            </a:r>
            <a:endParaRPr/>
          </a:p>
        </p:txBody>
      </p:sp>
      <p:sp>
        <p:nvSpPr>
          <p:cNvPr id="210" name="Google Shape;210;p12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Nos vemos en el primer encuentro sincrónico: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Jueves, 5:00 pm – 6:00 pm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Trae una idea de tema ligado a tu entorno o a una línea de Ingeniería.</a:t>
            </a:r>
            <a:endParaRPr/>
          </a:p>
        </p:txBody>
      </p:sp>
      <p:sp>
        <p:nvSpPr>
          <p:cNvPr id="211" name="Google Shape;211;p12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EI005 · Investigación, Ciencia y Tecnología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CUN</dc:creator>
</cp:coreProperties>
</file>