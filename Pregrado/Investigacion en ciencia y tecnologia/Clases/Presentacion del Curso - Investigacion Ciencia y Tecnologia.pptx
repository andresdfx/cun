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INVESTIGACIÓN, CIENCIA Y TECNOLOGÍA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Escuela de Ingenierías · Código EI005 · 2 créditos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Periodo de referencia: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26P03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 de agosto de 2026 – 20 de septiembre de 2026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Modalidad: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Virtual — encuentro sincrónico por Google Meet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 confirmado: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Jueves, 5:00 pm – 6:00 pm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inicio efectivo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5:10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Grupo: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53339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SEGUNDO BLOQUE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Contacto del 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julian_castanoe@cun.edu.co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Regla de festivo: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el jueves es festivo →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clase autónoma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148840"/>
            <a:ext cx="8991295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Ingeniero de Sistemas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Líder Técnico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Speaker Tecnológico</a:t>
            </a:r>
          </a:p>
        </p:txBody>
      </p:sp>
      <p:pic>
        <p:nvPicPr>
          <p:cNvPr id="5" name="Picture 4" descr="gmail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160520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39" y="4142232"/>
            <a:ext cx="848837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007433"/>
                </a:solidFill>
                <a:latin typeface="Calibri"/>
              </a:rPr>
              <a:t>julian_castanoe@cun.edu.co</a:t>
            </a:r>
          </a:p>
        </p:txBody>
      </p:sp>
      <p:pic>
        <p:nvPicPr>
          <p:cNvPr id="7" name="Picture 6" descr="logo_cun_s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523586"/>
            <a:ext cx="1463040" cy="1014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PRESÉNTATE — ROMPEHIELOS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Tablero colaborativo (Padlet)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58521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Escanea o abre: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https://padlet.com/andres_dfx/cun-wruz81hmf9k06gd7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Post-it: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nombre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+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expectativa del curso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+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idea de tema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para el artículo (1 frase).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Tablero oficial: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Padlet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(mismo enlace en los 5 cursos).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Ahora (~7 min). Leemos juntos 3–4 notas (sin juzgar).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2927" y="1993391"/>
            <a:ext cx="3328415" cy="38862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presentacion_estudi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655" y="210312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32927" y="5230367"/>
            <a:ext cx="332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C2340"/>
                </a:solidFill>
                <a:latin typeface="Calibri"/>
              </a:rPr>
              <a:t>Escanea o abre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2927" y="5468112"/>
            <a:ext cx="3328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433"/>
                </a:solidFill>
                <a:latin typeface="Calibri"/>
              </a:rPr>
              <a:t>https://padlet.com/andres_dfx/cun-wruz81hmf9k06gd7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¿QUÉ ES ESTA ASIGNATURA?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método científico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 una temática de tu entorno (empresarial o vivencial).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enmarca en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 líneas estratégicas de Ingeniería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(IoT, Big Data, IA, servicios/cloud-FinTech, aplicaciones, telemática).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Producto esperado: avance hacia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artículo / proyecto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(ABP).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32 h con docente + 64 h de trabajo autónomo y colaborativo.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COMPETENCIAS (SYLLABUS)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Saber: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desarrollar el tema acorde a líneas del programa e identificar el diseño de investigación.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Hacer: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usar fuentes confiables con redacción científica; organizar el desarrollo teórico-metodológico.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Ser: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respetar derechos de autor en la escritura del proceso.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27632"/>
            <a:ext cx="10911535" cy="4727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Sesión 1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Presentación del curso · docente · estudiantes · ACAs.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Sesión 2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MinCiencias · 6 líneas de Ingeniería · elección de línea.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Sesión 3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Prueba parcial · 1.er avance del artículo.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Sesión 4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Identificación de problemas y pregunta de investigación.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Sesión 5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Formulación del planteamiento del problema.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Sesión 6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Bases de datos CUN · gestores · marco teórico y revisión (U8+U10–12).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EVALUACIÓN — CORTES (ART. 52)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Periodo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26P03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inicio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10/08/2026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cierre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20/09/2026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79"/>
            <a:ext cx="3503066" cy="65836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084831"/>
            <a:ext cx="335676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Corte 1  ·  30%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70048"/>
            <a:ext cx="3503066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88035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13/08/2026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9" y="3794759"/>
            <a:ext cx="2862986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97763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27/08/2026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4314" y="2011679"/>
            <a:ext cx="3503066" cy="658368"/>
          </a:xfrm>
          <a:prstGeom prst="rect">
            <a:avLst/>
          </a:prstGeom>
          <a:solidFill>
            <a:srgbClr val="32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7466" y="2084831"/>
            <a:ext cx="335676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Corte 2  ·  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4314" y="2670048"/>
            <a:ext cx="3503066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4042" y="288035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28/08/2026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4354" y="3794759"/>
            <a:ext cx="2862986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4042" y="397763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03/09/2026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8548" y="2011679"/>
            <a:ext cx="3503066" cy="658368"/>
          </a:xfrm>
          <a:prstGeom prst="rect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1700" y="2084831"/>
            <a:ext cx="335676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Corte 3  ·  40%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8548" y="2670048"/>
            <a:ext cx="3503066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8276" y="288035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04/09/2026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8588" y="3794759"/>
            <a:ext cx="2862986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8276" y="397763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10/09/2026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56631"/>
            <a:ext cx="10911535" cy="640080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166359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2B2B2B"/>
                </a:solidFill>
                <a:latin typeface="Calibri"/>
              </a:rPr>
              <a:t>Corte 1 = 30% · Corte 2 = 30% · Corte 3 = 40%. Cada ACA evalúa el corte completo (no hay subdivisión en varios EV). Enunciados: Clases/Recursos/ACAs/. Fechas fijadas por el Docente, siempre en el día de clase (jue).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ALCANCE DE LA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Régimen: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Art. 52 del Reglamento Estudiantil ·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Corte 1 = 30% · Corte 2 = 30% · Corte 3 = 40%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· Cada ACA evalúa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100% de su corte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ACA 1 = Corte 1, ACA 2 = Corte 2, ACA 3 = Corte 3.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Autoevaluación y coevaluación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con porcentaje propio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(modelo AFI Proyecto I: 4% + 4% según ESP329):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 aplican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 esta asignatura según el syllabus SIAC / Art. 52.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No confundir con la autoevaluación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institucional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SIAC (calidad de programas en acreditacion.cun.edu.co): esa no es una nota del curso.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Entregas, rúbricas EV y publicación de notas: solo por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Si Coordinación publica un instrumento formativo sin peso propio, se anuncia en el aula; no inventamos % fuera del syllabus.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 DEL CURSO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Encuentro sincrónico: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Jueves, 5:00 pm – 6:00 pm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por Google Meet. El enlace se publica en el aula virtual.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colombiano, la sesión NO se cancela: se cursa como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clase autónoma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(material/actividad en el CDigital).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final se construye desde la semana 1 — no es una entrega sorpresa al cierre.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Contacto del Docente: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julian_castanoe@cun.edu.co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 (campus del curso):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Meet (mismo enlace toda la serie):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[URL Meet — mismo enlace toda la serie · Investigación C&amp;T]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– Proyecto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(viene en tu carpeta del curso): `Recursos/Plantilla_APA_CUN_Proyecto de grado.docx`.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(en tu carpeta):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`Recursos/Plantilla_APA_CUN_Proyecto de grado.docx`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Enunciados ACA / cortes (estudiantes):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`Clases/Recursos/ACAs/`.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Bases de datos: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biblioteca CUN (EBSCO, SciELO, Redalyc, Latindex) + citas en la nube (ZoteroBib / Google Docs).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Entregas y notas oficiales: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solo por CDigital del curso.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¡Empezamos!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Nos vemos en el primer encuentro sincrónico: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Jueves, 5:00 pm – 6:00 pm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Trae una idea de tema ligado a tu entorno o a una línea de Ingeniería.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EI005 · 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