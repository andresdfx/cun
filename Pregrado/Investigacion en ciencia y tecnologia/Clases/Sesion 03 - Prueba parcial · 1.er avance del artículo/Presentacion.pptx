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PRUEBA PARCIAL · 1.ER AVANCE DEL ARTÍCULO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Prueba parcial · 1.er avance del artículo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Bajemos la ansiedad: el avance no es media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es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sesión bisagra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trabaja la prueba escrita parcial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1.er avance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primero que hay que desmontar: nadie espera veinte páginas.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avance es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borrador mínimo viable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cuatro piezas bien planteadas.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el equivalente al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prototipo funcional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ingeniería: no es el producto, pero ya se puede probar.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Lema del curso, y se va a repetir todo el periodo: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calidad &gt; extensión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Media página con un problema claro vale más que cinco páginas de relleno histórico.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relleno se detecta rápido: si un párrafo se puede borrar y nada cambia, era relleno.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Meta de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salir con el borrador empezado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con la intención de empezarlo en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Traiga abierto lo de las sesiones anteriores: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tema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línea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son el punto de partida de este avance.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y qué NO es el primer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 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texto corto donde ya se ve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se va a investigar y por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 título, una introducción breve, el problema convertido en pregunta y las primeras referencias.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Está escrito en prosa: párrafos, no viñetas sueltas ni un esquema.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resumen de todo lo que ha leído.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la metodología (eso viene después).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el marco teórico completo (eso se trabaja al final del ciclo).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un pantallazo de ChatGPT pegado sin revisar: se nota, y no cita fuentes reales.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Sirve para algo muy concreto: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detectar temprano si su tema es investigable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avance mal enfocado se corrige en una semana; un artículo completo mal enfocado,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cuatro piezas del avance (y su error típico)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46531"/>
                <a:gridCol w="3577552"/>
                <a:gridCol w="1609898"/>
                <a:gridCol w="357755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Pieza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 contener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Título tentativo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Actor + fenómeno +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≤ 20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Título-eslogan sin variables ("La revolución de la IA")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Introducción breve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Contexto → vacío → propósito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párrafos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Arrancar con "desde la antigüedad el ser humano..."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 y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vacío convertido en una pregunta investigable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 + 1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 que se responde con sí o 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Referencias iniciales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 a 3 fuentes en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 final del 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Pegar URLs sueltas sin formato ni autor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Solo cuatro piezas. Si le sobra tiempo,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agregue piezas: mejore las cuatro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título: fórmula y ejemplos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título de artículo no vende: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describe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Su fórmula mínima: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Actor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(¿quién o qué se estudia?) +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fenómeno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(¿qué le pasa?) +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(¿dónde, cuándo?).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Máximo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20 palabras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sin signos de admiración; sin juegos de palabras.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Comparemos: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Débil: *"La inteligencia artificial: el futuro que ya llegó"* → no dice actor, ni fenómeno, ni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Débil: *"Mi app para el laboratorio"* → anuncia una solución, no un objeto de estudio.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Fuerte: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*"Detección de correos de phishing dirigidos a estudiantes universitarios mediante clasificación automática"*.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Fuerte: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*"Pérdida de paquetes y su efecto en las prácticas de un laboratorio de redes universitario"*.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rápida: si al leer su título alguien pregunta "¿de qué se trata?", el título todavía no sirve.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introducción en tres párrafos: contexto → vacío →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1 — Contexto.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Dónde ocurre lo que va a estudiar y por qué importa allí.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Arranca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problema real, no en la historia de la humanidad.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Verbos útiles: *se realizan, dependen de, se ha incorporado, opera con*.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2 — Vacío.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no se sabe todavía, o qué no se ha medido, o qué no se ha documentado.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Este párrafo casi siempre empieza con un giro: *"Sin embargo...", "No obstante...", "A pesar de ello..."*.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vacío no hay artículo: si ya todo está resuelto, no hay nada que investigar.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3 — Propósito.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se propone hacer usted en este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solo verbo de propósito: *describir, caracterizar, comparar, evaluar, identificar*.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Ojo: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prometa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 que no podrá hacer este periodo.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introducción en tres párrafos: contexto → vacío → propósito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párrafo: 4 a 6 líneas. Los tres juntos caben en menos de media página.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introducción escrita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1 (contexto):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*"En los laboratorios de redes de la universidad se realizan prácticas que dependen de una conexión estable entre los equipos y el servidor del aula. Estas prácticas tienen tiempos definidos y se evalúan durante la misma sesión."*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2 (vacío):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*"Sin embargo, no se ha caracterizado con datos la pérdida de paquetes que se presenta en el laboratorio X durante las horas de mayor uso, de modo que las interrupciones se atribuyen a causas supuestas y no verificadas."*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3 (propósito):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*"Este artículo se propone describir el comportamiento de la pérdida de paquetes en ese laboratorio y su relación con la interrupción de las prácticas programadas."*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Ahora observe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hizo: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empezó con "desde la antigüedad el ser humano se comunica".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anunció una solución ("instalaremos fibra óptica").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usó ninguna palabra decorativa: cada frase aporta un dato del caso.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es el estándar del curso: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entrar por el problema real, en la primera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conocimiento (esto suele caer en el parcial)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obtiene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¿Se verifica?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¿Sostiene el artículo?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Cotidiano / vulgar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experiencia inmediata y sentido común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"Sé que llueve porque me mojé"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Empírico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observación repetida, sin sistematizar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Parcialmente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"Llevo un año y siempre se cae la red a las 3 p.m."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Solo como indicio inicial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Científico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 método, medición y evidencia documentada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Sí, por otros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bitácora registra 12 caídas en un mes"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diferencia entre empírico y científico no es la verdad: es que el científico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 puede verificar y repetir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porque quedó registrado el cómo.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fuente: primaria, secundaria y terciaria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usa en su artículo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Primaria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estudio original, donde se generó el conocimiento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Artículo de investigación, tesis, dataset, norma técnica, informe oficial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 su fuente principal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; se cita como autoridad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Secundaria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Interpreta, sintetiza o comenta las primarias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Libro de texto, artículo de revisión, estado del arte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Útil para entender el panorama y ubicar primarias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Terciaria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Índices y compilaciones que llevan a las otras 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Enciclopedias, catálogos, buscadores, Wikipedia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Solo para orientarse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; no se cita como autoridad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Truco: si el texto cuenta un estudio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alguien más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hizo, es secundaria; si cuenta lo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sus autores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hicieron, es primaria.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Wikipedia, blogs e IA generativa: qué se puede y qué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Wikipedia sí sirve, pero como puerta.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Léala para entender un concepto y luego baje a la sección 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artículo: allí están las fuentes reales que sí puede citar.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Un blog o un video no son fuente del artículo.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Pueden explicarle bien un tema, pero no pasaron revisión. Si lo que dice el blog es cierto, existe una fuente académica que lo respalda: busque esa.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La IA generativa inventa referencias.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darle un autor, un año y un título que suenan perfectos y no existen. Regla: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si no abrió el documento, no lo cita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Wikipedia, blogs e IA generativa: qué se puede y qué no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Verifique siempre en la fuente original.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Abra el artículo, confirme autor, año y revista, y solo entonces genere la cita. Una referencia falsa en un artículo es una falta grave, no un descuido.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evalúa la prueba parcial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prueba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pide memorizar definiciones textuales: pide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distinguir y aplicar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Conceptos que se evalúan: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Diferenciar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tipos de conocimiento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partir de un enunciado dado.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Clasificar una fuente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primaria, secundaria o terciaria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viendo su descripción.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Reconocer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partes de un artículo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qué va en cada una.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Detectar si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es investigable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si se responde con sí/no.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Identificar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vacío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dentro de una introducción de ejemplo.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Formato típico de pregunta: se le da un caso corto y se le pide clasificarlo o corregirlo.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prepararse en poco tiempo: repase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tablas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esta sesión y explíqueselas en voz alta a alguien.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evalúa la prueba parcial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detalle oficial de la evaluación del corte está publicado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sus referencias en APA 7 con ZoteroBib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(zbib.org) genera citas en APA 7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instalar nada y sin crear cuenta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la opción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en el navegador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estilo de cita, seleccione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American Psychological Association 7th edition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artículo (es el código que empieza por `10.` en la primera página) y péguelo en la barra.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hay DOI, pegue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 exacto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la URL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Pulse *Cite*: ZoteroBib arma la referencia completa.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Revise a mano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armó: nombres, año, mayúsculas del título y nombre de la revista.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ZoteroBib acierta mucho, pero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siempre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el responsable de la cita es usted.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*Copy to clipboard* y péguela en su documento, bajo el título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orden alfabético.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sus referencias en APA 7 con ZoteroBib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cuerpo del texto, cite así: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(Apellido, año)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y si es cita textual, agregue la página: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(Apellido, año, p. 12)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Nada de Mendeley ni Zotero de escritorio: no hace falta instalar programas para este curso.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Escribir el 1.er avance (~22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`S03_Avance1_Apellido` escriba las cuatro piezas: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Título tentativo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actor + fenómeno + contexto, en 20 palabras o menos.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Introducción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exactamente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párrafos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contexto → vacío → propósito.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El problema convertido en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una sola frase, que no se responda con sí o 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 Dos referencias en APA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generadas con ZoteroBib, de fuentes que usted abrió.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~22 minutos. Escriba primero y corrija después: no se quede puliendo la primera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otra persona lee su introducción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conocer su 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puede decirle cuál es el contexto, cuál es el vacío y qué se propone usted.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control: subraye el vacío. Si no puede subrayarlo,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lo escribió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prefiere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media página impecable a tres páginas de relleno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`S03_Avance1_Apellido`.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título tiene actor, fenómeno y contexto, y no pasa de 20 palabras.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introducción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uno largo ni cinco cortos.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párrafo 2 tiene un giro ("sin embargo", "no obstante")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nombra lo que no se sabe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párrafo 3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verbo de propósito (describir, caracterizar, comparar, evaluar).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No empecé con "desde la antigüedad" ni con una definición de diccionario.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pregunta empieza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cómo, qué, cuál o en qué medida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(no por "¿es...?" o "¿existe...?").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Mis 2 referencias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primarias o secundarias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 blog ni Wikipedia.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dos documentos que cito: no los tomé del listado de resultados.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Las referencias están en APA 7, en orden alfabético, al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Subí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Relea su avance en voz alta.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no se puede leer de corrido, está mal escrito.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Repase para el parcial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las dos tablas de hoy: tipos de conocimiento y tipos de fuente.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Ejercicio de 10 minutos: tome 5 fuentes cualesquiera y clasifíquelas en primaria/secundaria/terciaria.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Consulte en 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detalle de la evaluación de este corte y el espacio de entrega.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próxima sesión es doble: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corazón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—identificar el problema y formular la pregunta— y, en la segunda mitad,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dónde se buscan las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(Scholar, SciELO, Redalyc, biblioteca CUN)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se citan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adelantó la búsqueda de fuentes porque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que se califica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exige: no se puede llegar al final del periodo sin saber buscar.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avance: vamos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someter su pregunta a prueba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espina de pescado y árbol de problemas.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pregunta cambia la próxima sesión, no es un fracaso: es exactamente para lo que sirve el avance.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Tenga a mano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login institucional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la biblioteca CUN: se usa en clase.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el material y las entregas viven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Prueba parcial · 1.er avance del artículo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